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735" r:id="rId1"/>
    <p:sldMasterId id="2147483741" r:id="rId2"/>
  </p:sldMasterIdLst>
  <p:notesMasterIdLst>
    <p:notesMasterId r:id="rId58"/>
  </p:notesMasterIdLst>
  <p:handoutMasterIdLst>
    <p:handoutMasterId r:id="rId59"/>
  </p:handoutMasterIdLst>
  <p:sldIdLst>
    <p:sldId id="3679" r:id="rId3"/>
    <p:sldId id="3795" r:id="rId4"/>
    <p:sldId id="3831" r:id="rId5"/>
    <p:sldId id="3848" r:id="rId6"/>
    <p:sldId id="3784" r:id="rId7"/>
    <p:sldId id="3801" r:id="rId8"/>
    <p:sldId id="3782" r:id="rId9"/>
    <p:sldId id="3802" r:id="rId10"/>
    <p:sldId id="3803" r:id="rId11"/>
    <p:sldId id="3845" r:id="rId12"/>
    <p:sldId id="3804" r:id="rId13"/>
    <p:sldId id="3805" r:id="rId14"/>
    <p:sldId id="3806" r:id="rId15"/>
    <p:sldId id="3846" r:id="rId16"/>
    <p:sldId id="3807" r:id="rId17"/>
    <p:sldId id="3809" r:id="rId18"/>
    <p:sldId id="3808" r:id="rId19"/>
    <p:sldId id="3783" r:id="rId20"/>
    <p:sldId id="3810" r:id="rId21"/>
    <p:sldId id="3811" r:id="rId22"/>
    <p:sldId id="3832" r:id="rId23"/>
    <p:sldId id="3833" r:id="rId24"/>
    <p:sldId id="3812" r:id="rId25"/>
    <p:sldId id="3852" r:id="rId26"/>
    <p:sldId id="3853" r:id="rId27"/>
    <p:sldId id="3814" r:id="rId28"/>
    <p:sldId id="3834" r:id="rId29"/>
    <p:sldId id="3835" r:id="rId30"/>
    <p:sldId id="3815" r:id="rId31"/>
    <p:sldId id="3816" r:id="rId32"/>
    <p:sldId id="3836" r:id="rId33"/>
    <p:sldId id="3817" r:id="rId34"/>
    <p:sldId id="3844" r:id="rId35"/>
    <p:sldId id="3818" r:id="rId36"/>
    <p:sldId id="3819" r:id="rId37"/>
    <p:sldId id="3837" r:id="rId38"/>
    <p:sldId id="3820" r:id="rId39"/>
    <p:sldId id="3821" r:id="rId40"/>
    <p:sldId id="3838" r:id="rId41"/>
    <p:sldId id="3839" r:id="rId42"/>
    <p:sldId id="3822" r:id="rId43"/>
    <p:sldId id="3823" r:id="rId44"/>
    <p:sldId id="3840" r:id="rId45"/>
    <p:sldId id="3824" r:id="rId46"/>
    <p:sldId id="3841" r:id="rId47"/>
    <p:sldId id="3825" r:id="rId48"/>
    <p:sldId id="3842" r:id="rId49"/>
    <p:sldId id="3851" r:id="rId50"/>
    <p:sldId id="3826" r:id="rId51"/>
    <p:sldId id="3827" r:id="rId52"/>
    <p:sldId id="3828" r:id="rId53"/>
    <p:sldId id="3843" r:id="rId54"/>
    <p:sldId id="3829" r:id="rId55"/>
    <p:sldId id="3830" r:id="rId56"/>
    <p:sldId id="3850" r:id="rId57"/>
  </p:sldIdLst>
  <p:sldSz cx="9906000" cy="6858000" type="A4"/>
  <p:notesSz cx="6797675" cy="9926638"/>
  <p:embeddedFontLst>
    <p:embeddedFont>
      <p:font typeface="맑은 고딕" panose="020B0503020000020004" pitchFamily="50" charset="-127"/>
      <p:regular r:id="rId60"/>
      <p:bold r:id="rId61"/>
    </p:embeddedFont>
    <p:embeddedFont>
      <p:font typeface="Wingdings 2" panose="05020102010507070707" pitchFamily="18" charset="2"/>
      <p:regular r:id="rId62"/>
    </p:embeddedFont>
    <p:embeddedFont>
      <p:font typeface="Arial Narrow" panose="020B0606020202030204" pitchFamily="34" charset="0"/>
      <p:regular r:id="rId63"/>
      <p:bold r:id="rId64"/>
      <p:italic r:id="rId65"/>
      <p:boldItalic r:id="rId66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6pPr>
    <a:lvl7pPr marL="2743200" algn="l" defTabSz="914400" rtl="0" eaLnBrk="1" latinLnBrk="1" hangingPunct="1"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7pPr>
    <a:lvl8pPr marL="3200400" algn="l" defTabSz="914400" rtl="0" eaLnBrk="1" latinLnBrk="1" hangingPunct="1"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8pPr>
    <a:lvl9pPr marL="3657600" algn="l" defTabSz="914400" rtl="0" eaLnBrk="1" latinLnBrk="1" hangingPunct="1"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6" userDrawn="1">
          <p15:clr>
            <a:srgbClr val="A4A3A4"/>
          </p15:clr>
        </p15:guide>
        <p15:guide id="2" orient="horz" pos="1329" userDrawn="1">
          <p15:clr>
            <a:srgbClr val="A4A3A4"/>
          </p15:clr>
        </p15:guide>
        <p15:guide id="5" pos="6065" userDrawn="1">
          <p15:clr>
            <a:srgbClr val="A4A3A4"/>
          </p15:clr>
        </p15:guide>
        <p15:guide id="6" pos="277" userDrawn="1">
          <p15:clr>
            <a:srgbClr val="A4A3A4"/>
          </p15:clr>
        </p15:guide>
        <p15:guide id="8" pos="819" userDrawn="1">
          <p15:clr>
            <a:srgbClr val="A4A3A4"/>
          </p15:clr>
        </p15:guide>
        <p15:guide id="9" orient="horz" pos="423" userDrawn="1">
          <p15:clr>
            <a:srgbClr val="A4A3A4"/>
          </p15:clr>
        </p15:guide>
        <p15:guide id="10" orient="horz" pos="650" userDrawn="1">
          <p15:clr>
            <a:srgbClr val="A4A3A4"/>
          </p15:clr>
        </p15:guide>
        <p15:guide id="11" pos="175" userDrawn="1">
          <p15:clr>
            <a:srgbClr val="A4A3A4"/>
          </p15:clr>
        </p15:guide>
        <p15:guide id="12" orient="horz" pos="8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39">
          <p15:clr>
            <a:srgbClr val="A4A3A4"/>
          </p15:clr>
        </p15:guide>
        <p15:guide id="3" orient="horz" pos="3126">
          <p15:clr>
            <a:srgbClr val="A4A3A4"/>
          </p15:clr>
        </p15:guide>
        <p15:guide id="4" pos="214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kkim89" initials="b" lastIdx="7" clrIdx="0">
    <p:extLst>
      <p:ext uri="{19B8F6BF-5375-455C-9EA6-DF929625EA0E}">
        <p15:presenceInfo xmlns:p15="http://schemas.microsoft.com/office/powerpoint/2012/main" userId="bkkim89" providerId="None"/>
      </p:ext>
    </p:extLst>
  </p:cmAuthor>
  <p:cmAuthor id="2" name="scjang0918" initials="s" lastIdx="15" clrIdx="1">
    <p:extLst>
      <p:ext uri="{19B8F6BF-5375-455C-9EA6-DF929625EA0E}">
        <p15:presenceInfo xmlns:p15="http://schemas.microsoft.com/office/powerpoint/2012/main" userId="scjang0918" providerId="None"/>
      </p:ext>
    </p:extLst>
  </p:cmAuthor>
  <p:cmAuthor id="3" name="jysong21" initials="j" lastIdx="1" clrIdx="2">
    <p:extLst>
      <p:ext uri="{19B8F6BF-5375-455C-9EA6-DF929625EA0E}">
        <p15:presenceInfo xmlns:p15="http://schemas.microsoft.com/office/powerpoint/2012/main" userId="jysong21" providerId="None"/>
      </p:ext>
    </p:extLst>
  </p:cmAuthor>
  <p:cmAuthor id="4" name="jaycho" initials="j" lastIdx="1" clrIdx="3">
    <p:extLst>
      <p:ext uri="{19B8F6BF-5375-455C-9EA6-DF929625EA0E}">
        <p15:presenceInfo xmlns:p15="http://schemas.microsoft.com/office/powerpoint/2012/main" userId="jaych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6600"/>
    <a:srgbClr val="C00000"/>
    <a:srgbClr val="A50034"/>
    <a:srgbClr val="C0504D"/>
    <a:srgbClr val="EAEAEA"/>
    <a:srgbClr val="DDDDDD"/>
    <a:srgbClr val="008000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13" autoAdjust="0"/>
    <p:restoredTop sz="96391" autoAdjust="0"/>
  </p:normalViewPr>
  <p:slideViewPr>
    <p:cSldViewPr snapToObjects="1" showGuides="1">
      <p:cViewPr varScale="1">
        <p:scale>
          <a:sx n="99" d="100"/>
          <a:sy n="99" d="100"/>
        </p:scale>
        <p:origin x="360" y="84"/>
      </p:cViewPr>
      <p:guideLst>
        <p:guide orient="horz" pos="3746"/>
        <p:guide orient="horz" pos="1329"/>
        <p:guide pos="6065"/>
        <p:guide pos="277"/>
        <p:guide pos="819"/>
        <p:guide orient="horz" pos="423"/>
        <p:guide orient="horz" pos="650"/>
        <p:guide pos="175"/>
        <p:guide orient="horz" pos="8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5502"/>
    </p:cViewPr>
  </p:sorterViewPr>
  <p:notesViewPr>
    <p:cSldViewPr snapToObjects="1" showGuides="1">
      <p:cViewPr varScale="1">
        <p:scale>
          <a:sx n="75" d="100"/>
          <a:sy n="75" d="100"/>
        </p:scale>
        <p:origin x="4026" y="60"/>
      </p:cViewPr>
      <p:guideLst>
        <p:guide orient="horz" pos="3127"/>
        <p:guide pos="2139"/>
        <p:guide orient="horz" pos="3126"/>
        <p:guide pos="2140"/>
      </p:guideLst>
    </p:cSldViewPr>
  </p:notesViewPr>
  <p:gridSpacing cx="119895" cy="11989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4.fntdata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7.fntdata"/><Relationship Id="rId5" Type="http://schemas.openxmlformats.org/officeDocument/2006/relationships/slide" Target="slides/slide3.xml"/><Relationship Id="rId61" Type="http://schemas.openxmlformats.org/officeDocument/2006/relationships/font" Target="fonts/font2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5.fntdata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handoutMaster" Target="handoutMasters/handoutMaster1.xml"/><Relationship Id="rId67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3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6" tIns="46123" rIns="92246" bIns="46123" numCol="1" anchor="t" anchorCtr="0" compatLnSpc="1">
            <a:prstTxWarp prst="textNoShape">
              <a:avLst/>
            </a:prstTxWarp>
          </a:bodyPr>
          <a:lstStyle>
            <a:lvl1pPr algn="l" defTabSz="923593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18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9" y="0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6" tIns="46123" rIns="92246" bIns="46123" numCol="1" anchor="t" anchorCtr="0" compatLnSpc="1">
            <a:prstTxWarp prst="textNoShape">
              <a:avLst/>
            </a:prstTxWarp>
          </a:bodyPr>
          <a:lstStyle>
            <a:lvl1pPr algn="r" defTabSz="923593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18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9428242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6" tIns="46123" rIns="92246" bIns="46123" numCol="1" anchor="b" anchorCtr="0" compatLnSpc="1">
            <a:prstTxWarp prst="textNoShape">
              <a:avLst/>
            </a:prstTxWarp>
          </a:bodyPr>
          <a:lstStyle>
            <a:lvl1pPr algn="l" defTabSz="923593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18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9" y="9428242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6" tIns="46123" rIns="92246" bIns="46123" numCol="1" anchor="b" anchorCtr="0" compatLnSpc="1">
            <a:prstTxWarp prst="textNoShape">
              <a:avLst/>
            </a:prstTxWarp>
          </a:bodyPr>
          <a:lstStyle>
            <a:lvl1pPr algn="r" defTabSz="923593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2727AB2-DBE6-4817-B7D3-07FE23D14A5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897602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48" tIns="45625" rIns="91248" bIns="45625" numCol="1" anchor="t" anchorCtr="0" compatLnSpc="1">
            <a:prstTxWarp prst="textNoShape">
              <a:avLst/>
            </a:prstTxWarp>
          </a:bodyPr>
          <a:lstStyle>
            <a:lvl1pPr algn="l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9" y="0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48" tIns="45625" rIns="91248" bIns="45625" numCol="1" anchor="t" anchorCtr="0" compatLnSpc="1">
            <a:prstTxWarp prst="textNoShape">
              <a:avLst/>
            </a:prstTxWarp>
          </a:bodyPr>
          <a:lstStyle>
            <a:lvl1pPr algn="r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21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44538"/>
            <a:ext cx="537845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7" y="4712537"/>
            <a:ext cx="5441950" cy="4471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48" tIns="45625" rIns="91248" bIns="456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428242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48" tIns="45625" rIns="91248" bIns="45625" numCol="1" anchor="b" anchorCtr="0" compatLnSpc="1">
            <a:prstTxWarp prst="textNoShape">
              <a:avLst/>
            </a:prstTxWarp>
          </a:bodyPr>
          <a:lstStyle>
            <a:lvl1pPr algn="l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9" y="9428242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48" tIns="45625" rIns="91248" bIns="45625" numCol="1" anchor="b" anchorCtr="0" compatLnSpc="1">
            <a:prstTxWarp prst="textNoShape">
              <a:avLst/>
            </a:prstTxWarp>
          </a:bodyPr>
          <a:lstStyle>
            <a:lvl1pPr algn="r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F58AD39B-30E0-4E97-8A0D-948230F5337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834267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417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267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3649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61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13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5387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3206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7639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3122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0587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8737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7656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722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79814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2621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6008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56287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454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46726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87586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221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68345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56337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05330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66583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10800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86508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34071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61073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01820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71771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76095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17079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11463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89689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0536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7903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59395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83031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21813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85771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8296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07382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45227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2619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81770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722688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91885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02725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92736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85006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9329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315257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64548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85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 bwMode="auto">
          <a:xfrm>
            <a:off x="847535" y="2646774"/>
            <a:ext cx="819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med" len="med"/>
          </a:ln>
        </p:spPr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00" y="943323"/>
            <a:ext cx="2141404" cy="467746"/>
          </a:xfrm>
          <a:prstGeom prst="rect">
            <a:avLst/>
          </a:prstGeom>
        </p:spPr>
      </p:pic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927477" y="1023940"/>
            <a:ext cx="4673724" cy="3460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>
              <a:defRPr kumimoji="1" lang="ko-KR" altLang="en-US" sz="1600" b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lvl1pPr>
          </a:lstStyle>
          <a:p>
            <a:pPr lvl="0"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ko-KR" altLang="en-US" dirty="0" smtClean="0"/>
              <a:t>프로젝트 명 편집</a:t>
            </a:r>
            <a:endParaRPr lang="ko-KR" altLang="en-US" dirty="0"/>
          </a:p>
        </p:txBody>
      </p:sp>
      <p:sp>
        <p:nvSpPr>
          <p:cNvPr id="22" name="내용 개체 틀 21"/>
          <p:cNvSpPr>
            <a:spLocks noGrp="1"/>
          </p:cNvSpPr>
          <p:nvPr>
            <p:ph sz="quarter" idx="10" hasCustomPrompt="1"/>
          </p:nvPr>
        </p:nvSpPr>
        <p:spPr>
          <a:xfrm>
            <a:off x="843493" y="2056467"/>
            <a:ext cx="7073552" cy="522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kumimoji="1" lang="ko-KR" altLang="en-US" sz="2800" b="1" kern="12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 Unicode MS" pitchFamily="50" charset="-127"/>
              </a:defRPr>
            </a:lvl1pPr>
          </a:lstStyle>
          <a:p>
            <a:pPr lvl="0"/>
            <a:r>
              <a:rPr lang="ko-KR" altLang="en-US" dirty="0" smtClean="0"/>
              <a:t>마스터 제목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9584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1194" y="130622"/>
            <a:ext cx="4673724" cy="346050"/>
          </a:xfrm>
        </p:spPr>
        <p:txBody>
          <a:bodyPr>
            <a:noAutofit/>
          </a:bodyPr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4" name="직선 연결선 7">
            <a:extLst>
              <a:ext uri="{FF2B5EF4-FFF2-40B4-BE49-F238E27FC236}">
                <a16:creationId xmlns:a16="http://schemas.microsoft.com/office/drawing/2014/main" id="{3959789E-1396-4E3D-AAD6-3123B61C9B94}"/>
              </a:ext>
            </a:extLst>
          </p:cNvPr>
          <p:cNvSpPr/>
          <p:nvPr userDrawn="1"/>
        </p:nvSpPr>
        <p:spPr>
          <a:xfrm>
            <a:off x="217592" y="490742"/>
            <a:ext cx="947081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BC967B58-6B76-4496-B5BF-77C609D288E1}"/>
              </a:ext>
            </a:extLst>
          </p:cNvPr>
          <p:cNvSpPr txBox="1">
            <a:spLocks/>
          </p:cNvSpPr>
          <p:nvPr userDrawn="1"/>
        </p:nvSpPr>
        <p:spPr>
          <a:xfrm>
            <a:off x="8913440" y="6685388"/>
            <a:ext cx="864096" cy="13849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90000" tIns="0" rIns="90000" bIns="0" rtlCol="0" anchor="ctr">
            <a:spAutoFit/>
          </a:bodyPr>
          <a:lstStyle>
            <a:defPPr>
              <a:defRPr lang="ko-KR"/>
            </a:defPPr>
            <a:lvl1pPr algn="r">
              <a:defRPr sz="1000" baseline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R"/>
              </a:defRPr>
            </a:lvl1pPr>
          </a:lstStyle>
          <a:p>
            <a:pPr lvl="0"/>
            <a:fld id="{86CB4B4D-7CA3-9044-876B-883B54F8677D}" type="slidenum">
              <a:rPr lang="en-US" altLang="ko-KR" sz="900" b="0" smtClean="0">
                <a:latin typeface="+mn-ea"/>
                <a:ea typeface="+mn-ea"/>
              </a:rPr>
              <a:pPr lvl="0"/>
              <a:t>‹#›</a:t>
            </a:fld>
            <a:endParaRPr lang="ko-KR" altLang="en-US" sz="9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48942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7">
            <a:extLst>
              <a:ext uri="{FF2B5EF4-FFF2-40B4-BE49-F238E27FC236}">
                <a16:creationId xmlns:a16="http://schemas.microsoft.com/office/drawing/2014/main" id="{3959789E-1396-4E3D-AAD6-3123B61C9B94}"/>
              </a:ext>
            </a:extLst>
          </p:cNvPr>
          <p:cNvSpPr/>
          <p:nvPr userDrawn="1"/>
        </p:nvSpPr>
        <p:spPr>
          <a:xfrm>
            <a:off x="217592" y="490742"/>
            <a:ext cx="947081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66169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fontAlgn="auto" latinLnBrk="0" hangingPunct="1">
              <a:spcBef>
                <a:spcPct val="50000"/>
              </a:spcBef>
              <a:spcAft>
                <a:spcPts val="0"/>
              </a:spcAft>
            </a:pP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4" name="직사각형 13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>
                <a:solidFill>
                  <a:prstClr val="white"/>
                </a:solidFill>
              </a:endParaRPr>
            </a:p>
          </p:txBody>
        </p:sp>
        <p:pic>
          <p:nvPicPr>
            <p:cNvPr id="15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/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/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223" y="5146837"/>
            <a:ext cx="1608868" cy="35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51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1F57-6407-4F9A-87B3-597B2D7E29F8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2025-04-17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601072" y="6356350"/>
            <a:ext cx="3136900" cy="365125"/>
          </a:xfr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2864768" y="6356351"/>
            <a:ext cx="2311400" cy="365125"/>
          </a:xfrm>
        </p:spPr>
        <p:txBody>
          <a:bodyPr/>
          <a:lstStyle/>
          <a:p>
            <a:fld id="{1D3BA075-CA25-46AB-8832-7464718604D1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221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396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3679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716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501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710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9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4821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8715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162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190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13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009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40" r:id="rId2"/>
    <p:sldLayoutId id="2147483737" r:id="rId3"/>
    <p:sldLayoutId id="2147483753" r:id="rId4"/>
    <p:sldLayoutId id="2147483754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1BEB4-0766-4F86-8A6A-72EB12F049DF}" type="datetimeFigureOut">
              <a:rPr lang="ko-KR" altLang="en-US" smtClean="0"/>
              <a:t>2025-04-17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9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1125449" y="1963316"/>
            <a:ext cx="8502739" cy="584775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fontAlgn="auto">
              <a:spcAft>
                <a:spcPts val="0"/>
              </a:spcAft>
              <a:defRPr/>
            </a:pPr>
            <a:r>
              <a:rPr lang="ko-KR" altLang="en-US" sz="30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국문 주식매매계약서 검토 </a:t>
            </a:r>
            <a:r>
              <a:rPr lang="en-US" altLang="ko-KR" sz="30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Guideline</a:t>
            </a:r>
            <a:endParaRPr lang="ko-KR" altLang="en-US" sz="3000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4" name="내용 개체 틀 3"/>
          <p:cNvSpPr txBox="1">
            <a:spLocks/>
          </p:cNvSpPr>
          <p:nvPr/>
        </p:nvSpPr>
        <p:spPr>
          <a:xfrm>
            <a:off x="1208089" y="6149305"/>
            <a:ext cx="3744912" cy="30777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400" b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법무실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</a:rPr>
              <a:t>｜ 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</a:rPr>
              <a:t>2025. </a:t>
            </a:r>
            <a:r>
              <a:rPr lang="en-US" altLang="ko-KR" sz="1400" b="0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4.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00164" y="2822404"/>
            <a:ext cx="736958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400" b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가이드라인 </a:t>
            </a:r>
            <a:r>
              <a:rPr lang="ko-KR" altLang="en-US" sz="1400" b="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전제사항</a:t>
            </a:r>
            <a:endParaRPr lang="en-US" altLang="ko-KR" sz="1400" b="0" dirty="0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400" b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목차</a:t>
            </a:r>
            <a:r>
              <a:rPr lang="en-US" altLang="ko-KR" sz="1400" b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(I~XII)</a:t>
            </a:r>
          </a:p>
        </p:txBody>
      </p:sp>
    </p:spTree>
    <p:extLst>
      <p:ext uri="{BB962C8B-B14F-4D97-AF65-F5344CB8AC3E}">
        <p14:creationId xmlns:p14="http://schemas.microsoft.com/office/powerpoint/2010/main" val="81066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6780" y="680380"/>
            <a:ext cx="455601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2263" lvl="0" indent="-322263" latinLnBrk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가이드라인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전제사항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vl="0"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vl="0"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322263" indent="-322263" latinLnBrk="0">
              <a:spcBef>
                <a:spcPts val="0"/>
              </a:spcBef>
              <a:spcAft>
                <a:spcPts val="0"/>
              </a:spcAft>
              <a:buAutoNum type="romanUcPeriod"/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당사자 등의 표시 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233363" indent="-233363" latinLnBrk="0">
              <a:spcBef>
                <a:spcPts val="0"/>
              </a:spcBef>
              <a:spcAft>
                <a:spcPts val="0"/>
              </a:spcAft>
              <a:buAutoNum type="romanUcPeriod"/>
              <a:defRPr/>
            </a:pPr>
            <a:endParaRPr lang="ko-KR" altLang="en-US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22263" indent="-322263" latinLnBrk="0">
              <a:spcBef>
                <a:spcPts val="0"/>
              </a:spcBef>
              <a:spcAft>
                <a:spcPts val="0"/>
              </a:spcAft>
              <a:buAutoNum type="romanUcPeriod"/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정의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기준재무제표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“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매도인이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알고 있는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한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”</a:t>
            </a: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부담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우려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“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중대한 부정적인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영향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”</a:t>
            </a: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err="1" smtClean="0">
                <a:solidFill>
                  <a:schemeClr val="tx1"/>
                </a:solidFill>
                <a:latin typeface="+mn-ea"/>
                <a:ea typeface="+mn-ea"/>
              </a:rPr>
              <a:t>중요계약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필요적 정부승인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통상적인 </a:t>
            </a:r>
            <a:r>
              <a:rPr lang="ko-KR" altLang="ko-KR" b="0" dirty="0" err="1" smtClean="0">
                <a:solidFill>
                  <a:schemeClr val="tx1"/>
                </a:solidFill>
                <a:latin typeface="+mn-ea"/>
                <a:ea typeface="+mn-ea"/>
              </a:rPr>
              <a:t>사업과정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특수관계인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447675" lvl="1" indent="-228600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322263" lvl="1" indent="-322263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 startAt="3"/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매매대금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계약금 </a:t>
            </a:r>
            <a:r>
              <a:rPr lang="ko-KR" altLang="ko-KR" b="0" dirty="0">
                <a:solidFill>
                  <a:schemeClr val="tx1"/>
                </a:solidFill>
                <a:latin typeface="+mn-ea"/>
                <a:ea typeface="+mn-ea"/>
              </a:rPr>
              <a:t>지급 방식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Earn-out </a:t>
            </a:r>
            <a:r>
              <a:rPr lang="ko-KR" altLang="ko-KR" b="0" dirty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 / </a:t>
            </a:r>
            <a:r>
              <a:rPr lang="ko-KR" altLang="ko-KR" b="0" dirty="0">
                <a:solidFill>
                  <a:schemeClr val="tx1"/>
                </a:solidFill>
                <a:latin typeface="+mn-ea"/>
                <a:ea typeface="+mn-ea"/>
              </a:rPr>
              <a:t>유보 방식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매매대금 </a:t>
            </a:r>
            <a:r>
              <a:rPr lang="ko-KR" altLang="ko-KR" b="0" dirty="0">
                <a:solidFill>
                  <a:schemeClr val="tx1"/>
                </a:solidFill>
                <a:latin typeface="+mn-ea"/>
                <a:ea typeface="+mn-ea"/>
              </a:rPr>
              <a:t>조정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ko-KR" b="0" dirty="0">
                <a:solidFill>
                  <a:schemeClr val="tx1"/>
                </a:solidFill>
                <a:latin typeface="+mn-ea"/>
                <a:ea typeface="+mn-ea"/>
              </a:rPr>
              <a:t>순자산 조정 방식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(Net Asset) / </a:t>
            </a:r>
            <a:r>
              <a:rPr lang="ko-KR" altLang="ko-KR" b="0" dirty="0" err="1">
                <a:solidFill>
                  <a:schemeClr val="tx1"/>
                </a:solidFill>
                <a:latin typeface="+mn-ea"/>
                <a:ea typeface="+mn-ea"/>
              </a:rPr>
              <a:t>순운전자본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(Net Working Capital) </a:t>
            </a:r>
            <a:r>
              <a:rPr lang="ko-KR" altLang="ko-KR" b="0" dirty="0">
                <a:solidFill>
                  <a:schemeClr val="tx1"/>
                </a:solidFill>
                <a:latin typeface="+mn-ea"/>
                <a:ea typeface="+mn-ea"/>
              </a:rPr>
              <a:t>조정 </a:t>
            </a: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매매대금 조정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: Locked Box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447675" lvl="1" indent="-228600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322263" lvl="1" indent="-322263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 startAt="4"/>
              <a:defRPr/>
            </a:pP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확인실사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lvl="1" indent="-285750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 startAt="4"/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322263" lvl="1" indent="-322263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 startAt="4"/>
              <a:defRPr/>
            </a:pP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거래종결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교부물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lvl="1" indent="-285750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 startAt="4"/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322263" lvl="1" indent="-322263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 startAt="4"/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매도인의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진술보장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근본적 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진술보장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/ 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대상회사에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 관한 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진술보장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err="1" smtClean="0">
                <a:solidFill>
                  <a:schemeClr val="tx1"/>
                </a:solidFill>
                <a:latin typeface="+mn-ea"/>
                <a:ea typeface="+mn-ea"/>
              </a:rPr>
              <a:t>공개목록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59628" y="1222714"/>
            <a:ext cx="414741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2263" lvl="1" indent="-322263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 startAt="7"/>
              <a:defRPr/>
            </a:pP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확약사항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거래종결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 전 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확약사항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err="1" smtClean="0">
                <a:solidFill>
                  <a:schemeClr val="tx1"/>
                </a:solidFill>
                <a:latin typeface="+mn-ea"/>
                <a:ea typeface="+mn-ea"/>
              </a:rPr>
              <a:t>거래종결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후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  <a:ea typeface="+mn-ea"/>
              </a:rPr>
              <a:t>확약사항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447675" lvl="1" indent="-228600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22263" lvl="1" indent="-322263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 startAt="8"/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선행조건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주요 선행조건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기타 선행조건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322263" lvl="1" indent="-322263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322263" lvl="1" indent="-322263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 startAt="9"/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해제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lvl="1" indent="-285750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 startAt="9"/>
              <a:defRPr/>
            </a:pP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22263" lvl="1" indent="-322263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 startAt="9"/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손해배상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손해배상 당사자 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/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손해액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손해배상의 제한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손해배상의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제한에 대한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예외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447675" lvl="1" indent="-228600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22263" lvl="1" indent="-322263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 startAt="11"/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진술보장보험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손해배상청구 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/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보험료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진술보장보험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관련 추가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실사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New Breach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클레임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711200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322263" lvl="1" indent="-322263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XII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기타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분쟁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해결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1938" latinLnBrk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공시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4851035" y="1319226"/>
            <a:ext cx="0" cy="48555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ko-KR" altLang="en-US" dirty="0" smtClean="0">
                <a:latin typeface="+mn-ea"/>
              </a:rPr>
              <a:t>목차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996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ko-KR" altLang="en-US" dirty="0" smtClean="0">
                <a:latin typeface="+mn-ea"/>
              </a:rPr>
              <a:t>가이드라인 </a:t>
            </a:r>
            <a:r>
              <a:rPr lang="ko-KR" altLang="en-US" dirty="0" err="1" smtClean="0">
                <a:latin typeface="+mn-ea"/>
              </a:rPr>
              <a:t>전제사항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39739" y="1150995"/>
            <a:ext cx="9188449" cy="379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lvl="0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표준 주식매매계약서의 내용과 이하 가이드라인상의 설명은 다음과 같은 사항을 전제로 합니다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ko-KR" sz="14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[LG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생활건강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이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  <a:ea typeface="+mn-ea"/>
              </a:rPr>
              <a:t>매수인임을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전제로 매수인에게 비교적 유리한 형식의 계약을 표준 주식매매계약서로 준비하였으며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가이드라인 또한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[LG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생활건강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이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  <a:ea typeface="+mn-ea"/>
              </a:rPr>
              <a:t>매수인임을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전제로 논의함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ko-KR" altLang="ko-KR" b="0" dirty="0" err="1" smtClean="0">
                <a:solidFill>
                  <a:schemeClr val="tx1"/>
                </a:solidFill>
                <a:latin typeface="+mn-ea"/>
                <a:ea typeface="+mn-ea"/>
              </a:rPr>
              <a:t>대상회사가</a:t>
            </a: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국내 비상장회사이고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준거법이 </a:t>
            </a:r>
            <a:r>
              <a:rPr lang="ko-KR" altLang="ko-KR" b="0" dirty="0" err="1" smtClean="0">
                <a:solidFill>
                  <a:schemeClr val="tx1"/>
                </a:solidFill>
                <a:latin typeface="+mn-ea"/>
                <a:ea typeface="+mn-ea"/>
              </a:rPr>
              <a:t>한국법임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한편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  <a:ea typeface="+mn-ea"/>
              </a:rPr>
              <a:t>대상회사가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상장회사인 경우의 특유의 고려사항은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‘</a:t>
            </a:r>
            <a:r>
              <a:rPr lang="en-US" altLang="ko-KR" u="sng" dirty="0" smtClean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상장회사</a:t>
            </a:r>
            <a:r>
              <a:rPr lang="en-US" altLang="ko-KR" u="sng" dirty="0" smtClean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’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라는 표제 하에 별도 기재함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그 외의 가이드라인상의 내용은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  <a:ea typeface="+mn-ea"/>
              </a:rPr>
              <a:t>대상회사가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상장회사인 경우에도 동일하게 고려 가능함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대상회사의 경영권 지분을 인수하는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share deal </a:t>
            </a: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구조이며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, buy-out </a:t>
            </a: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거래임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주식매매계약 체결과 </a:t>
            </a:r>
            <a:r>
              <a:rPr lang="ko-KR" altLang="ko-KR" b="0" dirty="0" err="1" smtClean="0">
                <a:solidFill>
                  <a:schemeClr val="tx1"/>
                </a:solidFill>
                <a:latin typeface="+mn-ea"/>
                <a:ea typeface="+mn-ea"/>
              </a:rPr>
              <a:t>거래종결이</a:t>
            </a: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동시에 이루어지지 않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는</a:t>
            </a: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거래임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endParaRPr lang="ko-KR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매매가격을 </a:t>
            </a:r>
            <a:r>
              <a:rPr lang="ko-KR" altLang="ko-KR" b="0" dirty="0" err="1" smtClean="0">
                <a:solidFill>
                  <a:schemeClr val="tx1"/>
                </a:solidFill>
                <a:latin typeface="+mn-ea"/>
                <a:ea typeface="+mn-ea"/>
              </a:rPr>
              <a:t>거래종결</a:t>
            </a: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이후 조정하는 방식의 거래임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ko-KR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진술보장보험에 가입하였음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lnSpc>
                <a:spcPct val="110000"/>
              </a:lnSpc>
              <a:spcAft>
                <a:spcPts val="600"/>
              </a:spcAft>
            </a:pP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 </a:t>
            </a:r>
          </a:p>
          <a:p>
            <a:pPr latinLnBrk="0">
              <a:lnSpc>
                <a:spcPct val="110000"/>
              </a:lnSpc>
              <a:spcAft>
                <a:spcPts val="600"/>
              </a:spcAft>
            </a:pPr>
            <a:endParaRPr lang="ko-KR" altLang="ko-KR" sz="14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268288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표준 주식매매계약서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별첨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ko-KR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상의 문구는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 ‘</a:t>
            </a:r>
            <a:r>
              <a:rPr lang="ko-KR" altLang="ko-KR" sz="1400" u="sng" dirty="0" smtClean="0">
                <a:solidFill>
                  <a:schemeClr val="tx1"/>
                </a:solidFill>
                <a:latin typeface="+mn-ea"/>
                <a:ea typeface="+mn-ea"/>
              </a:rPr>
              <a:t>표준</a:t>
            </a:r>
            <a:r>
              <a:rPr lang="en-US" altLang="ko-KR" sz="1400" u="sng" dirty="0" smtClean="0">
                <a:solidFill>
                  <a:schemeClr val="tx1"/>
                </a:solidFill>
                <a:latin typeface="+mn-ea"/>
                <a:ea typeface="+mn-ea"/>
              </a:rPr>
              <a:t> SPA </a:t>
            </a:r>
            <a:r>
              <a:rPr lang="ko-KR" altLang="ko-KR" sz="1400" u="sng" dirty="0" smtClean="0">
                <a:solidFill>
                  <a:schemeClr val="tx1"/>
                </a:solidFill>
                <a:latin typeface="+mn-ea"/>
                <a:ea typeface="+mn-ea"/>
              </a:rPr>
              <a:t>문구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’ </a:t>
            </a:r>
            <a:r>
              <a:rPr lang="ko-KR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란에 기재하였고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b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Checklist </a:t>
            </a:r>
            <a:r>
              <a:rPr lang="ko-KR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란에 기재되어 있는 내용에 비추어 사용할 수 있는 문구는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 ‘</a:t>
            </a:r>
            <a:r>
              <a:rPr lang="ko-KR" altLang="ko-KR" sz="1400" u="sng" dirty="0" smtClean="0">
                <a:solidFill>
                  <a:schemeClr val="tx1"/>
                </a:solidFill>
                <a:latin typeface="+mn-ea"/>
                <a:ea typeface="+mn-ea"/>
              </a:rPr>
              <a:t>추가</a:t>
            </a:r>
            <a:r>
              <a:rPr lang="en-US" altLang="ko-KR" sz="1400" u="sng" dirty="0" smtClean="0">
                <a:solidFill>
                  <a:schemeClr val="tx1"/>
                </a:solidFill>
                <a:latin typeface="+mn-ea"/>
                <a:ea typeface="+mn-ea"/>
              </a:rPr>
              <a:t> SPA </a:t>
            </a:r>
            <a:r>
              <a:rPr lang="ko-KR" altLang="ko-KR" sz="1400" u="sng" dirty="0" smtClean="0">
                <a:solidFill>
                  <a:schemeClr val="tx1"/>
                </a:solidFill>
                <a:latin typeface="+mn-ea"/>
                <a:ea typeface="+mn-ea"/>
              </a:rPr>
              <a:t>문구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’ </a:t>
            </a:r>
            <a:r>
              <a:rPr lang="ko-KR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란에 기재하였습니다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9030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>
                <a:latin typeface="+mn-ea"/>
              </a:rPr>
              <a:t>I. </a:t>
            </a:r>
            <a:r>
              <a:rPr lang="ko-KR" altLang="en-US" dirty="0">
                <a:latin typeface="+mn-ea"/>
              </a:rPr>
              <a:t>당사자 등의 </a:t>
            </a:r>
            <a:r>
              <a:rPr lang="ko-KR" altLang="en-US" dirty="0" smtClean="0">
                <a:latin typeface="+mn-ea"/>
              </a:rPr>
              <a:t>표시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481491"/>
              </p:ext>
            </p:extLst>
          </p:nvPr>
        </p:nvGraphicFramePr>
        <p:xfrm>
          <a:off x="455696" y="791311"/>
          <a:ext cx="9188450" cy="5894355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3896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계약명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계약체결일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당사자명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당사자 특정 정보 등을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476585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매도인이 여러 명인 경우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매도인들의 주식매매계약상 책임을 연대책임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개별책임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무엇으로 할 것인지에 대한 검토 필요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연대책임으로 할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손해배상 등 관련 부분에 연대책임이라는 취지를 명시한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개별조항을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넣거나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 부분에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본 계약상 매도인들의 책임은 모두 연대책임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이라는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일반조항을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넣을 수 있음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61950" marR="0" lvl="1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개인인 경우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매도인의 </a:t>
                      </a:r>
                      <a:r>
                        <a:rPr kumimoji="1" lang="ko-KR" altLang="en-US" sz="10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민법상 미성년자</a:t>
                      </a:r>
                      <a:r>
                        <a:rPr kumimoji="1" lang="en-US" altLang="ko-KR" sz="10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(19</a:t>
                      </a:r>
                      <a:r>
                        <a:rPr kumimoji="1" lang="ko-KR" altLang="en-US" sz="10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 미만</a:t>
                      </a:r>
                      <a:r>
                        <a:rPr kumimoji="1" lang="en-US" altLang="ko-KR" sz="10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피성년후견인</a:t>
                      </a:r>
                      <a:r>
                        <a:rPr kumimoji="1" lang="en-US" altLang="ko-KR" sz="10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피한정후견인 해당 여부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확인 필요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민법상 미성년자이거나 피성년후견인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피한정후견인인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매도인의 법률대리인의 동의 및 이러한 사정을 고려한 진술보장상의 기재나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공개목록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기재와 함께 기명날인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서명페이지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정리 필요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매도인의 </a:t>
                      </a:r>
                      <a:r>
                        <a:rPr kumimoji="1" lang="ko-KR" altLang="en-US" sz="10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확인 필요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해외 국적자인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거주자인 매수인과 주식매매계약을 체결하기 위해서는 외국환거래법령에 따라 증권취득신고가 필요할 수 있음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매도인의 </a:t>
                      </a:r>
                      <a:r>
                        <a:rPr kumimoji="1" lang="ko-KR" altLang="en-US" sz="10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대한민국 거주자 해당 여부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확인 필요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비거주자라면 매수인이 증권거래세 및 양도소득세를 원천징수하여 납부해야 함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한편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관련 세금 산정 오류 등의 경우 매수인이 추징당할 리스크가 있으므로 세무자문사와 협의하여 이에 관한 조치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면책특약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 금액에 대한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에스크로우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등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마련해두어야 함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533400" marR="0" lvl="1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상장회사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공개매수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대상회사의 주식을 취득하고자 하는 매수인이 과거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개월간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 이상으로부터 주식을 매수하였고 본 거래로 매수인 본인과 특별관계자가 보유하게 되는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지분이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이상이 된다면 공개매수의무가 적용되므로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자본시장법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경우에는 주식매매계약을 통해 사적인 거래가 불가능함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623888" marR="0" lvl="1" indent="-1778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623888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공개매수는 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투자자 등 관련자들에게 미치는 파급효과가 크기 때문에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공개매수의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목적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공개매수할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주식의 종류와 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공개매수기간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공개매수공고일로부터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20~60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공개매수가격 등을 공고한 뒤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공개매수에 관한 사항을 기재한 공개매수신고서를 제출해야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자본시장법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134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623888" marR="0" lvl="1" indent="-1778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623888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공개매수인은 원칙적으로 응모된 주식은 전부 매수해야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자본시장법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 매수할 주식의 수를 미리 정하고 응모를 받아 초과 응모된 경우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비율별로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매수할 수는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623888" marR="0" lvl="1" indent="-1778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623888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공개매수인은 공개매수공고일부터 공개매수기간이 종료할 때까지는 공개매수 외의 방법으로는 동일 주식을 매수하지 못함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자본시장법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7193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</a:t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본 주식매매계약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(“</a:t>
                      </a:r>
                      <a:r>
                        <a:rPr kumimoji="1" lang="ko-KR" altLang="en-US" sz="1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본 계약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”)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(“</a:t>
                      </a:r>
                      <a:r>
                        <a:rPr kumimoji="1" lang="ko-KR" altLang="en-US" sz="1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본 계약 체결일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”)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다음 당사자들 사이에서 체결되었다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(1)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대한민국 법률에 의거하여 설립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존속 중이고 본사가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소재하는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](“</a:t>
                      </a:r>
                      <a:r>
                        <a:rPr kumimoji="1" lang="ko-KR" altLang="en-US" sz="1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매도인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”);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(2)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대한민국 법률에 의거하여 설립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존속 중이고 본사가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소재하는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](“</a:t>
                      </a:r>
                      <a:r>
                        <a:rPr kumimoji="1" lang="ko-KR" altLang="en-US" sz="1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매수인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”).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9511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72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기준재무제표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011327"/>
              </p:ext>
            </p:extLst>
          </p:nvPr>
        </p:nvGraphicFramePr>
        <p:xfrm>
          <a:off x="439738" y="1038740"/>
          <a:ext cx="9188450" cy="3917240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2918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진술보장의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대상 및 매매대금 조정 관련 기준으로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기능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16188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기준재무제표를 </a:t>
                      </a:r>
                      <a:r>
                        <a:rPr kumimoji="1" 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하나로만 하는 경우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실사 당시 기준이 된 재무제표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감사필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또는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미감사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감사필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재무제표라면 외부감사인의 감사보고서도 포함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기준재무제표로 설정하는 경우가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일반적임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 </a:t>
                      </a:r>
                      <a:endParaRPr kumimoji="1" 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61925" marR="0" lvl="1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기준재무제표를 다수로 하는 경우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Valuation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최근 수년간의 재무제표를 토대로 실시된다는 점에서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실사 당시 기준이 된 재무제표 외에도 최근 수년간의 재무제표 및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실사 내지 주식매매계약 체결 시점 전 최근 일자의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미감사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재무제표를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기준이 되는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기준재무제표로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설정할 수도 있음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8392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</a:t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기준재무제표를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하나로만 하는 </a:t>
                      </a: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경우</a:t>
                      </a:r>
                      <a:r>
                        <a:rPr 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기준재무제표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20[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 현재 </a:t>
                      </a:r>
                      <a:r>
                        <a:rPr lang="ko-KR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관한 </a:t>
                      </a:r>
                      <a:r>
                        <a:rPr lang="ko-KR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손익계산서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포괄손익계산서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자본변동표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현금흐름표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이에 대한 주석 및 외부감사인의 감사보고서를 의미한다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  <a:tr h="116729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</a:t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기준재무제표를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다수로 하는 </a:t>
                      </a: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경우</a:t>
                      </a:r>
                      <a:r>
                        <a:rPr 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기준재무제표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(a)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20[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 현재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관한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손익계산서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포괄손익계산서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자본변동표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현금흐름표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이에 대한 주석 및 외부감사인의 감사보고서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(b)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20[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현재 </a:t>
                      </a:r>
                      <a:r>
                        <a:rPr lang="ko-KR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관한 </a:t>
                      </a:r>
                      <a:r>
                        <a:rPr lang="ko-KR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손익계산서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포괄손익계산서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자본변동표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현금흐름표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이에 대한 주석 및 외부감사인의 감사보고서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(c)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대상회사의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회계기준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따라 작성되어 제공된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20[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 현재의 </a:t>
                      </a:r>
                      <a:r>
                        <a:rPr lang="ko-KR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미감사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손익계산서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포괄손익계산서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자본변동표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현금흐름표를 의미한다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264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62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9369" y="678461"/>
            <a:ext cx="54346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. “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매도인이 알고 있는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한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”(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이른바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knowledge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qualifier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828325"/>
              </p:ext>
            </p:extLst>
          </p:nvPr>
        </p:nvGraphicFramePr>
        <p:xfrm>
          <a:off x="439738" y="1035388"/>
          <a:ext cx="9188450" cy="4192037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3242067063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2486949393"/>
                    </a:ext>
                  </a:extLst>
                </a:gridCol>
              </a:tblGrid>
              <a:tr h="10679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매수인에게 제공하는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진술보장의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범위를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‘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알고 있는 것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한정하는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주로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knowledge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대상자 및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(ii) knowledge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범위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{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실제로 알고 있는 것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이른바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actual knowledge) vs.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합리적으로 요구되는 주의를 기울였다면 알 수 있었던 것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이른바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constructive knowledge)}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관련하여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문제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993791"/>
                  </a:ext>
                </a:extLst>
              </a:tr>
              <a:tr h="180522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kumimoji="1" 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knowledge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대상자를 축소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등기이사로 한정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하고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 knowledge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범위도 축소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(actual 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knowledge)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하려는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경향 존재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knowledge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대상자를 확장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팀장급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이상의 임직원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하고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 knowledge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범위도 확장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(constructive knowledge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)*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함이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바람직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진술보장보험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에서의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knowledge</a:t>
                      </a:r>
                    </a:p>
                    <a:p>
                      <a:pPr marL="361950" indent="-180975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진술보장보험회사에서는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보험증권상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knowledge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범위를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constructive knowledge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 규정하려는 경향이 있으므로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매도인에게 진술보장보험회사가 이러한 경향이 있다는 점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knowledge qualifier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진술보장에서만 적용된다는 점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진술보장보험에 가입하게 되면 매도인의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(fraud)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행위를 제외하고는 매도인에게 원칙적으로 손해배상을 청구할 수 없다는 점 등을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들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어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constructive knowledge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수용해줄 것을 설득하는 것도 고려할 수 있음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325436"/>
                  </a:ext>
                </a:extLst>
              </a:tr>
              <a:tr h="13188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</a:t>
                      </a:r>
                      <a:br>
                        <a:rPr lang="en-US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매도인이 알고 있는 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이라 함은 매도인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소속된 </a:t>
                      </a:r>
                      <a:r>
                        <a:rPr lang="en-US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급 이상의 임원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해외 종속회사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이하에서 정의함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소속된 </a:t>
                      </a:r>
                      <a:r>
                        <a:rPr lang="en-US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급 이상의 임직원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실제로 알고 있었거나 합리적으로 요구되는 주의를 기울였다면 알 수 있었던 것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의미한다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정의규정의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목적상 특정 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직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원의 직급은 소속 회사에서의 직급이 아닌 매도인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즉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에서의 직급을 기준으로 하며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직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원이 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발신하거나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(to/cc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포함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 같음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작성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검토한 서신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이메일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기안서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보고서 등 문서에 기재되어 있는 사항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소속 회사의 위임전결규정 기타 내규에 명시된 바에 따라 해당 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직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원이 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발신하였어야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하거나 작성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검토하였어야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하는 사항도 포함함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 해당 사람이 알고 있었던 것으로 본다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564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27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71513"/>
            <a:ext cx="371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3. </a:t>
            </a:r>
            <a:r>
              <a:rPr lang="ko-KR" altLang="en-US" dirty="0" smtClean="0">
                <a:latin typeface="+mn-ea"/>
                <a:ea typeface="+mn-ea"/>
              </a:rPr>
              <a:t>부담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402305"/>
              </p:ext>
            </p:extLst>
          </p:nvPr>
        </p:nvGraphicFramePr>
        <p:xfrm>
          <a:off x="446540" y="1031875"/>
          <a:ext cx="9182365" cy="2121932"/>
        </p:xfrm>
        <a:graphic>
          <a:graphicData uri="http://schemas.openxmlformats.org/drawingml/2006/table">
            <a:tbl>
              <a:tblPr firstRow="1" firstCol="1" bandRow="1"/>
              <a:tblGrid>
                <a:gridCol w="852691">
                  <a:extLst>
                    <a:ext uri="{9D8B030D-6E8A-4147-A177-3AD203B41FA5}">
                      <a16:colId xmlns:a16="http://schemas.microsoft.com/office/drawing/2014/main" val="3235294585"/>
                    </a:ext>
                  </a:extLst>
                </a:gridCol>
                <a:gridCol w="8329674">
                  <a:extLst>
                    <a:ext uri="{9D8B030D-6E8A-4147-A177-3AD203B41FA5}">
                      <a16:colId xmlns:a16="http://schemas.microsoft.com/office/drawing/2014/main" val="4175779365"/>
                    </a:ext>
                  </a:extLst>
                </a:gridCol>
              </a:tblGrid>
              <a:tr h="4788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매매대상인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대상회사의 자산의 소유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사용 등에 있어 각종 제한이 없다는 점을 매수인에게 진술보장해주는 </a:t>
                      </a:r>
                      <a:r>
                        <a:rPr 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기능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994568"/>
                  </a:ext>
                </a:extLst>
              </a:tr>
              <a:tr h="8392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담보물권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용익물권과 같이 등기부등본 등을 통해 확인 가능한 법률상 제한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제약으로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한정시키려고 하는 경향 존재</a:t>
                      </a:r>
                      <a:endParaRPr lang="en-US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en-US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각종 법률상 제한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제약은 물론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계약상 제한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제약까지 </a:t>
                      </a:r>
                      <a:r>
                        <a:rPr 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포함시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키는 것이 </a:t>
                      </a:r>
                      <a:r>
                        <a:rPr lang="ko-KR" altLang="en-US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바람직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433428"/>
                  </a:ext>
                </a:extLst>
              </a:tr>
              <a:tr h="8038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</a:t>
                      </a:r>
                      <a:b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 소유권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수익권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사용권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의결권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처분권 등 각종 권리에 대한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근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저당권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질권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유치권 등의 담보권 및 지상권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지역권 전세권 등의 용익물권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옵션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우선권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우선매수권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의결권 위임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환매특약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신탁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압류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가압류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취득시효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선의취득 등 권리 상실 사유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처분금지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동반매각요구권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drag-along right),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도청구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(tag-along right)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이와 유사한 법률상 또는 계약상 제약 또는 제한을 의미한다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77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38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91480"/>
            <a:ext cx="371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4. </a:t>
            </a:r>
            <a:r>
              <a:rPr lang="ko-KR" altLang="en-US" dirty="0" smtClean="0">
                <a:latin typeface="+mn-ea"/>
                <a:ea typeface="+mn-ea"/>
              </a:rPr>
              <a:t>우려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421976"/>
              </p:ext>
            </p:extLst>
          </p:nvPr>
        </p:nvGraphicFramePr>
        <p:xfrm>
          <a:off x="439738" y="1031875"/>
          <a:ext cx="9188450" cy="2157335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1874141231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3951522846"/>
                    </a:ext>
                  </a:extLst>
                </a:gridCol>
              </a:tblGrid>
              <a:tr h="4788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어떠한 법령 위반이나 분쟁이 발생할 우려가 없다는 점을 매수인에게 진술보장해주는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기능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659684"/>
                  </a:ext>
                </a:extLst>
              </a:tr>
              <a:tr h="99780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우려가 표시되는 방법을 가능한 축소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서면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통지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있는 경우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하려고 하는 경향 존재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우려가 표시되는 방법을 가능한 확장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서면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구두통지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통지가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없더라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도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제반 사정을 고려할 때 합리적으로 법령 위반이나 분쟁 발생 가능성이 예상되는 경우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함이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바람직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3272002"/>
                  </a:ext>
                </a:extLst>
              </a:tr>
              <a:tr h="6807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</a:t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우려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법적 절차의 원인이나 기타 다른 문제들이 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서면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전자문서를 포함함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 같음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구두 기타 형태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 주장 또는 제기되었거나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주장 또는 제기될 것이라는 점을 표시하는 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서면 또는 구두 기타 통지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있는 경우를 의미한다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398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28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947098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91230"/>
            <a:ext cx="9163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5</a:t>
            </a:r>
            <a:r>
              <a:rPr lang="en-US" altLang="ko-KR" dirty="0">
                <a:latin typeface="+mn-ea"/>
                <a:ea typeface="+mn-ea"/>
              </a:rPr>
              <a:t>. “</a:t>
            </a:r>
            <a:r>
              <a:rPr lang="ko-KR" altLang="en-US" dirty="0">
                <a:latin typeface="+mn-ea"/>
                <a:ea typeface="+mn-ea"/>
              </a:rPr>
              <a:t>중대한 부정적인 </a:t>
            </a:r>
            <a:r>
              <a:rPr lang="ko-KR" altLang="en-US" dirty="0" smtClean="0">
                <a:latin typeface="+mn-ea"/>
                <a:ea typeface="+mn-ea"/>
              </a:rPr>
              <a:t>영향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”</a:t>
            </a:r>
            <a:r>
              <a:rPr lang="en-US" altLang="ko-KR" dirty="0" smtClean="0">
                <a:latin typeface="+mn-ea"/>
                <a:ea typeface="+mn-ea"/>
              </a:rPr>
              <a:t>{</a:t>
            </a:r>
            <a:r>
              <a:rPr lang="ko-KR" altLang="en-US" dirty="0">
                <a:latin typeface="+mn-ea"/>
                <a:ea typeface="+mn-ea"/>
              </a:rPr>
              <a:t>이른바 </a:t>
            </a:r>
            <a:r>
              <a:rPr lang="en-US" altLang="ko-KR" dirty="0">
                <a:latin typeface="+mn-ea"/>
                <a:ea typeface="+mn-ea"/>
              </a:rPr>
              <a:t>Material Adverse Effect (MAE) </a:t>
            </a:r>
            <a:r>
              <a:rPr lang="ko-KR" altLang="en-US" dirty="0">
                <a:latin typeface="+mn-ea"/>
                <a:ea typeface="+mn-ea"/>
              </a:rPr>
              <a:t>또는 </a:t>
            </a:r>
            <a:r>
              <a:rPr lang="en-US" altLang="ko-KR" dirty="0">
                <a:latin typeface="+mn-ea"/>
                <a:ea typeface="+mn-ea"/>
              </a:rPr>
              <a:t>Material Adverse Change (MAC</a:t>
            </a:r>
            <a:r>
              <a:rPr lang="en-US" altLang="ko-KR" dirty="0" smtClean="0">
                <a:latin typeface="+mn-ea"/>
                <a:ea typeface="+mn-ea"/>
              </a:rPr>
              <a:t>)}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(1)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648234"/>
              </p:ext>
            </p:extLst>
          </p:nvPr>
        </p:nvGraphicFramePr>
        <p:xfrm>
          <a:off x="439738" y="1035800"/>
          <a:ext cx="9188450" cy="3735663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592267081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2703969183"/>
                    </a:ext>
                  </a:extLst>
                </a:gridCol>
              </a:tblGrid>
              <a:tr h="95781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기준일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이후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대상회사에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중대한 부정적인 영향을 미치거나 미칠 것으로 우려되는 사정이 발생한 바 없다는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진술보장으로서의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거래종결일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기준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대상회사에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중대한 부정적인 영향을 미치거나 미칠 것으로 우려되는 사정이 발생하였다면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거래종결을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거절할 수 있도록 해주는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선행조건으로서의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MAE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발생 판단의 객관적인 근거가 되는 기준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항목 및 금액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(ii) 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MAE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예외 사유와 관련하여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논의됨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606" marR="46606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479322"/>
                  </a:ext>
                </a:extLst>
              </a:tr>
              <a:tr h="23945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MAE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발생 판단의 객관적인 근거가 되는 기준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아래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‘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에서의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전체 총자산의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[•]%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이상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”)*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자체를 삭제하거나 기준 금액을 높이거나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MAE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예외 사유를 가급적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늘리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고자 하려는 경향 존재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MAE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발생 판단의 객관적인 근거가 되는 기준을 추가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재무제표 기준일 대시 기업가치의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[25]%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이상 하락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연간 매출액의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[25]%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이상 하락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자산총액의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[25]%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이상 감소 또는 부채총액의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[25]%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이상 증가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하거나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MAE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예외 사유를 가급적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줄이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것이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바람직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MAE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정의에서의 기준 금액</a:t>
                      </a:r>
                      <a:endParaRPr lang="en-US" sz="1000" b="1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7188" lvl="1" indent="-17145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MAE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의 정의에 기준 금액이 명시되어 있지 않은 경우가 더 </a:t>
                      </a:r>
                      <a:r>
                        <a:rPr 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많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음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7188" lvl="1" indent="-17145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MAE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는 엄격히 해석되고 미국은 물론 한국 법원에서도 인정되기 쉽지 않다는 점에서 매수인 입장에서는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 MAE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발생이 우려될 것으로 판단된다면 기준 </a:t>
                      </a:r>
                      <a:r>
                        <a:rPr 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금액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을 추가하는 방안을 고려할 수 있음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기준 금액은 </a:t>
                      </a:r>
                      <a:r>
                        <a:rPr 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통상</a:t>
                      </a:r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10~50%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의 범위에서 협의에 따라 </a:t>
                      </a:r>
                      <a:r>
                        <a:rPr 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결정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</a:p>
                    <a:p>
                      <a:pPr marL="357188" lvl="1" indent="-17145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참고로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err="1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기준금액의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범위를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 ‘10%’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로 규정한 뒤 경영 악화로 인해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 ‘10%’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이상 감소를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 MAE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로 보아 적법한 해제였다고 본 사례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(2022. 10. 6.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선고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 2020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2025145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판결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가 있으나 현재 상고심 계속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중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6606" marR="46606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74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55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947098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91230"/>
            <a:ext cx="9163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5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. “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중대한 부정적인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영향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”{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이른바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Material Adverse Effect (MAE)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또는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Material Adverse Change (MAC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)} (2)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225172"/>
              </p:ext>
            </p:extLst>
          </p:nvPr>
        </p:nvGraphicFramePr>
        <p:xfrm>
          <a:off x="439738" y="1035799"/>
          <a:ext cx="9188450" cy="4791101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592267081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2703969183"/>
                    </a:ext>
                  </a:extLst>
                </a:gridCol>
              </a:tblGrid>
              <a:tr h="479110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6606" marR="46606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정의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중대한 부정적인 영향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개별적으로 또는 다른 사유와 함께 전체적으로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종속회사의 영업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 및 경영상태에 중대한 부정적인 영향을 초래하고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그로 인해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종속회사의 </a:t>
                      </a:r>
                      <a:r>
                        <a:rPr lang="en-US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전체 총자산</a:t>
                      </a:r>
                      <a:r>
                        <a:rPr lang="en-US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</a:t>
                      </a:r>
                      <a:r>
                        <a:rPr lang="en-US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[•]% 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이상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감소하거나 감소할 것이 명백히 예상되는 일체의 사유를 의미한다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중대한 부정적인 영향을 판단함에 있어서는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대상회사나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해외 종속회사 별로 그 효과를 판단하지 않고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총체적인 관점에서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 전체의 영업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 및 경영상태에 미치는 영향을 기준으로 그 효과를 판단함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다음 각 사항 또는 다음 각 사항에 기인하는 경우는 중대한 부정적인 영향에 해당하는 것으로 보지 아니하며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중대한 부정적인 영향의 발생 여부를 판단함에 있어 고려되지 아니한다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(a)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물가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경기변동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환율 변동 등 거시경제지표를 반영하는 전반적인 경제상황 변동 등 대한민국 또는 국제 경제상황의 변화 및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해외 종속회사가 속한 산업분야나 시장의 일반적인 변화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(b)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전쟁 또는 천재지변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자연재해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팬데믹의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계속 및 악화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(c)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금융시장 또는 증권시장의 변화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환율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지수의 변경을 포함함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(d)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법령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일반적으로 인정되는 회계원칙이나 회계기준 또는 그 해석의 변경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(e)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계약이나 본건 거래의 발표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보도나 공시 또는 본 계약에서 예정한 조치나 의무의 이행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매수인의 요구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요청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동의에 따라 행하여진 사항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(f)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체결 시점에 매수인이 인지하였거나 매수인이 인지하기에 합리적으로 충분한 내용 및 방법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맥락으로 공개된 사항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(g)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이전에 치유하는 사항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(a)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(c)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경우에는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사항 또는 해당 사항에 기인하는 경우가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해외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종속회사와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동종 사업을 영위하는 다른 회사에 비해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종속회사의 총체적인 영업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 및 경영상태에 대해 현저하게 불비례적으로 중대한 부정적인 영향을 초래하는 경우에는 중대한 부정적인 영향이 있는 것으로 해석한다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</a:t>
                      </a:r>
                      <a:r>
                        <a:rPr lang="ko-KR" sz="10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관한 </a:t>
                      </a:r>
                      <a:r>
                        <a:rPr lang="ko-KR" sz="10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u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5.</a:t>
                      </a:r>
                      <a:r>
                        <a:rPr lang="en-US" altLang="ko-KR" sz="1000" u="none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통상적인 </a:t>
                      </a:r>
                      <a:r>
                        <a:rPr lang="ko-KR" sz="1000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사업과정</a:t>
                      </a:r>
                      <a:r>
                        <a:rPr lang="en-US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중대한 부정적인 영향의 </a:t>
                      </a:r>
                      <a:r>
                        <a:rPr lang="ko-KR" sz="1000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부존재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종속회사는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기준일 이후 통상적인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사업과정에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따라 운영되었고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기준일 이후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종속회사에 중대한 부정적인 영향을 미칠 수 있는 사정은 존재하지 아니한다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선행조건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 </a:t>
                      </a:r>
                      <a:r>
                        <a:rPr 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거래종결의무의 선행조건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본 계약상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의무는 다음 각항의 조건이 모두 성취되는 것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매수인에 의하여 포기되는 것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그 선행조건으로 한다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체결일 이후 중대한 부정적인 영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향이 발생하지 않았을 것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6606" marR="46606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849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84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71513"/>
            <a:ext cx="9163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5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. “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중대한 부정적인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영향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”{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이른바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Material Adverse Effect (MAE)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또는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Material Adverse Change (MAC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)} (3)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62218"/>
              </p:ext>
            </p:extLst>
          </p:nvPr>
        </p:nvGraphicFramePr>
        <p:xfrm>
          <a:off x="439738" y="1031875"/>
          <a:ext cx="9188450" cy="3715970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592267081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2703969183"/>
                    </a:ext>
                  </a:extLst>
                </a:gridCol>
              </a:tblGrid>
              <a:tr h="37159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</a:t>
                      </a:r>
                      <a: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</a:t>
                      </a:r>
                      <a:b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정의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sz="1000" u="sng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중대한 부정적인 영향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개별적으로 또는 다른 사유와 함께 전체적으로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종속회사의 영업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부채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 및 경영상태에 중대한 부정적인 영향을 초래하고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그로 인해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종속회사의 </a:t>
                      </a:r>
                      <a:r>
                        <a:rPr lang="en-US" sz="1000" b="1" u="sng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sz="1000" b="1" u="sng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전체 총자산</a:t>
                      </a:r>
                      <a:r>
                        <a:rPr lang="en-US" sz="1000" b="1" u="sng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b="1" u="sng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</a:t>
                      </a:r>
                      <a:r>
                        <a:rPr lang="en-US" sz="1000" b="1" u="sng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[•]% </a:t>
                      </a:r>
                      <a:r>
                        <a:rPr lang="ko-KR" sz="1000" b="1" u="sng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이상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감소하거나 감소할 것이 명백히 예상되는 일체의 사유를 의미한다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중대한 부정적인 영향을 판단함에 있어서는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대상회사나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해외 종속회사 별로 그 효과를 판단하지 않고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총체적인 관점에서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 전체의 영업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부채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 및 경영상태에 미치는 영향을 기준으로 그 효과를 판단함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다음 각 사항 또는 다음 각 사항에 기인하는 경우는 중대한 부정적인 영향에 해당하는 것으로 보지 아니하며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중대한 부정적인 영향의 발생 여부를 판단함에 있어 고려되지 아니한다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endParaRPr lang="en-US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(a) </a:t>
                      </a:r>
                      <a:r>
                        <a:rPr 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전반적인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대상회사가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속한 산업에 대한 사업적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경제적 또는 규제적 변화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(b)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천재지변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파업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조업중단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국내 또는 국제의 정치적 또는 사회적 상황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(c)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금융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∙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은행 또는 증권시장과 관련된 변화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시장의 붕괴나 여하한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증권가격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시장지표의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하락을 포함함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(d)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대한민국에서 일반적으로 인정되는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회계원칙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그에 대한 해석의 변화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(e)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법령의 제정 또는 개정과 그 해석의 변화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(f)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동의를 받거나 매수인의 요청에 따라 이루어진 여하한 작위 또는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부작위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(g)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따라 요구되는 행위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(h)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대상회사의 매출 또는 수익에 대한 예측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예상 또는 추정치의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불충족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신원 또는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계획 또는 의도와 관련한 매수인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계열회사 또는 이들의 각 대리인들의 의사표시로 인한 경우를 포함하여 본 계약의 협상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발표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체결 또는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이행으로부터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발생하거나 이에 기인하는 변화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사건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사유 또는 </a:t>
                      </a:r>
                      <a:r>
                        <a:rPr 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상황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(j)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태풍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지진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홍수 등 자연재해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화재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COVID-19 (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변종을 포함함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등 전염성 질환 및 이에 대한 대응조치 및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(k)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공개목록에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기재된 사항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공시되거나 등기에 기재된 사항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(iii)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알고 있는 사건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사유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상황 또는 환경과 관련한 변화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변경 또는 이로 인한 영향 및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(iv)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체결일까지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매수인의 실사를 위하여 제공된 자료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자료 요청에 대한 회신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 또는 그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자문사나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대리인 등의 질의 응답에 기재된 사항으로서 본건 거래 유형과 유사한 거래에 관한 경험 있는 합리적인 매수인 또는 그의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자문사가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해당 정보의 내용 및 해당 정보가 미치는 영향을 중요한 관점에서 인지할 수 있는 사건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사유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상황 또는 환경과 관련한 변화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변경 또는 이로 인한 영향은 중대한 부정적인 영향으로 간주되지 아니하며 중대한 부정적인 영향의 발생 여부를 판단함에 있어서 고려하지 아니한다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(a)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내지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(e)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(k)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열거된 어느 항목이 대상회사의 사업과 동일 또는 유사한 사업을 영위하는 다른 회사에 비하여 불균등하게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대하여 중대한 부정적인 영향을 주는 경우에는 본 문장 단서를 적용하지 않는다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479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22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73550"/>
            <a:ext cx="9163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6.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중요계약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(1)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635431"/>
              </p:ext>
            </p:extLst>
          </p:nvPr>
        </p:nvGraphicFramePr>
        <p:xfrm>
          <a:off x="439738" y="1031875"/>
          <a:ext cx="9188450" cy="2564256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592267081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2703969183"/>
                    </a:ext>
                  </a:extLst>
                </a:gridCol>
              </a:tblGrid>
              <a:tr h="87941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이란 실사 과정에서 확인된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 입장에서 중요하다고 판단되는 계약들로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</a:t>
                      </a:r>
                      <a:r>
                        <a:rPr lang="en-US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대상회사가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중요계약상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의무를 모두 준수하였고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중요계약의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위반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해지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취소 등이 문제될 사정이 존재하지 않는다는 점에 관한 </a:t>
                      </a:r>
                      <a:r>
                        <a:rPr 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</a:t>
                      </a:r>
                      <a:r>
                        <a:rPr 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계약체결일부터 거래종결일까지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중요계약의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체결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변경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해지 등을 위해서는 매수인의 동의를 받도록 하는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 </a:t>
                      </a:r>
                      <a:r>
                        <a:rPr 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확약으로서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</a:t>
                      </a:r>
                      <a:r>
                        <a:rPr 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기능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479322"/>
                  </a:ext>
                </a:extLst>
              </a:tr>
              <a:tr h="168484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실사를 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통하여 확인한 연간 매출액 또는 매입액 순위 중</a:t>
                      </a:r>
                      <a:r>
                        <a:rPr lang="en-US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위에 해당하는 계약의 금액을 최소 기준으로 정하는 방법</a:t>
                      </a:r>
                      <a:r>
                        <a:rPr lang="en-US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 가치의</a:t>
                      </a:r>
                      <a:r>
                        <a:rPr lang="en-US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최소 기준으로 정하는 방법 등 다양한 방법으로 매수인이 포착하고자 하는 </a:t>
                      </a:r>
                      <a:r>
                        <a:rPr lang="ko-KR" sz="1000" b="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중요계약의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범위를 설정할 수 </a:t>
                      </a:r>
                      <a:r>
                        <a:rPr 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있음</a:t>
                      </a:r>
                      <a:endParaRPr lang="en-US" altLang="ko-KR" sz="1000" b="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통상적으로는 </a:t>
                      </a:r>
                      <a:r>
                        <a:rPr kumimoji="1" 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대상회사가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체결한 전체 </a:t>
                      </a:r>
                      <a:r>
                        <a:rPr kumimoji="1" 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매입계약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또는 </a:t>
                      </a:r>
                      <a:r>
                        <a:rPr kumimoji="1" 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매출계약의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합계 금액 중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50~60%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정도를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cover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할 수 있는 기준으로 </a:t>
                      </a:r>
                      <a:r>
                        <a:rPr kumimoji="1" 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중요계약의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기준을 설정하는 경우가 많음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참고로 매수인 입장에서는 자체적으로 해당 비율을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cover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할 수 있는 기준금액을 확인하기 어려우므로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매도인에게 이와 같은 비율을 제시하고 매도인으로 하여금 해당 비율을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cover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할 수 있는 기준 금액을 확인하여 알려달라고 요구하는 방식으로 진행 가능</a:t>
                      </a:r>
                      <a:endParaRPr kumimoji="1" 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61925" marR="0" lvl="1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실사 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과정에서 파악한 주요 개별 계약 또는 계약 상대방을 특정하여 중요계약으로 정하는 것도 허용됨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74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19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89915"/>
            <a:ext cx="9163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6.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중요계약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(2)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515035"/>
              </p:ext>
            </p:extLst>
          </p:nvPr>
        </p:nvGraphicFramePr>
        <p:xfrm>
          <a:off x="439738" y="1029255"/>
          <a:ext cx="9188450" cy="4557855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592267081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2703969183"/>
                    </a:ext>
                  </a:extLst>
                </a:gridCol>
              </a:tblGrid>
              <a:tr h="45578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</a:t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정의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sz="1000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 본 계약 체결일 현재 유효한 것으로서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해외 종속회사가 일방 당사자인 다음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목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과 같은 계약을 의미한다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아래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목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금액 기준을 적용함에 있어 외화로 표시된 금액은 본 계약 체결일 직전 영업일 기준 서울외국환중개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고시환율을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적용한 원화 금액을 기준으로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355600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kern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  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물품의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경우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구매대금이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금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원을 초과하거나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공급대금이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금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원을 초과하는 구매 또는 공급계약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용역의 경우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구매대금이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금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원을 초과하거나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공급대금이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금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원을 초과하는 구매 또는 공급계약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물품 또는 용역의 단가 또는 수량이 확정되지 아니한 계속적 공급계약의 경우에는 당해 거래처에 대한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 사업연도 중 해당 물품 또는 용역의 매출액 또는 매입액을 기준으로 함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);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 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보증금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연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임료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연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리스료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합산한 금액이 금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원을 초과하는 부동산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동산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자산의 임대차 또는 리스에 관한 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(iii) 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금전의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차입 또는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대여계약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(iv) 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특허권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상표권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실용신안권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디자인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저작권 기타 지식재산권의 양수도 및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라이센스에 관한 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(v)  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특수관계인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이하에서 정의함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과 체결한 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(vi) 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연간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원을 초과하는 자본적 지출을 요하는 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(vii) 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자산을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담보로 제공하거나 제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자로부터 담보를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제공받는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(viii)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보증을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제공하거나 보증을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제공받는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(ix) 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부동산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고정자산의 구매 또는 처분에 관한 계약으로서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구매 또는 처분의 대가가 금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원을 초과하는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(x)  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계약의 체결 또는 본건 거래의 이행이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해외 종속회사의 계약 위반 또는 불이행을 구성하거나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기한의 이익을 상실시키거나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상대방에게 해제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해지권을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부여 또는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동의권을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발생시키는 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(xi) 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영업활동을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사업범위나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지역 측면에서 제한하는 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독점적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배타적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거래조항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경업금지조항 또는 유인금지조항을 포함하고 있는 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(xii) 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합병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분할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주식의 포괄적 교환 또는 이전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주식양수도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영업양수도 기타 이에 준하는 조직개편 또는 기업인수합병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합작투자 포함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관한 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(xiii)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단체협약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취업규칙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노사협약 등 명칭을 불문하고 노동조합 또는 직원들과 집단적으로 체결한 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 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(xiv)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소송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고객 클레임과 관련된 화해 또는 조정 계약으로서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청구금액이 금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 이상인 계약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55600" lvl="2" indent="-268288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Times New Roman" panose="02020603050405020304" pitchFamily="18" charset="0"/>
                        <a:buNone/>
                        <a:tabLst>
                          <a:tab pos="467995" algn="l"/>
                        </a:tabLst>
                      </a:pPr>
                      <a:r>
                        <a:rPr lang="en-US" alt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(xv)  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 </a:t>
                      </a:r>
                      <a:r>
                        <a:rPr lang="en-US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kern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목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내지 </a:t>
                      </a:r>
                      <a:r>
                        <a:rPr lang="en-US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xiv)</a:t>
                      </a:r>
                      <a:r>
                        <a:rPr lang="ko-KR" altLang="en-US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목</a:t>
                      </a:r>
                      <a:r>
                        <a:rPr lang="ko-KR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해당하지 않는 것으로서 계약의 제목과 유형을 불문하고 대금 등 계약금액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계속적 계약의 경우 연간 대금을 의미하며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연간 대금이 명시되어 있지 않은 경우 본 계약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체결일을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기준으로 최근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1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년간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지급의무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지급청구권이 발생한 </a:t>
                      </a:r>
                      <a:r>
                        <a:rPr lang="ko-KR" sz="1000" kern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금원을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의미함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금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 이상인 계약</a:t>
                      </a:r>
                      <a:r>
                        <a:rPr lang="en-US" sz="1000" kern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kern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479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81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89915"/>
            <a:ext cx="9163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6.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중요계약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(3)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708146"/>
              </p:ext>
            </p:extLst>
          </p:nvPr>
        </p:nvGraphicFramePr>
        <p:xfrm>
          <a:off x="439738" y="1029255"/>
          <a:ext cx="9188450" cy="3358905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592267081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2703969183"/>
                    </a:ext>
                  </a:extLst>
                </a:gridCol>
              </a:tblGrid>
              <a:tr h="33589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</a:t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</a:t>
                      </a:r>
                      <a:r>
                        <a:rPr lang="ko-KR" sz="10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관한 </a:t>
                      </a:r>
                      <a:r>
                        <a:rPr lang="ko-KR" sz="10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11. </a:t>
                      </a:r>
                      <a:r>
                        <a:rPr lang="ko-KR" sz="1000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6.2.11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기재된 사항을 제외하고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종속회사가 당사자인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중요계약은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유효하게 존속하고 있고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계약당사자에 대하여 법률적으로 구속력 있는 의무를 구성하며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관련 법령에 위반되거나 관련 법령에 의해 계약조건이 향후 수정 또는 취소될 수 있는 내용이나 사정은 존재하지 아니한다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종속회사는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중요계약상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의무를 준수하였고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해외 종속회사의 귀책사유로 인하여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중요계약의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상대방에 대한 채무불이행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중요계약의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위반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해지 또는 취소를 초래할 수 있는 사유나 사정은 존재하지 아니한다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종속회사는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본 계약의 체결 및 이행과 관련하여 중요계약에서 요구되는 경우 그에 따라 계약상대방에 대한 사전통지 또는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협의의무를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모두 이행하였다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 </a:t>
                      </a:r>
                      <a:endParaRPr lang="en-US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 확약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u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u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ko-KR" altLang="en-US" sz="1000" u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u="non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u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</a:t>
                      </a:r>
                      <a:r>
                        <a:rPr lang="ko-KR" altLang="en-US" sz="1000" u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사업의 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수행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본 계약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체결일부터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거래종결일까지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종속회사가 통상적인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사업과정에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따라 운영될 수 있도록 하여야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거래종결일까지는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종속회사로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하여금 매수인의 사전 서면 동의 없이 다음 각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어느 하나에 해당하는 행위를 하지 않도록 하여야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불합리한 사유로 위와 같은 사전 서면 동의를 거절하거나 유보할 수 없으며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매도인이 서면으로 매수인의 동의를 요청하였음에도 불구하고 매수인이 그로부터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내에 회신하지 않는 경우에는 매수인의 사전 서면 동의가 있었던 것으로 본다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9.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중요계약의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체결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개정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해제 또는 해지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계약기간의 만료 후 합의 또는 자동갱신조항에 따라 해당 계약에서 예정되어 있던 바에 따라 또는 동일한 조건으로 갱신되는 경우는 제외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);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479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91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7286" y="671513"/>
            <a:ext cx="9163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7. </a:t>
            </a:r>
            <a:r>
              <a:rPr lang="ko-KR" altLang="ko-KR" dirty="0">
                <a:latin typeface="+mn-ea"/>
                <a:ea typeface="+mn-ea"/>
              </a:rPr>
              <a:t>필요적 </a:t>
            </a:r>
            <a:r>
              <a:rPr lang="ko-KR" altLang="ko-KR" dirty="0" smtClean="0">
                <a:latin typeface="+mn-ea"/>
                <a:ea typeface="+mn-ea"/>
              </a:rPr>
              <a:t>정부승인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285084"/>
              </p:ext>
            </p:extLst>
          </p:nvPr>
        </p:nvGraphicFramePr>
        <p:xfrm>
          <a:off x="439738" y="1031875"/>
          <a:ext cx="9188450" cy="2412960"/>
        </p:xfrm>
        <a:graphic>
          <a:graphicData uri="http://schemas.openxmlformats.org/drawingml/2006/table">
            <a:tbl>
              <a:tblPr firstRow="1" firstCol="1" bandRow="1"/>
              <a:tblGrid>
                <a:gridCol w="853256">
                  <a:extLst>
                    <a:ext uri="{9D8B030D-6E8A-4147-A177-3AD203B41FA5}">
                      <a16:colId xmlns:a16="http://schemas.microsoft.com/office/drawing/2014/main" val="3931458320"/>
                    </a:ext>
                  </a:extLst>
                </a:gridCol>
                <a:gridCol w="8335194">
                  <a:extLst>
                    <a:ext uri="{9D8B030D-6E8A-4147-A177-3AD203B41FA5}">
                      <a16:colId xmlns:a16="http://schemas.microsoft.com/office/drawing/2014/main" val="4163569935"/>
                    </a:ext>
                  </a:extLst>
                </a:gridCol>
              </a:tblGrid>
              <a:tr h="359685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계약체결 및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거래종결을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위해 당사자가 사전에 받거나 완료해야 하는 정부승인으로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선행조건 중 하나로 </a:t>
                      </a:r>
                      <a:r>
                        <a:rPr 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기능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526473"/>
                  </a:ext>
                </a:extLst>
              </a:tr>
              <a:tr h="155786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거래 내용에 따라 다르나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대표적으로 </a:t>
                      </a:r>
                      <a:r>
                        <a:rPr 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다음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사항들이 </a:t>
                      </a:r>
                      <a:r>
                        <a:rPr 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있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으므로 사전 검토 필요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독점규제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공정거래에 관한 법률 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조에 따라 요구되는 기업결합신고에 대한 승인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방위사업법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조에 따른 방산업체의 인수 합병에 대한 승인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산업기술의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유출방지 및 보호에 관한 법률 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따른 국가핵심기술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보유기업의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인수 합병에 대한 승인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전기통신사업법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조에 따른 기간통신사업자의 인수 합병에 대한 승인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금융회사의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지배구조에 관한 법률 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조에 따른 금융지주회사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은행지주회사 제외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대주주 변경 승인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방송법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따른 최다액출자자 등 변경 승인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98916"/>
                  </a:ext>
                </a:extLst>
              </a:tr>
              <a:tr h="495415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b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sz="1000" u="sng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필요적 정부승인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어느 당사자에 대하여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계약의 체결 및 이행을 위해 당해 당사자가 사전에 받거나 완료해야 하는 정부승인을 의미한다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596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33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4868" y="684562"/>
            <a:ext cx="9163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ko-KR" dirty="0">
                <a:latin typeface="+mn-ea"/>
                <a:ea typeface="+mn-ea"/>
              </a:rPr>
              <a:t>통상적인 </a:t>
            </a:r>
            <a:r>
              <a:rPr lang="ko-KR" altLang="ko-KR" dirty="0" err="1">
                <a:latin typeface="+mn-ea"/>
                <a:ea typeface="+mn-ea"/>
              </a:rPr>
              <a:t>사업과정</a:t>
            </a:r>
            <a:endParaRPr lang="ko-KR" altLang="ko-KR" dirty="0"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671223"/>
              </p:ext>
            </p:extLst>
          </p:nvPr>
        </p:nvGraphicFramePr>
        <p:xfrm>
          <a:off x="439738" y="1031100"/>
          <a:ext cx="9188450" cy="5395275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938784277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026215949"/>
                    </a:ext>
                  </a:extLst>
                </a:gridCol>
              </a:tblGrid>
              <a:tr h="119895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기준일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이후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대상회사가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통상적인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사업과정에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따라 운영되었다는 </a:t>
                      </a:r>
                      <a:r>
                        <a:rPr kumimoji="1" 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ii)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계약체결일부터 거래종결일까지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대상회사가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통상적인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사업과정에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따라 운영해야 하고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그렇지 않은 행위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중요계약의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체결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해지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하기 위해서는 매수인의 동의를 받도록 하는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 </a:t>
                      </a:r>
                      <a:r>
                        <a:rPr kumimoji="1" 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확약으로서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각 기능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주로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(a)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통상적인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사업과정에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‘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적법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한 사업 운영까지 포함시킬지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(b)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통상적인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사업운영의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기준점을 기준일보다 이른 시점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기준일 기준 과거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1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으로까지 넓힐지 여부와 관련하여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문제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0809039"/>
                  </a:ext>
                </a:extLst>
              </a:tr>
              <a:tr h="839265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(a) ‘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적법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한 사업 운영을 포함시키지 않고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법령준수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관련 진술보장으로 처리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(b)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기준점을 기준일로 </a:t>
                      </a:r>
                      <a:r>
                        <a:rPr 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설정하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려고 하는 경향 존재</a:t>
                      </a:r>
                      <a:endParaRPr lang="en-US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(a) ‘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적법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한 사업 운영을 포함시키고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(b)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기준점을 기준일 전으로 </a:t>
                      </a:r>
                      <a:r>
                        <a:rPr 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설정하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것이 </a:t>
                      </a:r>
                      <a:r>
                        <a:rPr lang="ko-KR" altLang="en-US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바람직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929705"/>
                  </a:ext>
                </a:extLst>
              </a:tr>
              <a:tr h="335706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b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정의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통상적인 </a:t>
                      </a:r>
                      <a:r>
                        <a:rPr lang="ko-KR" sz="1000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사업과정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종속회사가 본 계약 체결일 현재 수행하고 있는 정상적인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사업관행과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실무에 부합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양적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질적 및 빈도의 측면에서의 부합을 포함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하게 수행하는 통상적인 사업 내지 영업활동을 의미한다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</a:t>
                      </a:r>
                      <a:r>
                        <a:rPr lang="ko-KR" sz="10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관한 </a:t>
                      </a:r>
                      <a:r>
                        <a:rPr lang="ko-KR" sz="10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통상적인 </a:t>
                      </a:r>
                      <a:r>
                        <a:rPr lang="ko-KR" sz="1000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사업과정</a:t>
                      </a:r>
                      <a:r>
                        <a:rPr lang="en-US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중대한 부정적인 영향의 </a:t>
                      </a:r>
                      <a:r>
                        <a:rPr lang="ko-KR" sz="1000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부존재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종속회사는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기준일 이후 통상적인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사업과정에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따라 운영되었고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기준일 이후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종속회사에 중대한 부정적인 영향을 미칠 수 있는 사정은 존재하지 아니한다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 확약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 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사업의 수행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본 계약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체결일부터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거래종결일까지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종속회사가 통상적인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사업과정에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따라 운영될 수 있도록 하여야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거래종결일까지는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종속회사로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하여금 매수인의 사전 서면 동의 없이 다음 각 항의 어느 하나에 해당하는 행위를 하지 않도록 하여야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불합리한 사유로 위와 같은 사전 서면 동의를 거절하거나 유보할 수 없으며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매도인이 서면으로 매수인의 동의를 요청하였음에도 불구하고 매수인이 그로부터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내에 회신하지 않는 경우에는 매수인의 사전 서면 동의가 있었던 것으로 본다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9. </a:t>
                      </a:r>
                      <a:r>
                        <a:rPr 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중요계약의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체결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개정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해제 또는 해지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계약기간의 만료 후 합의 또는 자동갱신조항에 따라 해당 계약에서 예정되어 있던 바에 따라 또는 동일한 조건으로 갱신되는 경우는 제외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);</a:t>
                      </a:r>
                      <a:endParaRPr lang="ko-KR" sz="1000" i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27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97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80496"/>
            <a:ext cx="9163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9. </a:t>
            </a:r>
            <a:r>
              <a:rPr lang="ko-KR" altLang="ko-KR" dirty="0">
                <a:latin typeface="+mn-ea"/>
                <a:ea typeface="+mn-ea"/>
              </a:rPr>
              <a:t>특수관계인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72564"/>
              </p:ext>
            </p:extLst>
          </p:nvPr>
        </p:nvGraphicFramePr>
        <p:xfrm>
          <a:off x="439738" y="1031875"/>
          <a:ext cx="9188450" cy="2247280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1842873637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240380353"/>
                    </a:ext>
                  </a:extLst>
                </a:gridCol>
              </a:tblGrid>
              <a:tr h="40379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특수관계인 거래의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‘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특수관계인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범위를 확정하는 </a:t>
                      </a:r>
                      <a:r>
                        <a:rPr 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기능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293596"/>
                  </a:ext>
                </a:extLst>
              </a:tr>
              <a:tr h="1273965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아래 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‘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에서와 같이 상법 시행령 제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34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항에 따른 특수관계인으로 정의하는 경우가 많으나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다음의 특수관계인 규정을 준용하는 경우도 있음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범위에서 큰 차이가 존재하지는 않음</a:t>
                      </a:r>
                      <a:r>
                        <a:rPr 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):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금융회사의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지배구조에 관한 법률 시행령 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법인세법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시행령 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독점규제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공정거래에 관한 법률 시행령 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3125058"/>
                  </a:ext>
                </a:extLst>
              </a:tr>
              <a:tr h="569525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b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sz="1000" u="sng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특수관계인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 상법 시행령 제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34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항에 따른 특수관계인을 의미한다</a:t>
                      </a:r>
                      <a:r>
                        <a:rPr lang="en-US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34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47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매매대금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71513"/>
            <a:ext cx="371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ko-KR" dirty="0">
                <a:latin typeface="+mn-ea"/>
                <a:ea typeface="+mn-ea"/>
              </a:rPr>
              <a:t>계약금 지급 방식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788952"/>
              </p:ext>
            </p:extLst>
          </p:nvPr>
        </p:nvGraphicFramePr>
        <p:xfrm>
          <a:off x="439738" y="1043677"/>
          <a:ext cx="9188450" cy="4369597"/>
        </p:xfrm>
        <a:graphic>
          <a:graphicData uri="http://schemas.openxmlformats.org/drawingml/2006/table">
            <a:tbl>
              <a:tblPr firstRow="1" firstCol="1" bandRow="1"/>
              <a:tblGrid>
                <a:gridCol w="853256">
                  <a:extLst>
                    <a:ext uri="{9D8B030D-6E8A-4147-A177-3AD203B41FA5}">
                      <a16:colId xmlns:a16="http://schemas.microsoft.com/office/drawing/2014/main" val="1817266575"/>
                    </a:ext>
                  </a:extLst>
                </a:gridCol>
                <a:gridCol w="8335194">
                  <a:extLst>
                    <a:ext uri="{9D8B030D-6E8A-4147-A177-3AD203B41FA5}">
                      <a16:colId xmlns:a16="http://schemas.microsoft.com/office/drawing/2014/main" val="3684459789"/>
                    </a:ext>
                  </a:extLst>
                </a:gridCol>
              </a:tblGrid>
              <a:tr h="37240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매매대금은 거래종결일에 전액을 지급하는 방식 외에 계약금과 잔금의 형태로 분할 지급하는 방식도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고려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가능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751648"/>
                  </a:ext>
                </a:extLst>
              </a:tr>
              <a:tr h="189302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주식매매계약이 </a:t>
                      </a:r>
                      <a:r>
                        <a:rPr 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해제되었을 때 계약금이 매수인에게 반환될 수 있도록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계약금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입금된 매도인의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계좌에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예금 질권을 설정하거나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(ii)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거래종결일까지 계약금을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계좌에 보관하는 방법을 고려할 수 있음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계좌 개설이 번거롭고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은행에 수수료를 지불해야 할 수도 있어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방법이 더 흔하게 사용됨</a:t>
                      </a: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계약금에서 </a:t>
                      </a:r>
                      <a:r>
                        <a:rPr 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발생한 이자를 매매대금의 일부로 취급할지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이자에 대해 발생하는 세금은 어떻게 처리할지 등에 대한 사전 당사자 합의 필요</a:t>
                      </a: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아래 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‘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에서의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계약금은 민법 제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565</a:t>
                      </a:r>
                      <a:r>
                        <a:rPr 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따른 </a:t>
                      </a:r>
                      <a:r>
                        <a:rPr lang="ko-KR" sz="1000" b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해약금으로</a:t>
                      </a:r>
                      <a:r>
                        <a:rPr 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해석되지 않는다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조항은 거래의 확실성을 담보하기 위해 통상적으로 포함되는 조항으로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이러한 문구가 없다면 민법 제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565</a:t>
                      </a:r>
                      <a:r>
                        <a:rPr 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따라 당사자는 매수인의 경우 계약금을 포기하거나 매도인의 경우 계약금 배액을 상환함으로써 특별한 사유 없이도 계약을 해제할 수 있음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265861"/>
                  </a:ext>
                </a:extLst>
              </a:tr>
              <a:tr h="1145009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b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본 계약 체결일로부터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 조정 전 매매대금의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[10]%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해당하는 금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원을 매도인에게 계약금으로 지급하여야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계약금은 매도인 명의의 은행계좌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계좌개설은행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은행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계좌번호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[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즉시 결제 가능한 원화로 송금함으로써 매도인에게 지급되어야 하며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거래종결시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계약금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그에 대한 이자는 포함되지 아니하며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 본 계약에서 동일함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 조정 전 매매대금의 일부로 간주된다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계약금은 민법 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565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해약금으로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해석되지 아니하며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이를 포기하고 본 계약을 해제할 수 없고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매도인도 매수인에게 그 배액을 상환하고 본 계약을 해제할 수 없다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508497"/>
                  </a:ext>
                </a:extLst>
              </a:tr>
              <a:tr h="95916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b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질권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설정 </a:t>
                      </a: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시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계약의 조건에 따라 계약금을 반환해야 하는 사유가 발생하는 경우 매도인의 계약금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반환의무를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담보하기 위해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매수인으로부터 계약금이 지급되는 즉시 계약금이 예치된 계약금 계좌에 대하여 매수인을 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순위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질권자로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하는 질권을 설정하여야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이러한 질권의 설정을 위하여 당사자들은 별지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양식과 내용으로 질권설정계약을 체결한다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0135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46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매매대금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71513"/>
            <a:ext cx="371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2</a:t>
            </a:r>
            <a:r>
              <a:rPr lang="en-US" altLang="ko-KR" dirty="0">
                <a:latin typeface="+mn-ea"/>
                <a:ea typeface="+mn-ea"/>
              </a:rPr>
              <a:t>. Earn-out </a:t>
            </a:r>
            <a:r>
              <a:rPr lang="ko-KR" altLang="ko-KR" dirty="0">
                <a:latin typeface="+mn-ea"/>
                <a:ea typeface="+mn-ea"/>
              </a:rPr>
              <a:t>방식</a:t>
            </a:r>
            <a:r>
              <a:rPr lang="en-US" altLang="ko-KR" dirty="0">
                <a:latin typeface="+mn-ea"/>
                <a:ea typeface="+mn-ea"/>
              </a:rPr>
              <a:t> / </a:t>
            </a:r>
            <a:r>
              <a:rPr lang="ko-KR" altLang="ko-KR" dirty="0">
                <a:latin typeface="+mn-ea"/>
                <a:ea typeface="+mn-ea"/>
              </a:rPr>
              <a:t>유보 </a:t>
            </a:r>
            <a:r>
              <a:rPr lang="ko-KR" altLang="ko-KR" dirty="0" smtClean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(1)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092057"/>
              </p:ext>
            </p:extLst>
          </p:nvPr>
        </p:nvGraphicFramePr>
        <p:xfrm>
          <a:off x="439738" y="1031099"/>
          <a:ext cx="9188450" cy="4124198"/>
        </p:xfrm>
        <a:graphic>
          <a:graphicData uri="http://schemas.openxmlformats.org/drawingml/2006/table">
            <a:tbl>
              <a:tblPr firstRow="1" firstCol="1" bandRow="1"/>
              <a:tblGrid>
                <a:gridCol w="853256">
                  <a:extLst>
                    <a:ext uri="{9D8B030D-6E8A-4147-A177-3AD203B41FA5}">
                      <a16:colId xmlns:a16="http://schemas.microsoft.com/office/drawing/2014/main" val="3342860664"/>
                    </a:ext>
                  </a:extLst>
                </a:gridCol>
                <a:gridCol w="8335194">
                  <a:extLst>
                    <a:ext uri="{9D8B030D-6E8A-4147-A177-3AD203B41FA5}">
                      <a16:colId xmlns:a16="http://schemas.microsoft.com/office/drawing/2014/main" val="3218221944"/>
                    </a:ext>
                  </a:extLst>
                </a:gridCol>
              </a:tblGrid>
              <a:tr h="719371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매매대금은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후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지위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이후에도 매도인을 대상회사의 경영진으로 확보하는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등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거래의 특성 등에 따라 아래와 같은 지급 방식도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고려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가능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628636"/>
                  </a:ext>
                </a:extLst>
              </a:tr>
              <a:tr h="340482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Earn-out 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방식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예컨대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개인이고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이후에도 매도인을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대상회사에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retain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하는 것이 시너지나 대상회사의 성장에 필요하다고 판단되는 경우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(ii)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매도인에게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매매대금을 제안할 때 현재 대상회사의 기업가치에 따른 기본적인 매매대금 외에도 대상회사의 향후 성장에 따른 과실의 배분을 제안하는 것이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deal making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과정에서 필요한 경우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(iii)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특정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기술의 개발이나 계약의 체결 등 향후의 특정 조건이 충족되어야 대상회사의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cash flow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발생이 가능한 경우 등에서 고려 가능한 지급 방식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기준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EV/EBITDA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거래종결일로부터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2~3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년의 기간 동안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대상회사가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달성하여야 할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EV/EBITDA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사전에 설정하고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이를 각 충족하는 경우 일정 금액을 지급하는 형식으로 규정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 지급 금액에 대한 최고 한도는 설정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하는 것이 일반적이나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대상회사의 특성에 따라 다른 기준을 두는 경우도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존재함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유보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방식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실사 과정에서 대상회사의 법령 위반 내지 분쟁 등으로 인하여 현금유출이 발생할 가능성이 높은 경우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특별손해배상으로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으로부터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손해배상을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받는 방법도 있으나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매도인의 현금유동성 이슈로 손해배상을 받지 못할 가능성이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존재하는바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아래와 같은 지급 방식을 고려 가능 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sz="1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매매대금 유보 방식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매매대금의 지급을 일정 기간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대개 현금유출이 발생할 것으로 예상되는 기간까지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유보하고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사전에 정한 조건 등이 충족한 경우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유보금을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지급하는 방식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이른바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hold back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방식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sz="1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질권 설정 방식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매도인에게 매매대금을 지급하는 계좌에 일정 금액을 예치하게 하고 질권을 설정하는 방식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sz="1000" b="1" i="0" u="sng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에스크로우</a:t>
                      </a:r>
                      <a:r>
                        <a:rPr kumimoji="1" lang="ko-KR" sz="1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방식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에스크로우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계좌를 개설하고 매매대금을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에스크로우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계좌에 예치하는 방식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 및 은행 간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에스크로우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계약을 체결하여야 하며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에스크로우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계좌 개설의 번거로움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에스크로우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대금 인출의 복잡성 및 수수료 이슈는 존재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241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089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매매대금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77442"/>
            <a:ext cx="371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2</a:t>
            </a:r>
            <a:r>
              <a:rPr lang="en-US" altLang="ko-KR" dirty="0">
                <a:latin typeface="+mn-ea"/>
                <a:ea typeface="+mn-ea"/>
              </a:rPr>
              <a:t>. Earn-out </a:t>
            </a:r>
            <a:r>
              <a:rPr lang="ko-KR" altLang="ko-KR" dirty="0">
                <a:latin typeface="+mn-ea"/>
                <a:ea typeface="+mn-ea"/>
              </a:rPr>
              <a:t>방식</a:t>
            </a:r>
            <a:r>
              <a:rPr lang="en-US" altLang="ko-KR" dirty="0">
                <a:latin typeface="+mn-ea"/>
                <a:ea typeface="+mn-ea"/>
              </a:rPr>
              <a:t> / </a:t>
            </a:r>
            <a:r>
              <a:rPr lang="ko-KR" altLang="ko-KR" dirty="0">
                <a:latin typeface="+mn-ea"/>
                <a:ea typeface="+mn-ea"/>
              </a:rPr>
              <a:t>유보 </a:t>
            </a:r>
            <a:r>
              <a:rPr lang="ko-KR" altLang="ko-KR" dirty="0" smtClean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(2)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691582"/>
              </p:ext>
            </p:extLst>
          </p:nvPr>
        </p:nvGraphicFramePr>
        <p:xfrm>
          <a:off x="453312" y="1031099"/>
          <a:ext cx="9174876" cy="5584571"/>
        </p:xfrm>
        <a:graphic>
          <a:graphicData uri="http://schemas.openxmlformats.org/drawingml/2006/table">
            <a:tbl>
              <a:tblPr firstRow="1" firstCol="1" bandRow="1"/>
              <a:tblGrid>
                <a:gridCol w="851995">
                  <a:extLst>
                    <a:ext uri="{9D8B030D-6E8A-4147-A177-3AD203B41FA5}">
                      <a16:colId xmlns:a16="http://schemas.microsoft.com/office/drawing/2014/main" val="3342860664"/>
                    </a:ext>
                  </a:extLst>
                </a:gridCol>
                <a:gridCol w="8322881">
                  <a:extLst>
                    <a:ext uri="{9D8B030D-6E8A-4147-A177-3AD203B41FA5}">
                      <a16:colId xmlns:a16="http://schemas.microsoft.com/office/drawing/2014/main" val="3218221944"/>
                    </a:ext>
                  </a:extLst>
                </a:gridCol>
              </a:tblGrid>
              <a:tr h="50355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</a:t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Earn-out </a:t>
                      </a:r>
                      <a:r>
                        <a:rPr 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방식</a:t>
                      </a:r>
                      <a:endParaRPr lang="en-US" altLang="ko-KR" sz="1000" b="1" u="sng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당사자들은 다음의 절차에 따라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Earn Out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을 위한 기준이 되는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별지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산정 방식에 따라 산정한다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이와 같이 산정된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Earn Out 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800100" lvl="1" indent="-342900"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romanLcParenBoth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일부터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20[•]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일까지의 회계기간에 관한 대상회사의 연결기준 재무제표가 작성되면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매수인은 그로부터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영업일 이내에 이 재무제표 사본 및 이를 기초로 산정된 대상회사의 연결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 (“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매수인 산정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매도인에게 제공한다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800100" lvl="1" indent="-342900"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romanLcParenBoth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매수인은 매도인이 산정된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검토하기 위하여 합리적으로 요청하는 대상회사의 기록 및 장부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필요한 경우 관련 직원 인터뷰 및 현장실사 기회 부여의 협조를 포함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매도인에게 제공한다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매도인이 매수인 산정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 동의하지 않는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매도인은 매수인으로부터 재무제표 사본 및 매수인 산정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받은 날로부터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영업일 이내에 매수인에게 매수인 산정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 동의하지 않는다는 취지를 서면으로 통지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ko-KR" sz="1000" b="1" u="sng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이의통지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하여야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영업일의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기간 내에 그러한 통지가 없는 경우 매수인 산정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는 최종적인 것으로서 당사자들을 구속한다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800100" lvl="1" indent="-342900"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romanLcParenBoth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매도인이 위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ii)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목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에서 정해진 기간 내에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이의통지를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하는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그러한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이의통지가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매수인에게 도달한 날로부터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영업일 이내에 매도인과 매수인은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산정에 관해 합의를 이루기 위해 상업적으로 합리적인 노력을 기울인다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위 기간 내에 합의에 이르지 못하는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매도인과 매수인은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산정할 회계법인을 국내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4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대 회계법인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삼일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삼정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안진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한영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중에서 상호 합의 하에 선정한다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매도인과 매수인이 회계법인 선정을 위한 합의에 이르지 못하는 경우 매도인과 매수인은 각자의 회계법인을 선정한 후 이들 회계법인이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회계법인을 상호 합의하에 선정하도록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800100" lvl="1" indent="-342900"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romanLcParenBoth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iii)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목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 따라 선정된 회계법인은 선정일로부터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영업일 내에 별지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산정방식에 따라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산정하고 이에 관한 보고서를 작성하여 이를 매도인과 매수인에게 전달하여야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이와 같이 산정된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금액은 최종적인 것으로서 당사자들을 구속하고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해당 회계법인에 대한 수수료 및 비용은 매도인과 매수인이 동등하게 부담한다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매수인은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Earn Out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금액이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원 이상인 경우에 한하여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 따라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Earn Out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금액이 확정된 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ii)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목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경우에는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이의통지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없이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영업일이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경과한 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iii)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목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경우에는 합의가 이루어진 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iv)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목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경우에는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산정 보고서가 매도인과 매수인에게 전달된 날을 의미함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로부터 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영업일 내에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다음 각 호에 따른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금원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Earn Out 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금액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을 매도인에게 지급하되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매도인이 통지하는 매도인 명의의 은행계좌에 즉시 인출 가능한 원화로 입금하는 방식으로 지급한다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이러한 지급으로 매도인에 대해 지분비율에 따른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Earn Out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금액이 지급된 것으로 본다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800100" lvl="1" indent="-342900"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romanLcParenBoth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Earn Out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원 이상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원 미만인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원의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[•]%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상당액</a:t>
                      </a:r>
                    </a:p>
                    <a:p>
                      <a:pPr marL="800100" lvl="1" indent="-342900"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romanLcParenBoth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Earn Out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원 이상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원 미만인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원의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[•]%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상당액</a:t>
                      </a:r>
                    </a:p>
                    <a:p>
                      <a:pPr marL="800100" lvl="1" indent="-342900"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romanLcParenBoth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Earn Out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원 이상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원 미만인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원의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[•]%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상당액</a:t>
                      </a:r>
                    </a:p>
                    <a:p>
                      <a:pPr marL="342900" lvl="0" indent="-342900"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 따른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Earn Out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EBITDA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달성 시 매수인은 매도인에게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 따라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Earn Out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금액을 지급하여야 하고 다른 사유를 들어 이를 거부할 수 없다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Earn Out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금액 지급 시점에 매도인의 매수인에 대한 손해배상 지급 의무 등 여하한 채무가 발생하여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Earn Out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금액 지급 의무와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상계적상에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있는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매수인은 해당 금액을 상계 처리할 수 있으나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 경우 매도인의 채무에 관한 증빙 자료를 매도인이 합리적으로 납득할 만한 수준으로 제공하고 매도인의 요청 시 대면 또는 유선 회의를 통해 상세 내역을 구두로 설명하여야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본 계약에 따라 이루어지는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Earn Out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금액의 지급은 세무 및 기타 목적상 매매대금의 조정으로 본다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628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39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매매대금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77442"/>
            <a:ext cx="371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2</a:t>
            </a:r>
            <a:r>
              <a:rPr lang="en-US" altLang="ko-KR" dirty="0">
                <a:latin typeface="+mn-ea"/>
                <a:ea typeface="+mn-ea"/>
              </a:rPr>
              <a:t>. Earn-out </a:t>
            </a:r>
            <a:r>
              <a:rPr lang="ko-KR" altLang="ko-KR" dirty="0">
                <a:latin typeface="+mn-ea"/>
                <a:ea typeface="+mn-ea"/>
              </a:rPr>
              <a:t>방식</a:t>
            </a:r>
            <a:r>
              <a:rPr lang="en-US" altLang="ko-KR" dirty="0">
                <a:latin typeface="+mn-ea"/>
                <a:ea typeface="+mn-ea"/>
              </a:rPr>
              <a:t> / </a:t>
            </a:r>
            <a:r>
              <a:rPr lang="ko-KR" altLang="ko-KR" dirty="0">
                <a:latin typeface="+mn-ea"/>
                <a:ea typeface="+mn-ea"/>
              </a:rPr>
              <a:t>유보 </a:t>
            </a:r>
            <a:r>
              <a:rPr lang="ko-KR" altLang="ko-KR" dirty="0" smtClean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(3)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626458"/>
              </p:ext>
            </p:extLst>
          </p:nvPr>
        </p:nvGraphicFramePr>
        <p:xfrm>
          <a:off x="453312" y="1031099"/>
          <a:ext cx="9174876" cy="4915676"/>
        </p:xfrm>
        <a:graphic>
          <a:graphicData uri="http://schemas.openxmlformats.org/drawingml/2006/table">
            <a:tbl>
              <a:tblPr firstRow="1" firstCol="1" bandRow="1"/>
              <a:tblGrid>
                <a:gridCol w="851995">
                  <a:extLst>
                    <a:ext uri="{9D8B030D-6E8A-4147-A177-3AD203B41FA5}">
                      <a16:colId xmlns:a16="http://schemas.microsoft.com/office/drawing/2014/main" val="3342860664"/>
                    </a:ext>
                  </a:extLst>
                </a:gridCol>
                <a:gridCol w="8322881">
                  <a:extLst>
                    <a:ext uri="{9D8B030D-6E8A-4147-A177-3AD203B41FA5}">
                      <a16:colId xmlns:a16="http://schemas.microsoft.com/office/drawing/2014/main" val="3218221944"/>
                    </a:ext>
                  </a:extLst>
                </a:gridCol>
              </a:tblGrid>
              <a:tr h="49156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</a:t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 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유보 방식</a:t>
                      </a:r>
                      <a:endParaRPr lang="ko-KR" sz="1000" u="sng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계약상 매도인의 책임을 담보하기 위한 방안의 하나로 매도인과 매수인은 거래종결일에 매매대금의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[•]%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해당하는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금원을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유보금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유보금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으로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유보의 원인이 되는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확정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당사자들이 서면계약으로 종국적인 합의에 이르거나 본 계약에서 정하는 분쟁해결절차에 따라 양 당사자간 분쟁이 확정적으로 해결된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되면 확정일로부터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 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따른 매도인의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지급계좌로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유보금을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계좌이체의 방법으로 송금하기로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질권 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설정 방식</a:t>
                      </a:r>
                      <a:endParaRPr lang="ko-KR" sz="1000" u="sng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거래종결일에 매매대금의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[•]%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해당하는 금액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질권 설정 금액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매도인 명의로 개설한 예금 계좌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질권 설정 계좌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예치하는 방식으로 지급하고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잔금에서 질권 설정 금액을 공제한 나머지 금액은 매도인이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전에 서면 통보한 은행계좌에 즉시 인출 가능한 원화를 송금하는 방식으로 지급한다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질권 설정 금액에 관하여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본 계약상 매도인에 대하여 가지는 약정상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이행청구나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손해배상 또는 손실보상 기타 청구권을 담보하기 위하여 매수인을 질권 설정 계좌의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질권자로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하는 질권설정계약을 체결한다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질권설정계약의 내용은 양 당사자가 합의하여 정하되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질권설정계약과 비교하여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질권자에게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불리한 내용으로 체결될 수 없으며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본 계약이 정한 사유에 의거 질권을 행사할 수 있는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매도인에 대한 통지나 매도인의 동의 기타 매도인의 어떠한 추가적 조치 없이 매수인이 질권을 즉시 행사할 수 있도록 규정되어야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질권 설정 계좌의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예치기간은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까지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예치기간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아래 제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경우 및 질권설정계약에서 정하는 절차에 따른 경우를 제외하고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예치기간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동안 매도인과 매수인이 달리 합의하지 않는 한 어느 일방도 이를 인출할 수가 없다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예치기간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동안 본 계약 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조를 비롯하여 매수인이 매도인에 대하여 손해배상이나 면책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손실보상 등을 청구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매수인청구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하는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규정된 손해배상액의 제한이 적용되는 일반면책사항의 경우 매도인이 매수인에 대하여 지급의무가 있는 금액이 누적하여 매매대금의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[•]%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초과하는 경우 매도인은 그 금액을 질권 설정 계좌에서 인출하여 이를 지급하기로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청구한 금액 중 매도인이 인정하지 않아 지급이 이루어지지 않는 부분이 있는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그러한 다툼이 있는 부분에 해당하는 금액에 대해서는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당사자들이 서면계약으로 종국적인 합의에 이르거나 본 계약에서 정하는 분쟁해결절차에 따라 양 당사자간 분쟁이 확정적으로 해결될 때까지 질권 설정 계좌에서 인출하지 아니하고 계속해서 예치한다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위 제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본문의 규정에 따른 매수인청구에 이의가 있을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청구를 수령한 날로부터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회신기간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이내에 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근거서류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자료와 함께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청구금액에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이의를 매수인에게 서면으로 통지하여야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회신기간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내에 매수인이 매도인으로부터 아무런 통지를 받지 못한 경우에는 매수인이 청구한 금액을 매도인이 승인한 것으로 본다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628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39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매매대금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77442"/>
            <a:ext cx="3716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. Earn-out </a:t>
            </a:r>
            <a:r>
              <a:rPr lang="ko-KR" altLang="ko-KR" dirty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 / </a:t>
            </a:r>
            <a:r>
              <a:rPr lang="ko-KR" altLang="ko-KR" dirty="0">
                <a:solidFill>
                  <a:schemeClr val="tx1"/>
                </a:solidFill>
                <a:latin typeface="+mn-ea"/>
                <a:ea typeface="+mn-ea"/>
              </a:rPr>
              <a:t>유보 </a:t>
            </a:r>
            <a:r>
              <a:rPr lang="ko-KR" altLang="ko-KR" dirty="0" smtClean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(4)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514855"/>
              </p:ext>
            </p:extLst>
          </p:nvPr>
        </p:nvGraphicFramePr>
        <p:xfrm>
          <a:off x="453312" y="1031099"/>
          <a:ext cx="9174876" cy="2877481"/>
        </p:xfrm>
        <a:graphic>
          <a:graphicData uri="http://schemas.openxmlformats.org/drawingml/2006/table">
            <a:tbl>
              <a:tblPr firstRow="1" firstCol="1" bandRow="1"/>
              <a:tblGrid>
                <a:gridCol w="851995">
                  <a:extLst>
                    <a:ext uri="{9D8B030D-6E8A-4147-A177-3AD203B41FA5}">
                      <a16:colId xmlns:a16="http://schemas.microsoft.com/office/drawing/2014/main" val="3342860664"/>
                    </a:ext>
                  </a:extLst>
                </a:gridCol>
                <a:gridCol w="8322881">
                  <a:extLst>
                    <a:ext uri="{9D8B030D-6E8A-4147-A177-3AD203B41FA5}">
                      <a16:colId xmlns:a16="http://schemas.microsoft.com/office/drawing/2014/main" val="3218221944"/>
                    </a:ext>
                  </a:extLst>
                </a:gridCol>
              </a:tblGrid>
              <a:tr h="28774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방식</a:t>
                      </a:r>
                      <a:endParaRPr lang="ko-KR" sz="1000" u="sng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거래종결일에 매매대금의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[•]%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해당하는 금액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잔금 </a:t>
                      </a:r>
                      <a:r>
                        <a:rPr lang="ko-KR" sz="1000" b="1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금액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매도인 명의로 개설한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계좌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예치하는 방식으로 지급하고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잔금에서 잔금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금액을 공제한 나머지 금액은 매도인이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전에 서면 통보한 은행계좌에 즉시 인출 가능한 원화를 송금하는 방식으로 지급한다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계좌의 개설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입금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인출 및 관리에 관하여는 별지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양식의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계약에 따르기로 하며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전으로써 별도로 합의한 날짜에 이와 같이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계약을 체결하여야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따라 매수인에게 공개되고 합의된 미지급부채내역 외에 대상회사의 미지급부채내역이 추가로 존재하거나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내용대로 정해진 확정 미지급부채내역 외에 대상회사의 미지급부채내역이 추가로 존재함이 객관적으로 확인되는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 미지급부채내역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본 계약 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따른 매도인의 손해배상책임이 발생하는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잔금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금액을 한도로 해당 추가 미지급부채내역 상당액 또는 손해배상액이 인출되어 매수인에게 지급되도록 하기 위해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인출지시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기타 필요한 조치를 취하여야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거래종결일로부터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영업일이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되는 날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잔금 </a:t>
                      </a:r>
                      <a:r>
                        <a:rPr lang="ko-KR" sz="1000" b="1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계좌에 잔금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금액이 남아 있는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금액이 전부 인출되어 매도인에게 지급되도록 하기 위해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인출지시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기타 필요한 조치를 취하여야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잔금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기간 만료일 전에 매수인의 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따른 추가 미지급부채내역 인출 청구 또는 본 계약 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따른 손해배상청구가 제기된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인출 청구 또는 손해배상청구에 대한 매도인의 책임이 확정되고 그에 따른 지급이 완료될 때까지 잔금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기간 만료일 현재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에스크로우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계좌에 남아 있는 금액 중 매수인이 인출 청구 또는 손해배상청구를 한 금액 상당액의 인출은 유보된다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628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159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매매대금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71513"/>
            <a:ext cx="9111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ko-KR" altLang="ko-KR" dirty="0">
                <a:latin typeface="+mn-ea"/>
                <a:ea typeface="+mn-ea"/>
              </a:rPr>
              <a:t>매매대금 조정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ko-KR" dirty="0">
                <a:latin typeface="+mn-ea"/>
                <a:ea typeface="+mn-ea"/>
              </a:rPr>
              <a:t>순자산 조정 방식</a:t>
            </a:r>
            <a:r>
              <a:rPr lang="en-US" altLang="ko-KR" dirty="0">
                <a:latin typeface="+mn-ea"/>
                <a:ea typeface="+mn-ea"/>
              </a:rPr>
              <a:t>(Net Asset) / </a:t>
            </a:r>
            <a:r>
              <a:rPr lang="ko-KR" altLang="ko-KR" dirty="0" err="1">
                <a:latin typeface="+mn-ea"/>
                <a:ea typeface="+mn-ea"/>
              </a:rPr>
              <a:t>순운전자본</a:t>
            </a:r>
            <a:r>
              <a:rPr lang="en-US" altLang="ko-KR" dirty="0">
                <a:latin typeface="+mn-ea"/>
                <a:ea typeface="+mn-ea"/>
              </a:rPr>
              <a:t>(Net Working Capital) </a:t>
            </a:r>
            <a:r>
              <a:rPr lang="ko-KR" altLang="ko-KR" dirty="0">
                <a:latin typeface="+mn-ea"/>
                <a:ea typeface="+mn-ea"/>
              </a:rPr>
              <a:t>조정 </a:t>
            </a:r>
            <a:r>
              <a:rPr lang="ko-KR" altLang="ko-KR" dirty="0" smtClean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(1)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46369"/>
              </p:ext>
            </p:extLst>
          </p:nvPr>
        </p:nvGraphicFramePr>
        <p:xfrm>
          <a:off x="439738" y="1031875"/>
          <a:ext cx="9188450" cy="4553880"/>
        </p:xfrm>
        <a:graphic>
          <a:graphicData uri="http://schemas.openxmlformats.org/drawingml/2006/table">
            <a:tbl>
              <a:tblPr firstRow="1" firstCol="1" bandRow="1"/>
              <a:tblGrid>
                <a:gridCol w="853256">
                  <a:extLst>
                    <a:ext uri="{9D8B030D-6E8A-4147-A177-3AD203B41FA5}">
                      <a16:colId xmlns:a16="http://schemas.microsoft.com/office/drawing/2014/main" val="84877916"/>
                    </a:ext>
                  </a:extLst>
                </a:gridCol>
                <a:gridCol w="8335194">
                  <a:extLst>
                    <a:ext uri="{9D8B030D-6E8A-4147-A177-3AD203B41FA5}">
                      <a16:colId xmlns:a16="http://schemas.microsoft.com/office/drawing/2014/main" val="1845265522"/>
                    </a:ext>
                  </a:extLst>
                </a:gridCol>
              </a:tblGrid>
              <a:tr h="13180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매매대금의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 방식에는 크게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순자산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순운전자본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조정을 통해 일정 기준일을 기준으로 산정한 매매대금을 사후적으로 조정하는 방식과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 Locked Box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개념에 따라 특정 시점을 기준으로 매매대금을 산정하고 그 이후에 발생한 </a:t>
                      </a:r>
                      <a:r>
                        <a:rPr lang="ko-KR" sz="100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(leakage)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한정하여 조정 대상으로 하는 방식이 있음 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Valuation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담당한 재무자문사와 협의하여 조정 방식을 결정할 필요가 있으며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경우에 따라서는 매매대금 조정을 하지 않는 것이 매수인에게 유리할 수도 있는바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대상회사의 순자산이 계속 증가하는 경우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예상 시뮬레이션을 </a:t>
                      </a:r>
                      <a:r>
                        <a:rPr lang="ko-KR" sz="1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통해 의사 결정할 필요 </a:t>
                      </a:r>
                      <a:r>
                        <a:rPr 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있음</a:t>
                      </a:r>
                      <a:endParaRPr lang="en-US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아래에서는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순자산 조정 방식</a:t>
                      </a:r>
                      <a:r>
                        <a:rPr 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과 </a:t>
                      </a:r>
                      <a:r>
                        <a:rPr lang="ko-KR" sz="10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순운전자본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조정 방식</a:t>
                      </a:r>
                      <a:r>
                        <a:rPr lang="ko-KR" sz="10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살펴봄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43132"/>
                  </a:ext>
                </a:extLst>
              </a:tr>
              <a:tr h="287748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순자산 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 방식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과 </a:t>
                      </a:r>
                      <a:r>
                        <a:rPr lang="ko-KR" sz="1000" b="1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순운전자본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조정 방식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모두 매매대금 조정을 </a:t>
                      </a:r>
                      <a:r>
                        <a:rPr lang="ko-KR" sz="1000" b="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이전 또는 이후에 할 수 있음</a:t>
                      </a:r>
                    </a:p>
                    <a:p>
                      <a:pPr marL="333375" marR="0" lvl="1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전에 매매대금을 조정하면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후 매매대금 조정 절차를 거치지 않아도 되어 매도인과의 법률관계를 조기에 일단락 지을 수 있다는 장점이 있고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(ii)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후에 매매대금을 조정하면 매수인이 대상회사의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control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확보한 상태이기 때문에 보다 많은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정확한 자료를 통하여 조정 항목을 가려낼 수 있다는 장점이 있음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이러한 점에 비추어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구체적인 매매대금 조정 방식은 대상회사의 규모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 일정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매매대금의 규모 등을 고려하여 사전에 정하는 것이 필요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나아가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순자산 조정이나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순운전자본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조정의 기준이 되는 자산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부채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운전자본 등에 대한 정의를 미리 확정해 두는 것이 분쟁 발생 가능성을 줄일 수 있다는 점 유의 필요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2913" marR="0" lvl="1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ii)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경우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매수인이 </a:t>
                      </a:r>
                      <a:r>
                        <a:rPr kumimoji="1" 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이후 특정 시점까지 조정 내역을 정리하고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매수인의 조정 내역에 대한 이의를 제기하며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이를 제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독립된 회계법인을 통하여 검토를 받도록 하는 절차로 구성할 수도 있음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관련 비용은 매도인과 매수인이 반분하거나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 또는 매수인 중 그 계산이 정확한 측이 관련 비용을 면제 받는 형식 등 여러 방식으로 규정 가능</a:t>
                      </a:r>
                      <a:r>
                        <a:rPr kumimoji="1" 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2913" marR="0" lvl="1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endParaRPr lang="ko-KR" sz="1000" b="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순운전자본</a:t>
                      </a:r>
                      <a:r>
                        <a:rPr 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 방식의 경우</a:t>
                      </a:r>
                      <a:r>
                        <a:rPr lang="en-US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순운전자본액 산정 시 재무제표상의 어떤 세부 항목을 고려하거나 제외할 것인지에 대해 미리 확실히 정해두는 것이 </a:t>
                      </a:r>
                      <a:r>
                        <a:rPr lang="ko-KR" sz="1000" b="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바람직</a:t>
                      </a:r>
                      <a:endParaRPr lang="en-US" altLang="ko-KR" sz="1000" b="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en-US" altLang="ko-KR" sz="1000" b="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순자산 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조정과 </a:t>
                      </a:r>
                      <a:r>
                        <a:rPr lang="ko-KR" sz="1000" b="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순운전자본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조정을 함께 하는 방식도 가능함</a:t>
                      </a:r>
                      <a:r>
                        <a:rPr lang="en-US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중복되는 항목은 배제</a:t>
                      </a:r>
                      <a:r>
                        <a:rPr lang="en-US" sz="10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sz="1000" b="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926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49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매매대금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71513"/>
            <a:ext cx="8871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lang="ko-KR" altLang="ko-KR" dirty="0">
                <a:solidFill>
                  <a:schemeClr val="tx1"/>
                </a:solidFill>
                <a:latin typeface="+mn-ea"/>
                <a:ea typeface="+mn-ea"/>
              </a:rPr>
              <a:t>매매대금 조정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ko-KR" dirty="0">
                <a:solidFill>
                  <a:schemeClr val="tx1"/>
                </a:solidFill>
                <a:latin typeface="+mn-ea"/>
                <a:ea typeface="+mn-ea"/>
              </a:rPr>
              <a:t>순자산 조정 방식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(Net Asset) / </a:t>
            </a:r>
            <a:r>
              <a:rPr lang="ko-KR" altLang="ko-KR" dirty="0" err="1">
                <a:solidFill>
                  <a:schemeClr val="tx1"/>
                </a:solidFill>
                <a:latin typeface="+mn-ea"/>
                <a:ea typeface="+mn-ea"/>
              </a:rPr>
              <a:t>순운전자본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(Net Working Capital) </a:t>
            </a:r>
            <a:r>
              <a:rPr lang="ko-KR" altLang="ko-KR" dirty="0">
                <a:solidFill>
                  <a:schemeClr val="tx1"/>
                </a:solidFill>
                <a:latin typeface="+mn-ea"/>
                <a:ea typeface="+mn-ea"/>
              </a:rPr>
              <a:t>조정 </a:t>
            </a:r>
            <a:r>
              <a:rPr lang="ko-KR" altLang="ko-KR" dirty="0" smtClean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(2)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742492"/>
              </p:ext>
            </p:extLst>
          </p:nvPr>
        </p:nvGraphicFramePr>
        <p:xfrm>
          <a:off x="448041" y="1031874"/>
          <a:ext cx="9180147" cy="4075656"/>
        </p:xfrm>
        <a:graphic>
          <a:graphicData uri="http://schemas.openxmlformats.org/drawingml/2006/table">
            <a:tbl>
              <a:tblPr firstRow="1" firstCol="1" bandRow="1"/>
              <a:tblGrid>
                <a:gridCol w="852485">
                  <a:extLst>
                    <a:ext uri="{9D8B030D-6E8A-4147-A177-3AD203B41FA5}">
                      <a16:colId xmlns:a16="http://schemas.microsoft.com/office/drawing/2014/main" val="84877916"/>
                    </a:ext>
                  </a:extLst>
                </a:gridCol>
                <a:gridCol w="8327662">
                  <a:extLst>
                    <a:ext uri="{9D8B030D-6E8A-4147-A177-3AD203B41FA5}">
                      <a16:colId xmlns:a16="http://schemas.microsoft.com/office/drawing/2014/main" val="1845265522"/>
                    </a:ext>
                  </a:extLst>
                </a:gridCol>
              </a:tblGrid>
              <a:tr h="40756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순자산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 </a:t>
                      </a: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방식</a:t>
                      </a:r>
                      <a:endParaRPr lang="en-US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b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b="0" u="none" strike="noStrike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(4) </a:t>
                      </a:r>
                      <a:r>
                        <a:rPr lang="ko-KR" sz="1000" u="sng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매매대금의 조정</a:t>
                      </a: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endParaRPr lang="ko-KR" sz="100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거래종결일로부터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현재의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연결 기준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종결 </a:t>
                      </a:r>
                      <a:r>
                        <a:rPr lang="ko-KR" sz="1000" b="1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확정하여 제출해야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확인실사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조에서 정의함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등을 통해 발견하고 이에 대하여 매도인이 확인한 사항은 종결 재무상태표에 반영하는 것을 원칙으로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전까지 상호 합의를 통해 국내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4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 회계법인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삼일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삼정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안진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한영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 하나의 회계법인을 공동으로 선임하여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선임된 회계법인으로 하여금 종결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재무상태표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제출일로부터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15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 기간은 종결 재무상태표의 확정을 위하여 합리적으로 필요한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당사자들의 합의에 의하여 연장될 수 있음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이내에 종결 재무상태표의 항목 및 금액에 대해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매도인이 채택한 회계기준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따른 검토 및 판정을 수행하도록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회계법인의 판정은 당사자들을 종국적으로 구속하며 당사자들은 이에 대해 소 제기 기타의 방법으로 다툴 수 없다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회계법인의 보수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관련 비용 포함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당사자들이 반분하여 부담한다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당사자들에 의하여 선임된 회계법인의 검토 및 판정으로 인해 종결 재무상태표가 확정된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확정된 종결 재무상태표상의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순자산액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종결 </a:t>
                      </a:r>
                      <a:r>
                        <a:rPr lang="ko-KR" sz="1000" b="1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순자산액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과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20[•]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 현재 대상회사의 순자산인 금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[•]([•])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sz="1000" b="1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순자산 기준금액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간의 차이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절대값을 의미함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ko-KR" sz="1000" b="1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b="1" u="sng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이라고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종결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순자산액이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순자산 기준금액보다 클 경우에는 매수인이 매도인에게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종결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순자산액이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순자산 기준금액보다 작을 경우에는 매도인이 매수인에게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조정금액을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지급한다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이러한 지급은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조정금액이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확정된 날로부터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15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 완료되어야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 및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따라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조정금액이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확정되는 경우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 전 매매대금은 본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따라 확정된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조정금액을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가감한 대금으로 변경되어 최종 확정된다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따른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자산별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배분금액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역시 이러한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조정금액을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반영하여 조정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확정되며 당사자들은 이에 따라 필요한 세무상 수정신고를 수행하고 그 절차에 상호 협조한다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본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따른 순자산 조정과 관련하여 상대방 당사자가 합리적으로 요청하는 모든 정보를 제공하고 상대방 당사자의 적법하게 선임된 회계법인 등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자문사에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합리적인 </a:t>
                      </a:r>
                      <a:r>
                        <a:rPr lang="ko-KR" sz="10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접근권을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부여하기 위해 상업적으로 합리적인 노력을 다하여야 하며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종결 재무상태표를 확정하기 위해 신의성실의 원칙에 따라야 한다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43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25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매매대금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813" y="671513"/>
            <a:ext cx="8871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lang="ko-KR" altLang="ko-KR" dirty="0">
                <a:solidFill>
                  <a:schemeClr val="tx1"/>
                </a:solidFill>
                <a:latin typeface="+mn-ea"/>
                <a:ea typeface="+mn-ea"/>
              </a:rPr>
              <a:t>매매대금 조정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ko-KR" dirty="0">
                <a:solidFill>
                  <a:schemeClr val="tx1"/>
                </a:solidFill>
                <a:latin typeface="+mn-ea"/>
                <a:ea typeface="+mn-ea"/>
              </a:rPr>
              <a:t>순자산 조정 방식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(Net Asset) / </a:t>
            </a:r>
            <a:r>
              <a:rPr lang="ko-KR" altLang="ko-KR" dirty="0" err="1">
                <a:solidFill>
                  <a:schemeClr val="tx1"/>
                </a:solidFill>
                <a:latin typeface="+mn-ea"/>
                <a:ea typeface="+mn-ea"/>
              </a:rPr>
              <a:t>순운전자본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(Net Working Capital) </a:t>
            </a:r>
            <a:r>
              <a:rPr lang="ko-KR" altLang="ko-KR" dirty="0">
                <a:solidFill>
                  <a:schemeClr val="tx1"/>
                </a:solidFill>
                <a:latin typeface="+mn-ea"/>
                <a:ea typeface="+mn-ea"/>
              </a:rPr>
              <a:t>조정 </a:t>
            </a:r>
            <a:r>
              <a:rPr lang="ko-KR" altLang="ko-KR" dirty="0" smtClean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(3)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677146"/>
              </p:ext>
            </p:extLst>
          </p:nvPr>
        </p:nvGraphicFramePr>
        <p:xfrm>
          <a:off x="448041" y="1031874"/>
          <a:ext cx="9180147" cy="4075656"/>
        </p:xfrm>
        <a:graphic>
          <a:graphicData uri="http://schemas.openxmlformats.org/drawingml/2006/table">
            <a:tbl>
              <a:tblPr firstRow="1" firstCol="1" bandRow="1"/>
              <a:tblGrid>
                <a:gridCol w="852485">
                  <a:extLst>
                    <a:ext uri="{9D8B030D-6E8A-4147-A177-3AD203B41FA5}">
                      <a16:colId xmlns:a16="http://schemas.microsoft.com/office/drawing/2014/main" val="84877916"/>
                    </a:ext>
                  </a:extLst>
                </a:gridCol>
                <a:gridCol w="8327662">
                  <a:extLst>
                    <a:ext uri="{9D8B030D-6E8A-4147-A177-3AD203B41FA5}">
                      <a16:colId xmlns:a16="http://schemas.microsoft.com/office/drawing/2014/main" val="1845265522"/>
                    </a:ext>
                  </a:extLst>
                </a:gridCol>
              </a:tblGrid>
              <a:tr h="40756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</a:t>
                      </a: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운전자본</a:t>
                      </a: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 </a:t>
                      </a: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방식</a:t>
                      </a:r>
                      <a:endParaRPr lang="en-US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b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b="0" u="none" strike="noStrike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(4) </a:t>
                      </a:r>
                      <a:r>
                        <a:rPr lang="ko-KR" sz="1000" u="sng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매매대금의 조정</a:t>
                      </a: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endParaRPr lang="ko-KR" sz="100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거래종결일로부터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현재의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연결 기준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종결 </a:t>
                      </a:r>
                      <a:r>
                        <a:rPr lang="ko-KR" altLang="en-US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재무상태표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확정하여 제출해야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확인실사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조에서 정의함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등을 통해 발견하고 이에 대하여 매도인이 확인한 사항은 종결 재무상태표에 반영하는 것을 원칙으로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전까지 상호 합의를 통해 국내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 회계법인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삼일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삼정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안진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한영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 하나의 회계법인을 공동으로 선임하여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선임된 회계법인으로 하여금 종결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재무상태표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제출일로부터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 기간은 종결 재무상태표의 확정을 위하여 합리적으로 필요한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당사자들의 합의에 의하여 연장될 수 있음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이내에 종결 재무상태표의 항목 및 금액에 대해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매도인이 채택한 회계기준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따른 검토 및 판정을 수행하도록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회계법인의 판정은 당사자들을 종국적으로 구속하며 당사자들은 이에 대해 소 제기 기타의 방법으로 다툴 수 없다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회계법인의 보수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관련 비용 포함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당사자들이 반분하여 부담한다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당사자들에 의하여 선임된 회계법인의 검토 및 판정으로 인해 종결 재무상태표가 확정된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확정된 종결 재무상태표상의 순운전자본액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종결 순운전자본액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과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20[•]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 현재 대상회사의 순운전자본인 금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[•]([•])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순운전자본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기준금액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간의 차이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절대값을 의미함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“</a:t>
                      </a:r>
                      <a:r>
                        <a:rPr lang="ko-KR" altLang="en-US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”이라고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종결 순운전자본액이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순운전자본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기준금액보다 클 경우에는 매수인이 매도인에게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종결 순운전자본액이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순운전자본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기준금액보다 작을 경우에는 매도인이 매수인에게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조정금액을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지급한다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이러한 지급은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조정금액이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확정된 날로부터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 완료되어야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항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 및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호에 따라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조정금액이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확정되는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 전 매매대금은 본 항에 따라 확정된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조정금액을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가감한 대금으로 변경되어 최종 확정된다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항에 따른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자산별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배분금액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역시 이러한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조정금액을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반영하여 조정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확정되며 당사자들은 이에 따라 필요한 세무상 수정신고를 수행하고 그 절차에 상호 협조한다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본 항에 따른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순운전자본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조정과 관련하여 상대방 당사자가 합리적으로 요청하는 모든 정보를 제공하고 상대방 당사자의 적법하게 선임된 회계법인 등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자문사에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합리적인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접근권을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부여하기 위해 상업적으로 합리적인 노력을 다하여야 하며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종결 재무상태표를 확정하기 위해 신의성실의 원칙에 따라야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43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58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>
                <a:latin typeface="+mn-ea"/>
              </a:rPr>
              <a:t>III. </a:t>
            </a:r>
            <a:r>
              <a:rPr lang="ko-KR" altLang="en-US" dirty="0">
                <a:latin typeface="+mn-ea"/>
              </a:rPr>
              <a:t>매매대금</a:t>
            </a: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261702"/>
              </p:ext>
            </p:extLst>
          </p:nvPr>
        </p:nvGraphicFramePr>
        <p:xfrm>
          <a:off x="445508" y="1031100"/>
          <a:ext cx="9182903" cy="479580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8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매매대금의 조정 방식에는 크게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순자산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순운전자본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조정을 통해 일정 기준일을 기준으로 산정한 매매대금을 사후적으로 조정하는 방식과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 Locked Box 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개념에 따라 특정 시점을 기준으로 매매대금을 산정하고 그 이후에 발생한 </a:t>
                      </a:r>
                      <a:r>
                        <a:rPr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(leakage)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한정하여 조정 대상으로 하는 방식이 있음 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Valuation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담당한 재무자문사와 협의하여 조정 방식을 결정할 필요가 있으며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경우에 따라서는 매매대금 조정을 하지 않는 것이 매수인에게 유리할 수도 있는바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대상회사의 순자산이 계속 증가하는 경우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예상 시뮬레이션을 통해 의사결정을 할 필요 있음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ko-KR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아래에서는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Locked Box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방식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살펴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봄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특정 시점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(Locked Box Date)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기준으로 결정한 기업가치평가액을 바탕으로 매매대금을 미리 정하고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당사자들이 합의한 </a:t>
                      </a:r>
                      <a:r>
                        <a:rPr lang="ko-KR" altLang="ko-KR" sz="1000" b="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(leakage) 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사유가 발생한 경우를 제외하고는 매매대금의 조정을 허용하지 않는 방식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 입장에서는 매매대금이 확정적으로 정해져 있어 예측가능성이 높으며 분쟁가능성도 상대적으로 낮다는 장점이 있음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1000" b="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33375" marR="0" lvl="1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Locked Box Date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이후 대상회사의 위험과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효익은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경제적으로 매수인에게 귀속되나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법적 지배권은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시점에 비로소 매수인에게 귀속됨 </a:t>
                      </a:r>
                    </a:p>
                    <a:p>
                      <a:pPr marL="43307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Locked Box Date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로부터 거래종결일까지 일정 수준의 이자를 합산하여 매매대금을 지급하는 경우도 있으며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이때에는 이자율에 대한 합의가 필요 </a:t>
                      </a: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altLang="ko-KR" sz="1000" b="1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Locked Box Date 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이후에는 대상회사로부터 주주 또는 그 특수관계자에 대하여 배당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특수관계자 거래 등을 통한 </a:t>
                      </a:r>
                      <a:r>
                        <a:rPr lang="ko-KR" altLang="ko-KR" sz="1000" b="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(leakage)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허용되지 않고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그러한 </a:t>
                      </a:r>
                      <a:r>
                        <a:rPr lang="ko-KR" altLang="ko-KR" sz="1000" b="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가치유출이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있는 경우 이를 매매대금에서 감액하게 됨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당사자간 합의에 따라 일정한 한도에서 허용된 </a:t>
                      </a:r>
                      <a:r>
                        <a:rPr lang="ko-KR" altLang="ko-KR" sz="1000" b="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(permitted leakage)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예외가 인정되는 경우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통상적인 </a:t>
                      </a:r>
                      <a:r>
                        <a:rPr lang="ko-KR" altLang="ko-KR" sz="1000" b="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사업과정에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따른 </a:t>
                      </a:r>
                      <a:r>
                        <a:rPr lang="ko-KR" altLang="ko-KR" sz="1000" b="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경상비용의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지출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규정하는 것이 </a:t>
                      </a:r>
                      <a:r>
                        <a:rPr lang="ko-KR" altLang="ko-KR" sz="1000" b="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통상적임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이러한 허용된 </a:t>
                      </a:r>
                      <a:r>
                        <a:rPr lang="ko-KR" altLang="ko-KR" sz="1000" b="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가치유출은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사후적인 매매대금의 조정사유에서 제외되므로</a:t>
                      </a:r>
                      <a:r>
                        <a:rPr lang="en-US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최초 매매대금 </a:t>
                      </a:r>
                      <a:r>
                        <a:rPr lang="ko-KR" altLang="ko-KR" sz="1000" b="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산정시에</a:t>
                      </a:r>
                      <a:r>
                        <a:rPr lang="ko-KR" altLang="ko-KR" sz="1000" b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고려하는 것이 </a:t>
                      </a:r>
                      <a:r>
                        <a:rPr lang="ko-KR" altLang="ko-KR" sz="1000" b="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원칙임</a:t>
                      </a:r>
                      <a:endParaRPr lang="ko-KR" altLang="ko-KR" sz="1000" b="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33375" marR="0" lvl="1" indent="-17145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가치유출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및 허용된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가치유출의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범위가 당사자들 사이에서 치열하게 협상되는 주요 협상 포인트에 해당하며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통상적으로는 계약 체결 시부터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시까지 매수인의 동의가 필요 없는 통상적인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사업과정의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범위를 제한하며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매수인의 동의를 요하는 대상회사의 행위를 광범위하게 규정함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71513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ko-KR" altLang="ko-KR" dirty="0">
                <a:latin typeface="+mn-ea"/>
                <a:ea typeface="+mn-ea"/>
              </a:rPr>
              <a:t>매매대금 조정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smtClean="0">
                <a:latin typeface="+mn-ea"/>
                <a:ea typeface="+mn-ea"/>
              </a:rPr>
              <a:t>Locked Box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(1)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066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>
                <a:latin typeface="+mn-ea"/>
              </a:rPr>
              <a:t>III. </a:t>
            </a:r>
            <a:r>
              <a:rPr lang="ko-KR" altLang="en-US" dirty="0">
                <a:latin typeface="+mn-ea"/>
              </a:rPr>
              <a:t>매매대금</a:t>
            </a: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807404"/>
              </p:ext>
            </p:extLst>
          </p:nvPr>
        </p:nvGraphicFramePr>
        <p:xfrm>
          <a:off x="445508" y="1031100"/>
          <a:ext cx="9182903" cy="551517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51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lvl="0" indent="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항의 조정 전 매매대금은 기준일 현재 대상회사의 기업가치 및 지분가치를 고려하여 산정한 금액으로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이하에서 정하는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가치유출이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발생하지 않는 한 조정될 수 없다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lvl="0" indent="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 “</a:t>
                      </a:r>
                      <a:r>
                        <a:rPr lang="ko-KR" altLang="ko-KR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 다음 각호의 사건 또는 행위를 의미한다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허용된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가치유출은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가치유출에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해당하지 아니함을 명확히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539750" lvl="0" indent="-269875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 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 또는 그 특수관계인에 대한 대상회사의 배당의 선언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지급 또는 지급의 약속 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통상적인 사업과정에서 정상가격을 대가로 이루어지는 계약 또는 거래를 제외하고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 또는 그 특수관계인에 대한 대상회사의 금전 지급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 양도 또는 기타 거래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(iii) 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대상회사의 자본금 또는 기타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증권의 발행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상환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환매 또는 자본금환급과 관련하여 이루어지는 매도인 또는 특수관계인에 대한 대상회사의 금전 또는 자산의 지급 내지 분배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(iv) 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통상적인 사업활동에서 정상가격을 대가로 이루어지는 계약 또는 거래를 제외하고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 또는 그 특수관계인의 이익을 위하여 이루어지는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의한 채무인수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채권양도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제한부담의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설정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신용공여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면책배상의무의 이행 또는 기타 의무의 이행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유예 및 면제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(v)  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 또는 그 특수관계인에 대한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보유 채권의 포기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(vi) 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본건 거래 관련 매도인 또는 그 특수관계인에게 발생한 거래비용 내지 부담하여야 할 거래비용을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대상회사가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부담하는 행위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본건 거래와 관련하여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임직원이 제공한 용역 및 합리적인 수준의 관련 실비는 제외함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1" lang="ko-KR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(vii)</a:t>
                      </a:r>
                      <a:r>
                        <a:rPr kumimoji="1" lang="en-US" altLang="ko-KR" sz="10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법령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대상회사의 사규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 근로계약 내지 임원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보수계약에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따라 이루어지는 거래 또는 지급 및 과거로부터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임직원들에게 통상적으로 지급되어 온 거래 또는 지급을 제외하고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대상회사의 임직원들에 대한 거래 또는 금전의 지급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금전의 지급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보상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 양도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채무인수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채권의 포기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면제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유예를 포함함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1" lang="ko-KR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(viii)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이상의 각 항목을 실행하기 위한 대상회사의 약속 또는 약정 체결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(ix)  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대상회사가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이상의 각 항목과 관련하여 지출하였거나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부담하였거나 부담할 비용 또는 조세</a:t>
                      </a:r>
                    </a:p>
                    <a:p>
                      <a:pPr marL="447675" indent="-179388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ea"/>
                        <a:buAutoNum type="circleNumDbPlain"/>
                      </a:pP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발생에 관한 다툼이 없는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 매매대금 확정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	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기준일부터 거래종결일까지 사이에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가치유출이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발생하고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 사실과 그러한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상응하는 금액의 액수에 대하여 당사자들 간에 서로 합의한 경우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거래종결일에 매도인에게 지급할 최종매매대금은 조정 전 매매대금에서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상응하는 금액을 전액 차감하여 조정하기로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이와 같이 조정된 매매대금을 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최종매매대금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”이라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따른 손해배상책임의 제한은 본 항에 적용되지 아니한다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	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가치유출이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발생한 경우 해당 사실 및 이에 따른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지체 없이 통지하여야 하며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합리적으로 요청하는 관련 자료를 지체없이 제공하여야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71513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lang="ko-KR" altLang="ko-KR" dirty="0">
                <a:solidFill>
                  <a:schemeClr val="tx1"/>
                </a:solidFill>
                <a:latin typeface="+mn-ea"/>
                <a:ea typeface="+mn-ea"/>
              </a:rPr>
              <a:t>매매대금 조정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Locked Box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(2)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268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>
                <a:latin typeface="+mn-ea"/>
              </a:rPr>
              <a:t>III. </a:t>
            </a:r>
            <a:r>
              <a:rPr lang="ko-KR" altLang="en-US" dirty="0">
                <a:latin typeface="+mn-ea"/>
              </a:rPr>
              <a:t>매매대금</a:t>
            </a: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146476"/>
              </p:ext>
            </p:extLst>
          </p:nvPr>
        </p:nvGraphicFramePr>
        <p:xfrm>
          <a:off x="445508" y="1031101"/>
          <a:ext cx="9182903" cy="4196324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63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lvl="0" indent="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4.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발생에 관한 합의가 이루어지지 않는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후 조정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	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기준일로부터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사이에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가치유출이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발생하였음에도 불구하고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여하한 사유로 해당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따른 매매대금 조정이 이루어지지 아니한 경우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 간에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 사실과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대하여 합의가 이루어지지 않은 경우를 포함함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이후에 본 항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호에 따라 확정된 매매대금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조정금액을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매수인에게 지급하여야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따른 손해배상책임의 제한은 본 항에 적용되지 아니한다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	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호에 따라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가치유출로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인하여 매도인이 매수인에게 지급하는 모든 금액은 매매대금의 조정으로 이루어지는 것으로서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따른 최종매매대금은 위 금액만큼 감액된 것으로 본다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lvl="0" indent="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US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5.</a:t>
                      </a:r>
                      <a:r>
                        <a:rPr lang="en-US" altLang="ko-KR" sz="1000" baseline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가치유출에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조정 절차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  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항에 따른 매매대금 조정을 요청하고자 하는 경우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사유와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상응하는 금액 및 이로 인한 총 조정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요청금액을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기재한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조정요청서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 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조정요청서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거래종결일로부터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 이내에 매도인에게 통지한다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후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 이내에 매수인으로부터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매매대금 조정요청서를 받지 못한 경우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항에서 정하는 조정 의무를 부담하지 아니한다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 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매매대금 조정요청서를 수령한 날로부터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 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조정기간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 어느 일방 당사자가 요청하는 경우 매매대금 조정기간은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연장 가능하며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당사자들이 합의하여 추가 연장할 수 있음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그로 인한 매매대금 조정에 대하여 성실히 합의한다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539750" lvl="0" indent="-2698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ea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(iii)  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 조정에 관한 합의가 매매대금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조정기간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내에 이루어지지 않을 경우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매도인과 매수인은 매매대금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조정기간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만료 후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 외부전문기관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회계법인을 포함하되 이에 한정하지 아니함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상호 합의로 선정하여 해당 외부전문기관이 평가한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상응하는 금액으로 매매대금 조정을 완료하기로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 외부전문기관에 대한 합의가 되지 않는 경우 매도인은 위 기간이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도과한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날로부터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 국내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 회계법인 중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곳의 회계법인을 매수인에게 통지하여야 하고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위 통지를 받은 날로부터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 그 중 하나의 회계법인을 선정하여 매도인에게 통지하여야 하며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경우 그와 같이 매수인이 매도인에게 통지한 회계법인이 평가한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가치유출에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상응하는 금액으로 매매대금 조정을 완료하기로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목에 따른 외부전문기관 선임 비용은 매도인과 매수인이 각각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씩 부담하기로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71513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lang="ko-KR" altLang="ko-KR" dirty="0">
                <a:solidFill>
                  <a:schemeClr val="tx1"/>
                </a:solidFill>
                <a:latin typeface="+mn-ea"/>
                <a:ea typeface="+mn-ea"/>
              </a:rPr>
              <a:t>매매대금 조정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Locked Box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방식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(3)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813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IV. </a:t>
            </a:r>
            <a:r>
              <a:rPr lang="ko-KR" altLang="en-US" dirty="0" err="1" smtClean="0">
                <a:latin typeface="+mn-ea"/>
              </a:rPr>
              <a:t>확인실사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619552"/>
              </p:ext>
            </p:extLst>
          </p:nvPr>
        </p:nvGraphicFramePr>
        <p:xfrm>
          <a:off x="445285" y="685165"/>
          <a:ext cx="9182903" cy="4901945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7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 등의 사유로 주식매매계약 체결 전 실사가 충분하게 진행되지 않은 경우 또는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거래종결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전 매매대금 조정을 위해 필요한 경우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확인실사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고려 가능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확인실사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대신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후 매매대금 조정이나 손해배상 절차를 활용할 수도 있는바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이러한 이해를 바탕으로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확인실사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등에 관해 상대방과 협의 및 협상 필요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37167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 </a:t>
                      </a:r>
                      <a:r>
                        <a:rPr lang="ko-KR" altLang="ko-KR" sz="1000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확인실사의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실시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20[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 중으로서 당사자들이 상호 합의하는 날로부터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3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주의 기간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합리적인 사유를 들어 매도인에게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실사기간의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연장을 요청하는 경우 매도인은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2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 이내의 범위에서 이를 연장할 수 있음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ko-KR" altLang="ko-KR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실사기간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동안 대상회사의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자산부채의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현황 파악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해외 종속회사가 운영하고 있는 생산시설 및 유형자산의 실재성 확인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대상회사의 우발채무 현황 파악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후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사업계획 수립 등을 목적으로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실사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ko-KR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확인실사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실시할 수 있다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실사기간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개시 전 기간을 포함하여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실사기간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중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확인실사의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방식 내지 일정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 요청사항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(RFI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등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등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확인실사와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관련된 구체적인 사항에 관해서 상호 협의하기로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 </a:t>
                      </a:r>
                      <a:r>
                        <a:rPr lang="ko-KR" altLang="ko-KR" sz="1000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확인실사의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방법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매도인의 사전 서면 동의가 없는 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종속회사에 속한 임직원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주간사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회계자문사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세무자문사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법률자문사를 포함하되 이에 한정되지 않음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ko-KR" altLang="ko-KR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외부감사인 및 거래상대방과 개별적인 접촉 및 교신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 정보의 요청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현장 방문 요청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경영진 면담 요청 등에 관한 교신과 협의를 포함하되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이에 한정되지 아니함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할 수 없고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반드시 매도인 또는 매도인이 지정한 자를 통해서 요청하여야 하며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매수인의 임직원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대리인 등으로 하여금 위 사항을 준수하도록 하여야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 또는 매수인의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자문사는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실사기간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동안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확인실사를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위하여 합리적으로 필요한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종속회사에 대한 영업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법률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세무 등에 관한 자료 및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정보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소속 임직원과의 면담 및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사업장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공장 등에 대한 현장방문을 요청할 수 있으며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관련 법령 또는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자와의 계약에 의하여 금지되지 아니하고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종속회사의 통상적인 업무활동에 지장이 없다고 인정하는 범위 내에서 이에 협조한다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확인실사와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관련하여 매수인에게 제공되는 모든 정보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자료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데이터에 대한 일체의 법률적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사실적 확인이나 평가 등은 매수인 스스로의 책임하에 이루어지는 것이며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 스스로 이를 분석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판단하여야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명시된 진술 및 보장 위반에 해당하여 매도인이 본 계약에 따라 손해배상 책임을 부담하는 경우를 제외하고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매도인이나 그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자문사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해외 종속회사 및 그 각각의 임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직원은 이에 대하여 어떠한 의무나 책임도 부담하지 아니한다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2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V. </a:t>
            </a:r>
            <a:r>
              <a:rPr lang="ko-KR" altLang="en-US" dirty="0" err="1" smtClean="0">
                <a:latin typeface="+mn-ea"/>
              </a:rPr>
              <a:t>거래종결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교부물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(1)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955590"/>
              </p:ext>
            </p:extLst>
          </p:nvPr>
        </p:nvGraphicFramePr>
        <p:xfrm>
          <a:off x="448956" y="671513"/>
          <a:ext cx="9182903" cy="5275282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거래종결일에 매도인과 매수인이 이행해야 하는 사항을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70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주권이 발행되지 않은 경우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원칙적으로는 대상회사로부터 주권을 발행 받은 뒤 매수인에게 교부해야 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실무상으로는 매도인의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확정일자부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주식양도통지서와 대상회사의 명의개서 여부를 확인할 수 있는 주주명부를 매수인에게 교부할 수도 있음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후자의 경우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설립 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신주의 납입기일 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개월이 경과했을 것이 요구되며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이중양도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등의 이슈가 있을 수 있으므로 매수인의 입장에서는 가급적 전자의 방법을 통해 주권을 교부 받는 것이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바람직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altLang="en-US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주권이 발행되어 있으나 매도인이 주권을 분실한 경우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주권의 효력을 말소시키는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제권판결을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법원으로부터 받은 뒤 주권을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재발행하여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진행하는 방법밖에 없음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제권판결을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위해서는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공시최고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등의 절차가 필요하여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개월 이상의 기간이 소요되는 경우도 빈번하므로 실사 과정에서 주권이 발행되어 있는지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주권을 잘 보관하고 있는지 등을 확인 필요</a:t>
                      </a: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altLang="en-US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주식이 </a:t>
                      </a: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전자등록된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경우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([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상장회사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등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상장회사와 같이 발행된 주식이 한국예탁결제원에 예탁되어 있는 경우에는 증권사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계좌대체의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방식으로 주식의 소유권이 이전됨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주식 이체에 시간이 소요될 수 있으므로 이에 대해 사전에 확인 필요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altLang="en-US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 양도를 위해 이사회 승인이 요구되는 경우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대상회사의 정관에 따라 주식 양도를 위해 이사회 승인이 요구될 수 있으므로 실사 과정에서 이에 대한 확인 필요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매매대상 주식에 관해 매도인의 취득 당시 이사회 승인이 있었는지 확인하여 필요한 경우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전에 사후 추인을 요구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14387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거래종결시의 이행사항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거래종결시에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조정 전 매매대금에서 계약금을 차감한 금액을 매도인이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5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전에 서면으로 지정한 은행계좌에 즉시 결제 가능한 원화로 송금함으로써 매도인에게 지급한다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대상주식을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표창하는 주권을 매수인에게 교부한다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kumimoji="1" lang="ko-KR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매수인이 지정한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이사 및 감사의 사임서 원본과 기타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사임등기에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필요한 첨부서류를 매수인에게 교부한다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483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V. </a:t>
            </a:r>
            <a:r>
              <a:rPr lang="ko-KR" altLang="en-US" dirty="0" err="1" smtClean="0">
                <a:latin typeface="+mn-ea"/>
              </a:rPr>
              <a:t>거래종결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교부물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(2)</a:t>
            </a:r>
            <a:r>
              <a:rPr lang="ko-KR" altLang="en-US" dirty="0" smtClean="0">
                <a:latin typeface="+mn-ea"/>
              </a:rPr>
              <a:t> 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589110"/>
              </p:ext>
            </p:extLst>
          </p:nvPr>
        </p:nvGraphicFramePr>
        <p:xfrm>
          <a:off x="448956" y="671513"/>
          <a:ext cx="9182903" cy="3356962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69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</a:t>
                      </a:r>
                      <a: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kumimoji="1"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</a:t>
                      </a:r>
                      <a:r>
                        <a:rPr kumimoji="1"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1"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주권 수령 관련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매도인은 거래종결일에 매매대금에 대한 영수증을 매수인에게 교부한다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.”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매수인은 거래종결일에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대상주식을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표창하는 주권에 대한 영수증을 매도인에게 교부한다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.”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kumimoji="1"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주권 관련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주권이 발행되지 않은 경우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매도인은 거래종결일에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발행한 주권미발행확인서 및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확정일자부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주식양도통지서를 매수인에게 교부한다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.”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매도인은 매수인이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대상주식의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소유자임을 명시한 대상회사의 주주명부 사본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원본대조필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매수인에게 교부한다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.”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kumimoji="1"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주식이 </a:t>
                      </a: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전자등록된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경우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([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상장회사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등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매도인은 거래종결일로부터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[•]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영업일 전에 부담이 설정되지 아니한 상태로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대상주식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전부를 매수인이 지정하는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증권계좌로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이체한다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.”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매수인은 거래종결일에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대상주식을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이체 받았음을 증빙하는 서류를 매도인에게 교부한다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.”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kumimoji="1"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주식 양도를 위해 이사회 승인이 요구되는 경우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매도인은 거래종결일에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대상주식의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양수도를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승인한 이사회 의사록 사본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원본대조필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매수인에게 교부한다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.”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102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64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VI. </a:t>
            </a:r>
            <a:r>
              <a:rPr lang="ko-KR" altLang="en-US" dirty="0" smtClean="0">
                <a:latin typeface="+mn-ea"/>
              </a:rPr>
              <a:t>매도인의 </a:t>
            </a:r>
            <a:r>
              <a:rPr lang="ko-KR" altLang="en-US" dirty="0" err="1" smtClean="0">
                <a:latin typeface="+mn-ea"/>
              </a:rPr>
              <a:t>진술보장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141011"/>
              </p:ext>
            </p:extLst>
          </p:nvPr>
        </p:nvGraphicFramePr>
        <p:xfrm>
          <a:off x="445508" y="1031100"/>
          <a:ext cx="9182903" cy="3476955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계약체결일 및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거래종결일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기준 매도인이 매수인에게 하는 매도인 자신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매도인의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대상회사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주식 소유 및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대상회사에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관한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진술보장을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진술보장은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크게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 및 매도인의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주식 소유와 관련된 근본적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이른바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fundamental reps)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과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매각하는 대상인 대상회사의 상황과 관련된 진술보장으로 구분 가능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진술보장에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포함되는 내용은 아래 ‘표준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문구’ 부분 참조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범위를 좁히기 위해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materiality qualifier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관련 법령을 중요한 측면에서 준수하고 있음”과 같은 문구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knowledge qualifier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알고 있는 한 관련 법령을 준수하고 있음”과 같은 문구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사용하거나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(ii)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계약체결일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모두가 아니라 어느 한 시점에 대해서만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제공하려고 하는 경향 존재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범위를 넓히기 위해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qualifier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사용하지 않도록 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 초안에도 넣지 않고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qualifier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추가에 가급적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push back) (ii)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계약체결일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모두를 기준으로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제공받는 것이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바람직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altLang="en-US" sz="1000" b="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진술보장의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구체적인 내용도 실사 및 협상 결과에 따라 매도인이 공개한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위반사항을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carve-out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해주거나 공개목록으로 기재하는 형식으로 진행 가능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 입장에서는 이와 같이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공개목록에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포함되는 항목에 대해서는 나중에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위반에 따른 계약 해제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손해배상 청구 등을 할 수 없으므로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공개목록에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어떤 항목이 포함되는지에 대해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주의깊게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검토할 필요가 있으며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실사 과정에서 파악된 주요 리스크 요인에 대해서는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항목이 이미 가격에 반영된 것이 아니라면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공개목록에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포함되지 않도록 협상을 할 필요가 있음</a:t>
                      </a: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altLang="en-US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진술보장보험에 가입하는 경우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진술보장의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내용에 더하여 진술보장보험의 보험증권에 따라 보험으로 보장되지 않는 사항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알고 있는 사항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있을 수 있으므로 진술보장보험이 아닌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특별면책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조항 등을 통해 본 계약에 따른 일반 손해배상이 가능하도록 규정하는 방안 고려 가능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80380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근본적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진술보장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/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대상회사에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관한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진술보장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(1)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7756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VI. </a:t>
            </a:r>
            <a:r>
              <a:rPr lang="ko-KR" altLang="en-US" dirty="0" smtClean="0">
                <a:latin typeface="+mn-ea"/>
              </a:rPr>
              <a:t>매도인의 </a:t>
            </a:r>
            <a:r>
              <a:rPr lang="ko-KR" altLang="en-US" dirty="0" err="1" smtClean="0">
                <a:latin typeface="+mn-ea"/>
              </a:rPr>
              <a:t>진술보장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626434"/>
              </p:ext>
            </p:extLst>
          </p:nvPr>
        </p:nvGraphicFramePr>
        <p:xfrm>
          <a:off x="445508" y="1031099"/>
          <a:ext cx="9182903" cy="5155485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54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근본적 </a:t>
                      </a:r>
                      <a:r>
                        <a:rPr lang="ko-KR" altLang="ko-KR" sz="1000" b="1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i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altLang="ko-KR" sz="1000" i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i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altLang="ko-KR" sz="1000" i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i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i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i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i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i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참조</a:t>
                      </a:r>
                      <a:r>
                        <a:rPr lang="en-US" altLang="ko-KR" sz="1000" i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권리 능력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 체결 권한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 체결 및 본건 거래가 법령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정관 기타 계약에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위반되지 않는지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여부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 체결 및 본건 거래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매도인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이나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대상회사가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당사자인 계약의 상대방 또는 정부기관의 승인이나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 동의가 필요한지 여부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 체결 및 거래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이행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금지하는 정부기관의 판결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명령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결정 등이 있는지 여부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회생 또는 파산 절차에 있는지 여부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매매대상 주식의 적법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한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발행 여부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유효한 소유권 등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관한 </a:t>
                      </a:r>
                      <a:r>
                        <a:rPr lang="ko-KR" alt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altLang="ko-KR" sz="1000" b="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altLang="ko-KR" sz="1000" b="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b="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b="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참조</a:t>
                      </a:r>
                      <a:r>
                        <a:rPr lang="en-US" altLang="ko-KR" sz="1000" b="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ko-KR" altLang="ko-KR" sz="1000" b="0" i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6700" marR="0" lvl="1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실사를 통해 확인된 사실관계를 바탕으로 가감 가능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대상회사의 설립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유효하게 존속하고 있는지 여부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본건 거래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정부기관 또는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자의 승인 내지 동의가 필요한지 여부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본건 거래가 대상회사의 정관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법령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정부승인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인허가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내지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중요계약에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위반되는지 여부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대상회사의 자본 구성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대상회사의 기준재무제표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통상적인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사업과정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중대한 부정적인 영향의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부존재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법령준수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제조물책임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유형자산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조세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정부승인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인허가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중요계약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인사노무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지식재산권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안전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보험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특수관계인 거래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80380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근본적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진술보장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/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대상회사에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관한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진술보장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(2)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34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VI. </a:t>
            </a:r>
            <a:r>
              <a:rPr lang="ko-KR" altLang="en-US" dirty="0" smtClean="0">
                <a:latin typeface="+mn-ea"/>
              </a:rPr>
              <a:t>매도인의 </a:t>
            </a:r>
            <a:r>
              <a:rPr lang="ko-KR" altLang="en-US" dirty="0" err="1" smtClean="0">
                <a:latin typeface="+mn-ea"/>
              </a:rPr>
              <a:t>진술보장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959938"/>
              </p:ext>
            </p:extLst>
          </p:nvPr>
        </p:nvGraphicFramePr>
        <p:xfrm>
          <a:off x="439738" y="1031875"/>
          <a:ext cx="9182903" cy="443534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9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진술보장의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예외 사유에 대한 규정으로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공개목록에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기재된 내용은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진술보장에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반하더라도 손해배상의 대상이 되지 않음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509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 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예외 사유의 범위를 넓히기 위하여 실사 과정에서 제공된 자료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답변에 포함된 사항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회사등기부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부동산등기부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전자공시 등을 통해 공시된 자료는 공개된 것으로 간주한다는 조항을 포함시키려고 하는 경향 존재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특히 경쟁입찰과 같이 매도인의 협상력이 우위에 있는 경우 그러한 요구를 하는 것이 더 일반적임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 체결 이후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공개목록을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수정할 권리를 유보하려는 경향 존재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 입장에서는 가급적 예외 사유의 범위를 좁혀야 하므로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push back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하는 것이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바람직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계약 체결 이후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공개목록을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수정할 수 있다면 매수인 입장에서는 예상치 못하게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범위가 축소되는 결과가 발생할 수 있으므로 전부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push back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하거나 매수인의 동의 하에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공개목록의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수정을 허용하되 이에 근거한 매도인에 대한 손해배상 청구 가능성을 열어두는 것이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바람직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160331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kumimoji="1"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 </a:t>
                      </a:r>
                      <a:r>
                        <a:rPr kumimoji="1" lang="ko-KR" altLang="en-US" sz="1000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공개목록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및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항에 기재된 매도인의 진술 및 보장은 각 개별적이고 독립된 것이며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별첨에 기재된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공개목록을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전제로 하고 있다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공개목록에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의하여 공개된 사항들은 해당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공개목록의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인용조항에도 불구하고 본 계약상 관계되는 모든 진술 및 보장에 대하여 적용되며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어떠한 사항이나 사실이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공개목록에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공개되었다는 이유로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(a)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사항이나 사실이 중요하거나 중대한 것으로 간주되거나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계약상 중요성 또는 중대성 판단에 고려되어서는 아니되며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(b)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 대하여 당해 사항과 관련하여 어떠한 불이행이나 위반 또는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자의 권리를 인정하는 것으로 간주되거나 해석되어서는 아니된다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이전에 매수인의 사전 서면동의를 얻어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공개목록을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수정할 수 있고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합리적인 이유 없이 동의를 거절하거나 유보하지 않기로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0170" y="680380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2. </a:t>
            </a:r>
            <a:r>
              <a:rPr lang="ko-KR" altLang="en-US" dirty="0" err="1" smtClean="0">
                <a:latin typeface="+mn-ea"/>
                <a:ea typeface="+mn-ea"/>
              </a:rPr>
              <a:t>공개목록</a:t>
            </a:r>
            <a:endParaRPr lang="ko-KR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2014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VII. </a:t>
            </a:r>
            <a:r>
              <a:rPr lang="ko-KR" altLang="en-US" dirty="0" err="1" smtClean="0">
                <a:latin typeface="+mn-ea"/>
              </a:rPr>
              <a:t>확약사항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877784"/>
              </p:ext>
            </p:extLst>
          </p:nvPr>
        </p:nvGraphicFramePr>
        <p:xfrm>
          <a:off x="439738" y="1031875"/>
          <a:ext cx="9182903" cy="539450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5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계약체결일과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거래종결일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사이에 매도인이 준수해야 하는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거래종결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전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확약사항을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09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 체결 이후 거래종결일까지의 </a:t>
                      </a:r>
                      <a:r>
                        <a:rPr lang="ko-KR" altLang="ko-KR" sz="1000" b="1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운영 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방안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통상적인 사업과정으로 운영하되 주요한 사항에 대하여는 매수인의 사전 동의를 받도록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하는 것이 일반적임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계약의 준거법에 따라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이와 같은 매수인의 사전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동의권이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이른바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gun-jumping 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경쟁당국의 기업결합신고가 완료되기 전에 매수인이 사실상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대상회사를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취득하여 경영권을 행사하는 행위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해당하여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반독점법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위반이 문제될 수 있으므로 관련 준거법에 따른 이와 같은 리스크를 미리 검토할 필요 있음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거래종결을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위하여 필요한 절차 및 이행해야 하는 각종 의무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정부기관으로부터 받아야 하는 승인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공정거래위원회에 대한 기업결합신고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*)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본 계약 및 본건 거래와 관련하여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자로부터 받아야 하는 동의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자에게 해야 하는 통지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등기임원들로부터 사임서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징구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및 신규 등기임원 선임을 위한 주주총회 개최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대표이사 변경은 통상 대상회사의 이사회 결의사항에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해당하는바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거래종결일에 매수인 측이 임명한 신규 이사들이 별도로 이사회를 개최하여 대표이사를 변경하는 경우가 일반적이므로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대표이사 변경까지 확약사항으로 규정하는 경우는 많지 않음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</a:t>
                      </a:r>
                      <a:r>
                        <a:rPr lang="ko-KR" altLang="ko-KR" sz="1000" b="1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접근권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en-US" altLang="ko-KR" sz="1000" b="1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 위반을 구성할 수 있는 사항 발생 시 이에 대한 통지 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en-US" altLang="ko-KR" sz="1000" b="1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실사 당시 확인된 사항으로 </a:t>
                      </a:r>
                      <a:r>
                        <a:rPr lang="ko-KR" altLang="ko-KR" sz="1000" b="1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전까지 치유가 필요하거나 가능한 사항들에 대한 치유 등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기업결합신고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61950" indent="-180975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독점규제 및 공정거래에 관한 법률에 따라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만일 매수인이 자산총액 또는 매출액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조원 이상의 기업이고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그 자회사의 자산총액 또는 매출액이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300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억원 이상이라면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 사전 기업결합신고 의무가 있고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기업결합승인을 받을 때까지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거래종결을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할 수 없음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경우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기업결합신고의무를 확약사항으로 정하는 경우가 일반적임</a:t>
                      </a:r>
                    </a:p>
                    <a:p>
                      <a:pPr marL="361950" indent="-180975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한편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매수인과 매도인이 동종 산업에서 경쟁을 하고 그 합산 시장점유율이 비교적 높거나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매수인과 매도인이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상방시장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하방시장에서 사업을 영위하고 각 시장점유율이 높다는 등 경쟁제한성이 존재하는 경우에는 공정거래위원회가 매수인의 기업결합을 불허하거나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경쟁제한이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문제되는 사업부문이나 회사를 매각하도록 하거나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구조적 조치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가격 인상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점유율 확대 등의 행위를 일정 기간 동안 제한하는 조치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행태적 조치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취할 수 있음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이와 관련하여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deal certainty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주된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고려사항인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매도인은 위와 같은 공정거래위원회의 조치에도 불구하고 매수인이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거래종결을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하도록 하는 조항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이른바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Hell or High Water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규정하도록 요구하는 경우도 존재함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7813" y="671513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거래종결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전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확약사항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(1)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0802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VII. </a:t>
            </a:r>
            <a:r>
              <a:rPr lang="ko-KR" altLang="en-US" dirty="0" err="1" smtClean="0">
                <a:latin typeface="+mn-ea"/>
              </a:rPr>
              <a:t>확약사항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554100"/>
              </p:ext>
            </p:extLst>
          </p:nvPr>
        </p:nvGraphicFramePr>
        <p:xfrm>
          <a:off x="439738" y="1031875"/>
          <a:ext cx="9182903" cy="467513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9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SPA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문구</a:t>
                      </a:r>
                      <a:endParaRPr lang="en-US" altLang="ko-KR" sz="1000" b="1" baseline="30000" dirty="0" smtClean="0">
                        <a:latin typeface="+mn-ea"/>
                        <a:ea typeface="+mn-ea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ko-KR" altLang="en-US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 </a:t>
                      </a:r>
                      <a:r>
                        <a:rPr kumimoji="1" lang="en-US" altLang="ko-KR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kumimoji="1" lang="ko-KR" altLang="en-US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kumimoji="1" lang="ko-KR" altLang="en-US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참조</a:t>
                      </a:r>
                      <a:r>
                        <a:rPr kumimoji="1" lang="en-US" altLang="ko-KR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51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추가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SPA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문구</a:t>
                      </a:r>
                      <a:endParaRPr lang="en-US" altLang="ko-KR" sz="1000" b="1" baseline="30000" dirty="0" smtClean="0">
                        <a:latin typeface="+mn-ea"/>
                        <a:ea typeface="+mn-ea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기업결합신고의무 관련 조항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독점규제 및 공정거래에 관한 법률상 기업결합승인 및 해외 경쟁당국의 기업결합승인을 포함하여 관련 법령 및 당해 당사자가 체결한 계약에 의하여 요구되는 허가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인가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동의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승인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신고수리 등 본건 거래와 관련하여 필요한 절차를 이행하기 위해 상업적으로 합리적인 노력을 다하여야 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기업결합승인을 얻을 수 있도록 상업적으로 합리적인 노력을 다하였음에도 불구하고 매수인이 대한민국 공정거래위원회 또는 해외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경쟁당국으로부터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본건 거래에 대한 기업결합승인을 받지 못하거나 일부 또는 조건부로 승인을 받게 되어 선행조건 충족이 불가능하게 된 경우에는 매수인의 책임이 없는 사유로 인한 것으로 간주한다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Hell or High Water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조항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본건 거래가 합리적으로 가능한 범위에서 최대한 신속하게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어떠한 경우에도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시한까지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종결될 수 있도록 하기 위하여 독점규제 및 공정거래에 관한 법률을 포함한 국내외 경쟁 관련 법률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ko-KR" sz="1000" b="1" u="sng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경쟁법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따른 장애요인이 발생하지 않도록 하거나 이러한 장애요인을 해소하기 위하여 필요한 모든 조치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경쟁당국이 요청하는 모든 조치를 취하고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경쟁당국이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경쟁법에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근거하여 본건 거래와 관련하여 문제를 제기할 수 있는 사항을 해소하기 위해 필요한 모든 조치를 취하는 것을 포함함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취하여야 하고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계열회사들로 하여금 이러한 모든 조치를 취하도록 하여야 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기업결합신고에 대한 승인이 매수인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계열회사 및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여하한 조건을 부가하여 이루어지는 경우에도 매수인은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거래종결을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지연 또는 거부하거나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계약에서 합의된 조건의 변경을 요청할 수 없고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 자신의 비용으로 위와 같이 부과된 조건을 이행 및 충족하여야 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본건 거래와 관련하여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경쟁법상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요구되는 기업결합신고에 대한 대한민국 공정거래위원회의 여하한 결정을 포함하여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본건 거래의 종결이 관련 법령에 위반되도록 하거나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본건 거래의 종결을 지연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제한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방해 또는 금지하는 항구적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사전적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잠정적인 금지명령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결정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명령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판단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판결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법령이 발효되거나 발효될 것이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소송등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기타 여하한 조사 과정에서 합리적으로 예견되는 경우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전에 매수인의 필요적 정부승인을 취득하기 위하여 필요한 범위 내에서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즉시 해당 정부기관에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승인조건의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제공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준수를 합의하고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그러한 합의를 철회하지 아니하며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해당 정부기관이 합리적으로 요청하는 사항에 동의 및 응하여야 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승인조건을 조건으로 매수인의 필요적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정부승인이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부여된 경우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그러한 매수인의 필요적 정부승인을 수용하고 어떠한 방식으로도 그에 대해 이의를 제기하지 아니한다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승인조건을 조건으로 하는 어떠한 매수인의 필요적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정부승인도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거래종결시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자신의 의무 이행을 거절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유보 또는 연기하거나 본 계약의 조건에 대한 변경을 요구할 수 있는 사유가 될 수 없다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81626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7813" y="671513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거래종결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전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확약사항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(2)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7949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VII. </a:t>
            </a:r>
            <a:r>
              <a:rPr lang="ko-KR" altLang="en-US" dirty="0" err="1" smtClean="0">
                <a:latin typeface="+mn-ea"/>
              </a:rPr>
              <a:t>확약사항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514189"/>
              </p:ext>
            </p:extLst>
          </p:nvPr>
        </p:nvGraphicFramePr>
        <p:xfrm>
          <a:off x="445285" y="1031875"/>
          <a:ext cx="9182903" cy="563429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9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거래종결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후 매도인이 준수해야 하는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거래종결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후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확약사항을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4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경업 금지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경업 금지에 관해 매도인과 매수인 간에 첨예하게 협상이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이루어지는바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매도인의 계열회사를 통한 경업도 제한할지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(ii)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매도인의 기존 사업을 범위에서 제외할지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(iii)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직접적인 영업 외에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지분 취득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자문 제공 등도 금지할지 등에 대한 검토 필요 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기간은 통상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1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년에서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5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정도 사이에서 결정되는 경우가 많음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266700" marR="0" lvl="1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유인 금지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일반적인 채용공고에 의해 대상회사의 임직원이 자발적으로 이직하는 경우 등은 예외로 규정하는 것이 일반적이기는 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그에 대한 입증이 어려우므로 대상사업이 임직원의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retention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매우 중요한 사업이라면 이러한 예외를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규정할지에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대한 검토 필요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실사 과정에서 </a:t>
                      </a:r>
                      <a:r>
                        <a:rPr lang="ko-KR" alt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대상회사가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독립적으로 운영을 하기 위하여 일정한 기간 동안 매도인 측으로부터 서비스를 받아야 하는 것으로 확인된 경우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Transition service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대한 규정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고용 안정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고용관계를 특정 기간 동안 유지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인위적인 해고 금지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근로기준법상 위와 같은 조항이 없다고 하더라도 정당한 이유 없이 직원과의 고용관계를 해지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중단 등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불이익하게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변경하는 것이 금지되기 때문에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위와 같은 조항을 규정하는 것은 매도인 및 매수인 모두의 입장에서 별다른 이슈가 되지는 않음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임원은 근로기준법의 적용 대상이 아닌바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상황에 따라 자유롭게 고용 중단 등이 가능하므로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 입장에서는 고용 안정 대상자의 범위에서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‘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제외하도록 함이 일반적임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상호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로고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표지 등 계속 사용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 입장에서 대상회사의 사업 영위를 위해 매도인의 상호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표지 등을 계속 사용해야 한다면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단기간 사용이 필요한 경우에는 아래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‘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SPA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기재된 것과 같은 내용을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(ii)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장기간 사용이 필요한 경우에는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SPA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8.13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 문구와 같이 정식 라이선스 계약 체결을 요구하는 것을 고려할 수 있음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대상회사의 임직원에 대한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M&amp;A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보너스의 지급이 필요한 경우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M&amp;A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보너스의 금액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지급 대상 및 지급 방식 등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43320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ko-KR" altLang="en-US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 </a:t>
                      </a:r>
                      <a:r>
                        <a:rPr kumimoji="1" lang="en-US" altLang="ko-KR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kumimoji="1" lang="ko-KR" altLang="en-US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kumimoji="1" lang="ko-KR" altLang="en-US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참조</a:t>
                      </a:r>
                      <a:r>
                        <a:rPr kumimoji="1" lang="en-US" altLang="ko-KR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93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상호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로고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표지 등 계속 사용 관련 조항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대상회사는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거래종결일로부터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[3]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개월이 되는 날까지는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 상호 등이 이미 인쇄되어 있는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포장재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사용하거나 이에 준하는 것으로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전에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대상회사가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사용하던 방식의 한도 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불가피한 범위 내에서 매도인 상호 등을 사용할 수 있다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81626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93812" y="680380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2. </a:t>
            </a:r>
            <a:r>
              <a:rPr lang="ko-KR" altLang="en-US" dirty="0" err="1" smtClean="0">
                <a:latin typeface="+mn-ea"/>
                <a:ea typeface="+mn-ea"/>
              </a:rPr>
              <a:t>거래종결</a:t>
            </a:r>
            <a:r>
              <a:rPr lang="ko-KR" altLang="en-US" dirty="0" smtClean="0">
                <a:latin typeface="+mn-ea"/>
                <a:ea typeface="+mn-ea"/>
              </a:rPr>
              <a:t> 후 </a:t>
            </a:r>
            <a:r>
              <a:rPr lang="ko-KR" altLang="en-US" dirty="0" err="1" smtClean="0">
                <a:latin typeface="+mn-ea"/>
                <a:ea typeface="+mn-ea"/>
              </a:rPr>
              <a:t>확약사항</a:t>
            </a:r>
            <a:endParaRPr lang="ko-KR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1172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VIII. </a:t>
            </a:r>
            <a:r>
              <a:rPr lang="ko-KR" altLang="en-US" dirty="0" smtClean="0">
                <a:latin typeface="+mn-ea"/>
              </a:rPr>
              <a:t>선행조건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626489"/>
              </p:ext>
            </p:extLst>
          </p:nvPr>
        </p:nvGraphicFramePr>
        <p:xfrm>
          <a:off x="439738" y="1031875"/>
          <a:ext cx="9182903" cy="491490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당사자들에게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거래종결에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응할 의무를 발생시키는 주요 선행조건을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진술보장이</a:t>
                      </a:r>
                      <a: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‘</a:t>
                      </a: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중요한</a:t>
                      </a:r>
                      <a: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’ </a:t>
                      </a: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측면에서 계약체결일</a:t>
                      </a:r>
                      <a: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‘</a:t>
                      </a: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</a:t>
                      </a:r>
                      <a:r>
                        <a:rPr lang="ko-KR" altLang="ko-KR" sz="1000" b="1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’ 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현재 진실하고 정확할 것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사소한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위반의 경우에는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거래종결을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할 수 있도록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deal certainty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확보 차원에서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materiality qualifier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추가하고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나아가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진술보장의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위반이 존재하더라도 중대한 부정적인 영향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(MAE)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발생하지 않은 경우에는 선행조건이 충족된 것으로 본다는 취지의 문구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추가하고자 하는 경향 존재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전자는 수용하되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후자는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push back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하는 것이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바람직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계약체결일과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거래종결일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사이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대상회사에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control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여전히 매도인이 보유하므로 매수인이 통제할 수 없는 사유로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거래종결일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기준 매도인의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대상회사에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대한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위반 사유가 발생할 수 있는바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매수인이 이러한 이유로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거래종결을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거절할 수 있도록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진술보장의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기준점에 계약체결일 외 거래종결일도 추가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하는 것이 일반적임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본 계약에 따라 </a:t>
                      </a:r>
                      <a:r>
                        <a:rPr lang="ko-KR" alt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그 이전까지 이행하거나 준수하여야 하는 확약과 의무를 중요한 측면에서 모두 이행하였을 것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따른 의무 이행을 제한하거나 금지하는 법원 기타 </a:t>
                      </a:r>
                      <a:r>
                        <a:rPr lang="ko-KR" alt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정부기관으로부터의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판결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명령 기타 조치가 존재하지 아니할 것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ko-KR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필요적 </a:t>
                      </a:r>
                      <a:r>
                        <a:rPr lang="ko-KR" alt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정부승인과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필요적 제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자승인이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완료되었을 것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조건부 승인은 통상적으로는 경쟁당국의 기업결합승인 절차 과정에서 쟁점이 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앞서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설명드린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바와 같이 구조적 조치 내지 행태적 조치가 부과된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 외 관련 법령에 따라 정부기관의 승인이 필요한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그러한 필요적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정부승인에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부관 내지 조건이 부과된 경우 등에도 쟁점이 될 수 있음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Deal certainty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차원에서 일부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조건부 승인도 필요적 정부승인을 득한 것으로 간주하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하려는 경향 존재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일부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조건부 승인은 필요적 정부승인을 득하지 않은 것으로 간주하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도록 하는 것이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바람직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거래종결을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하지 않도록 규정하는 방법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경우 매도인이 계약 협상 단계에서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deal break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선언할 가능성도 존재함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(ii)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조건부 승인으로 인하여 대상회사의 사업 활동에 제약이 생기는 경우에 대비해 매매대금 일부 지급을 유보하거나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에스크로우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계약을 통해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에스크로우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계좌에 보관하는 방법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혹은 매매대금을 조정하는 방법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(iii)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조건부 승인을 수용하는 방법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매수인은 기존 보유 사업을 매각하거나 대상회사의 사업 활동에 대한 제약을 수용해야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검토할 필요 있음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체결일 이후 중대한 부정적인 영향이 발생하지 않았을 것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7813" y="678119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주요 선행조건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(1)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207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VIII. </a:t>
            </a:r>
            <a:r>
              <a:rPr lang="ko-KR" altLang="en-US" dirty="0" smtClean="0">
                <a:latin typeface="+mn-ea"/>
              </a:rPr>
              <a:t>선행조건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ea typeface="LG스마트체2.0 Regular" panose="020B0600000101010101" pitchFamily="50" charset="-127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738599"/>
              </p:ext>
            </p:extLst>
          </p:nvPr>
        </p:nvGraphicFramePr>
        <p:xfrm>
          <a:off x="439738" y="1031875"/>
          <a:ext cx="9182903" cy="443534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53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거래종결의무의 선행조건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본 계약상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의무는 다음 각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조건이 모두 성취되는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매수인에 의하여 포기되는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그 선행조건으로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규정된 매도인의 진술 및 보장이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중요한 측면에서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체결일 및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현재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규정에서 별도로 기준일을 명시한 경우에는 그와 같은 특정일 현재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진실하고 정확할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매도인이 본 계약에 따라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그 이전까지 이행하거나 준수하여야 하는 확약과 의무를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중요한 측면에서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모두 이행할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따른 의무 이행을 제한하거나 금지하는 법원 기타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정부기관으로부터의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판결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명령 기타 조치가 존재하지 아니할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별첨 </a:t>
                      </a:r>
                      <a:r>
                        <a:rPr lang="en-US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6.1.3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별첨 </a:t>
                      </a:r>
                      <a:r>
                        <a:rPr lang="en-US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6.2.2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</a:t>
                      </a:r>
                      <a:r>
                        <a:rPr lang="ko-KR" altLang="en-US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별첨 </a:t>
                      </a:r>
                      <a:r>
                        <a:rPr lang="en-US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7.3.1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기재된 필요적 정부승인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하기 위하여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일부 승인이나 조건부 승인을 받은 경우는 이러한 승인이 확보된 것으로 간주되지 아니한다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과 필요적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자승인이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완료되었을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체결일 이후 중대한 부정적인 영향이 발생하지 않았을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거래종결의무의 선행조건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본 계약상 거래종결의무는 다음 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조건이 모두 성취되는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매도인에 의하여 포기되는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그 선행조건으로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규정된 매수인의 진술 및 보장이 중요한 측면에서 본 계약 체결일 및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현재 진실하고 정확할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규정된 매수인의 진술 및 보장이 중요한 면에서 진실하지 아니하거나 정확하지 아니하더라도 그로 인하여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현재 중대한 부정적인 영향이 초래되지 아니한 경우에는 본 호의 조건이 충족된 것으로 본다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본 계약에 따라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그 이전까지 이행하거나 준수하여야 하는 확약과 의무를 중요한 측면에서 모두 이행할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 매수인의 확약과 의무가 중요한 측면에서 이행되지 아니하였더라도 그로 인하여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현재 중대한 부정적인 영향이 초래되지 아니한 경우에는 본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호의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조건이 충족된 것으로 본다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따른 의무 이행을 제한하거나 금지하는 법원 기타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정부기관으로부터의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판결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명령 기타 조치가 존재하지 아니할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kumimoji="1" lang="ko-KR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별첨</a:t>
                      </a:r>
                      <a:r>
                        <a:rPr kumimoji="1" lang="en-US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6.1.3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별첨</a:t>
                      </a:r>
                      <a:r>
                        <a:rPr kumimoji="1" lang="en-US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6.2.2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</a:t>
                      </a:r>
                      <a:r>
                        <a:rPr kumimoji="1" lang="ko-KR" altLang="ko-KR" sz="1000" i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별첨</a:t>
                      </a:r>
                      <a:r>
                        <a:rPr kumimoji="1" lang="en-US" altLang="ko-KR" sz="1000" i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7.3.1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기재된 필요적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정부승인과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필요적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자승인이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완료되었을 것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본건 거래가 독점규제 및 공정거래에 관한 법률에 따른 지주회사 행위제한 관련 조항에 위반되지 아니할 것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7813" y="678119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주요 선행조건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(2)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1697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VIII. </a:t>
            </a:r>
            <a:r>
              <a:rPr lang="ko-KR" altLang="en-US" dirty="0" smtClean="0">
                <a:latin typeface="+mn-ea"/>
              </a:rPr>
              <a:t>선행조건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541999"/>
              </p:ext>
            </p:extLst>
          </p:nvPr>
        </p:nvGraphicFramePr>
        <p:xfrm>
          <a:off x="439738" y="1031875"/>
          <a:ext cx="9182903" cy="227723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772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u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</a:t>
                      </a:r>
                      <a:r>
                        <a:rPr lang="en-US" altLang="ko-KR" sz="1000" u="none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거래종결의무의 선행조건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본 계약상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의무는 다음 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조건이 모두 성취되는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매수인에 의하여 포기되는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그 선행조건으로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및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규정된 매도인의 진술 및 보장이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중요한 측면에서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체결일 및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현재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규정에서 별도로 기준일을 명시한 경우에는 그와 같은 특정일 현재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진실하고 정확할 것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하기 위하여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6.1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및 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6.2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규정된 매도인의 진술 및 보장이 본 계약 체결일 </a:t>
                      </a:r>
                      <a:r>
                        <a:rPr lang="ko-KR" altLang="ko-KR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현재 진실하고 정확하지 않더라도 그로 인하여 중대한 부정적인 영향이 발생하지 않은 경우에는 매도인의 진술 및 보장이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중요한 측면에서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진실하고 정확한 것으로 봄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매도인이 본 계약에 따라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그 이전까지 이행하거나 준수하여야 하는 확약과 의무를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중요한 측면에서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모두 이행할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따른 의무 이행을 제한하거나 금지하는 법원 기타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정부기관으로부터의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판결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명령 기타 조치가 존재하지 아니할 것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별첨 </a:t>
                      </a:r>
                      <a:r>
                        <a:rPr lang="en-US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6.1.3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별첨 </a:t>
                      </a:r>
                      <a:r>
                        <a:rPr lang="en-US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6.2.2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</a:t>
                      </a:r>
                      <a:r>
                        <a:rPr lang="ko-KR" altLang="en-US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별첨 </a:t>
                      </a:r>
                      <a:r>
                        <a:rPr lang="en-US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7.3.1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기재된 필요적 정부승인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하기 위하여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일부 승인이나 조건부 승인을 받은 경우는 이러한 승인이 확보된 것으로 간주되지 아니한다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과 필요적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승인이 완료되었을 것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체결일 이후 중대한 부정적인 영향이 발생하지 않았을 것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81626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7813" y="678119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주요 선행조건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(3)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211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VIII. </a:t>
            </a:r>
            <a:r>
              <a:rPr lang="ko-KR" altLang="en-US" dirty="0" smtClean="0">
                <a:latin typeface="+mn-ea"/>
              </a:rPr>
              <a:t>선행조건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328748"/>
              </p:ext>
            </p:extLst>
          </p:nvPr>
        </p:nvGraphicFramePr>
        <p:xfrm>
          <a:off x="439738" y="1031874"/>
          <a:ext cx="9182903" cy="3503752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당사자들에게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거래종결에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응할 의무를 발생시키는 기타 선행조건을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987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en-US" sz="1000" b="1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확인</a:t>
                      </a:r>
                      <a:r>
                        <a:rPr lang="ko-KR" altLang="ko-KR" sz="1000" b="1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실사가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매수인에게 만족스럽게 완료될 것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 체결 후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전에 매수인의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확인실사가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진행되는 경우에 선행조건으로 포함됨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인수금융 자금조달이 완료되었을 것 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이는 사실상 매수인에게 일방적인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해지권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(walk away right)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부여하는 조항이 될 수 있으므로 매도인 입장에서는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push back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하려 할 가능성이 높음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주로 매수인이 사모펀드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(PE)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설립한 특수목적법인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(SPC)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 경우에 요구됨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b="1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핵심 임직원이 거래종결일까지 </a:t>
                      </a:r>
                      <a:r>
                        <a:rPr lang="ko-KR" altLang="ko-KR" sz="1000" b="1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근무하고 있을 것 또는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(ii) 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핵심 임직원으로부터 확약서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업무상 비밀유지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1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전직금지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등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</a:t>
                      </a:r>
                      <a:r>
                        <a:rPr lang="ko-KR" altLang="ko-KR" sz="1000" b="1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징구할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것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(ii)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확약서의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법률상 효력이 부인될 수도 있는바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{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근로기준법상 근로자의 자유의사에 어긋나는 근로를 강요하지 못함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근로기준법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)},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통상 핵심 임직원에 대한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retention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이러한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확약서를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통해 강제하기 보다는 별도의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incentive package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등으로 진행하는 경우가 보다 일반적임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따라서 핵심 임직원이 중요한 사업의 경우에는 이에 대해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HR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측면에서의 검토 및 전략 수립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필요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6270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i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[1.</a:t>
                      </a:r>
                      <a:r>
                        <a:rPr kumimoji="1" lang="en-US" altLang="ko-KR" sz="1000" i="1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i="1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주요 선행조건</a:t>
                      </a:r>
                      <a:r>
                        <a:rPr kumimoji="1" lang="en-US" altLang="ko-KR" sz="1000" i="1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kumimoji="1" lang="ko-KR" altLang="en-US" sz="1000" i="1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부분 참조</a:t>
                      </a:r>
                      <a:endParaRPr kumimoji="1" lang="en-US" altLang="ko-KR" sz="1000" i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8099" y="681394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2. </a:t>
            </a:r>
            <a:r>
              <a:rPr lang="ko-KR" altLang="en-US" dirty="0" smtClean="0">
                <a:latin typeface="+mn-ea"/>
                <a:ea typeface="+mn-ea"/>
              </a:rPr>
              <a:t>기타 선행조건</a:t>
            </a:r>
            <a:endParaRPr lang="ko-KR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564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IX. </a:t>
            </a:r>
            <a:r>
              <a:rPr lang="ko-KR" altLang="en-US" dirty="0" smtClean="0">
                <a:latin typeface="+mn-ea"/>
              </a:rPr>
              <a:t>해제 </a:t>
            </a:r>
            <a:r>
              <a:rPr lang="en-US" altLang="ko-KR" dirty="0" smtClean="0">
                <a:latin typeface="+mn-ea"/>
              </a:rPr>
              <a:t>(1)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940498"/>
              </p:ext>
            </p:extLst>
          </p:nvPr>
        </p:nvGraphicFramePr>
        <p:xfrm>
          <a:off x="445285" y="671098"/>
          <a:ext cx="9182903" cy="3597167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해제 사유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해제의 효력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계약금이 지급된 경우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계약금의 처리 등을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해제 사유</a:t>
                      </a:r>
                      <a: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거래종결기한</a:t>
                      </a:r>
                      <a:endParaRPr lang="ko-KR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일반적인 해제 사유 외 거래종결기한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이른바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Long Stop Date)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규정하는 것을 고려할 수 있음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대체적으로 기업결합신고와 같이 정부기관의 승인까지 일정한 시일이 필요한 경우 또는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 대상회사의 분할 등 내부 구조조정이 필요한 경우 등 주요한 아이템을 기준으로 하여 일정을 정함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대략적으로 체결일로부터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4~6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개월이 되는 날로 정하는 것이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통상적임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endParaRPr lang="ko-KR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해제 기한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주식매매계약의 해제는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전까지만 가능하며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거래종결이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이루어진 이후에는 해제를 할 수 없되 손해배상규정을 통하여 손해를 회복하는 방법이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통상적임</a:t>
                      </a:r>
                      <a:r>
                        <a:rPr lang="en-US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ko-KR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해제 시 계약금 처리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위약금 약정이 앞서 규정한 계약금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규정에서와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같이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위약벌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약정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계약상대방의 계약 이행 가능성 및 그에 대한 경각심을 높이기 위해 손해배상과 별도로 계약 위반에 대한 금전적인 제재를 합의하는 것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이라는 점이 명시되어 있다면 계약을 해제한 자는 추가로 손해배상을 청구할 수 있는 반면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(ii)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위약벌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약정이라는 점이 명시되어 있지 않다면 그러한 위약금 약정은 민법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398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항에 따라 손해배상액의 예정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손해배상액을 사전에 약정하는 것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추정되므로 계약을 해제한 자는 위약금 외에 추가로 손해배상 청구 불가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앞서 규정한 계약금 규정에서 매매대금의 일부로 계약금에서 발생한 이자를 포함하도록 한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계약금의 이자 또한 귀속이나 반환의 대상으로 하는 것을 고려 가능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이자에서 발생하는 세금의 귀속도 사전에 정하는 것이 좋음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42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IX. </a:t>
            </a:r>
            <a:r>
              <a:rPr lang="ko-KR" altLang="en-US" dirty="0" smtClean="0">
                <a:latin typeface="+mn-ea"/>
              </a:rPr>
              <a:t>해제 </a:t>
            </a:r>
            <a:r>
              <a:rPr lang="en-US" altLang="ko-KR" dirty="0" smtClean="0">
                <a:latin typeface="+mn-ea"/>
              </a:rPr>
              <a:t>(2)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031071"/>
              </p:ext>
            </p:extLst>
          </p:nvPr>
        </p:nvGraphicFramePr>
        <p:xfrm>
          <a:off x="445285" y="671097"/>
          <a:ext cx="9182903" cy="4796117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61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계약의 해제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제한 하에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계약의 일방 당사자는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전에 다음 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정한 사유가 발생하는 경우에 한하여 상대방 당사자에 대한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서면통지에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의하여 본 계약을 즉시 해제할 수 있다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정한 사유가 발생한 경우에는 그 사유 발생에 귀책사유가 없는 당사자만이 해제할 수 있고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이후에는 어떠한 사유로도 본 계약을 해제할 수 없다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20[•]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일까지 이루어지지 않은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상대방 당사자가 본 계약상 진술 및 보장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의무를 중요한 측면에서 위반하고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위반이 시정 불가능하거나 또는 서면으로 그 시정을 요구 받은 날로부터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 이를 시정하지 아니하는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상대방 당사자 또는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대하여 채무자 회생 및 파산에 관한 법률에 따른 회생절차 또는 파산절차가 개시되거나 위와 같은 절차의 개시에 관한 신청이 법원에 제기된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정부기관이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거래종결을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금지하는 조치를 취하고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이러한 조치가 최종적인 것으로서 절차상 더 이상 다툴 수 없는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정한 일방 당사자의 거래종결의무의 선행조건이 충족되거나 포기되었음에도 불구하고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당사자가 자신의 거래종결의무를 이행하지 않는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따른 해제권을 행사하는 당사자는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거래종결을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위한 의무 이행의 제공을 완료하여 상대방 당사자의 지체 책임을 발생시킨 상태여야 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67995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해제의 효력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계약이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따라 해제되어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거래종결이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되지 않는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계약은 효력을 상실한다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및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 규정은 본 계약이 해제되는 경우에도 그 효력을 유지하며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계약의 해제는 본 계약의 해제 이전에 본 계약의 위반으로 인하여 당사자가 부담하는 책임에 영향을 미치지 아니한다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계약금의 처리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매수인에게 책임 있는 사유로 인하여 본 계약이 해제되는 경우 계약금은 매도인에게 귀속되고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선행조건이 모두 충족되었음에도 불구하고 매도인이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거래종결을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거부하거나 매도인이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선행조건 충족을 고의로 방해함으로 인해 계약이 해제되는 경우 매도인은 계약금의 배액 상당액을 매수인에게 지체없이 반환해야 하며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이외의 사유로 인하여 본 계약이 해제되는 경우 매도인은 계약금 상당액을 매수인에게 지체없이 반환하여야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계약금이 손해배상액의 예정이 아닌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위약벌로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상당하고 합리적인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금액임을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인정하며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상대방 당사자에게 책임 있는 사유로 인하여 본 계약이 해제되고 다른 당사자가 입은 손해액이 계약금을 초과하는 경우 다른 당사자는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초과분을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추가로 손해배상으로 청구할 권리가 있다는 점을 인정하고 동의한다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kumimoji="1" lang="en-US" altLang="ko-KR" sz="1000" i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41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X. </a:t>
            </a:r>
            <a:r>
              <a:rPr lang="ko-KR" altLang="en-US" dirty="0" smtClean="0">
                <a:latin typeface="+mn-ea"/>
              </a:rPr>
              <a:t>손해배상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743603"/>
              </p:ext>
            </p:extLst>
          </p:nvPr>
        </p:nvGraphicFramePr>
        <p:xfrm>
          <a:off x="439738" y="1031874"/>
          <a:ext cx="9182903" cy="5274606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0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손해배상당사자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손해액 등을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19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손해배상당사자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여러 명인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손해배상책임을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개별책임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연대책임 중 무엇으로 할지 여부에 대한 검토 필요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266700" marR="0" lvl="1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손해액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확약 등 위반을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대한 손해로 보고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이로 인해 매수인에게 발생한 손해를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발생한 손해액에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매매대금을 산정하기 위해 사용된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EBITDA multiple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곱한 금액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(ii)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대상주식의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발행주식총수를 기준으로 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지분율을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곱한 금액으로 규정할 수 있는데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경우 이러한 손해액 산정 방법을 국내 법원에서 받아들일지 여부가 명확하지 않다는 단점이 있으나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수익가치에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영향을 주는 사유라면 매수인에게 유리하도록 흔하게 사용되는 방법이므로 고려 가능할 것임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자산가치에만 영향을 주는 사유라면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(ii)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방식을 사용하는 것이 더 적합할 것임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 입장에서는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특별손해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징벌적 손해 등을 최대한 제외하고 일반적인 민법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상법에 따른 손해배상 관련 법리에 따라 손해배상이 이루어지도록 하는 것이 가장 유리하므로 아래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‘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SPA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에서는 달리 정한 경우를 제외하고 손해배상에 관한 법리는 민법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상법에 따르도록 한다고 규정하는 것이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바람직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27575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손해배상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당사자는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제한 하에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규정된 자신의 진술 및 보장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합의 또는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확약사항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기타 의무의 위반으로 인하여 상대방 당사자가 입은 손해를 배상하여야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경우 어느 당사자에게 발생한 손해의 금액을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손해액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이라고 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손해액에 대하여 배상하여야 하는 금액을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손해배상액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이라 하며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따라 손해배상을 할 의무가 있는 당사자를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ko-KR" altLang="ko-KR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배상당사자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손해배상을 받을 권리가 있는 당사자를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피배상당사자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계약에서 규정하고 있는 매도인의 진술 및 보장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 기타의 의무의 위반으로 인해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해외 종속회사에 손해가 발생한 경우에는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해외 종속회사에 발생한 손해액에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[‘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당사자들이 본 계약상 매매대금을 산정하기 위하여 합의한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해외 종속회사의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EBITDA multiple [*]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곱한 금액’ 또는 ‘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대상주식의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발행주식총수를 기준으로 한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지분율을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곱한 금액’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곱한 금액을 매수인에게 발생한 손해액으로 보며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해외 종속회사에 발행한 손해가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따른 매매대금의 순자산 조정을 통해 실질적으로 매수인에게 전보된 경우에는 그 범위 내에서 매수인의 손해는 발생하지 않은 것으로 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 목적상 어느 당사자의 손해액이 외화로 표시되는 경우에는 해당 손해액을 상대방에 대한 손해배상 통지일 직전 영업일 기준 서울외국환중개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고시환율로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환산한 원화 금액을 손해액으로 본다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의하여 계약금을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몰취할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수 있는 매도인의 권리는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 제한을 받지 아니한다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따른 손해배상은 세무 목적상 관련 법령이 허용하는 한도 내에서 매매대금의 조정으로 본다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kumimoji="1"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84846" y="682561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latin typeface="+mn-ea"/>
                <a:ea typeface="+mn-ea"/>
              </a:rPr>
              <a:t>1. </a:t>
            </a:r>
            <a:r>
              <a:rPr lang="ko-KR" altLang="en-US" dirty="0" smtClean="0">
                <a:latin typeface="+mn-ea"/>
                <a:ea typeface="+mn-ea"/>
              </a:rPr>
              <a:t>손해배상당사자 </a:t>
            </a:r>
            <a:r>
              <a:rPr lang="en-US" altLang="ko-KR" dirty="0" smtClean="0">
                <a:latin typeface="+mn-ea"/>
                <a:ea typeface="+mn-ea"/>
              </a:rPr>
              <a:t>/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손해액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(1)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623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X. </a:t>
            </a:r>
            <a:r>
              <a:rPr lang="ko-KR" altLang="en-US" dirty="0" smtClean="0">
                <a:latin typeface="+mn-ea"/>
              </a:rPr>
              <a:t>손해배상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419702"/>
              </p:ext>
            </p:extLst>
          </p:nvPr>
        </p:nvGraphicFramePr>
        <p:xfrm>
          <a:off x="439738" y="1031875"/>
          <a:ext cx="9182903" cy="5274605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61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(4)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예외</a:t>
                      </a:r>
                      <a:r>
                        <a:rPr lang="en-US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이중으로 배상하지 않음</a:t>
                      </a:r>
                      <a:r>
                        <a:rPr lang="en-US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유일한 구제수단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계약의 다른 조항에도 불구하고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계약에서 달리 정하지 아니하는 이상 손해배상에 관한 법리는 민법 및 상법에서 정해진 바에 따라 의한다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피배상당사자는 합리적으로 판단하여 손해를 발생시킬 수 있는 사유가 있음을 인지한 때에는 그로 인한 손해를 최소화하기 위하여 모든 합리적인 조치를 취해야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따른 배상에 대한 책임은 배상을 초래하는 사실관계가 하나 이상의 진술 및 보장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 또는 합의의 위반을 구성한다는 이유로 이중으로 발생되지 아니한다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[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New Breach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클레임의 대상이 되는 사항을 제외한 진술 및 보장 위반은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조에서 달리 규정하는 경우를 제외하고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조에서 정한 조건에 따라 진술 및 보장 보험으로만 배상 받을 수 있고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따른 조정이나 매도인에 대한 별도 손해배상청구의 대상이 되지 아니한다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.]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명시된 피배상당사자의 배상을 받을 권리는 본 계약에서 명시적으로 규정하고 있는 경우를 제외하고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피배상당사자의 유일하고 배타적인 구제수단을 구성한다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계약에서 명시적으로 규정하고 있는 경우를 제외하고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피배상당사자는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여부를 불문하고 본 계약과 관련하여 배상당사자에게 본 계약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조에서 규정된 것 이외의 방법으로 여하한 민사상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형사상의 책임을 물을 수 없다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kumimoji="1" lang="ko-KR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피배상당사자가 본 계약에 따라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배상되는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손해에 대하여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자로부터 보험금 등의 금전이나 이익을 지급 또는 제공받거나 그러한 금전이나 이익을 지급 또는 제공받을 권리를 갖게 되는 경우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그러한 금전이나 이익의 액수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피배상당사자가 보험금을 지급받기 위하여 소요된 보험료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법률자문비용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소송비용 기타 합리적인 비용 상당액은 공제함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만큼 배상당사자가 피배상당사자에게 지급할 손해배상액은 감액된다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배상당사자가 본 계약에 따른 손해배상책임을 이행한 이후 피배상당사자가 본 계약에 따라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배상되는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손해에 대하여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자로부터 보험금 등의 금전이나 이익을 지급 또는 제공받는 경우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피배상당사자는 지체없이 배상당사자로부터 </a:t>
                      </a:r>
                      <a:r>
                        <a:rPr kumimoji="1" lang="ko-KR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배상받은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금액과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자로부터 지급 또는 제공받은 금전이나 이익의 액수 합계에서 실제 피배상당사자에게 발생한 손해를 초과하는 금액을 배상당사자에게 지급하여야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8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매도인이 여러 명인 경우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ko-KR" alt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개별책임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조항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매도인은 다른 매도인들과 연대하지 아니하고 각자 본 계약에 규정된 자신의 진술 및 보장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합의 또는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확약사항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기타 의무의 위반으로 인하여 상대방 당사자가 입은 손해를 배상하여야 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매도인의 진술 및 보장이 허위이거나 부정확하여 각 매도인이 본 항에 따라 매수인이 입은 손해를 배상하여야 할 경우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매도인들은 각자 매수인이 입은 모든 손해에 매수인에게 매도한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주식의 지분 비율을 곱한 금액을 매수인에게 배상하여야 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0000"/>
                        </a:lnSpc>
                      </a:pPr>
                      <a:endParaRPr lang="en-US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매도인이 여러 명인 경우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연대책임 조항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매도인은 다른 매도인들과 연대하여 본 계약에 규정된 자신의 진술 및 보장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합의 또는 </a:t>
                      </a:r>
                      <a:r>
                        <a:rPr lang="ko-KR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확약사항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기타 의무의 위반으로 인하여 상대방 당사자가 입은 손해를 배상하여야 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kumimoji="1" lang="en-US" altLang="ko-KR" sz="1000" i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1086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84846" y="682561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latin typeface="+mn-ea"/>
                <a:ea typeface="+mn-ea"/>
              </a:rPr>
              <a:t>1. </a:t>
            </a:r>
            <a:r>
              <a:rPr lang="ko-KR" altLang="en-US" dirty="0" smtClean="0">
                <a:latin typeface="+mn-ea"/>
                <a:ea typeface="+mn-ea"/>
              </a:rPr>
              <a:t>손해배상당사자 </a:t>
            </a:r>
            <a:r>
              <a:rPr lang="en-US" altLang="ko-KR" dirty="0" smtClean="0">
                <a:latin typeface="+mn-ea"/>
                <a:ea typeface="+mn-ea"/>
              </a:rPr>
              <a:t>/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손해액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(2)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380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X. </a:t>
            </a:r>
            <a:r>
              <a:rPr lang="ko-KR" altLang="en-US" dirty="0" smtClean="0">
                <a:latin typeface="+mn-ea"/>
              </a:rPr>
              <a:t>손해배상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657900"/>
              </p:ext>
            </p:extLst>
          </p:nvPr>
        </p:nvGraphicFramePr>
        <p:xfrm>
          <a:off x="396990" y="1031875"/>
          <a:ext cx="9182903" cy="515471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9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손해배상의 제한에 대한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alt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기한에 대한 제한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당사자들이 합의한 바에 따라 달라지나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대체적으로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6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개월 이상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5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 미만의 기간으로 정해짐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근본적 </a:t>
                      </a:r>
                      <a:r>
                        <a:rPr kumimoji="1" lang="ko-KR" altLang="ko-KR" sz="1000" b="1" i="0" u="sng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‘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SPA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에서와 같이 기간 제한 없이 유효하게 존속한다고 규정하는 경우도 있고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법령이 허용하는 기간까지 존속한다고 규정하는 경우도 있음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개별적인 </a:t>
                      </a:r>
                      <a:r>
                        <a:rPr kumimoji="1" lang="ko-KR" altLang="ko-KR" sz="1000" b="1" i="0" u="sng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인사노무에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관한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진술보장의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근로기준법상 소멸시효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조세에 관한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진술보장의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5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/7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국세기본법 등에 따른 부과제척기간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안전의 경우 관련 법령에 따른 소멸시효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제척기간 등을 규정하는 경우가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통상적임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확약에 대해서도 존속기간을 적용하는 경우가 있으나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확약은 매도인이 스스로의 의지에 의해 이행 여부를 선택할 수 있는 것이므로 매수인 입장에서는 가급적 존속기간을 두지 않도록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하는 것이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바람직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ko-KR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b="1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금액에 대한 제한</a:t>
                      </a:r>
                      <a:endParaRPr lang="ko-KR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De-</a:t>
                      </a:r>
                      <a:r>
                        <a:rPr kumimoji="1" lang="en-US" altLang="ko-KR" sz="1000" b="1" i="0" u="sng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minimis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손해배상을 청구하기 위한 최소 기준 관련 규정으로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최소 기준은 당사자들의 합의에 따라 달라지는데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 시장에서는 대개 매매대금 기준으로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0.03~0.1% {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전세계 시장의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0.07~0.14% 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출처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Global Markets &amp; Experts (A&amp;O Shearman, October 2024))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사이의 범위에서 정해지는 것으로 보임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Basket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최소 기준을 넘은 손해배상액을 합쳐 일정한 금액 이상이 되어야 비로소 손해배상을 청구할 수 있도록 하는 규정으로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바스켓 기준은 당사자들의 합의에 따라 달라지는데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 시장에서는 대개 매매대금 기준으로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0.5~2% {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전세계 시장의 경우 진술보장보험에 가입하지 않은 경우에는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1%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진술보장보험에 가입한 경우에는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0.5%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출처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Stock Purchase Agreement (Pro-Buyer Long Form) (Practical Law Corporate &amp; Securities, 2024))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사이의 범위에서 정해지는 것으로 보임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Cap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손해배상 청구 총액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이른바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cap amount)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관한 규정으로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총액 기준은 당사자들의 합의에 따라 달라지는데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 시장에서는 대개 매매대금 기준으로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5~20% {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전세계 시장의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진술보장보험에 가입하지 않은 경우에는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10~15%,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진술보장보험에 가입한 경우에는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0.5%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출처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2024 M&amp;A Deal Terms Study (SRS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Acquiom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2024))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사이의 범위에서 정해지는 것으로 보임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228600" lvl="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SzPts val="1000"/>
                        <a:buFont typeface="+mj-lt"/>
                        <a:buAutoNum type="arabicPeriod"/>
                      </a:pP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계약체결일까지 매수인이 알고 있었던 사항에 대한 손해배상 금지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이른바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Anti-sandbagging)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 입장에서는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anti-sandbagging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조항은 가능한 삭제하는 것이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바람직</a:t>
                      </a: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대법원 판례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대법원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2015. 10. 15.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64253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판결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따르면 이러한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sandbagging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관련 조항이 계약서에 규정되어 있지 않은 경우에는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매수인이 그러한 사정을 있고 있었음에도 손해배상을 청구한 것이 공평의 이념 및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신의칙에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반하여 허용된다고 볼 수 없을 정도의 특별한 사정이 있는 것이 아닌 이상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기본적으로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sandbagging (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매수인이 알고 있는 사항이라고 하더라도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진술보장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위반에 대한 손해배상 청구가 가능함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적용되므로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국내법이 준거법인 경우에는 매수인 입장에서는 굳이 별도로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sandbagging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조항을 추가할 필요는 없고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anti-sandbagging </a:t>
                      </a:r>
                      <a:r>
                        <a:rPr kumimoji="1" lang="ko-KR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조항만 삭제하더라도 충분함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5842" y="685752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손해배상의 제한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(1)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317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X. </a:t>
            </a:r>
            <a:r>
              <a:rPr lang="ko-KR" altLang="en-US" dirty="0" smtClean="0">
                <a:latin typeface="+mn-ea"/>
              </a:rPr>
              <a:t>손해배상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212409"/>
              </p:ext>
            </p:extLst>
          </p:nvPr>
        </p:nvGraphicFramePr>
        <p:xfrm>
          <a:off x="396990" y="1031100"/>
          <a:ext cx="9182903" cy="5395275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674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당사자의 본 계약상 진술 및 보장은 거래종결일로부터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개월까지 유효하나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 소유권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설립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자본구성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규정된 매도인의 진술 및 보장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근본적 </a:t>
                      </a:r>
                      <a:r>
                        <a:rPr lang="ko-KR" altLang="en-US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이후에도 계속하여 그 기간의 제한 없이 유효하게 존속하며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인사 및 노무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환경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보건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안전 등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규정된 매도인의 진술 및 보장은 거래종결일로부터 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1" lang="en-US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년까지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조세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규정된 매도인의 진술 보장은 대한민국 또는 해외 정부 관련 세법에 규정된 부과제척기간 종료일까지 유효하게 존속한다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계약에 포함된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확약사항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기타 합의사항은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후에 이행할 것이 규정되어 있지 아니하는 한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후에 존속하지 아니하며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이전에 발생한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확약사항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기타 합의사항의 위반에 따른 책임은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이후에도 계속하여 그 기간의 제한 없이 유효하게 존속함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후에도 존속하는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확약사항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합의사항은 규정된 기간까지 존속한다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기간의 만료 이전에 발생한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확약사항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기타 합의사항의 위반에 따른 책임은 그 기간의 제한 없이 유효하게 존속함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계약의 다른 조항에도 불구하고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 보장 및 확약 위반의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당사자는 그 기간 내에 해당 위반의 구체적인 항목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내용과 항목별 근거자료 등을 상대방에게 서면으로 통지한 경우에 한하여 상대방에게 손해배상을 청구할 수 있다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266700" lvl="0" indent="-2667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진술 및 보장 위반에 따른 손해액을 산정함에 있어서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매수인에게 발생한 개별 항목별 손해액이 금</a:t>
                      </a:r>
                      <a:r>
                        <a:rPr lang="en-US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 미만인 경우에는 본 계약상 매수인에게 발생한 손해액 산정의 대상에서 제외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개별 항목별 손해액이 동 금액 이상인 경우에만 당해 손해액을 본 계약상 매수인에게 발생한 손해액 산정의 대상으로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개별 항목들이 그 청구의 기초가 되는 사유가 동일한 원인으로 발생한 경우에는 이를 합산하여 하나의 항목으로 본다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6700" lvl="0" indent="-26670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규정에도 불구하고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계약상 </a:t>
                      </a:r>
                      <a:r>
                        <a:rPr kumimoji="1" lang="ko-KR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진술 및 보장 위반으로 인해 매수인에게 발생한 손해액의 총액이 </a:t>
                      </a:r>
                      <a:r>
                        <a:rPr kumimoji="1" lang="ko-KR" altLang="ko-KR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kumimoji="1" lang="ko-KR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매매대금의</a:t>
                      </a:r>
                      <a:r>
                        <a:rPr kumimoji="1" lang="en-US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[•]%</a:t>
                      </a:r>
                      <a:r>
                        <a:rPr kumimoji="1" lang="ko-KR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해당하는 금액을 초과하지 아니하는 때에는 본 계약상 매수인에게 발생한 손해액 산정의 대상에서 제외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되고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이를 초과하는 때에는 그 초과하는 금액만 매수인에게 발생한 손해액 산정의 대상이 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85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기한에 대한 제한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개별적인 </a:t>
                      </a:r>
                      <a:r>
                        <a:rPr lang="ko-KR" alt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인사 및 노무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환경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안전 등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규정된 매도인의 진술 및 보장은 관련 소멸시효 또는 제척기간 만료일로부터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일까지 유효하다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 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금액에 대한 제한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Tipping basket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First dollar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방식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규정에도 불구하고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계약상 매도인의 진술 및 보장 위반으로 인해 매수인에게 발생한 손해액의 총액이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매매대금의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[•]%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해당하는 금액을 초과하지 아니하는 때에는 본 계약상 매수인에게 발생한 손해액 산정의 대상에서 제외되고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이를 초과하는 때에는 매수인에게 발생한 손해액 전액이 손해배상액이 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1086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5842" y="685752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손해배상의 제한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(2)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788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X. </a:t>
            </a:r>
            <a:r>
              <a:rPr lang="ko-KR" altLang="en-US" dirty="0" smtClean="0">
                <a:latin typeface="+mn-ea"/>
              </a:rPr>
              <a:t>손해배상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034712"/>
              </p:ext>
            </p:extLst>
          </p:nvPr>
        </p:nvGraphicFramePr>
        <p:xfrm>
          <a:off x="396990" y="1055814"/>
          <a:ext cx="9182903" cy="3092556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25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기한에 대한 제한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개별적인 </a:t>
                      </a:r>
                      <a:r>
                        <a:rPr lang="ko-KR" altLang="ko-KR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인사 및 노무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환경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안전 등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규정된 매도인의 진술 및 보장은 관련 소멸시효 또는 제척기간 만료일로부터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일까지 유효하다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 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금액에 대한 제한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 Tipping basket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First dollar </a:t>
                      </a: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방식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규정에도 불구하고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계약상 매도인의 진술 및 보장 위반으로 인해 매수인에게 발생한 손해액의 총액이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매매대금의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[•]%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해당하는 금액을 초과하지 아니하는 때에는 본 계약상 매수인에게 발생한 손해액 산정의 대상에서 제외되고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이를 초과하는 때에는 매수인에게 발생한 손해액 전액이 손해배상액이 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Sandbagging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[Anti-sandbagging]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매수인이 본 계약 체결일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까지 알고 있었거나 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수 있었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게 된 사항에 대해서는 본 조에 따른 손해배상의무를 부담하지 아니한다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항의 목적상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(a)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공개목록에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기재된 사항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(b)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공시되거나 등기에 기재된 사항 및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(c)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실사를 위한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Data Room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제공된 자료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자료 요청에 대한 회신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실무자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대리인 질의 응답에 기재되어 있었고 그 기재된 내용 자체로 매수인이 각 매도인의 진술 및 보장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 또는 기타 의무의 위반 사실을 명확하게 알 수 있었던 사항은 매수인이 알고 있었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거나 알 수 있었던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것으로 본다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b="1" i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[Pro-sandbagging]</a:t>
                      </a:r>
                      <a:r>
                        <a:rPr kumimoji="1" lang="en-US" altLang="ko-KR" sz="100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</a:t>
                      </a:r>
                      <a:r>
                        <a:rPr kumimoji="1" lang="en-US" altLang="ko-KR" sz="100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본 계약 체결일 또는 </a:t>
                      </a:r>
                      <a:r>
                        <a:rPr kumimoji="1" lang="ko-KR" altLang="en-US" sz="100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kumimoji="1" lang="ko-KR" altLang="en-US" sz="100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이전에 매도인의 본 계약상 진술 및 보장</a:t>
                      </a:r>
                      <a:r>
                        <a:rPr kumimoji="1" lang="en-US" altLang="ko-KR" sz="100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</a:t>
                      </a:r>
                      <a:r>
                        <a:rPr kumimoji="1" lang="en-US" altLang="ko-KR" sz="100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의무의 위반사실을 알고 있었거나 알 수 있었던 사정은 본 계약에 따른 손해배상청구나 손해액 산정에 어떠한 장애나 영향을 미치지 아니한다</a:t>
                      </a:r>
                      <a:r>
                        <a:rPr kumimoji="1" lang="en-US" altLang="ko-KR" sz="100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kumimoji="1" lang="en-US" altLang="ko-KR" sz="1000" i="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1086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5842" y="685752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손해배상의 제한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(3)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6969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X. </a:t>
            </a:r>
            <a:r>
              <a:rPr lang="ko-KR" altLang="en-US" dirty="0" smtClean="0">
                <a:latin typeface="+mn-ea"/>
              </a:rPr>
              <a:t>손해배상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624617"/>
              </p:ext>
            </p:extLst>
          </p:nvPr>
        </p:nvGraphicFramePr>
        <p:xfrm>
          <a:off x="437797" y="1031459"/>
          <a:ext cx="9182903" cy="2397541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38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손해배상 제한에 대한 예외 대한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25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매수인으로서는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실사 과정에서 발견된 특정 사항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특히 진술보장보험으로 보장받지 못하는 사항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대해서는 손해배상 제한 규정의 적용을 배제하는 이른바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특별면책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이른바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special indemnity)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조항을 두어 매도인의 책임을 강하게 추궁할 수 있도록 하는 것이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바람직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112989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kumimoji="1"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kumimoji="1" lang="en-US" altLang="ko-KR" sz="100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 </a:t>
                      </a:r>
                      <a:r>
                        <a:rPr kumimoji="1"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제한의 예외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항에 의한 매도인의 손해배상책임 제한은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(a)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근본적 진술 및 보장 위반에 의하여 매수인 및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항에 한하여 해외 종속회사 포함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에게 발생하는 모든 손해 및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(b)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 및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대상회사에게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발생한 손해가 매도인의 고의적인 기망행위로 인하여 발생한 경우에는 적용하지 아니하며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호에 의한 매도인의 손해배상책임 제한은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환경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보건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안전 등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규정된 진술 및 보장 위반에 의하여 매수인 및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대상회사에게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발생하는 손해에는 적용하지 아니한다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71513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3. </a:t>
            </a:r>
            <a:r>
              <a:rPr lang="ko-KR" altLang="en-US" dirty="0" smtClean="0">
                <a:latin typeface="+mn-ea"/>
                <a:ea typeface="+mn-ea"/>
              </a:rPr>
              <a:t>손해배상</a:t>
            </a:r>
            <a:r>
              <a:rPr lang="ko-KR" altLang="en-US" dirty="0">
                <a:latin typeface="+mn-ea"/>
                <a:ea typeface="+mn-ea"/>
              </a:rPr>
              <a:t>의</a:t>
            </a:r>
            <a:r>
              <a:rPr lang="ko-KR" altLang="en-US" dirty="0" smtClean="0">
                <a:latin typeface="+mn-ea"/>
                <a:ea typeface="+mn-ea"/>
              </a:rPr>
              <a:t> 제한에 대한 예외</a:t>
            </a:r>
            <a:endParaRPr lang="ko-KR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7877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XI. </a:t>
            </a:r>
            <a:r>
              <a:rPr lang="ko-KR" altLang="en-US" dirty="0" smtClean="0">
                <a:latin typeface="+mn-ea"/>
              </a:rPr>
              <a:t>진술보장보험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393138"/>
              </p:ext>
            </p:extLst>
          </p:nvPr>
        </p:nvGraphicFramePr>
        <p:xfrm>
          <a:off x="445507" y="1031100"/>
          <a:ext cx="9182903" cy="531093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07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매도인이 매수인으로 하여금 진술보장보험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이른바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W&amp;I insurance)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을 가입하도록 요구하고 매수인이 이에 동의하여 진술보장보험에 가입하는 경우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3561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당사자들이 진술보장보험에 가입한 경우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손해가 발생하더라도 매수인은 원칙적으로 매도인에게 직접 손해배상을 청구할 수는 없고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진술보장보험을 통해 손해를 전보 받게 됨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 입장에서는 진술보장보험으로 보장을 받지 못하는 부분에 대해 매도인에게 추가 손해배상을 할 수 있도록 하는 규정의 추가를 요구하는 것이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바람직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AutoNum type="arabicPeriod"/>
                      </a:pPr>
                      <a:endParaRPr lang="ko-KR" altLang="ko-KR" sz="10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>
                        <a:lnSpc>
                          <a:spcPct val="110000"/>
                        </a:lnSpc>
                        <a:buFont typeface="+mj-lt"/>
                        <a:buAutoNum type="arabicPeriod"/>
                      </a:pPr>
                      <a:r>
                        <a:rPr lang="ko-KR" altLang="ko-KR" sz="10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진술보장보험 가입과 관련한 보험료를 누가 </a:t>
                      </a:r>
                      <a:r>
                        <a:rPr lang="ko-KR" altLang="ko-KR" sz="10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부담할지에</a:t>
                      </a:r>
                      <a:r>
                        <a:rPr lang="ko-KR" altLang="ko-KR" sz="10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관해 합의 필요</a:t>
                      </a:r>
                      <a:endParaRPr lang="ko-KR" altLang="ko-KR" sz="1000" b="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258468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조에서 정하는 경우를 제외하고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따른 매도인의 진술 및 보장 위반과 관련하여 발생한 여하한 손해에 대하여 매도인에게 일체의 손해배상을 청구할 수 없고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손해는 본 조에 따른 진술 및 보장 보험에 따라 진술 및 보장 보험회사에게 보상을 청구하여야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 및 보장 보험은 매도인의 진술 및 보장의 위반 또는 부정확성에 대한 매수인의 유일하고 배타적인 구제수단이다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진술 및 보장 보험에 실제로 가입하였는지 여부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진술 및 보장 보험이 유효한지 여부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따른 경우를 제외하고 해당 진술 및 보장 보험에 따라 매수인이 진술 및 보장 보험회사에게 보상을 청구하는 것이 가능한지 여부와 무관하게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따른 매도인의 진술 및 보장 위반과 관련하여 발생한 여하한 손해에 대하여 매도인에게 일체의 손해배상을 청구할 수 없다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 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항은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매도인의 사기로 인하여 매수인에게 발생한 손해 또는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단서에 따라 매수인이 매도인의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 진술 및 보장에 관한 진술 및 보장 보험의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부보를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받지 못하는 경우에 대하여는 적용하지 아니한다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 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(a)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 및 보장 보험을 가입함에 있어서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사기로 인한 경우를 제외하고는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 및 보장 보험회사가 매도인에 대하여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보험자대위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기타 어떠한 청구권도 행사할 수 없는 조건으로 보험에 가입하여야 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(b)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사전 서면 동의 없이는 매도인에게 불리한 영향을 미칠 수 있는 진술 및 보장 보험 증권의 추가 체결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갱신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변경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철회 또는 권리의 양도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포기 등을 할 수 없다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 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(4)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 및 보장 보험 가입과 관련한 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보험료는 매도인이 전액 부담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kumimoji="1"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7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매도인과 매수인이 보험료 반분 시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13.4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매도인과 매수인은 진술 및 보장 보험 가입과 관련하여 보험료를 반분하여 부담하기로 합의하였고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상 조정 전 매매대금은 매도인과 매수인이 합의한 매매대금에서 매도인이 부담할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50%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보험료가 이미 차감되어 산정된 것임을 상호 인정한다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이에 매수인은 매도인이 이와 같이 이미 차감된 부분 이외에 진술 및 보장 보험과 관련된 보험료 또는 보험금 지급 청구를 위한 여하한 자기부담금에 대하여 어떠한 경우에도 책임을 부담하지 아니함을 인정하고 동의한다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kumimoji="1" lang="en-US" altLang="ko-KR" sz="1000" i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1086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85752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1. </a:t>
            </a:r>
            <a:r>
              <a:rPr lang="ko-KR" altLang="en-US" dirty="0" smtClean="0">
                <a:latin typeface="+mn-ea"/>
                <a:ea typeface="+mn-ea"/>
              </a:rPr>
              <a:t>손해배상청구 </a:t>
            </a:r>
            <a:r>
              <a:rPr lang="en-US" altLang="ko-KR" dirty="0" smtClean="0">
                <a:latin typeface="+mn-ea"/>
                <a:ea typeface="+mn-ea"/>
              </a:rPr>
              <a:t>/ </a:t>
            </a:r>
            <a:r>
              <a:rPr lang="ko-KR" altLang="en-US" dirty="0" smtClean="0">
                <a:latin typeface="+mn-ea"/>
                <a:ea typeface="+mn-ea"/>
              </a:rPr>
              <a:t>보험료</a:t>
            </a:r>
            <a:endParaRPr lang="ko-KR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252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XI. </a:t>
            </a:r>
            <a:r>
              <a:rPr lang="ko-KR" altLang="en-US" dirty="0" smtClean="0">
                <a:latin typeface="+mn-ea"/>
              </a:rPr>
              <a:t>진술보장보험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425053"/>
              </p:ext>
            </p:extLst>
          </p:nvPr>
        </p:nvGraphicFramePr>
        <p:xfrm>
          <a:off x="445285" y="1031874"/>
          <a:ext cx="9182903" cy="3835866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32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손해배상당사자의 책임에 대한 제한 및 제한의 예외를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701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아래 ‘표준 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문구’의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ko-KR" sz="1000" baseline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</a:t>
                      </a:r>
                      <a:r>
                        <a:rPr lang="ko-KR" altLang="en-US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협조의무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관련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진술보장보험 </a:t>
                      </a:r>
                      <a:r>
                        <a:rPr lang="ko-KR" altLang="en-US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부보에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있어 보험회사의 면밀한 실사가 예상되고 그 절차 진행에 있어 매도인의 협조가 필요한 경우 이와 같은 규정을 사용하는 것을 고려해 볼 수 있으나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</a:t>
                      </a:r>
                      <a:r>
                        <a:rPr lang="en-US" altLang="ko-KR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주식매매계약 체결과 동시에 진술보장보험에 가입해야 하는 경우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보험회사의 실사는 매수인의 재무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세무 및 </a:t>
                      </a:r>
                      <a:r>
                        <a:rPr lang="ko-KR" altLang="en-US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법률실사의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결과물을 받아본 후 매수인의 </a:t>
                      </a:r>
                      <a:r>
                        <a:rPr lang="ko-KR" altLang="en-US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자문사에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인터뷰를 통하여 진행하거나 매수인의 실사 기간 중에 보험회사의 실사도 진행하는 것이 통상적이고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 </a:t>
                      </a:r>
                      <a:r>
                        <a:rPr lang="ko-KR" altLang="en-US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전까지 진술보장보험 가입 절차를 진행하는 경우에도 </a:t>
                      </a:r>
                      <a:r>
                        <a:rPr lang="ko-KR" altLang="en-US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확약사항에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해당하는 </a:t>
                      </a:r>
                      <a:r>
                        <a:rPr lang="ko-KR" altLang="en-US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접근권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규정을 통하여 보험회사의 </a:t>
                      </a:r>
                      <a:r>
                        <a:rPr lang="ko-KR" altLang="en-US" sz="10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관련 질의 등에 대응할 수 있으므로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진술보장보험을 가입하면 매도인 입장에서도 손해배상 측면에서 유리하므로 대체적으로 매수인의 요구사항에 대하여 협조하는 경우가 많음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이와 같은 규정이 반드시 필요하지 않을 수도 있음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167853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u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u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u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u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u="non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 </a:t>
                      </a:r>
                      <a:r>
                        <a:rPr lang="ko-KR" altLang="ko-KR" sz="1000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추가실사의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실시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진술 및 보장 보험회사가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매도인의 진술 및 보장 사항 중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 진술 및 보장 위반에 대한 보험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부보와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관련하여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요구할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매도인의 진술 및 보장 사항 위반 여부를 확인하기 위한 목적으로 매도인에게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추가적인 실사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ko-KR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요청할 수 있다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대상은 본 계약 체결일 이후의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현황 변동과 관련한 사항으로 본 계약 체결일로부터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사이에 발생한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매도인의 진술 및 보장 사항의 위반에 대한 것으로 한정되어야 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체결일 기준의 매도인의 진술 및 보장 위반이나 기타 확약 위반과 관련한 사항을 대상으로 하여서는 아니된다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 및 보장 보험회사의 매수인에 대한 합리적인 요구가 있을 경우 본 계약 체결일 이후 발생하는 진술 및 보장 위반과 합리적으로 관련되어 있는 매도인의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 확약 위반에 관련한 사항은 그 필요한 범위 내에서 포함될 수 있음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  <a:endParaRPr kumimoji="1"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71513"/>
            <a:ext cx="74775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진술보장보험 관련 추가 실사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(1)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ko-KR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04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XI. </a:t>
            </a:r>
            <a:r>
              <a:rPr lang="ko-KR" altLang="en-US" dirty="0" smtClean="0">
                <a:latin typeface="+mn-ea"/>
              </a:rPr>
              <a:t>진술보장보험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321631"/>
              </p:ext>
            </p:extLst>
          </p:nvPr>
        </p:nvGraphicFramePr>
        <p:xfrm>
          <a:off x="445285" y="1031875"/>
          <a:ext cx="9182903" cy="395576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57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 </a:t>
                      </a:r>
                      <a:r>
                        <a:rPr lang="ko-KR" altLang="ko-KR" sz="1000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추가실사의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절차 및 기간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추가실사는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에서 정한 선행조건이 충족된 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이가 충족될 것임을 미리 합리적으로 예상 가능할 경우 그 충족일 이전의 날로서 당사자들이 별도로 합의한 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개시된다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ko-KR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개시일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”).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개시일 또는 그 이후 매수인은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추가실사의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대상과 관련한 정보의 제공을 매도인에게 요청할 수 있고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매도인이 제공한 정보에 기초하여 진술 및 보장 보험회사와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Underwriting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 매도인의 진술 및 보장 위반에 대한 보험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부보와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관련하여 필요한 절차를 이행하여야 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진술 및 보장 보험회사와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Underwriting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관련 절차의 이행 과정에서 진술 및 보장 보험회사로부터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요청받는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등으로 추가적인 정보가 필요할 경우에는 매도인에게 그 추가 정보의 제공을 요청할 수 있다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본 항에 따른 절차를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개시일로부터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6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ko-KR" sz="1000" b="1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</a:t>
                      </a:r>
                      <a:r>
                        <a:rPr lang="ko-KR" altLang="ko-KR" sz="1000" b="1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이내에 완료하여야 하되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상호 합의로서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기간을 연장할 수 있다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때 매도인은 합리적인 이유 없이 그 연장 합의를 거부하지 아니하기로 하되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어떠한 경우에도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기간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완료일은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따른 일자 이후가 될 수 없으며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진술 및 보장 보험회사로부터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 진술 및 보장에 대한 보험의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부보를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거절 당하거나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기간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완료일까지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그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부보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여부에 대한 확답을 받지 못한 것은 합리적인 이유로 보지 아니함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</a:t>
                      </a:r>
                      <a:r>
                        <a:rPr lang="ko-KR" altLang="ko-KR" sz="1000" u="sng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협조의무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본 조에 따른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추가실사가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원활히 진행될 수 있도록 본 조에서 정하는 바를 전제로 신속하게 요구되는 정보를 제공하고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이외에도 기타 합리적인 방법으로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추가실사에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충실히 협조하며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위하여 합리적으로 필요할 경우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에도 불구하고 매수인으로 하여금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직접 연락을 취하거나 정보 요청을 하도록 허용할 수 있다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매도인이 위와 같이 협조를 제공하여 진술 및 보장 보험회사와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Underwriting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 매도인의 진술 및 보장 위반에 대한 보험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부보와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관련하여 필요한 절차가 완료되었음에도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(a)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추가실사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기간 내에 진술 및 보장 보험회사로부터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 진술 및 보장에 대한 보험의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부보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허용 여부에 대한 확답을 받지 못한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(b)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 진술 및 보장에 대한 보험의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부보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자체를 진술 및 보장 보험회사가 거부한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(c)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 및 보장 보험회사가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 진술 및 보장 사항 중 세부적인 어떠한 항목을 여하한 사유로 보험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부보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대상에서 제외한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(specific exclusion)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와 관련하여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매도인은 어떠한 책임도 지지 아니한다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(c)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New Breach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클레임에 해당하여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3.3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 조정 대상이 되는 경우에 대한 책임을 제외함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매도인이 위와 같은 협조를 제공하지 아니하여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이로 인해 매수인이 매도인의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 진술 및 보장에 관한 진술 및 보장 보험의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부보를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받지 못하는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매도인의 </a:t>
                      </a:r>
                      <a:r>
                        <a:rPr lang="ko-KR" altLang="ko-KR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 진술 및 보장 위반에 따른 매수인의 매도인에 대한 손해배상 청구에 대해서는 본 계약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항이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적용되지 아니한다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kumimoji="1"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71513"/>
            <a:ext cx="74775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진술보장보험 관련 추가 실사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(2)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ko-KR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9765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XI. </a:t>
            </a:r>
            <a:r>
              <a:rPr lang="ko-KR" altLang="en-US" dirty="0" smtClean="0">
                <a:latin typeface="+mn-ea"/>
              </a:rPr>
              <a:t>진술보장보험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905109"/>
              </p:ext>
            </p:extLst>
          </p:nvPr>
        </p:nvGraphicFramePr>
        <p:xfrm>
          <a:off x="445285" y="1031460"/>
          <a:ext cx="9182903" cy="311691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9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진술보장보험에 가입한 경우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계약체결일과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거래종결일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사이에 새롭게 발생한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진술보장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위반을 처리하는 기능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45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New Breach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클레임은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기준 매도인의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대상회사에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관한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위반 사항으로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계약체결일 현재 존재하지 않고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계약체결일과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사이에 새롭게 발생한 사실에 따른 것이며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매수인이 </a:t>
                      </a:r>
                      <a:r>
                        <a:rPr lang="ko-KR" altLang="en-US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전에 인지하였고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매수인의 “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Closing No Claims Declaration”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의해 진술 및 보장 보험회사에게 통지된 것을 의미함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ko-KR" altLang="en-US" sz="1000" b="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진술보장보험회사의 진술보장보험의 기준일은 계약체결일인바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이후에 발생한 위반에 관한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New Breach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클레임은 진술보장보험에 의해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cover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되는 사항이 아니므로 진술보장보험에 가입된 경우에도 매수인은 매도인에 대해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New Breach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클레임에 기한 손해배상을 청구할 수 있음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11874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kumimoji="1"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및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항을 제외함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적용을 전제로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New Breach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클레임으로 매수인이 입은 손해에 대하여 매도인에게 그 손해의 배상을 청구할 수 있다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매수인은 이 경우 해당 손해가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New Breach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클레임에 해당한다는 점을 매도인에게 입증하여야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New Breach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클레임에 따른 매도인의 매수인에 대한 손해배상책임은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항에서 정한 조정을 통하여만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배상되며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그러지 아니한 경우 해당 손해배상책임은 소멸한다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095" y="685751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3. New Breach </a:t>
            </a:r>
            <a:r>
              <a:rPr lang="ko-KR" altLang="en-US" dirty="0" smtClean="0">
                <a:latin typeface="+mn-ea"/>
                <a:ea typeface="+mn-ea"/>
              </a:rPr>
              <a:t>클레임</a:t>
            </a:r>
            <a:endParaRPr lang="ko-KR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1382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XII. </a:t>
            </a:r>
            <a:r>
              <a:rPr lang="ko-KR" altLang="en-US" dirty="0" smtClean="0">
                <a:latin typeface="+mn-ea"/>
              </a:rPr>
              <a:t>기타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565342"/>
              </p:ext>
            </p:extLst>
          </p:nvPr>
        </p:nvGraphicFramePr>
        <p:xfrm>
          <a:off x="436543" y="1031100"/>
          <a:ext cx="9182903" cy="4436115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8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분쟁 해결 수단으로서 소송과 중재 비교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607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소송과 중재 중 국내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deal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에서는 비용적인 측면을 고려하여 소송으로 분쟁을 해결하고자 하는 경우가 많으나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아래와 같은 소송과 중재의 장단점을 비교하여 분쟁 해결 방식을 정하는 것이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바람직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ko-KR" altLang="en-US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112045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(4) </a:t>
                      </a:r>
                      <a:r>
                        <a:rPr lang="ko-KR" altLang="ko-KR" sz="1000" u="sng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분쟁 해결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계약과 관련하여 분쟁이 발생하는 경우 각 당사자는 선의에 기초한 협의를 통해 해결책을 모색한다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이러한 협의에도 불구하고 분쟁이 해결되지 않는 경우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[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서울중앙지방법원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심 전속관할로 하는 재판에 의해 최종 해결한다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당사자는 본 계약의 위반이 상대방 당사자에게 회복할 수 없는 손해를 초래할 수 있음을 인정하며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그에 따라 각 당사자가 상대방 당사자의 본 계약 위반이 있는 경우 관할 법원에 가압류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가처분 등 본 계약 위반을 방지하고 본 계약의 이행을 강제하기 위한 적절한 조치를 청구할 권리를 가진다는 점을 확인한다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kumimoji="1"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82381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1. </a:t>
            </a:r>
            <a:r>
              <a:rPr lang="ko-KR" altLang="en-US" dirty="0" smtClean="0">
                <a:latin typeface="+mn-ea"/>
                <a:ea typeface="+mn-ea"/>
              </a:rPr>
              <a:t>분쟁 해결</a:t>
            </a:r>
            <a:endParaRPr lang="ko-KR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63721"/>
              </p:ext>
            </p:extLst>
          </p:nvPr>
        </p:nvGraphicFramePr>
        <p:xfrm>
          <a:off x="1476047" y="2026120"/>
          <a:ext cx="8032963" cy="21636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93961">
                  <a:extLst>
                    <a:ext uri="{9D8B030D-6E8A-4147-A177-3AD203B41FA5}">
                      <a16:colId xmlns:a16="http://schemas.microsoft.com/office/drawing/2014/main" val="214653204"/>
                    </a:ext>
                  </a:extLst>
                </a:gridCol>
                <a:gridCol w="3489494">
                  <a:extLst>
                    <a:ext uri="{9D8B030D-6E8A-4147-A177-3AD203B41FA5}">
                      <a16:colId xmlns:a16="http://schemas.microsoft.com/office/drawing/2014/main" val="1489506677"/>
                    </a:ext>
                  </a:extLst>
                </a:gridCol>
                <a:gridCol w="3949508">
                  <a:extLst>
                    <a:ext uri="{9D8B030D-6E8A-4147-A177-3AD203B41FA5}">
                      <a16:colId xmlns:a16="http://schemas.microsoft.com/office/drawing/2014/main" val="2865285229"/>
                    </a:ext>
                  </a:extLst>
                </a:gridCol>
              </a:tblGrid>
              <a:tr h="250906">
                <a:tc>
                  <a:txBody>
                    <a:bodyPr/>
                    <a:lstStyle/>
                    <a:p>
                      <a:pPr algn="l" latinLnBrk="0">
                        <a:lnSpc>
                          <a:spcPct val="1200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장점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단점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135588"/>
                  </a:ext>
                </a:extLst>
              </a:tr>
              <a:tr h="68924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9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소송</a:t>
                      </a:r>
                      <a:endParaRPr lang="ko-KR" sz="9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상소 가능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판결에 대한 집행 용이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비용이 상대적으로 적게 소요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 대한 증거 수집 가능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상소 절차로 인하여 분쟁 해결 지연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담당 재판부의 전문성 결여 가능성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변론 절차 및 판결문 공개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087457"/>
                  </a:ext>
                </a:extLst>
              </a:tr>
              <a:tr h="121832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9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중재</a:t>
                      </a:r>
                      <a:endParaRPr lang="ko-KR" sz="9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소송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심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비하여 신속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단심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절차가 상대적으로 유연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중재판정부의 전문성 기대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심리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판정의 기밀 유지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증거조사의 범위가 넓음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이러한 이유로 신청인 측에 불리한 문서도 제출해야 할 수 있음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상소 불가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중재판정에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임의 이행 거절 시 별도 소송을 통한 </a:t>
                      </a:r>
                      <a:r>
                        <a:rPr lang="ko-KR" sz="9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집행판결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필요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비용이 상대적으로 많이 소요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이러한 이유로 소송과 달리 중재 신청 남용 방지 가능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 대한 증거 수집이 어려움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9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중재법상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원칙적으로는 허용되나 아직 선례가 없음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22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26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XII. </a:t>
            </a:r>
            <a:r>
              <a:rPr lang="ko-KR" altLang="en-US" dirty="0" smtClean="0">
                <a:latin typeface="+mn-ea"/>
              </a:rPr>
              <a:t>기타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43988"/>
              </p:ext>
            </p:extLst>
          </p:nvPr>
        </p:nvGraphicFramePr>
        <p:xfrm>
          <a:off x="436543" y="1031100"/>
          <a:ext cx="9182903" cy="527538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8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주식매매계약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기타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부수계약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체결과 함께 이루어지는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공시사항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6325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상장회사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대상회사가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상장회사인 경우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관련 법령 및 거래소 규정에 따라 계약의 주요 내용에 대한 공시가 필요할 수 있으므로 사전에 공시 의무에 대한 점검이 필요함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매수인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사이에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주식매매계약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주주간계약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체결한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대표적으로 다음과 같은 공시의무를 이행해야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공시의 경우 거래 구조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 내용 등에 따라 공시 대상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공시 사항 등이 매우 달라지므로 사전에 검토를 받을 필요가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전제사항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매도인은 기존에도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보고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대상주식이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대상회사의 지분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이상에 해당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매수인은 해당 거래로 대상회사의 지분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 보유하게 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주주간계약에는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콜옵션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drag-along right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 공동보유효력에 관한 내용 규정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사전 공시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상장회사의 내부자인 임원 또는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주요주주가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대상주식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등을 일정 규모 이상 매매하는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매매예정일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 이전에 매매 목적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수량 및 거래 기간 등을 공시해야 하는바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보고의무가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면제되는 사유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과거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개월과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거래기간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합산한 거래 수량 및 금액이 각 발행주식총수의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억 미만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해당하지 않는 이상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 전에 공시해야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자본시장법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계약체결일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90600" marR="0" lvl="3" indent="-27622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>
                          <a:tab pos="895350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주식매매계약 체결에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변경보고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90600" marR="0" lvl="3" indent="-27622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>
                          <a:tab pos="895350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주식매매계약 체결에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신규보고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거래종결일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90600" marR="0" lvl="3" indent="-27622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>
                          <a:tab pos="895350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주식매매계약 체결에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변경보고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특별관계자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추가에 따른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변동보고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주주간계약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체결에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변경보고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연명보고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);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주요주주라면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10%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변동보고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90600" marR="0" lvl="3" indent="-27622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>
                          <a:tab pos="895350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선임에 따른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폐지보고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주요주주가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된다면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10%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변동보고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만약 최대주주 변경이 수반되는 거래라면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입장에서는 계약체결일과 거래종결일에 각 최대주주 변경을 수반하는 계약 체결에 따른 주요경영사항공시와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최대주주 변경에 따른 주요경영사항공시를 진행해야 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경우에 따라 주식매매계약과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주주간계약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체결에 대해 기타 투자판단 관련 주요경영사항공시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포괄주의공시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진행해야 할 수도 있음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공시 과정에서 원칙적으로는 계약서 전부를 증빙자료로 제출해야 하지만 기밀정보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공시 목적상 무관한 내용은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redact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하여 제출할 수도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참고로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제출된 계약서는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DART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시스템에 게시되지 않으므로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공개청구가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이루어졌다는 등의 특별한 사정이 있지 않은 이상 일반에 공개되지 않음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위와 같이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연명보고를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진행할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매도인이 아닌 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는 대표보고자에게 위임장을 제출하고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대표보고자는 위임장 사본을 보고서에 첨부해야 함</a:t>
                      </a:r>
                      <a:endParaRPr lang="ko-KR" altLang="en-US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599475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SPA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kumimoji="1"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82381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공시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450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2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123050</TotalTime>
  <Words>17193</Words>
  <Application>Microsoft Office PowerPoint</Application>
  <PresentationFormat>A4 용지(210x297mm)</PresentationFormat>
  <Paragraphs>873</Paragraphs>
  <Slides>55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55</vt:i4>
      </vt:variant>
    </vt:vector>
  </HeadingPairs>
  <TitlesOfParts>
    <vt:vector size="70" baseType="lpstr">
      <vt:lpstr>Arial Unicode MS</vt:lpstr>
      <vt:lpstr>LG Smart_H2.0 R</vt:lpstr>
      <vt:lpstr>맑은 고딕</vt:lpstr>
      <vt:lpstr>LG스마트체2.0 SemiBold</vt:lpstr>
      <vt:lpstr>굴림</vt:lpstr>
      <vt:lpstr>Wingdings 2</vt:lpstr>
      <vt:lpstr>LG스마트체2.0 Regular</vt:lpstr>
      <vt:lpstr>LG스마트체 Regular</vt:lpstr>
      <vt:lpstr>Times New Roman</vt:lpstr>
      <vt:lpstr>Wingdings</vt:lpstr>
      <vt:lpstr>Arial Narrow</vt:lpstr>
      <vt:lpstr>Arial</vt:lpstr>
      <vt:lpstr>LG스마트체2.0 Bold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권진오</dc:creator>
  <cp:lastModifiedBy>yongho.cho</cp:lastModifiedBy>
  <cp:revision>10413</cp:revision>
  <cp:lastPrinted>2024-08-30T06:10:42Z</cp:lastPrinted>
  <dcterms:created xsi:type="dcterms:W3CDTF">2012-10-19T01:42:40Z</dcterms:created>
  <dcterms:modified xsi:type="dcterms:W3CDTF">2025-04-17T09:43:13Z</dcterms:modified>
</cp:coreProperties>
</file>