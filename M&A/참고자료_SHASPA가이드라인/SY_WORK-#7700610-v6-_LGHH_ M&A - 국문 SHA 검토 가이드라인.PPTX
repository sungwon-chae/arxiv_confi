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735" r:id="rId1"/>
    <p:sldMasterId id="2147483741" r:id="rId2"/>
  </p:sldMasterIdLst>
  <p:notesMasterIdLst>
    <p:notesMasterId r:id="rId37"/>
  </p:notesMasterIdLst>
  <p:handoutMasterIdLst>
    <p:handoutMasterId r:id="rId38"/>
  </p:handoutMasterIdLst>
  <p:sldIdLst>
    <p:sldId id="3679" r:id="rId3"/>
    <p:sldId id="3795" r:id="rId4"/>
    <p:sldId id="3877" r:id="rId5"/>
    <p:sldId id="3831" r:id="rId6"/>
    <p:sldId id="3848" r:id="rId7"/>
    <p:sldId id="3784" r:id="rId8"/>
    <p:sldId id="3849" r:id="rId9"/>
    <p:sldId id="3870" r:id="rId10"/>
    <p:sldId id="3851" r:id="rId11"/>
    <p:sldId id="3852" r:id="rId12"/>
    <p:sldId id="3872" r:id="rId13"/>
    <p:sldId id="3853" r:id="rId14"/>
    <p:sldId id="3855" r:id="rId15"/>
    <p:sldId id="3856" r:id="rId16"/>
    <p:sldId id="3871" r:id="rId17"/>
    <p:sldId id="3857" r:id="rId18"/>
    <p:sldId id="3858" r:id="rId19"/>
    <p:sldId id="3860" r:id="rId20"/>
    <p:sldId id="3859" r:id="rId21"/>
    <p:sldId id="3861" r:id="rId22"/>
    <p:sldId id="3862" r:id="rId23"/>
    <p:sldId id="3854" r:id="rId24"/>
    <p:sldId id="3863" r:id="rId25"/>
    <p:sldId id="3864" r:id="rId26"/>
    <p:sldId id="3865" r:id="rId27"/>
    <p:sldId id="3879" r:id="rId28"/>
    <p:sldId id="3867" r:id="rId29"/>
    <p:sldId id="3868" r:id="rId30"/>
    <p:sldId id="3869" r:id="rId31"/>
    <p:sldId id="3873" r:id="rId32"/>
    <p:sldId id="3876" r:id="rId33"/>
    <p:sldId id="3874" r:id="rId34"/>
    <p:sldId id="3878" r:id="rId35"/>
    <p:sldId id="3830" r:id="rId36"/>
  </p:sldIdLst>
  <p:sldSz cx="9906000" cy="6858000" type="A4"/>
  <p:notesSz cx="6797675" cy="9926638"/>
  <p:embeddedFontLst>
    <p:embeddedFont>
      <p:font typeface="맑은 고딕" panose="020B0503020000020004" pitchFamily="50" charset="-127"/>
      <p:regular r:id="rId39"/>
      <p:bold r:id="rId40"/>
    </p:embeddedFont>
    <p:embeddedFont>
      <p:font typeface="Wingdings 2" panose="05020102010507070707" pitchFamily="18" charset="2"/>
      <p:regular r:id="rId41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sz="1200" b="1" kern="1200">
        <a:solidFill>
          <a:srgbClr val="000000"/>
        </a:solidFill>
        <a:latin typeface="Arial" charset="0"/>
        <a:ea typeface="맑은 고딕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sz="1200" b="1" kern="1200">
        <a:solidFill>
          <a:srgbClr val="000000"/>
        </a:solidFill>
        <a:latin typeface="Arial" charset="0"/>
        <a:ea typeface="맑은 고딕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sz="1200" b="1" kern="1200">
        <a:solidFill>
          <a:srgbClr val="000000"/>
        </a:solidFill>
        <a:latin typeface="Arial" charset="0"/>
        <a:ea typeface="맑은 고딕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sz="1200" b="1" kern="1200">
        <a:solidFill>
          <a:srgbClr val="000000"/>
        </a:solidFill>
        <a:latin typeface="Arial" charset="0"/>
        <a:ea typeface="맑은 고딕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sz="1200" b="1" kern="1200">
        <a:solidFill>
          <a:srgbClr val="000000"/>
        </a:solidFill>
        <a:latin typeface="Arial" charset="0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b="1" kern="1200">
        <a:solidFill>
          <a:srgbClr val="000000"/>
        </a:solidFill>
        <a:latin typeface="Arial" charset="0"/>
        <a:ea typeface="맑은 고딕" pitchFamily="50" charset="-127"/>
        <a:cs typeface="+mn-cs"/>
      </a:defRPr>
    </a:lvl6pPr>
    <a:lvl7pPr marL="2743200" algn="l" defTabSz="914400" rtl="0" eaLnBrk="1" latinLnBrk="1" hangingPunct="1">
      <a:defRPr sz="1200" b="1" kern="1200">
        <a:solidFill>
          <a:srgbClr val="000000"/>
        </a:solidFill>
        <a:latin typeface="Arial" charset="0"/>
        <a:ea typeface="맑은 고딕" pitchFamily="50" charset="-127"/>
        <a:cs typeface="+mn-cs"/>
      </a:defRPr>
    </a:lvl7pPr>
    <a:lvl8pPr marL="3200400" algn="l" defTabSz="914400" rtl="0" eaLnBrk="1" latinLnBrk="1" hangingPunct="1">
      <a:defRPr sz="1200" b="1" kern="1200">
        <a:solidFill>
          <a:srgbClr val="000000"/>
        </a:solidFill>
        <a:latin typeface="Arial" charset="0"/>
        <a:ea typeface="맑은 고딕" pitchFamily="50" charset="-127"/>
        <a:cs typeface="+mn-cs"/>
      </a:defRPr>
    </a:lvl8pPr>
    <a:lvl9pPr marL="3657600" algn="l" defTabSz="914400" rtl="0" eaLnBrk="1" latinLnBrk="1" hangingPunct="1">
      <a:defRPr sz="1200" b="1" kern="1200">
        <a:solidFill>
          <a:srgbClr val="000000"/>
        </a:solidFill>
        <a:latin typeface="Arial" charset="0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6" userDrawn="1">
          <p15:clr>
            <a:srgbClr val="A4A3A4"/>
          </p15:clr>
        </p15:guide>
        <p15:guide id="2" orient="horz" pos="1329" userDrawn="1">
          <p15:clr>
            <a:srgbClr val="A4A3A4"/>
          </p15:clr>
        </p15:guide>
        <p15:guide id="5" pos="6065" userDrawn="1">
          <p15:clr>
            <a:srgbClr val="A4A3A4"/>
          </p15:clr>
        </p15:guide>
        <p15:guide id="6" pos="277" userDrawn="1">
          <p15:clr>
            <a:srgbClr val="A4A3A4"/>
          </p15:clr>
        </p15:guide>
        <p15:guide id="8" pos="819" userDrawn="1">
          <p15:clr>
            <a:srgbClr val="A4A3A4"/>
          </p15:clr>
        </p15:guide>
        <p15:guide id="9" orient="horz" pos="423" userDrawn="1">
          <p15:clr>
            <a:srgbClr val="A4A3A4"/>
          </p15:clr>
        </p15:guide>
        <p15:guide id="10" orient="horz" pos="650" userDrawn="1">
          <p15:clr>
            <a:srgbClr val="A4A3A4"/>
          </p15:clr>
        </p15:guide>
        <p15:guide id="11" pos="175" userDrawn="1">
          <p15:clr>
            <a:srgbClr val="A4A3A4"/>
          </p15:clr>
        </p15:guide>
        <p15:guide id="12" orient="horz" pos="80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39">
          <p15:clr>
            <a:srgbClr val="A4A3A4"/>
          </p15:clr>
        </p15:guide>
        <p15:guide id="3" orient="horz" pos="3126">
          <p15:clr>
            <a:srgbClr val="A4A3A4"/>
          </p15:clr>
        </p15:guide>
        <p15:guide id="4" pos="214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kkim89" initials="b" lastIdx="7" clrIdx="0">
    <p:extLst>
      <p:ext uri="{19B8F6BF-5375-455C-9EA6-DF929625EA0E}">
        <p15:presenceInfo xmlns:p15="http://schemas.microsoft.com/office/powerpoint/2012/main" userId="bkkim89" providerId="None"/>
      </p:ext>
    </p:extLst>
  </p:cmAuthor>
  <p:cmAuthor id="2" name="scjang0918" initials="s" lastIdx="15" clrIdx="1">
    <p:extLst>
      <p:ext uri="{19B8F6BF-5375-455C-9EA6-DF929625EA0E}">
        <p15:presenceInfo xmlns:p15="http://schemas.microsoft.com/office/powerpoint/2012/main" userId="scjang0918" providerId="None"/>
      </p:ext>
    </p:extLst>
  </p:cmAuthor>
  <p:cmAuthor id="3" name="jysong21" initials="j" lastIdx="1" clrIdx="2">
    <p:extLst>
      <p:ext uri="{19B8F6BF-5375-455C-9EA6-DF929625EA0E}">
        <p15:presenceInfo xmlns:p15="http://schemas.microsoft.com/office/powerpoint/2012/main" userId="jysong21" providerId="None"/>
      </p:ext>
    </p:extLst>
  </p:cmAuthor>
  <p:cmAuthor id="4" name="jaycho" initials="j" lastIdx="1" clrIdx="3">
    <p:extLst>
      <p:ext uri="{19B8F6BF-5375-455C-9EA6-DF929625EA0E}">
        <p15:presenceInfo xmlns:p15="http://schemas.microsoft.com/office/powerpoint/2012/main" userId="jaych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FF0000"/>
    <a:srgbClr val="0000FF"/>
    <a:srgbClr val="C00000"/>
    <a:srgbClr val="A50034"/>
    <a:srgbClr val="C0504D"/>
    <a:srgbClr val="EAEAEA"/>
    <a:srgbClr val="DDDDDD"/>
    <a:srgbClr val="008000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08" autoAdjust="0"/>
    <p:restoredTop sz="96391" autoAdjust="0"/>
  </p:normalViewPr>
  <p:slideViewPr>
    <p:cSldViewPr snapToObjects="1" showGuides="1">
      <p:cViewPr varScale="1">
        <p:scale>
          <a:sx n="99" d="100"/>
          <a:sy n="99" d="100"/>
        </p:scale>
        <p:origin x="276" y="84"/>
      </p:cViewPr>
      <p:guideLst>
        <p:guide orient="horz" pos="3746"/>
        <p:guide orient="horz" pos="1329"/>
        <p:guide pos="6065"/>
        <p:guide pos="277"/>
        <p:guide pos="819"/>
        <p:guide orient="horz" pos="423"/>
        <p:guide orient="horz" pos="650"/>
        <p:guide pos="175"/>
        <p:guide orient="horz" pos="80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5502"/>
    </p:cViewPr>
  </p:sorterViewPr>
  <p:notesViewPr>
    <p:cSldViewPr snapToObjects="1" showGuides="1">
      <p:cViewPr varScale="1">
        <p:scale>
          <a:sx n="75" d="100"/>
          <a:sy n="75" d="100"/>
        </p:scale>
        <p:origin x="4026" y="60"/>
      </p:cViewPr>
      <p:guideLst>
        <p:guide orient="horz" pos="3127"/>
        <p:guide pos="2139"/>
        <p:guide orient="horz" pos="3126"/>
        <p:guide pos="2140"/>
      </p:guideLst>
    </p:cSldViewPr>
  </p:notesViewPr>
  <p:gridSpacing cx="119895" cy="11989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commentAuthors" Target="comment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2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0"/>
            <a:ext cx="2946400" cy="49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46" tIns="46123" rIns="92246" bIns="46123" numCol="1" anchor="t" anchorCtr="0" compatLnSpc="1">
            <a:prstTxWarp prst="textNoShape">
              <a:avLst/>
            </a:prstTxWarp>
          </a:bodyPr>
          <a:lstStyle>
            <a:lvl1pPr algn="l" defTabSz="923593" latinLnBrk="1">
              <a:defRPr kumimoji="1" sz="12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18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9" y="0"/>
            <a:ext cx="2946400" cy="49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46" tIns="46123" rIns="92246" bIns="46123" numCol="1" anchor="t" anchorCtr="0" compatLnSpc="1">
            <a:prstTxWarp prst="textNoShape">
              <a:avLst/>
            </a:prstTxWarp>
          </a:bodyPr>
          <a:lstStyle>
            <a:lvl1pPr algn="r" defTabSz="923593" latinLnBrk="1">
              <a:defRPr kumimoji="1" sz="12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18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9428242"/>
            <a:ext cx="2946400" cy="49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46" tIns="46123" rIns="92246" bIns="46123" numCol="1" anchor="b" anchorCtr="0" compatLnSpc="1">
            <a:prstTxWarp prst="textNoShape">
              <a:avLst/>
            </a:prstTxWarp>
          </a:bodyPr>
          <a:lstStyle>
            <a:lvl1pPr algn="l" defTabSz="923593" latinLnBrk="1">
              <a:defRPr kumimoji="1" sz="12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18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9" y="9428242"/>
            <a:ext cx="2946400" cy="49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46" tIns="46123" rIns="92246" bIns="46123" numCol="1" anchor="b" anchorCtr="0" compatLnSpc="1">
            <a:prstTxWarp prst="textNoShape">
              <a:avLst/>
            </a:prstTxWarp>
          </a:bodyPr>
          <a:lstStyle>
            <a:lvl1pPr algn="r" defTabSz="923593" latinLnBrk="1">
              <a:defRPr kumimoji="1" sz="12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92727AB2-DBE6-4817-B7D3-07FE23D14A51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897602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0"/>
            <a:ext cx="2946400" cy="49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48" tIns="45625" rIns="91248" bIns="45625" numCol="1" anchor="t" anchorCtr="0" compatLnSpc="1">
            <a:prstTxWarp prst="textNoShape">
              <a:avLst/>
            </a:prstTxWarp>
          </a:bodyPr>
          <a:lstStyle>
            <a:lvl1pPr algn="l" latinLnBrk="1">
              <a:defRPr kumimoji="1" sz="12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9" y="0"/>
            <a:ext cx="2946400" cy="49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48" tIns="45625" rIns="91248" bIns="45625" numCol="1" anchor="t" anchorCtr="0" compatLnSpc="1">
            <a:prstTxWarp prst="textNoShape">
              <a:avLst/>
            </a:prstTxWarp>
          </a:bodyPr>
          <a:lstStyle>
            <a:lvl1pPr algn="r" latinLnBrk="1">
              <a:defRPr kumimoji="1" sz="12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21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5963" y="744538"/>
            <a:ext cx="537845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7867" y="4712537"/>
            <a:ext cx="5441950" cy="4471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48" tIns="45625" rIns="91248" bIns="456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428242"/>
            <a:ext cx="2946400" cy="49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48" tIns="45625" rIns="91248" bIns="45625" numCol="1" anchor="b" anchorCtr="0" compatLnSpc="1">
            <a:prstTxWarp prst="textNoShape">
              <a:avLst/>
            </a:prstTxWarp>
          </a:bodyPr>
          <a:lstStyle>
            <a:lvl1pPr algn="l" latinLnBrk="1">
              <a:defRPr kumimoji="1" sz="12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9" y="9428242"/>
            <a:ext cx="2946400" cy="49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48" tIns="45625" rIns="91248" bIns="45625" numCol="1" anchor="b" anchorCtr="0" compatLnSpc="1">
            <a:prstTxWarp prst="textNoShape">
              <a:avLst/>
            </a:prstTxWarp>
          </a:bodyPr>
          <a:lstStyle>
            <a:lvl1pPr algn="r" latinLnBrk="1">
              <a:defRPr kumimoji="1" sz="12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F58AD39B-30E0-4E97-8A0D-948230F53372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834267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417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267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5314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3649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361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813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5876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8187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6487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09196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4279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1541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96806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3162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86791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35313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50096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54090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13889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18097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22488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05529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55613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82804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10063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78656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53060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76148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70447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49035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34255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13655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55443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8645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 bwMode="auto">
          <a:xfrm>
            <a:off x="847535" y="2646774"/>
            <a:ext cx="819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med" len="med"/>
          </a:ln>
        </p:spPr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00" y="943323"/>
            <a:ext cx="2141404" cy="467746"/>
          </a:xfrm>
          <a:prstGeom prst="rect">
            <a:avLst/>
          </a:prstGeom>
        </p:spPr>
      </p:pic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927477" y="1023940"/>
            <a:ext cx="4673724" cy="34605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>
              <a:defRPr kumimoji="1" lang="ko-KR" altLang="en-US" sz="1600" b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lvl1pPr>
          </a:lstStyle>
          <a:p>
            <a:pPr lvl="0" algn="r" fontAlgn="base" latinLnBrk="0">
              <a:spcBef>
                <a:spcPct val="50000"/>
              </a:spcBef>
              <a:spcAft>
                <a:spcPct val="0"/>
              </a:spcAft>
            </a:pPr>
            <a:r>
              <a:rPr lang="ko-KR" altLang="en-US" dirty="0" smtClean="0"/>
              <a:t>프로젝트 명 편집</a:t>
            </a:r>
            <a:endParaRPr lang="ko-KR" altLang="en-US" dirty="0"/>
          </a:p>
        </p:txBody>
      </p:sp>
      <p:sp>
        <p:nvSpPr>
          <p:cNvPr id="22" name="내용 개체 틀 21"/>
          <p:cNvSpPr>
            <a:spLocks noGrp="1"/>
          </p:cNvSpPr>
          <p:nvPr>
            <p:ph sz="quarter" idx="10" hasCustomPrompt="1"/>
          </p:nvPr>
        </p:nvSpPr>
        <p:spPr>
          <a:xfrm>
            <a:off x="843493" y="2056467"/>
            <a:ext cx="7073552" cy="5220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kumimoji="1" lang="ko-KR" altLang="en-US" sz="2800" b="1" kern="12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 Unicode MS" pitchFamily="50" charset="-127"/>
              </a:defRPr>
            </a:lvl1pPr>
          </a:lstStyle>
          <a:p>
            <a:pPr lvl="0"/>
            <a:r>
              <a:rPr lang="ko-KR" altLang="en-US" dirty="0" smtClean="0"/>
              <a:t>마스터 제목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95848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1194" y="130622"/>
            <a:ext cx="4673724" cy="346050"/>
          </a:xfrm>
        </p:spPr>
        <p:txBody>
          <a:bodyPr>
            <a:noAutofit/>
          </a:bodyPr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4" name="직선 연결선 7">
            <a:extLst>
              <a:ext uri="{FF2B5EF4-FFF2-40B4-BE49-F238E27FC236}">
                <a16:creationId xmlns:a16="http://schemas.microsoft.com/office/drawing/2014/main" id="{3959789E-1396-4E3D-AAD6-3123B61C9B94}"/>
              </a:ext>
            </a:extLst>
          </p:cNvPr>
          <p:cNvSpPr/>
          <p:nvPr userDrawn="1"/>
        </p:nvSpPr>
        <p:spPr>
          <a:xfrm>
            <a:off x="217592" y="490742"/>
            <a:ext cx="9470816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BC967B58-6B76-4496-B5BF-77C609D288E1}"/>
              </a:ext>
            </a:extLst>
          </p:cNvPr>
          <p:cNvSpPr txBox="1">
            <a:spLocks/>
          </p:cNvSpPr>
          <p:nvPr userDrawn="1"/>
        </p:nvSpPr>
        <p:spPr>
          <a:xfrm>
            <a:off x="8913440" y="6685388"/>
            <a:ext cx="864096" cy="13849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lIns="90000" tIns="0" rIns="90000" bIns="0" rtlCol="0" anchor="ctr">
            <a:spAutoFit/>
          </a:bodyPr>
          <a:lstStyle>
            <a:defPPr>
              <a:defRPr lang="ko-KR"/>
            </a:defPPr>
            <a:lvl1pPr algn="r">
              <a:defRPr sz="1000" baseline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R"/>
              </a:defRPr>
            </a:lvl1pPr>
          </a:lstStyle>
          <a:p>
            <a:pPr lvl="0"/>
            <a:fld id="{86CB4B4D-7CA3-9044-876B-883B54F8677D}" type="slidenum">
              <a:rPr lang="en-US" altLang="ko-KR" sz="900" b="0" smtClean="0">
                <a:latin typeface="+mn-ea"/>
                <a:ea typeface="+mn-ea"/>
              </a:rPr>
              <a:pPr lvl="0"/>
              <a:t>‹#›</a:t>
            </a:fld>
            <a:endParaRPr lang="ko-KR" altLang="en-US" sz="900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48942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7">
            <a:extLst>
              <a:ext uri="{FF2B5EF4-FFF2-40B4-BE49-F238E27FC236}">
                <a16:creationId xmlns:a16="http://schemas.microsoft.com/office/drawing/2014/main" id="{3959789E-1396-4E3D-AAD6-3123B61C9B94}"/>
              </a:ext>
            </a:extLst>
          </p:cNvPr>
          <p:cNvSpPr/>
          <p:nvPr userDrawn="1"/>
        </p:nvSpPr>
        <p:spPr>
          <a:xfrm>
            <a:off x="217592" y="490742"/>
            <a:ext cx="9470816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66169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fontAlgn="auto" latinLnBrk="0" hangingPunct="1">
              <a:spcBef>
                <a:spcPct val="50000"/>
              </a:spcBef>
              <a:spcAft>
                <a:spcPts val="0"/>
              </a:spcAft>
            </a:pPr>
            <a:r>
              <a:rPr lang="ko-KR" altLang="en-US" sz="800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 dirty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dirty="0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sp>
          <p:nvSpPr>
            <p:cNvPr id="14" name="직사각형 13"/>
            <p:cNvSpPr/>
            <p:nvPr/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>
                <a:solidFill>
                  <a:prstClr val="white"/>
                </a:solidFill>
              </a:endParaRPr>
            </a:p>
          </p:txBody>
        </p:sp>
        <p:pic>
          <p:nvPicPr>
            <p:cNvPr id="15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/>
          </p:blipFill>
          <p:spPr bwMode="auto">
            <a:xfrm>
              <a:off x="200025" y="188913"/>
              <a:ext cx="735289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/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223" y="5146837"/>
            <a:ext cx="1608868" cy="35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4515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C1F57-6407-4F9A-87B3-597B2D7E29F8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2025-04-16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601072" y="6356350"/>
            <a:ext cx="3136900" cy="365125"/>
          </a:xfr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2864768" y="6356351"/>
            <a:ext cx="2311400" cy="365125"/>
          </a:xfrm>
        </p:spPr>
        <p:txBody>
          <a:bodyPr/>
          <a:lstStyle/>
          <a:p>
            <a:fld id="{1D3BA075-CA25-46AB-8832-7464718604D1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2218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3965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3679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7166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195762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825625"/>
            <a:ext cx="4195763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5012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710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9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4821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8715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162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1907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89775" y="365125"/>
            <a:ext cx="2135188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56337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1BEB4-0766-4F86-8A6A-72EB12F049DF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313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0098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40" r:id="rId2"/>
    <p:sldLayoutId id="2147483737" r:id="rId3"/>
    <p:sldLayoutId id="2147483753" r:id="rId4"/>
    <p:sldLayoutId id="2147483754" r:id="rId5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1BEB4-0766-4F86-8A6A-72EB12F049DF}" type="datetimeFigureOut">
              <a:rPr lang="ko-KR" altLang="en-US" smtClean="0"/>
              <a:t>2025-04-16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ADAAD-3E67-4088-A1F2-BED9F04149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90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1125449" y="1963316"/>
            <a:ext cx="8502739" cy="584775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fontAlgn="auto">
              <a:spcAft>
                <a:spcPts val="0"/>
              </a:spcAft>
              <a:defRPr/>
            </a:pPr>
            <a:r>
              <a:rPr lang="ko-KR" altLang="en-US" sz="30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국문 주주간계약서 검토 </a:t>
            </a:r>
            <a:r>
              <a:rPr lang="en-US" altLang="ko-KR" sz="30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Guideline</a:t>
            </a:r>
            <a:endParaRPr lang="ko-KR" altLang="en-US" sz="3000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4" name="내용 개체 틀 3"/>
          <p:cNvSpPr txBox="1">
            <a:spLocks/>
          </p:cNvSpPr>
          <p:nvPr/>
        </p:nvSpPr>
        <p:spPr>
          <a:xfrm>
            <a:off x="1208089" y="6149305"/>
            <a:ext cx="3744912" cy="30777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400" b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법무실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</a:rPr>
              <a:t>｜ 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</a:rPr>
              <a:t>2025. </a:t>
            </a:r>
            <a:r>
              <a:rPr lang="en-US" altLang="ko-KR" sz="1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4</a:t>
            </a:r>
            <a:r>
              <a:rPr lang="en-US" altLang="ko-KR" sz="1400" b="0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00164" y="2822404"/>
            <a:ext cx="736958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400" b="0" dirty="0" smtClean="0">
                <a:solidFill>
                  <a:schemeClr val="tx1"/>
                </a:solidFill>
                <a:latin typeface="+mn-ea"/>
                <a:ea typeface="+mn-ea"/>
              </a:rPr>
              <a:t>가이드라인 </a:t>
            </a:r>
            <a:r>
              <a:rPr lang="ko-KR" altLang="en-US" sz="1400" b="0" dirty="0" err="1" smtClean="0">
                <a:solidFill>
                  <a:schemeClr val="tx1"/>
                </a:solidFill>
                <a:latin typeface="+mn-ea"/>
                <a:ea typeface="+mn-ea"/>
              </a:rPr>
              <a:t>전제사항</a:t>
            </a:r>
            <a:endParaRPr lang="en-US" altLang="ko-KR" sz="1400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400" b="0" dirty="0" smtClean="0">
                <a:solidFill>
                  <a:schemeClr val="tx1"/>
                </a:solidFill>
                <a:latin typeface="+mn-ea"/>
                <a:ea typeface="+mn-ea"/>
              </a:rPr>
              <a:t>목차</a:t>
            </a:r>
            <a:r>
              <a:rPr lang="en-US" altLang="ko-KR" sz="1400" b="0" dirty="0" smtClean="0">
                <a:solidFill>
                  <a:schemeClr val="tx1"/>
                </a:solidFill>
                <a:latin typeface="+mn-ea"/>
                <a:ea typeface="+mn-ea"/>
              </a:rPr>
              <a:t>(I~VII)</a:t>
            </a:r>
          </a:p>
        </p:txBody>
      </p:sp>
    </p:spTree>
    <p:extLst>
      <p:ext uri="{BB962C8B-B14F-4D97-AF65-F5344CB8AC3E}">
        <p14:creationId xmlns:p14="http://schemas.microsoft.com/office/powerpoint/2010/main" val="81066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36780" y="680380"/>
            <a:ext cx="455601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*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가이드라인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전제사항</a:t>
            </a: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lvl="0" latinLnBrk="0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I.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당사자 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등의 표시 </a:t>
            </a: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II.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정의</a:t>
            </a: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solidFill>
                <a:schemeClr val="tx1"/>
              </a:solidFill>
              <a:latin typeface="+mn-ea"/>
              <a:ea typeface="+mn-ea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 1.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적격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 IPO</a:t>
            </a: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 2. </a:t>
            </a:r>
            <a:r>
              <a:rPr lang="ko-KR" altLang="en-US" b="0" dirty="0" err="1" smtClean="0">
                <a:solidFill>
                  <a:schemeClr val="tx1"/>
                </a:solidFill>
                <a:latin typeface="+mn-ea"/>
                <a:ea typeface="+mn-ea"/>
              </a:rPr>
              <a:t>콜옵션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IRR</a:t>
            </a:r>
          </a:p>
          <a:p>
            <a:pPr marL="447675" lvl="1" indent="-228600" latinLnBrk="0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447675" lvl="1" indent="-228600" latinLnBrk="0">
              <a:spcBef>
                <a:spcPts val="0"/>
              </a:spcBef>
              <a:spcAft>
                <a:spcPts val="0"/>
              </a:spcAft>
              <a:buFont typeface="+mj-lt"/>
              <a:buAutoNum type="romanUcPeriod"/>
              <a:defRPr/>
            </a:pP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0" lvl="1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III.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회사의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지배구조</a:t>
            </a: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0" lvl="1" latinLnBrk="0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lvl="1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 1.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주주총회</a:t>
            </a:r>
            <a:endParaRPr lang="en-US" altLang="ko-KR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lvl="1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 2.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이사회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     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-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이사회 지명 등</a:t>
            </a:r>
            <a:endParaRPr lang="en-US" altLang="ko-KR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     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-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이사회 절차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     -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임원배상책임보험 </a:t>
            </a:r>
            <a:endParaRPr lang="en-US" altLang="ko-KR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 3. </a:t>
            </a:r>
            <a:r>
              <a:rPr lang="ko-KR" altLang="en-US" b="0" dirty="0" err="1" smtClean="0">
                <a:solidFill>
                  <a:schemeClr val="tx1"/>
                </a:solidFill>
                <a:latin typeface="+mn-ea"/>
                <a:ea typeface="+mn-ea"/>
              </a:rPr>
              <a:t>동의사항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 4.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감사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s-MX" altLang="ko-KR" dirty="0" smtClean="0">
                <a:solidFill>
                  <a:schemeClr val="tx1"/>
                </a:solidFill>
                <a:latin typeface="+mn-ea"/>
                <a:ea typeface="+mn-ea"/>
              </a:rPr>
              <a:t>IV. IPO</a:t>
            </a: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endParaRPr lang="es-MX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 1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. IPO</a:t>
            </a: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 2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적격 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IPO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간주</a:t>
            </a: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 3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소수주주 주도 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IPO</a:t>
            </a: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 4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lang="ko-KR" altLang="en-US" b="0" dirty="0" err="1">
                <a:solidFill>
                  <a:schemeClr val="tx1"/>
                </a:solidFill>
                <a:latin typeface="+mn-ea"/>
                <a:ea typeface="+mn-ea"/>
              </a:rPr>
              <a:t>콜옵션</a:t>
            </a:r>
            <a:endParaRPr lang="ko-KR" altLang="en-US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 5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소수주주의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동반매각요구권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59628" y="1222714"/>
            <a:ext cx="414741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V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주식의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양도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>
                <a:solidFill>
                  <a:schemeClr val="tx1"/>
                </a:solidFill>
                <a:latin typeface="+mn-ea"/>
              </a:rPr>
              <a:t> 1. </a:t>
            </a:r>
            <a:r>
              <a:rPr lang="ko-KR" altLang="en-US" b="0" dirty="0">
                <a:solidFill>
                  <a:schemeClr val="tx1"/>
                </a:solidFill>
                <a:latin typeface="+mn-ea"/>
              </a:rPr>
              <a:t>매도제한기간</a:t>
            </a: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>
                <a:solidFill>
                  <a:schemeClr val="tx1"/>
                </a:solidFill>
                <a:latin typeface="+mn-ea"/>
              </a:rPr>
              <a:t> 2. </a:t>
            </a:r>
            <a:r>
              <a:rPr lang="ko-KR" altLang="en-US" b="0" dirty="0" err="1">
                <a:solidFill>
                  <a:schemeClr val="tx1"/>
                </a:solidFill>
                <a:latin typeface="+mn-ea"/>
              </a:rPr>
              <a:t>우선매수권</a:t>
            </a:r>
            <a:r>
              <a:rPr lang="en-US" altLang="ko-KR" b="0" dirty="0">
                <a:solidFill>
                  <a:schemeClr val="tx1"/>
                </a:solidFill>
                <a:latin typeface="+mn-ea"/>
              </a:rPr>
              <a:t>(ROFR)</a:t>
            </a: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>
                <a:solidFill>
                  <a:schemeClr val="tx1"/>
                </a:solidFill>
                <a:latin typeface="+mn-ea"/>
              </a:rPr>
              <a:t> 3.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동반매도청구권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b="0" dirty="0">
                <a:solidFill>
                  <a:schemeClr val="tx1"/>
                </a:solidFill>
                <a:latin typeface="+mn-ea"/>
              </a:rPr>
              <a:t>Tag-Along Right)</a:t>
            </a: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 4.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동반매각요구권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(Drag-Along </a:t>
            </a:r>
            <a:r>
              <a:rPr lang="en-US" altLang="ko-KR" b="0" dirty="0">
                <a:solidFill>
                  <a:schemeClr val="tx1"/>
                </a:solidFill>
                <a:latin typeface="+mn-ea"/>
              </a:rPr>
              <a:t>Right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)</a:t>
            </a:r>
          </a:p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 5. IPO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전 </a:t>
            </a:r>
            <a:r>
              <a:rPr lang="ko-KR" altLang="en-US" b="0" dirty="0" err="1" smtClean="0">
                <a:solidFill>
                  <a:schemeClr val="tx1"/>
                </a:solidFill>
                <a:latin typeface="+mn-ea"/>
              </a:rPr>
              <a:t>콜옵션</a:t>
            </a:r>
            <a:endParaRPr lang="es-MX" altLang="ko-KR" b="0" dirty="0" smtClean="0">
              <a:solidFill>
                <a:schemeClr val="tx1"/>
              </a:solidFill>
              <a:latin typeface="+mn-ea"/>
            </a:endParaRPr>
          </a:p>
          <a:p>
            <a:pPr marL="0" lvl="1" latinLnBrk="0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0" lvl="1" latinLnBrk="0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0" lvl="1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VI.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확약</a:t>
            </a: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0" lvl="1" latinLnBrk="0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0" lvl="1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 1.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경업 금지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;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유인 금지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; </a:t>
            </a:r>
            <a:r>
              <a:rPr lang="ko-KR" altLang="en-US" b="0" dirty="0" err="1" smtClean="0">
                <a:solidFill>
                  <a:schemeClr val="tx1"/>
                </a:solidFill>
                <a:latin typeface="+mn-ea"/>
                <a:ea typeface="+mn-ea"/>
              </a:rPr>
              <a:t>자산유출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 금지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0" lvl="1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정관 개정</a:t>
            </a:r>
            <a:endParaRPr lang="en-US" altLang="ko-KR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lvl="1" latinLnBrk="0"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0" lvl="1" latinLnBrk="0"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0" lvl="1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VII.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기타</a:t>
            </a: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0" lvl="1" latinLnBrk="0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0" lvl="1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 1.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교착상태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(Deadlock)</a:t>
            </a:r>
          </a:p>
          <a:p>
            <a:pPr marL="0" lvl="1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분쟁 해결</a:t>
            </a:r>
            <a:endParaRPr lang="en-US" altLang="ko-KR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4851035" y="1319226"/>
            <a:ext cx="0" cy="48555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ko-KR" altLang="en-US" dirty="0" smtClean="0">
                <a:latin typeface="+mn-ea"/>
              </a:rPr>
              <a:t>목차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996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ko-KR" altLang="en-US" dirty="0" smtClean="0">
                <a:latin typeface="+mn-ea"/>
              </a:rPr>
              <a:t>가이드라인 </a:t>
            </a:r>
            <a:r>
              <a:rPr lang="ko-KR" altLang="en-US" dirty="0" err="1" smtClean="0">
                <a:latin typeface="+mn-ea"/>
              </a:rPr>
              <a:t>전제사항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20561" y="791310"/>
            <a:ext cx="918844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lvl="0" indent="-268288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표준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주주간계약서의</a:t>
            </a:r>
            <a:r>
              <a:rPr lang="ko-KR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 내용과 이하 가이드라인상의 설명은 다음과 같은 사항을 전제로 합니다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ko-KR" altLang="ko-KR" sz="14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8288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ko-KR" altLang="ko-KR" b="0" dirty="0" err="1" smtClean="0">
                <a:solidFill>
                  <a:schemeClr val="tx1"/>
                </a:solidFill>
                <a:latin typeface="+mn-ea"/>
              </a:rPr>
              <a:t>대상회사가</a:t>
            </a:r>
            <a:r>
              <a:rPr lang="ko-KR" altLang="ko-KR" b="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ko-KR" b="0" dirty="0">
                <a:solidFill>
                  <a:schemeClr val="tx1"/>
                </a:solidFill>
                <a:latin typeface="+mn-ea"/>
              </a:rPr>
              <a:t>국내 비상장회사이고</a:t>
            </a:r>
            <a:r>
              <a:rPr lang="en-US" altLang="ko-KR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ko-KR" b="0" dirty="0">
                <a:solidFill>
                  <a:schemeClr val="tx1"/>
                </a:solidFill>
                <a:latin typeface="+mn-ea"/>
              </a:rPr>
              <a:t>준거법이 </a:t>
            </a:r>
            <a:r>
              <a:rPr lang="ko-KR" altLang="ko-KR" b="0" dirty="0" err="1">
                <a:solidFill>
                  <a:schemeClr val="tx1"/>
                </a:solidFill>
                <a:latin typeface="+mn-ea"/>
              </a:rPr>
              <a:t>한국법임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627063" lvl="1" indent="-268288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본 가이드라인과 함께 제공된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b="0" dirty="0" err="1" smtClean="0">
                <a:solidFill>
                  <a:schemeClr val="tx1"/>
                </a:solidFill>
                <a:latin typeface="+mn-ea"/>
              </a:rPr>
              <a:t>주주간계약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 양식은 각 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pro-majority, pro-minority, 50:50 </a:t>
            </a:r>
            <a:r>
              <a:rPr lang="ko-KR" altLang="en-US" b="0" dirty="0" err="1" smtClean="0">
                <a:solidFill>
                  <a:schemeClr val="tx1"/>
                </a:solidFill>
                <a:latin typeface="+mn-ea"/>
              </a:rPr>
              <a:t>버전임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893763" lvl="2" indent="-266700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893763" algn="l"/>
              </a:tabLst>
            </a:pP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[Pro-majority]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소수주주가 대상회사의 지배주주로부터 소수 지분에 해당하는 구주를 매수하면서 주주간계약을 체결한 상황을 상정함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본 가이드라인의 내용은 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pro-majority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양식을 기반으로 하되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소수주주 입장에서도 활용할 수 있도록 소수주주가 갖는 권리를 극대화하여 통상 부여되는 수준 이상의 권리를 갖는 것으로 규정함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).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따라서 당사자는 각 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b="0" u="sng" dirty="0" smtClean="0">
                <a:solidFill>
                  <a:schemeClr val="tx1"/>
                </a:solidFill>
                <a:latin typeface="+mn-ea"/>
              </a:rPr>
              <a:t>지배주주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(SPA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상 매도인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)’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와 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b="0" u="sng" dirty="0" smtClean="0">
                <a:solidFill>
                  <a:schemeClr val="tx1"/>
                </a:solidFill>
                <a:latin typeface="+mn-ea"/>
              </a:rPr>
              <a:t>소수주주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(SPA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상 매수인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)’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로 칭함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893763" lvl="2" indent="-266700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893763" algn="l"/>
              </a:tabLst>
            </a:pP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[50:50]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투자자가 대상회사의 기존주주로부터 지분 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50%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에 해당하는 구주를 매수하면서 주주간계약을 체결한 상황을 상정함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기존주주와 투자자가 합작회사를 설립한 경우에도 적용 가능함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).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따라서 당사자는 각 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b="0" u="sng" dirty="0" smtClean="0">
                <a:solidFill>
                  <a:schemeClr val="tx1"/>
                </a:solidFill>
                <a:latin typeface="+mn-ea"/>
              </a:rPr>
              <a:t>기존주주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(SPA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상 매도인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)’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와 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b="0" u="sng" dirty="0" smtClean="0">
                <a:solidFill>
                  <a:schemeClr val="tx1"/>
                </a:solidFill>
                <a:latin typeface="+mn-ea"/>
              </a:rPr>
              <a:t>투자자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(SPA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상 매수인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)’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로 칭함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본 가이드라인에서 </a:t>
            </a:r>
            <a:r>
              <a:rPr lang="ko-KR" altLang="en-US" b="0" dirty="0" err="1" smtClean="0">
                <a:solidFill>
                  <a:schemeClr val="tx1"/>
                </a:solidFill>
                <a:latin typeface="+mn-ea"/>
              </a:rPr>
              <a:t>대상회사가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 상장회사인 경우의 특유의 고려사항은 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’</a:t>
            </a:r>
            <a:r>
              <a:rPr lang="en-US" altLang="ko-KR" u="sng" dirty="0" smtClean="0">
                <a:solidFill>
                  <a:schemeClr val="tx1"/>
                </a:solidFill>
                <a:latin typeface="+mn-ea"/>
              </a:rPr>
              <a:t>[50:50]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’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라는 표제 하에 별도 기재함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. </a:t>
            </a:r>
          </a:p>
          <a:p>
            <a:pPr marL="893763" lvl="2" indent="-266700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893763" algn="l"/>
              </a:tabLst>
            </a:pP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[Pro-minority]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투자자가 대상회사로부터 신주를 인수하면서 </a:t>
            </a:r>
            <a:r>
              <a:rPr lang="ko-KR" altLang="en-US" b="0" dirty="0" err="1" smtClean="0">
                <a:solidFill>
                  <a:schemeClr val="tx1"/>
                </a:solidFill>
                <a:latin typeface="+mn-ea"/>
              </a:rPr>
              <a:t>대상회사와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 대상회사의 </a:t>
            </a:r>
            <a:r>
              <a:rPr lang="ko-KR" altLang="en-US" b="0" dirty="0" err="1" smtClean="0">
                <a:solidFill>
                  <a:schemeClr val="tx1"/>
                </a:solidFill>
                <a:latin typeface="+mn-ea"/>
              </a:rPr>
              <a:t>기존주주인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 이해관계인과 주주간계약을 체결한 상황을 상정함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따라서 당사자는 각 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b="0" u="sng" dirty="0" smtClean="0">
                <a:solidFill>
                  <a:schemeClr val="tx1"/>
                </a:solidFill>
                <a:latin typeface="+mn-ea"/>
              </a:rPr>
              <a:t>투자자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’, ‘</a:t>
            </a:r>
            <a:r>
              <a:rPr lang="en-US" altLang="ko-KR" b="0" u="sng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b="0" u="sng" dirty="0" smtClean="0">
                <a:solidFill>
                  <a:schemeClr val="tx1"/>
                </a:solidFill>
                <a:latin typeface="+mn-ea"/>
              </a:rPr>
              <a:t>대상</a:t>
            </a:r>
            <a:r>
              <a:rPr lang="en-US" altLang="ko-KR" b="0" u="sng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b="0" u="sng" dirty="0" smtClean="0">
                <a:solidFill>
                  <a:schemeClr val="tx1"/>
                </a:solidFill>
                <a:latin typeface="+mn-ea"/>
              </a:rPr>
              <a:t>회사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’, ‘</a:t>
            </a:r>
            <a:r>
              <a:rPr lang="ko-KR" altLang="en-US" b="0" u="sng" dirty="0" smtClean="0">
                <a:solidFill>
                  <a:schemeClr val="tx1"/>
                </a:solidFill>
                <a:latin typeface="+mn-ea"/>
              </a:rPr>
              <a:t>이해관계인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’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으로 칭함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본 가이드라인에서 소수주주에게 유리한 사항은 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‘</a:t>
            </a:r>
            <a:r>
              <a:rPr lang="en-US" altLang="ko-KR" u="sng" dirty="0" smtClean="0">
                <a:solidFill>
                  <a:schemeClr val="tx1"/>
                </a:solidFill>
                <a:latin typeface="+mn-ea"/>
              </a:rPr>
              <a:t>[Pro-minority]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’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라는 표제 하에 별도 기재함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627063" lvl="1" indent="-268288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본 가이드라인에서 </a:t>
            </a:r>
            <a:r>
              <a:rPr lang="ko-KR" altLang="en-US" b="0" dirty="0" err="1" smtClean="0">
                <a:solidFill>
                  <a:schemeClr val="tx1"/>
                </a:solidFill>
                <a:latin typeface="+mn-ea"/>
              </a:rPr>
              <a:t>대상회사가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 상장회사인 경우의 특유의 고려사항은 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‘</a:t>
            </a:r>
            <a:r>
              <a:rPr lang="en-US" altLang="ko-KR" u="sng" dirty="0" smtClean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u="sng" dirty="0" smtClean="0">
                <a:solidFill>
                  <a:schemeClr val="tx1"/>
                </a:solidFill>
                <a:latin typeface="+mn-ea"/>
              </a:rPr>
              <a:t>상장회사</a:t>
            </a:r>
            <a:r>
              <a:rPr lang="en-US" altLang="ko-KR" u="sng" dirty="0" smtClean="0">
                <a:solidFill>
                  <a:schemeClr val="tx1"/>
                </a:solidFill>
                <a:latin typeface="+mn-ea"/>
              </a:rPr>
              <a:t>]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’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라는 표제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하에 별도 기재함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그 외의 가이드라인상의 내용은 </a:t>
            </a:r>
            <a:r>
              <a:rPr lang="ko-KR" altLang="en-US" b="0" dirty="0" err="1" smtClean="0">
                <a:solidFill>
                  <a:schemeClr val="tx1"/>
                </a:solidFill>
                <a:latin typeface="+mn-ea"/>
              </a:rPr>
              <a:t>대상회사가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 상장회사인 경우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(IPO, Q-IPO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등과 같이 그 성격상 해당사항 없는 것 제외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에도 동일하게 고려가 가능함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. </a:t>
            </a:r>
          </a:p>
          <a:p>
            <a:pPr marL="627063" lvl="1" indent="-268288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주주간계약은 주식 양수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인수에 따라 </a:t>
            </a:r>
            <a:r>
              <a:rPr lang="ko-KR" altLang="en-US" b="0" dirty="0" err="1" smtClean="0">
                <a:solidFill>
                  <a:schemeClr val="tx1"/>
                </a:solidFill>
                <a:latin typeface="+mn-ea"/>
              </a:rPr>
              <a:t>대상회사가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 발행한 주식의 주주가 되는 시점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통상적으로 주식 매매와 관련한 거래가 종결되는 시점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</a:rPr>
              <a:t>에 효력이 발생하는 것으로 봄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627063" lvl="1" indent="-268288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US" altLang="ko-KR" b="0" dirty="0" smtClean="0">
              <a:solidFill>
                <a:schemeClr val="tx1"/>
              </a:solidFill>
              <a:latin typeface="+mn-ea"/>
            </a:endParaRPr>
          </a:p>
          <a:p>
            <a:pPr marL="268288" indent="-268288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ko-KR" sz="1400" dirty="0">
                <a:solidFill>
                  <a:schemeClr val="tx1"/>
                </a:solidFill>
                <a:latin typeface="+mn-ea"/>
                <a:ea typeface="+mn-ea"/>
              </a:rPr>
              <a:t>표준 주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주간</a:t>
            </a:r>
            <a:r>
              <a:rPr lang="ko-KR" altLang="ko-KR" sz="1400" dirty="0">
                <a:solidFill>
                  <a:schemeClr val="tx1"/>
                </a:solidFill>
                <a:latin typeface="+mn-ea"/>
                <a:ea typeface="+mn-ea"/>
              </a:rPr>
              <a:t>계약서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별첨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ko-KR" altLang="ko-KR" sz="1400" dirty="0">
                <a:solidFill>
                  <a:schemeClr val="tx1"/>
                </a:solidFill>
                <a:latin typeface="+mn-ea"/>
                <a:ea typeface="+mn-ea"/>
              </a:rPr>
              <a:t>상의 문구는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 ‘</a:t>
            </a:r>
            <a:r>
              <a:rPr lang="ko-KR" altLang="ko-KR" sz="1400" u="sng" dirty="0">
                <a:solidFill>
                  <a:schemeClr val="tx1"/>
                </a:solidFill>
                <a:latin typeface="+mn-ea"/>
                <a:ea typeface="+mn-ea"/>
              </a:rPr>
              <a:t>표준</a:t>
            </a:r>
            <a:r>
              <a:rPr lang="en-US" altLang="ko-KR" sz="1400" u="sng" dirty="0">
                <a:solidFill>
                  <a:schemeClr val="tx1"/>
                </a:solidFill>
                <a:latin typeface="+mn-ea"/>
                <a:ea typeface="+mn-ea"/>
              </a:rPr>
              <a:t> SHA </a:t>
            </a:r>
            <a:r>
              <a:rPr lang="ko-KR" altLang="ko-KR" sz="1400" u="sng" dirty="0">
                <a:solidFill>
                  <a:schemeClr val="tx1"/>
                </a:solidFill>
                <a:latin typeface="+mn-ea"/>
                <a:ea typeface="+mn-ea"/>
              </a:rPr>
              <a:t>문구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’ </a:t>
            </a:r>
            <a:r>
              <a:rPr lang="ko-KR" altLang="ko-KR" sz="1400" dirty="0">
                <a:solidFill>
                  <a:schemeClr val="tx1"/>
                </a:solidFill>
                <a:latin typeface="+mn-ea"/>
                <a:ea typeface="+mn-ea"/>
              </a:rPr>
              <a:t>란에 기재하였고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b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</a:b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Checklist </a:t>
            </a:r>
            <a:r>
              <a:rPr lang="ko-KR" altLang="ko-KR" sz="1400" dirty="0">
                <a:solidFill>
                  <a:schemeClr val="tx1"/>
                </a:solidFill>
                <a:latin typeface="+mn-ea"/>
                <a:ea typeface="+mn-ea"/>
              </a:rPr>
              <a:t>란에 기재되어 있는 내용에 비추어 사용할 수 있는 문구는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 ‘</a:t>
            </a:r>
            <a:r>
              <a:rPr lang="ko-KR" altLang="ko-KR" sz="1400" u="sng" dirty="0">
                <a:solidFill>
                  <a:schemeClr val="tx1"/>
                </a:solidFill>
                <a:latin typeface="+mn-ea"/>
                <a:ea typeface="+mn-ea"/>
              </a:rPr>
              <a:t>추가</a:t>
            </a:r>
            <a:r>
              <a:rPr lang="en-US" altLang="ko-KR" sz="1400" u="sng" dirty="0">
                <a:solidFill>
                  <a:schemeClr val="tx1"/>
                </a:solidFill>
                <a:latin typeface="+mn-ea"/>
                <a:ea typeface="+mn-ea"/>
              </a:rPr>
              <a:t> SHA </a:t>
            </a:r>
            <a:r>
              <a:rPr lang="ko-KR" altLang="ko-KR" sz="1400" u="sng" dirty="0">
                <a:solidFill>
                  <a:schemeClr val="tx1"/>
                </a:solidFill>
                <a:latin typeface="+mn-ea"/>
                <a:ea typeface="+mn-ea"/>
              </a:rPr>
              <a:t>문구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’ </a:t>
            </a:r>
            <a:r>
              <a:rPr lang="ko-KR" altLang="ko-KR" sz="1400" dirty="0">
                <a:solidFill>
                  <a:schemeClr val="tx1"/>
                </a:solidFill>
                <a:latin typeface="+mn-ea"/>
                <a:ea typeface="+mn-ea"/>
              </a:rPr>
              <a:t>란에 </a:t>
            </a:r>
            <a:r>
              <a:rPr lang="ko-KR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기재하였습니다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834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ko-KR" altLang="en-US" dirty="0" smtClean="0">
                <a:latin typeface="+mn-ea"/>
              </a:rPr>
              <a:t>가이드라인 </a:t>
            </a:r>
            <a:r>
              <a:rPr lang="ko-KR" altLang="en-US" dirty="0" err="1" smtClean="0">
                <a:latin typeface="+mn-ea"/>
              </a:rPr>
              <a:t>전제사항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20561" y="791310"/>
            <a:ext cx="9188449" cy="2794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[50:50</a:t>
            </a:r>
            <a:r>
              <a:rPr lang="en-US" altLang="ko-KR" sz="1400" smtClean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r>
              <a:rPr lang="ko-KR" altLang="en-US" sz="1400" smtClean="0">
                <a:solidFill>
                  <a:schemeClr val="tx1"/>
                </a:solidFill>
                <a:latin typeface="+mn-ea"/>
                <a:ea typeface="+mn-ea"/>
              </a:rPr>
              <a:t> 대상회사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연결 관련 이슈</a:t>
            </a: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627063" lvl="1" indent="-268288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지분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구조가 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50:50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인 경우 일방 </a:t>
            </a:r>
            <a:r>
              <a:rPr lang="ko-KR" altLang="en-US" b="0">
                <a:solidFill>
                  <a:schemeClr val="tx1"/>
                </a:solidFill>
                <a:latin typeface="+mn-ea"/>
                <a:ea typeface="+mn-ea"/>
              </a:rPr>
              <a:t>주주가 </a:t>
            </a:r>
            <a:r>
              <a:rPr lang="ko-KR" altLang="en-US" b="0" smtClean="0">
                <a:solidFill>
                  <a:schemeClr val="tx1"/>
                </a:solidFill>
                <a:latin typeface="+mn-ea"/>
                <a:ea typeface="+mn-ea"/>
              </a:rPr>
              <a:t>대상회사에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대한 지배력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(control)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을 가지고 회계상 연결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(consolidate)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할 수 있는지 여부가 </a:t>
            </a:r>
            <a:r>
              <a:rPr lang="ko-KR" altLang="en-US" b="0" dirty="0" err="1">
                <a:solidFill>
                  <a:schemeClr val="tx1"/>
                </a:solidFill>
                <a:latin typeface="+mn-ea"/>
                <a:ea typeface="+mn-ea"/>
              </a:rPr>
              <a:t>불분명하므로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, LG</a:t>
            </a:r>
            <a:r>
              <a:rPr lang="ko-KR" altLang="en-US" b="0" err="1">
                <a:solidFill>
                  <a:schemeClr val="tx1"/>
                </a:solidFill>
                <a:latin typeface="+mn-ea"/>
                <a:ea typeface="+mn-ea"/>
              </a:rPr>
              <a:t>생활건강이</a:t>
            </a:r>
            <a:r>
              <a:rPr lang="ko-KR" altLang="en-US" b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b="0" smtClean="0">
                <a:solidFill>
                  <a:schemeClr val="tx1"/>
                </a:solidFill>
                <a:latin typeface="+mn-ea"/>
                <a:ea typeface="+mn-ea"/>
              </a:rPr>
              <a:t>대상회사를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연결할 수 있기 위해서는 어떤 요건이 필요한지 사전에 검토하여 </a:t>
            </a:r>
            <a:r>
              <a:rPr lang="ko-KR" altLang="en-US" b="0" dirty="0" err="1">
                <a:solidFill>
                  <a:schemeClr val="tx1"/>
                </a:solidFill>
                <a:latin typeface="+mn-ea"/>
                <a:ea typeface="+mn-ea"/>
              </a:rPr>
              <a:t>주주간계약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 협상 시 반영해야 함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</a:p>
          <a:p>
            <a:pPr marL="627063" lvl="1" indent="-268288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K-IFRS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에 따르면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b="0">
                <a:solidFill>
                  <a:schemeClr val="tx1"/>
                </a:solidFill>
                <a:latin typeface="+mn-ea"/>
                <a:ea typeface="+mn-ea"/>
              </a:rPr>
              <a:t>투자자가 </a:t>
            </a:r>
            <a:r>
              <a:rPr lang="ko-KR" altLang="en-US" b="0" smtClean="0">
                <a:solidFill>
                  <a:schemeClr val="tx1"/>
                </a:solidFill>
                <a:latin typeface="+mn-ea"/>
                <a:ea typeface="+mn-ea"/>
              </a:rPr>
              <a:t>대상회사에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대한 지배력을 </a:t>
            </a:r>
            <a:r>
              <a:rPr lang="ko-KR" altLang="en-US" b="0">
                <a:solidFill>
                  <a:schemeClr val="tx1"/>
                </a:solidFill>
                <a:latin typeface="+mn-ea"/>
                <a:ea typeface="+mn-ea"/>
              </a:rPr>
              <a:t>보유하려면 </a:t>
            </a:r>
            <a:r>
              <a:rPr lang="ko-KR" altLang="en-US" b="0" smtClean="0">
                <a:solidFill>
                  <a:schemeClr val="tx1"/>
                </a:solidFill>
                <a:latin typeface="+mn-ea"/>
                <a:ea typeface="+mn-ea"/>
              </a:rPr>
              <a:t>대상회사를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회계상 연결해야 되는데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, ‘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지배력 보유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’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여부는 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en-US" altLang="ko-KR" b="0" dirty="0" err="1">
                <a:solidFill>
                  <a:schemeClr val="tx1"/>
                </a:solidFill>
                <a:latin typeface="+mn-ea"/>
                <a:ea typeface="+mn-ea"/>
              </a:rPr>
              <a:t>i</a:t>
            </a:r>
            <a:r>
              <a:rPr lang="en-US" altLang="ko-KR" b="0">
                <a:solidFill>
                  <a:schemeClr val="tx1"/>
                </a:solidFill>
                <a:latin typeface="+mn-ea"/>
                <a:ea typeface="+mn-ea"/>
              </a:rPr>
              <a:t>) </a:t>
            </a:r>
            <a:r>
              <a:rPr lang="ko-KR" altLang="en-US" b="0" smtClean="0">
                <a:solidFill>
                  <a:schemeClr val="tx1"/>
                </a:solidFill>
                <a:latin typeface="+mn-ea"/>
                <a:ea typeface="+mn-ea"/>
              </a:rPr>
              <a:t>대상회사에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대한 영향력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(power), (ii</a:t>
            </a:r>
            <a:r>
              <a:rPr lang="en-US" altLang="ko-KR" b="0">
                <a:solidFill>
                  <a:schemeClr val="tx1"/>
                </a:solidFill>
                <a:latin typeface="+mn-ea"/>
                <a:ea typeface="+mn-ea"/>
              </a:rPr>
              <a:t>) </a:t>
            </a:r>
            <a:r>
              <a:rPr lang="ko-KR" altLang="en-US" b="0" smtClean="0">
                <a:solidFill>
                  <a:schemeClr val="tx1"/>
                </a:solidFill>
                <a:latin typeface="+mn-ea"/>
                <a:ea typeface="+mn-ea"/>
              </a:rPr>
              <a:t>대상회사로부터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비롯되는 </a:t>
            </a:r>
            <a:r>
              <a:rPr lang="ko-KR" altLang="en-US" b="0" dirty="0" err="1">
                <a:solidFill>
                  <a:schemeClr val="tx1"/>
                </a:solidFill>
                <a:latin typeface="+mn-ea"/>
                <a:ea typeface="+mn-ea"/>
              </a:rPr>
              <a:t>변동이익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(variable return)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에 대한 노출 또는 권리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, (iii)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본인으로서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(as principal)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영향력을 행사할 수 있는지 여부 등을 바탕으로 판단함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이 중 관건이 되는 사항은 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en-US" altLang="ko-KR" b="0" dirty="0" err="1">
                <a:solidFill>
                  <a:schemeClr val="tx1"/>
                </a:solidFill>
                <a:latin typeface="+mn-ea"/>
                <a:ea typeface="+mn-ea"/>
              </a:rPr>
              <a:t>i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로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이에는 </a:t>
            </a:r>
            <a:r>
              <a:rPr lang="ko-KR" altLang="en-US" b="0" dirty="0" err="1">
                <a:solidFill>
                  <a:schemeClr val="tx1"/>
                </a:solidFill>
                <a:latin typeface="+mn-ea"/>
                <a:ea typeface="+mn-ea"/>
              </a:rPr>
              <a:t>의결권뿐만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 아니라 다른 투자자 등과의 계약상 약정에서 발생하는 권리를 모두 포함함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</a:p>
          <a:p>
            <a:pPr marL="627063" lvl="1" indent="-268288" latinLnBrk="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지분 구조가 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50:50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인 상황에서는 결국 주주간계약상 누가 이사 선임권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주요 사항에 대한 </a:t>
            </a:r>
            <a:r>
              <a:rPr lang="ko-KR" altLang="en-US" b="0" dirty="0" err="1">
                <a:solidFill>
                  <a:schemeClr val="tx1"/>
                </a:solidFill>
                <a:latin typeface="+mn-ea"/>
                <a:ea typeface="+mn-ea"/>
              </a:rPr>
              <a:t>동의권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ko-KR" altLang="en-US" b="0" dirty="0" err="1">
                <a:solidFill>
                  <a:schemeClr val="tx1"/>
                </a:solidFill>
                <a:latin typeface="+mn-ea"/>
                <a:ea typeface="+mn-ea"/>
              </a:rPr>
              <a:t>반대권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 등을 갖는지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교착상태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(Deadlock)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가 발동된 경우 어떠한 권한을 행사할 수 있는지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예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: LG</a:t>
            </a:r>
            <a:r>
              <a:rPr lang="ko-KR" altLang="en-US" b="0" dirty="0" err="1">
                <a:solidFill>
                  <a:schemeClr val="tx1"/>
                </a:solidFill>
                <a:latin typeface="+mn-ea"/>
                <a:ea typeface="+mn-ea"/>
              </a:rPr>
              <a:t>생활건강이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 선임한 대표이사가 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casting vote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를 갖는 경우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, LG</a:t>
            </a:r>
            <a:r>
              <a:rPr lang="ko-KR" altLang="en-US" b="0" dirty="0" err="1">
                <a:solidFill>
                  <a:schemeClr val="tx1"/>
                </a:solidFill>
                <a:latin typeface="+mn-ea"/>
                <a:ea typeface="+mn-ea"/>
              </a:rPr>
              <a:t>생활건강이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 상대방 소유 지분에 대해 </a:t>
            </a:r>
            <a:r>
              <a:rPr lang="ko-KR" altLang="en-US" b="0" dirty="0" err="1">
                <a:solidFill>
                  <a:schemeClr val="tx1"/>
                </a:solidFill>
                <a:latin typeface="+mn-ea"/>
                <a:ea typeface="+mn-ea"/>
              </a:rPr>
              <a:t>콜옵션을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 행사할 권한이 있는 경우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)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등을 바탕으로 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‘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지배력 보유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’ 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여부를 판단하게 됨</a:t>
            </a:r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r>
              <a:rPr lang="ko-KR" altLang="en-US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en-US" altLang="ko-KR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9030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>
                <a:latin typeface="+mn-ea"/>
              </a:rPr>
              <a:t>I. </a:t>
            </a:r>
            <a:r>
              <a:rPr lang="ko-KR" altLang="en-US" dirty="0">
                <a:latin typeface="+mn-ea"/>
              </a:rPr>
              <a:t>당사자 등의 </a:t>
            </a:r>
            <a:r>
              <a:rPr lang="ko-KR" altLang="en-US" dirty="0" smtClean="0">
                <a:latin typeface="+mn-ea"/>
              </a:rPr>
              <a:t>표시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404355"/>
              </p:ext>
            </p:extLst>
          </p:nvPr>
        </p:nvGraphicFramePr>
        <p:xfrm>
          <a:off x="455696" y="741181"/>
          <a:ext cx="9188450" cy="5936985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3896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계약명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계약체결일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당사자명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당사자 특정 정보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계약 체결 배경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전문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등을 규정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46459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대상회사가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주주간계약에 따라 직접적인 의무를 부담하게 하고자 하는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경우 대상회사를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당사자로 추가할 수 있음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[50:50]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합작투자계약서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(Joint Venture Agreement)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 주주간계약의 내용을 담는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합작투자계약 체결 당시에는 합작회사가 아직 설립되지 아니한 상태인 것이 일반적이므로 합작회사는 당사자로 참여하지 못하나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합작투자계약에서 합작회사가 설립된 직후 합작투자계약의 당사자로 참여하도록 하는 경우도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상장회사</a:t>
                      </a: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대상회사가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상장회사인 경우에도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주주간계약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체결이 원칙적으로 불가능한 것은 아니지만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관련 법령 및 거래소 규정에 따라 주주간계약의 주요 내용에 대한 공시가 필요할 수 있으므로 사전에 주주간계약과 관련된 공시 의무에 대한 점검이 필요함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기존주주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 투자자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매수인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사이에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주식매매계약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과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주주간계약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체결한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대표적으로 다음과 같은 공시의무를 이행해야 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공시의 경우 거래 구조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특히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주주간계약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내용 등에 따라 공시 대상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공시 사항 등이 매우 달라지므로 사전에 검토를 받을 필요가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2313" marR="0" lvl="2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전제사항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기존주주는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기존에도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5%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보고 진행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; </a:t>
                      </a:r>
                      <a:r>
                        <a:rPr kumimoji="1" lang="ko-KR" altLang="en-US" sz="1000" b="0" i="0" u="none" strike="noStrike" kern="1200" cap="none" normalizeH="0" baseline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대상주식이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대상회사의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1%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이상에 해당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;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투자자는 해당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거래로 대상회사의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5%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이상 보유하게 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;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주주간계약에는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콜옵션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drag-along right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 공동보유효력에 관한 내용 규정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2313" marR="0" lvl="2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사전 공시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상장회사의 내부자인 임원 또는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주요주주가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대상주식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등을 일정 규모 이상 매매하는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매매예정일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 이전에 매매 목적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가격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수량 및 거래 기간 등을 공시해야 하는바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매도인은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보고의무가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면제되는 사유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과거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개월과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거래기간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중 합산한 거래 수량 및 금액이 각 발행주식총수의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1%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억 미만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해당하지 않는 이상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 전에 공시해야 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자본시장법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173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2313" marR="0" lvl="2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계약체결일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990600" marR="0" lvl="3" indent="-27622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>
                          <a:tab pos="895350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기존주주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주식매매계약 체결에 따른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5%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변경보고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990600" marR="0" lvl="3" indent="-27622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>
                          <a:tab pos="895350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투자자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주식매매계약 체결에 따른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5%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신규보고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2313" marR="0" lvl="2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거래종결일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990600" marR="0" lvl="3" indent="-27622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>
                          <a:tab pos="895350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기존주주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주식매매계약 체결에 따른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5%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변경보고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;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특별관계자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투자자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추가에 따른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변동보고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;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주주간계약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체결에 따른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5%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변경보고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기존주주가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연명보고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); 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기존주주가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주요주주라면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10%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변동보고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990600" marR="0" lvl="3" indent="-27622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>
                          <a:tab pos="895350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투자자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대표자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기존주주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선임에 따른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폐지보고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; 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투자자가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주요주주가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된다면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10%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변동보고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2313" marR="0" lvl="2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만약 최대주주 변경이 수반되는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거래라면 대상회사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입장에서는 계약체결일과 거래종결일에 각 최대주주 변경을 수반하는 계약 체결에 따른 주요경영사항공시와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최대주주 변경에 따른 주요경영사항공시를 진행해야 하고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경우에 따라 주식매매계약과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주주간계약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체결에 대해 기타 투자판단 관련 주요경영사항공시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포괄주의공시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진행해야 할 수도 있음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공시 과정에서 원칙적으로는 계약서 전부를 증빙자료로 제출해야 하지만 기밀정보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공시 목적상 무관한 내용은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redact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하여 제출할 수도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참고로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제출된 계약서는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DART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시스템에 게시되지 않으므로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공개청구가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이루어졌다는 등의 특별한 사정이 있지 않은 이상 일반에 공개되지 않음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또한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위와 같이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연명보고를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진행할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대표보고자가 아닌 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투자자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는 대표보고자에게 위임장을 제출하고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대표보고자는 위임장 사본을 보고서에 첨부해야 함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  <a:tr h="53222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</a:t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본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주주간계약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(“</a:t>
                      </a:r>
                      <a:r>
                        <a:rPr kumimoji="1" lang="ko-KR" altLang="en-US" sz="1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본 계약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”)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20[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(“</a:t>
                      </a:r>
                      <a:r>
                        <a:rPr kumimoji="1" lang="ko-KR" altLang="en-US" sz="1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본 계약 체결일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”)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다음 당사자들 사이에서 체결되었다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(1)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대한민국 법률에 의거하여 설립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존속 중이고 본사가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소재하는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](“</a:t>
                      </a:r>
                      <a:r>
                        <a:rPr kumimoji="1" lang="ko-KR" altLang="en-US" sz="1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지배주주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”);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(2)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대한민국 법률에 의거하여 설립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존속 중이고 본사가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소재하는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](“</a:t>
                      </a:r>
                      <a:r>
                        <a:rPr kumimoji="1" lang="ko-KR" altLang="en-US" sz="1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소수주주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”).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9511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72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II. </a:t>
            </a:r>
            <a:r>
              <a:rPr lang="ko-KR" altLang="en-US" dirty="0" smtClean="0">
                <a:latin typeface="+mn-ea"/>
              </a:rPr>
              <a:t>정의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적격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IPO (Qualified IPO)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006262"/>
              </p:ext>
            </p:extLst>
          </p:nvPr>
        </p:nvGraphicFramePr>
        <p:xfrm>
          <a:off x="439738" y="1112445"/>
          <a:ext cx="9188450" cy="5149766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3982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소수주주로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투자를 하는 재무적 투자자의 투자회수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(Exit)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와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관련한 일종의 기준으로 기능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376293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재무적 투자자가 대상회사의 소수주주로서 투자를 하는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 투자회수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(Exit)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위하여 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개념을 주주간계약에 도입할 것을 요구하는 경우가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특히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해당 재무적 투자자에게 상환우선주식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(RPS)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또는 전환상환우선주식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(RCPS)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으로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투자주식에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대한 상환권이 부여되지 아니하는 경우에는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투자회수를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위하여 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요구할 가능성이 높음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정의는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(i)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요건에 충족하지 아니하는 상장을 소수주주가 반대할 수 있고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이에 따라 소수주주가 지배주주에 대하여 주주간계약의 위반에 따른 페널티의 발동 요건이 될 수 있다는 점과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(ii)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분쟁 가능성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소수주주의 투자 당시에는 시장전망 및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산업전망이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좋아 적격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달성이 예상되어도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시점에서의 시장 내지 산업 상황에 따라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 어렵거나 적정한 공모가격이 산정되지 아니할 위험 존재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 내포되어 있다는 점에서 중요한 의미를 가지므로 지배주주 입장에서 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정의에 대한 신중한 접근이 필요함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상장 공모가격이 재무적 투자자가 투자 당시 상정한 내부수익률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(IRR)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이상의 금액이 되도록 하는 요건은 기본적으로 요구됨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이외 대상회사의 주식이 상장하는 증권시장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대상회사의 상장 기한 등이 충족되어야 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로 보는 경우도 존재함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또한 이하에서 논의하는 바와 같이 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 기한 내에 충족되지 못하는 상황과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관련하여 소수주주의 보호장치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{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소수주주의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풋옵션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또는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동반매각요구권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(Drag-Along Right)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행사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대주주 상대로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위약벌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청구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step-up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조항에 따른 권리 행사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의무 이행 기간 경과에 따라 소수주주가 가져가는 금액을 상향조정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소수주주가 보유한 주식을 유상감자하여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상환받을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 있도록 요청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}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구체적인 내용은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소수주주의 투자를 받는 당시의 상황과 이에 따른 각 당사자의 협상력에 따라 달라짐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685800" marR="0" lvl="1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 입장에서는 소수주주의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보호장치에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대하여 필요 최소한으로 규정될 수 있도록 신중한 접근이 필요하며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필요한 경우 사전에 지배주주가 소수주주로부터 주식을 인수하는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콜옵션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등 장치를 마련하는 것을 고려하는 것이 필요함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685800" marR="0" lvl="1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소수주주의 입장에서는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대한 보호장치의 경우 상법상 그 집행이 가능한지 여부와 함께 지배주주의 자력 등 실제 집행가능성도 고려하고 소수주주가 보호장치를 집행할 때 추가적인 지배주주나 대상회사의 동의나 의사결정 없이 주주간계약에 따라 집행될 수 있도록 주주간계약의 문구를 규정하는 것을 고려하는 것이 필요함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  <a:tr h="98859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SHA</a:t>
                      </a:r>
                      <a:b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alt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적격 </a:t>
                      </a:r>
                      <a:r>
                        <a:rPr lang="en-US" altLang="ko-KR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는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(A)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당시 소수주주가 소유한 매도대상주식 전부가 해당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통해 매각되고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(B)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회사의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보통주식의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주당 공모가격이 소수주주가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통해 매각되는 매도대상주식과 관련하여 최소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IRR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실현할 수 있는 가격 이상인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 (A)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당시 소수주주가 소유한 매도대상주식의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[•]%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이상이 해당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통해 매각되고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(B)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회사의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보통주식의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주당 공모가격이 소수주주가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통해 매각하는 매도대상주식과 관련하여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[•]%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IRR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실현할 수 있는 가격 이상인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의미한다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sz="10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62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II. </a:t>
            </a:r>
            <a:r>
              <a:rPr lang="ko-KR" altLang="en-US" dirty="0" smtClean="0">
                <a:latin typeface="+mn-ea"/>
              </a:rPr>
              <a:t>정의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콜옵션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IRR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61094"/>
              </p:ext>
            </p:extLst>
          </p:nvPr>
        </p:nvGraphicFramePr>
        <p:xfrm>
          <a:off x="439738" y="1038739"/>
          <a:ext cx="9188450" cy="3825569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71173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적격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IPO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 되지 않음으로써 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지배주주가 대상회사의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경영권을 </a:t>
                      </a:r>
                      <a:r>
                        <a:rPr lang="ko-KR" altLang="en-US" sz="10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잃거나 대상회사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운영에 장애를 겪을 수 있는 상황에서 지배주주가 소수주주의 주식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매수 시 고려하는 기준으로 기능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16785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 되지 아니하여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소수주주인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재무적 투자자가 문제를 제기하거나 계약상 페널티를 가하고자 하는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경우 대상회사의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경영권을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잃거나 대상회사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운영에 장애가 발생할 수 있으므로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지배주주가 재무적 투자자의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IRR(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내부수익률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고려하여 소수주주의 주식을 매수함으로써 분쟁 상황을 조기에 종결하는 것을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콜옵션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행사 가격은 기간 구애 없이 일정한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IRR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로 정할 수도 있고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당사자간 협상에 따라 기간을 구분하여 규정하는 것도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옵션부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투자제한 폐지로 인해 소수주주가 지배주주를 상대로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풋옵션을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요구할 수도 있는바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아래 정의는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풋옵션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행사가격을 산정하는 데도 사용될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  <a:tr h="14353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</a:t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IRR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은 각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제안주식에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대하여 종결일로부터 해당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거래의 종결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종결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시까지 적용되는 다음의 각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IRR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의미한다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종결이 적격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이행기한으로부터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개월 이내에 이루어지는 경우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[•]% 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종결이 위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언급된 기간 직후 도래하는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년의 기간 중 어느 때에 이루어지는 경우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[•]%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(iii)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종결이 위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언급된 기간 직후 도래하는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년의 기간 중 어느 때에 이루어지는 경우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[•]%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(iv)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종결이 위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(iii)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언급된 기간 직후 도래하는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년의 기간 중 어느 때에 이루어지는 경우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[•]%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(v)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종결이 위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(iv)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명시된 기간의 만료 후 어느 때에 이루어지는 경우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[•]%.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566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</a:t>
            </a:r>
            <a:r>
              <a:rPr lang="ko-KR" altLang="en-US" dirty="0" smtClean="0">
                <a:latin typeface="+mn-ea"/>
              </a:rPr>
              <a:t>회사의 지배구조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주주총회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435526"/>
              </p:ext>
            </p:extLst>
          </p:nvPr>
        </p:nvGraphicFramePr>
        <p:xfrm>
          <a:off x="439738" y="1038739"/>
          <a:ext cx="9188450" cy="5267741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47194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주주총회의 권한 및 책임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개최 시기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의결정족수 등을 규정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311727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대상회사의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지분구조에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따라 주주총회 특별결의사항의 범위에 대한 전략적 검토가 필요함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상법상 특별결의 의결정족수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지분율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약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67%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이상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보유하고 있는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지분율이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이에 미치지 못 하는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소수주주는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더 상향된 의결정족수를 요구할 가능성도 존재함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 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대상회사를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종속회사로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연결하여야 하는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소수주주에게 부여하는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동의권의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범위에 대하여는 이른바 소수주주의 소극적 지배권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(negative control)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문제가 발생할 수 있으므로 회계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자문사와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검토 필요함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주주총회 특별결의사항의 범위를 넓게 규정하고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특별결의 의결정족수도 높게 설정하는 것을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상법 해석상 정관으로 의결정족수를 가중하는 것은 가능하나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상법상 총주주의 동의를 필요로 하지 아니하는 사항에 대해서 상법상 규정된 특별결의 의결정족수보다 엄격한 다수결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소위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초다수결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요건을 정관으로 규정할 수 있는지 여부에 대해서는 견해가 나뉨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이에 대하여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초다수결을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허용한 정관이 적법한지 여부에 대하여 대법원 판결은 없으나 아래와 같이 상충되는 하급심 판결은 존재하므로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이와 같은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초다수결을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정관으로 정하기 전에 법률 검토를 거치는 것이 필요함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코스닥 상장회사에서 이사의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해임결의의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요건을 출석주식수의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75%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이상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발행주식총수의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50%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이상으로 강화하는 정관 규정의 효력을 정지하는 결정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서울중앙지방법원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2008. 6. 2.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선고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2008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카합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1167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결정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). </a:t>
                      </a:r>
                    </a:p>
                    <a:p>
                      <a:pPr marL="628650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－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인이 발행주식을 균등하게 나눠 가지고 있는 비상장회사에서 주주총회결의의 정족수 및 이사선임결의의 정족수를 발행주식총수의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3/4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이상으로 규정한 정관 규정에 대하여 유효로 본 판결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서울고등법원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2011. 12. 28.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선고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2009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114686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판결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  <a:tr h="16785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(1)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주주총회</a:t>
                      </a:r>
                      <a:endParaRPr lang="en-US" altLang="ko-KR" sz="1000" u="sng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권한 및 책임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주주총회는 </a:t>
                      </a: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부록 </a:t>
                      </a:r>
                      <a:r>
                        <a:rPr lang="en-US" altLang="ko-KR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기재된 사항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주주총회 특별결의사항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및 기타 관련 법률에 따라 주주총회에 유보된 사항을 결정 및 결의한다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주주총회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정기주주총회는 회사의 매 회계연도 종료 후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개월 이내에 개최한다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임시주주총회는 이사회의 결의에 따라 언제든지 개최할 수 있다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대표이사는 이사회의 결의에 따라 각 주주총회를 소집한다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3. </a:t>
                      </a: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의결정족수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주주총회 특별결의사항의 승인 및 상법상 특별결의를 요하는 사항은 본건 주식의 발행주식총수의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분의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찬성에 의하여야 한다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기타 주주총회에 회부된 사항에 대한 승인은 본건 주식의 발행주식총수의 과반수의 찬성에 의하여야 한다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671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</a:t>
            </a:r>
            <a:r>
              <a:rPr lang="ko-KR" altLang="en-US" dirty="0" smtClean="0">
                <a:latin typeface="+mn-ea"/>
              </a:rPr>
              <a:t>회사의 지배구조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*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주주총회 특별결의사항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384554"/>
              </p:ext>
            </p:extLst>
          </p:nvPr>
        </p:nvGraphicFramePr>
        <p:xfrm>
          <a:off x="439738" y="1038739"/>
          <a:ext cx="9188450" cy="4668266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47194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주주총회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에서의 특별결의사항을 규정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5994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소수주주의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이하 </a:t>
                      </a:r>
                      <a:r>
                        <a:rPr kumimoji="1" lang="en-US" altLang="ko-KR" sz="10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III. </a:t>
                      </a:r>
                      <a:r>
                        <a:rPr kumimoji="1" lang="ko-KR" altLang="en-US" sz="10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회사의 지배구조 </a:t>
                      </a:r>
                      <a:r>
                        <a:rPr kumimoji="1" lang="en-US" altLang="ko-KR" sz="10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– 3. </a:t>
                      </a:r>
                      <a:r>
                        <a:rPr kumimoji="1" lang="ko-KR" altLang="en-US" sz="1000" b="1" i="0" u="sng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동의사항</a:t>
                      </a:r>
                      <a:r>
                        <a:rPr kumimoji="1" lang="en-US" altLang="ko-KR" sz="10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표준 </a:t>
                      </a:r>
                      <a:r>
                        <a:rPr kumimoji="1" lang="en-US" altLang="ko-KR" sz="10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SHA</a:t>
                      </a:r>
                      <a:r>
                        <a:rPr kumimoji="1" lang="ko-KR" altLang="en-US" sz="10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</a:t>
                      </a:r>
                      <a:r>
                        <a:rPr kumimoji="1" lang="en-US" altLang="ko-KR" sz="10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1" lang="ko-KR" altLang="en-US" sz="10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부록 </a:t>
                      </a:r>
                      <a:r>
                        <a:rPr kumimoji="1" lang="en-US" altLang="ko-KR" sz="10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2’)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전부를 특별결의사항으로 하자고 주장할 수 있으므로 협상 과정에서 이에 관한 전략적 판단이 필요함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SHA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에서는 지배주주에게 유리하도록 상법상 특별결의사항만을 규정함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  <a:endParaRPr kumimoji="1" lang="en-US" altLang="ko-KR" sz="1000" b="1" i="0" u="sng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  <a:tr h="35968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부록 </a:t>
                      </a:r>
                      <a:r>
                        <a:rPr lang="en-US" altLang="ko-KR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주주총회 특별결의사항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상법상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(a)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주주총회에 출석한 의결권 있는 주식 총수의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이상 및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(b)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의결권 있는 발행주식의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이상의 주식을 보유한 주주들의 찬성에 의한 주주 승인이 필요한 것으로서 아래 명시된 사항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정관의 개정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434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);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 사업의 전부 또는 중요한 일부의 양도에 대한 승인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374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(iii)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전체 사업 임대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사업에 대한 경영권 부여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사업과 관련된 모든 손익을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자와 분담하는 계약 또는 이와 유사한 계약의 체결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변경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해지 등의 승인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374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(iv)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회사의 사업에 중대한 영향을 미치는 다른 회사의 사업의 전부 또는 일부의 취득에 대한 승인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374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(v)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 또는 감사의 해임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385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(vi)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주식의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액면미달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발행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417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(vii)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납입 자본금의 감소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438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(viii)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회사의 해산 및 청산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518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(ix)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합병 또는 분할에 대한 승인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522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530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주식의 포괄적 교환에 대한 승인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360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(xi)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주식의 포괄적 이전에 대한 승인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360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16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(xii)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주식매수선택권의 부여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340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(xiii)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정관에 명시되지 않은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자에 대한 전환사채 발행 시 전환 조건 및 내용에 대한 결정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513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(xiv)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정관에 명시되지 않은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자에 대한 신주인수권부사채 발행 시 신주인수권의 내용에 대한 결정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516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(xv)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해산 후 회사의 계속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519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(xvi)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주식의 분할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329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08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</a:t>
            </a:r>
            <a:r>
              <a:rPr lang="ko-KR" altLang="en-US" dirty="0" smtClean="0">
                <a:latin typeface="+mn-ea"/>
              </a:rPr>
              <a:t>회사의 지배구조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이사회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– (1)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이사의 지명 등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45092"/>
              </p:ext>
            </p:extLst>
          </p:nvPr>
        </p:nvGraphicFramePr>
        <p:xfrm>
          <a:off x="439738" y="1038740"/>
          <a:ext cx="9188450" cy="5507530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4719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경영진 지명권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대표이사의 권한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이사의 임기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이사의 의결권 행사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이사회 절차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임원배상책임보험 등을 규정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50355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이사 지명권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상장회사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상장회사의 이사회 구성에 있어서는 아래 사항을 유념해야 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722313" marR="0" lvl="2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최근 사업연도 말 기준 자산총액이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조원 미만인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상장회사는 이사 총수의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1/4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이상을 사외이사로 둬야 하고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조원 이상인 상장회사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대규모 상장회사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”)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는 과반수를 사외이사로 두되 그 수는 총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명 이상이어야 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542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참고로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주주간계약에서 일반적으로 정할 사항은 아니나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상장회사의 사외이사는 상법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382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 각 호 뿐만 아니라 상법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542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 각 호의 어느 하나에 해당해서는 안 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722313" marR="0" lvl="2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한편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(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대규모 상장회사의 경우 사외이사후보추천위원회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사외이사가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총위원의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과반수가 되어야 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설치하고 사외이사는 사외이사후보추천위원회에서 추천한 중에서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선임되어야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하며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542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4, 5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(ii) 6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개월 전부터 계속하여 상장회사의 의결권 없는 주식을 제외한 발행주식총수의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1% 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최근 사업연도 말 기준 자본금이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천억원 이상인 상장회사의 경우에는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0.5%)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이상에 해당하는 주식을 보유한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소수주주는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자신이 추천하는 이사를 선임할 것을 내용으로 하는 안건으로 주주제안권을 행사할 수 있고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542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(iii)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집중투표제가 채택된 상장회사의 의결권 없는 주식을 제외한 발행주식총수의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3% 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대규모 상장회사의 경우에는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1%)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이상에 해당하는 주식을 보유한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소수주주는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집중투표의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방법으로 이사를 선임할 것을 청구할 수 있는바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542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7),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이러한 경우 주주간계약에서 예정하는 이사회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구성안대로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이사회를 구성하는 것이 어려울 수도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CEO/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이사회 의장 등 선임권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CEO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선임권과 이사회 의장 선임권을 모두 갖거나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CEO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 의장을 겸하도록 하는 방안을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CEO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 이사회 의장 중 어느 하나를 선임할 수 있도록 하거나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적어도 부의장 선임권을 받아 의장 유고 또는 불참 시 대행할 수 있도록 협상하는 방안을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[50:50]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기존주주가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CEO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선임권을 갖는 경우 이사회 의장 선임권은 투자자에게 주는 것으로 합의하는 것이 일반적이나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공동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CEO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선임하게 되는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누가 이사회 의장 선임권을 갖게 될지 여부는 협상이 필요한 사항임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722313" marR="0" lvl="2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대표이사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지명권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공동대표이사 또는 사업부별 각자대표이사를 도입하여 대표이사를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인으로 하고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기존주주와 투자자가 각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인씩 지명하는 방법이 있을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상법에 의하면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공동대표의 경우 각자대표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각자대표는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각자 유효하게 회사를 대표하여 법률행위를 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 달리 공동대표 중 어느 대표가 단독으로 회사를 대표할 수 없으며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이에 대하여 등기를 하여야 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공동대표 중 어느 대표가 독단적으로 행위를 하는 경우에는 원칙적으로 그 효력이 없으나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선의의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자에 대하여는 책임을 지게 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722313" marR="0" lvl="2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경영진 지명권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기존주주가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CEO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지명하는 경우 투자자는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CFO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지명하고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투자가가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CEO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지명하는 경우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기존주주가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CFO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지명하는 것이 일반적임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그밖에 회사의 사업에 따라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COO, CSO, CTO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등의 지명권을 배분할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CEO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권한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명확하게 나열하는 방법도 고려할 수 있으나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지배주주이고 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CEO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지명할 수 있는 경우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열거의 방법보다는 포괄적인 규정을 하는 것을 고려할 수 있음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이하 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‘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’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참고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7657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</a:t>
            </a:r>
            <a:r>
              <a:rPr lang="ko-KR" altLang="en-US" dirty="0" smtClean="0">
                <a:latin typeface="+mn-ea"/>
              </a:rPr>
              <a:t>회사의 지배구조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이사회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– (1)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이사의 지명 등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878086"/>
              </p:ext>
            </p:extLst>
          </p:nvPr>
        </p:nvGraphicFramePr>
        <p:xfrm>
          <a:off x="396990" y="3788684"/>
          <a:ext cx="9188450" cy="2397901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239790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[50:50]</a:t>
                      </a:r>
                    </a:p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</a:t>
                      </a: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</a:t>
                      </a:r>
                      <a:r>
                        <a:rPr lang="en-US" altLang="ko-KR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대표이사</a:t>
                      </a:r>
                      <a:r>
                        <a:rPr lang="en-US" altLang="ko-KR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감사 및 이사회</a:t>
                      </a:r>
                      <a:endParaRPr lang="en-US" altLang="ko-KR" sz="1000" b="0" u="sng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AutoNum type="arabicParenBoth"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회사의 이사회는 총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인의 이사로 구성되고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 중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인은 투자자가 지명하고 선임하고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인은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기존주주가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지명하여 선임한다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2860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AutoNum type="arabicParenBoth"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회사의 대표이사는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인으로 하며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[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기존주주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 지명한다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2860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AutoNum type="arabicParenBoth"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회사의 감사는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인으로 하며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[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 지명한다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[…]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US" altLang="ko-KR" sz="1000" b="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</a:t>
                      </a: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경영진</a:t>
                      </a:r>
                      <a:endParaRPr lang="en-US" altLang="ko-KR" sz="1000" b="0" u="sng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AutoNum type="arabicParenBoth"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당사자들은 아래와 같이 대상회사의 경영진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이하 “경영진”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지명 및 선임할 권리를 가진다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US" altLang="ko-KR" sz="1000" b="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US" altLang="ko-KR" sz="1000" b="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US" altLang="ko-KR" sz="1000" b="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US" altLang="ko-KR" sz="1000" b="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[…]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262923"/>
              </p:ext>
            </p:extLst>
          </p:nvPr>
        </p:nvGraphicFramePr>
        <p:xfrm>
          <a:off x="396990" y="1102613"/>
          <a:ext cx="9188450" cy="2686072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61583000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384681180"/>
                    </a:ext>
                  </a:extLst>
                </a:gridCol>
              </a:tblGrid>
              <a:tr h="268607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b="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(2)</a:t>
                      </a:r>
                      <a:r>
                        <a:rPr lang="en-US" altLang="ko-KR" sz="10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이사회</a:t>
                      </a:r>
                      <a:r>
                        <a:rPr lang="en-US" altLang="ko-KR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경영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 지명권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이사회는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인의 이사로 구성되며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 중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인은 지배주주가 지명하여 선임하고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인은 소수주주가 지명하여 선임한다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소수주주가 당시 발행된 본건 주식 총수의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[•]%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초과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[•]%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미만을 보유한 경우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인의 이사를 지명하여 선임할 권리를 가지고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인의 이사를 지명하여 선임할 권리를 가진다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en-US" altLang="ko-KR" sz="10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경영진 지명권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CEO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는 회사의 대표이사를 겸직하며 지배주주가 지명한 이사들 중에서 선임된다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[…]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6. </a:t>
                      </a: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의결권 행사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각 주주는 본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항에 따라 당사자들이 지명한 자들의 선출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교체 포함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위하여 그들 각자의 본건 주식 전부를 의결하고 각자에게 가능한 모든 권한 및 권리를 행사하여야 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어느 주주가 지명하여 선임하는 이사는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사유 여하를 불문하고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수시로 그리고 언제든지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이사를 지정한 주주에 의해서만 해임될 수 있다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어느 주주가 지명하여 선임하는 이사와 관련하여 발생한 결원은 해당 주주에 의해서만 충원될 수 있다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소수주주가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호에 따라 지명하여 선임하는 이사의 수가 감소하는 경우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이사를 해임하되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이사의 해임 시 이사들의 수가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호에 따라 허용되는 소수주주의 지명 및 선임 가능 이사의 수와 일치하도록 하여야 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지배주주와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각각 관련 법률이 허용하는 범위 내에서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자신이 지명하여 선임하는 이사들로 하여금 본 계약에 따라 회사를 경영하도록 하여야 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이사가 본 계약의 어느 조항에 위반되는 행위를 하거나 본 계약의 어느 조항을 완전히 이행하는 방식으로 자신의 의결권 및 기타 권능 및 권한을 행사하지 않는 경우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이사를 지명 및 선임한 당사자는 본 계약의 해당 조항을 위반한 것으로 간주된다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630837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990069"/>
              </p:ext>
            </p:extLst>
          </p:nvPr>
        </p:nvGraphicFramePr>
        <p:xfrm>
          <a:off x="1552248" y="5314512"/>
          <a:ext cx="4355586" cy="59947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19368">
                  <a:extLst>
                    <a:ext uri="{9D8B030D-6E8A-4147-A177-3AD203B41FA5}">
                      <a16:colId xmlns:a16="http://schemas.microsoft.com/office/drawing/2014/main" val="214653204"/>
                    </a:ext>
                  </a:extLst>
                </a:gridCol>
                <a:gridCol w="2278005">
                  <a:extLst>
                    <a:ext uri="{9D8B030D-6E8A-4147-A177-3AD203B41FA5}">
                      <a16:colId xmlns:a16="http://schemas.microsoft.com/office/drawing/2014/main" val="1489506677"/>
                    </a:ext>
                  </a:extLst>
                </a:gridCol>
                <a:gridCol w="1358213">
                  <a:extLst>
                    <a:ext uri="{9D8B030D-6E8A-4147-A177-3AD203B41FA5}">
                      <a16:colId xmlns:a16="http://schemas.microsoft.com/office/drawing/2014/main" val="2865285229"/>
                    </a:ext>
                  </a:extLst>
                </a:gridCol>
              </a:tblGrid>
              <a:tr h="199825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ko-KR" sz="900" kern="100" dirty="0">
                          <a:effectLst/>
                        </a:rPr>
                        <a:t>구분</a:t>
                      </a:r>
                      <a:endParaRPr lang="ko-KR" sz="900" kern="100" dirty="0">
                        <a:effectLst/>
                        <a:latin typeface="+mn-lt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ko-KR" sz="900" kern="100" dirty="0">
                          <a:effectLst/>
                        </a:rPr>
                        <a:t>담당업무 및 권한</a:t>
                      </a:r>
                      <a:endParaRPr lang="ko-KR" sz="900" kern="100" dirty="0">
                        <a:effectLst/>
                        <a:latin typeface="+mn-lt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ko-KR" sz="900" kern="100" dirty="0">
                          <a:effectLst/>
                        </a:rPr>
                        <a:t>지명 및 </a:t>
                      </a:r>
                      <a:r>
                        <a:rPr lang="ko-KR" sz="900" kern="100" dirty="0" err="1">
                          <a:effectLst/>
                        </a:rPr>
                        <a:t>선임권자</a:t>
                      </a:r>
                      <a:endParaRPr lang="ko-KR" sz="900" kern="100" dirty="0">
                        <a:effectLst/>
                        <a:latin typeface="+mn-lt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135588"/>
                  </a:ext>
                </a:extLst>
              </a:tr>
              <a:tr h="199825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CEO</a:t>
                      </a:r>
                      <a:endParaRPr lang="ko-KR" sz="900" kern="100" dirty="0">
                        <a:effectLst/>
                        <a:latin typeface="+mn-lt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smtClean="0">
                          <a:solidFill>
                            <a:schemeClr val="tx1"/>
                          </a:solidFill>
                          <a:effectLst/>
                        </a:rPr>
                        <a:t>[</a:t>
                      </a:r>
                      <a:r>
                        <a:rPr lang="ko-KR" sz="900" kern="100" dirty="0" smtClean="0">
                          <a:solidFill>
                            <a:schemeClr val="tx1"/>
                          </a:solidFill>
                          <a:effectLst/>
                        </a:rPr>
                        <a:t>회사의 </a:t>
                      </a:r>
                      <a:r>
                        <a:rPr lang="ko-KR" sz="900" kern="100" dirty="0">
                          <a:solidFill>
                            <a:schemeClr val="tx1"/>
                          </a:solidFill>
                          <a:effectLst/>
                        </a:rPr>
                        <a:t>경영 총괄</a:t>
                      </a:r>
                      <a:r>
                        <a:rPr lang="en-US" sz="900" kern="100" dirty="0">
                          <a:solidFill>
                            <a:schemeClr val="tx1"/>
                          </a:solidFill>
                          <a:effectLst/>
                        </a:rPr>
                        <a:t>]</a:t>
                      </a:r>
                      <a:endParaRPr 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[</a:t>
                      </a:r>
                      <a:r>
                        <a:rPr lang="en-US" sz="900" kern="100" dirty="0">
                          <a:effectLst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sz="900" kern="100" dirty="0">
                          <a:effectLst/>
                        </a:rPr>
                        <a:t>]</a:t>
                      </a:r>
                      <a:endParaRPr lang="ko-KR" sz="900" kern="100" dirty="0">
                        <a:effectLst/>
                        <a:latin typeface="+mn-lt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087457"/>
                  </a:ext>
                </a:extLst>
              </a:tr>
              <a:tr h="199825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CFO</a:t>
                      </a:r>
                      <a:endParaRPr lang="ko-KR" sz="900" kern="100" dirty="0">
                        <a:effectLst/>
                        <a:latin typeface="+mn-lt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smtClean="0">
                          <a:solidFill>
                            <a:schemeClr val="tx1"/>
                          </a:solidFill>
                          <a:effectLst/>
                        </a:rPr>
                        <a:t>[</a:t>
                      </a:r>
                      <a:r>
                        <a:rPr lang="ko-KR" sz="900" kern="100" dirty="0" smtClean="0">
                          <a:solidFill>
                            <a:schemeClr val="tx1"/>
                          </a:solidFill>
                          <a:effectLst/>
                        </a:rPr>
                        <a:t>회사의 </a:t>
                      </a:r>
                      <a:r>
                        <a:rPr lang="ko-KR" sz="900" kern="100" dirty="0">
                          <a:solidFill>
                            <a:schemeClr val="tx1"/>
                          </a:solidFill>
                          <a:effectLst/>
                        </a:rPr>
                        <a:t>자금 집행에 관한 승인</a:t>
                      </a:r>
                      <a:r>
                        <a:rPr lang="en-US" sz="900" kern="100" dirty="0">
                          <a:solidFill>
                            <a:schemeClr val="tx1"/>
                          </a:solidFill>
                          <a:effectLst/>
                        </a:rPr>
                        <a:t>]</a:t>
                      </a:r>
                      <a:endParaRPr lang="ko-KR" sz="9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[</a:t>
                      </a:r>
                      <a:r>
                        <a:rPr lang="en-US" sz="900" kern="100" dirty="0">
                          <a:effectLst/>
                          <a:sym typeface="Wingdings 2" panose="05020102010507070707" pitchFamily="18" charset="2"/>
                        </a:rPr>
                        <a:t></a:t>
                      </a:r>
                      <a:r>
                        <a:rPr lang="en-US" sz="900" kern="100" dirty="0">
                          <a:effectLst/>
                        </a:rPr>
                        <a:t>]</a:t>
                      </a:r>
                      <a:endParaRPr lang="ko-KR" sz="900" kern="100" dirty="0">
                        <a:effectLst/>
                        <a:latin typeface="+mn-lt"/>
                        <a:ea typeface="바탕" panose="02030600000101010101" pitchFamily="18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522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7450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</a:t>
            </a:r>
            <a:r>
              <a:rPr lang="ko-KR" altLang="en-US" dirty="0" smtClean="0">
                <a:latin typeface="+mn-ea"/>
              </a:rPr>
              <a:t>회사의 지배구조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이사회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– (2)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이사회 절차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19383"/>
              </p:ext>
            </p:extLst>
          </p:nvPr>
        </p:nvGraphicFramePr>
        <p:xfrm>
          <a:off x="439738" y="1038739"/>
          <a:ext cx="9188450" cy="3661059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51046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경영진 지명권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대표이사의 권한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이사의 임기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이사의 의결권 행사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이사회 절차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임원배상책임보험 등을 규정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9206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대상회사의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 등 상법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398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조상의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자기거래나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397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상의 회사의 기회 유용 등 이사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2/3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이상의 수로 결의를 하여야 하는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이사회 구성에 따라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초다수에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의한 결의가 되지 아니하여 교착 상태에 빠질 가능성을 완전히 배제할 수 없으므로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지배주주인 경우 소수주주가 지명한 이사로 하여금 관련 안건에 지배주주가 지명한 이사들의 표결에 따르도록 하는 근거 규정을 계약상 두는 것도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  <a:tr h="222995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b="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(2) </a:t>
                      </a: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이사회</a:t>
                      </a:r>
                      <a:r>
                        <a:rPr lang="en-US" altLang="ko-KR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경영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[…]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7. </a:t>
                      </a: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이사회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이사회 회의는 필요에 따라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 최소 분기별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 이상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회사의 서울 소재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등록주소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또는 이사회가 수시로 결정하는 기타 장소에서 개최한다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통지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이사는 이사회 예정일로부터 최소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 전에 모든 이사들에게 서면 소집통지를 제공함으로써 이사회를 소집할 수 있다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 전원의 동의가 있는 경우에는 해당 통지를 생략할 수 있다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의결정족수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관련 법률에 따라 달리 요구되지 않는 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사항에 대한 승인은 출석 이사 과반수의 찬성을 요한다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반대되는 여하한 규정에도 불구하고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관련 법률에 따라 이사회의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초다수에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의한 결의를 요하는 사항과 관련하여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이사에게 적용되는 선관주의의무를 포함한 관련 법률의 준수 및 소수주주가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항에 따른 동의를 거절할 수 있는 권리를 전제로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소수주주가 지명한 이사들로 하여금 지배주주가 지명한 이사들의 표결에 따라 표결하도록 하여야 한다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884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</a:t>
            </a:r>
            <a:r>
              <a:rPr lang="ko-KR" altLang="en-US" dirty="0" smtClean="0">
                <a:latin typeface="+mn-ea"/>
              </a:rPr>
              <a:t>회사의 지배구조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이사회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– (3)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임원배상책임보험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11831"/>
              </p:ext>
            </p:extLst>
          </p:nvPr>
        </p:nvGraphicFramePr>
        <p:xfrm>
          <a:off x="439738" y="1038740"/>
          <a:ext cx="9188450" cy="3349420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4719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경영진 지명권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대표이사의 권한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이사의 임기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이사의 의결권 행사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이사회 절차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임원배상책임보험 등을 규정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15586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재무적 투자자의 경우 그 재무적 투자자가 선임하는 이사의 보호를 위하여 임원배상책임보험을 요구하는 경우도 존재함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지배주주의 입장에서도 자신이 지명하여 선임하는 이사의 보호를 위하여 임원배상책임보험에 가입하는 것을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비상장회사의 지배구조가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 주주로 단순한 경우에는 별도로 임원배상책임보험을 가입하지 않는 것도 고려할 수 있으므로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실제 대상회사의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상황 및 지배구조에 따라 비용 등 측면에서 전략적 판단이 필요함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항에 따라 회사는 정관으로 정하는 바에 따라 이사의 책임을 이사가 그 행위를 한 날 이전 최근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년간의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보수액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상여금과 주식매수선택권의 행사로 인한 이익 등을 포함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사외이사의 경우는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초과하는 금액에 대하여 면제할 수 있으므로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고의 또는 중과실에 의한 경우는 배제됨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임원배상책임보험과 함께 또는 별도로 정관에 이사의 책임 제한에 관한 규정을 두는 것도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  <a:tr h="131884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b="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(2) </a:t>
                      </a: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이사회</a:t>
                      </a:r>
                      <a:r>
                        <a:rPr lang="en-US" altLang="ko-KR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경영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[…]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8.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임원배상책임보험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회사로 하여금 모든 이사들에 대하여 임원배상책임보험을 유지하도록 하여야 하며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보험은 회사와 유사한 규모 또는 업종의 다른 회사들이 유지하는 임원배상책임보험과 상응하는 보장을 제공하여야 한다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 이사의 사임 또는 해임 이후 면책 또는 손해배상의 청구가 제기된 당시 회사의 이사가 아니라 하더라도 이사로서의 작위 또는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부작위로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인한 보험사고에 대한 보장 포함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4905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</a:t>
            </a:r>
            <a:r>
              <a:rPr lang="ko-KR" altLang="en-US" dirty="0" smtClean="0">
                <a:latin typeface="+mn-ea"/>
              </a:rPr>
              <a:t>회사의 지배구조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3.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동의사항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(1)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343254"/>
              </p:ext>
            </p:extLst>
          </p:nvPr>
        </p:nvGraphicFramePr>
        <p:xfrm>
          <a:off x="439738" y="1038740"/>
          <a:ext cx="9188450" cy="5147845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4719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소수주주의 사전 서면 동의를 받아야 할 수 있는 행위를 규정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15586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주주총회 특별결의사항과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마찬가지로 대상회사의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지분구조에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따라 주주총회 특별결의사항의 범위에 대한 전략적 검토가 필요함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소수주주의 경우 보다 촘촘한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동의사항을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넣고자 할 유인이 존재하나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‘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추가 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SHA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’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참고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 경우 소수주주의 소극적 지배권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(negative control)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 형성되어 지배주주가 회사를 연결하지 못할 가능성이 없는지 확인이 필요함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해당 동의 사항이 정관에 규정되지 아니하는 이상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정관에 규정하는 경우에도 특정 주주에게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동의권을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주어 주주평등의 원칙에 반한다고 판단될 가능성 존재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계약적 효력만 존재하므로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동의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없이 대상회사의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주주총회 또는 이사회의 적법한 결의를 거친 특정 법률행위 자체는 원칙적으로 유효하나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지배주주는 계약위반의 책임을 지게 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  <a:tr h="311727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(3) </a:t>
                      </a: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동의 사항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 기간 동안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회사에 의해 또는 회사를 대리하여 소수주주의 사전 서면 동의 없이 </a:t>
                      </a: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부록 </a:t>
                      </a:r>
                      <a:r>
                        <a:rPr lang="en-US" altLang="ko-KR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기재된 어떠한 행위도 취해질 수 없다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하자면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부록 </a:t>
                      </a:r>
                      <a:r>
                        <a:rPr lang="en-US" altLang="ko-KR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기재된 행위와 관련하여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다목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단서에 명시된 의무를 부담하지 않는다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[…]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부록 </a:t>
                      </a:r>
                      <a:r>
                        <a:rPr lang="en-US" altLang="ko-KR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동의 사항</a:t>
                      </a:r>
                      <a:endParaRPr lang="ko-KR" altLang="en-US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-1905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신규 지분증권의 발행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적격 간주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또는 소수주주 주도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에서 발행되는 지분증권은 포함되지 않음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-1905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단일 거래 또는 일련의 관련 거래에서 전체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자산총액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(ii)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매출총액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및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(iii)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소수주주에게 동의요청서가 교부되는 날의 직전일 기준 회사의 부채총액 중 낮은 금액의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[•]%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해당하는 금액을 초과하는 회사의 주요 자산의 매각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임대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양도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독점 라이선스 또는 기타 처분</a:t>
                      </a:r>
                    </a:p>
                    <a:p>
                      <a:pPr marL="0" marR="0" lvl="0" indent="-1905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단일 거래 또는 일련의 관련 거래에서 전체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자산총액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(ii)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매출총액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및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(iii)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소수주주에게 동의요청서가 교부되는 날의 직전일 기준 회사의 부채총액 중 낮은 금액의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[•]%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해당하는 금액을 초과하는 개별 자본 지출</a:t>
                      </a:r>
                    </a:p>
                    <a:p>
                      <a:pPr marL="0" marR="0" lvl="0" indent="-1905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단일 거래 또는 일련의 관련 거래에서 전체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자산총액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(ii)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매출총액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및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(iii)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소수주주에게 동의요청서가 교부되는 날의 직전일 기준 회사의 부채총액 중 낮은 금액의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[•]%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해당하는 금액을 초과하는 대출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보증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선급금 또는 출자금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만기가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이내인 단기 대출 제외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-1905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과거 관행에 부합하는 통상적인 사업 과정에서의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정상거래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예를 들어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원재료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재공품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완제품 및 제품의 판매 및 구매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상표의 사용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허여 또는 라이선스 제공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연구개발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공정관리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기술지원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유틸리티 제공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토지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시설 또는 건물의 임대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보관 및 사업 운영과 관련된 기타 서비스 등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제외하고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단일 거래 또는 일련의 관련 거래에서 총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[•]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억원을 초과하는 회사의 계열회사와의 거래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734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</a:t>
            </a:r>
            <a:r>
              <a:rPr lang="ko-KR" altLang="en-US" dirty="0" smtClean="0">
                <a:latin typeface="+mn-ea"/>
              </a:rPr>
              <a:t>회사의 지배구조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3.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동의사항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(2)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842655"/>
              </p:ext>
            </p:extLst>
          </p:nvPr>
        </p:nvGraphicFramePr>
        <p:xfrm>
          <a:off x="439738" y="1038740"/>
          <a:ext cx="9188450" cy="5147845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35892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905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부록 </a:t>
                      </a:r>
                      <a:r>
                        <a:rPr lang="en-US" altLang="ko-KR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동의 사항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-1905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상법상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(a)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주주총회에 출석한 의결권 있는 주식 총수의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이상 및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(b)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의결권 있는 발행주식의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이상의 주식을 보유한 주주들의 찬성에 의한 주주 승인이 필요한 것으로서 아래 명시된 사항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정관의 개정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434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);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 사업의 전부 또는 중요한 일부의 양도에 대한 승인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374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(iii)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전체 사업 임대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사업에 대한 경영권 부여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사업과 관련된 모든 손익을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자와 분담하는 계약 또는 이와 유사한 계약의 체결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변경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해지 등의 승인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374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(iv)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회사의 사업에 중대한 영향을 미치는 다른 회사의 사업의 전부 또는 일부의 취득에 대한 승인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374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(v)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 또는 감사의 해임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385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(vi)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주식의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액면미달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발행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417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(vii)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납입 자본금의 감소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438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(viii)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회사의 해산 및 청산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518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(ix)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합병 또는 분할에 대한 승인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522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530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주식의 포괄적 교환에 대한 승인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360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(xi)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주식의 포괄적 이전에 대한 승인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360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16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(xii)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주식매수선택권의 부여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340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(xiii)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정관에 명시되지 않은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자에 대한 전환사채 발행 시 전환 조건 및 내용에 대한 결정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513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(xiv)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정관에 명시되지 않은 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자에 대한 신주인수권부사채 발행 시 신주인수권의 내용에 대한 결정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516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(xv)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해산 후 회사의 계속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519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lv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(xvi)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주식의 분할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329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  <a:tr h="15586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 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 </a:t>
                      </a:r>
                      <a:r>
                        <a:rPr lang="ko-KR" altLang="en-US" sz="1000" b="1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동의사항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(xvii)</a:t>
                      </a:r>
                      <a:r>
                        <a:rPr lang="en-US" altLang="ko-KR" sz="10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배당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자기주식 취득 기타 자본의 환급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(xix)</a:t>
                      </a:r>
                      <a:r>
                        <a:rPr lang="en-US" altLang="ko-KR" sz="10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단일 건당 회사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설립시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출자금액이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 이상인 자회사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손자회사 또는 합작회사의 설립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(xx)</a:t>
                      </a:r>
                      <a:r>
                        <a:rPr lang="en-US" altLang="ko-KR" sz="10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단일 건당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 이상인 타법인 지분이나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자에 대한 투자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(xxi)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회사에 의한 파산 또는 회생절차의 신청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기타 이와 유사한 결과를 초래하는 어떠한 절차의 개시신청을 하거나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그러한 절차가 개시되거나 그러한 절차가 개시될 것이 합리적으로 예상되는 경우와 관련한 절차의 신청 기타 구조조정 또는 그에 준하는 행위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(xxii)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중장기 사업전략의 중요한 또는 중대한 변화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(xxiii)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외부감사인의 선임 또는 변경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9303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4734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</a:t>
            </a:r>
            <a:r>
              <a:rPr lang="ko-KR" altLang="en-US" dirty="0" smtClean="0">
                <a:latin typeface="+mn-ea"/>
              </a:rPr>
              <a:t>회사의 지배구조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4.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감사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545520"/>
              </p:ext>
            </p:extLst>
          </p:nvPr>
        </p:nvGraphicFramePr>
        <p:xfrm>
          <a:off x="439738" y="1038741"/>
          <a:ext cx="9188450" cy="3589209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45172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감사의 선임에 관해 규정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253800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409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상장회사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542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따라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원칙적으로 감사 선임 안건에 관한 의결권은 각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주주별로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의결권 있는 발행주식총수의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3% 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정관에서 더 낮은 주식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보유비율을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정할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로 제한되므로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명뿐인 경우 지배주주와 소수주주 사이에 감사 선임권에 대한 합의가 없다면 교착상태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(deadlock)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 발생할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상장회사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대규모 상장회사의 경우에는 반드시 감사위원회를 두어야 하고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542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위원들 중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명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정관으로 더 많은 수를 정할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은 주주총회에서 다른 이사들과 분리하여 감사위원이 되는 이사로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선임되어야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하며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상법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542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감사 선임 및 해임 안건에 관한 의결권은 각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주주별로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의결권 있는 발행주식총수의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3% 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정관에서 더 낮은 주식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보유비율을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정할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로 제한된다는 점을 유념할 필요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소수주주의 경우 감사 선임권을 요구하는 경우가 많을 것으로 예상되나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이는 당사자간 협상에 따라 달라지므로 지배구조나 거래의 특성에 따라 지배주주가 감사까지 선임하는 것도 불가능한 것은 아님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소수주주인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경우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감사뿐만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아니라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CEO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대신에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CFO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또는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지명권을 요구하는 것을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  <a:tr h="5994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b="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(4) </a:t>
                      </a: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감사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회사는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인의 감사를 두며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[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의해 선임된다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0026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IPO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1. IPO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750432"/>
              </p:ext>
            </p:extLst>
          </p:nvPr>
        </p:nvGraphicFramePr>
        <p:xfrm>
          <a:off x="439738" y="1038740"/>
          <a:ext cx="9188450" cy="5592056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4719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 회수를 위한 수단으로서의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관한 사항 규정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23979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재무적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투자자가 대상회사의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소수주주로서 투자를 하는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특히 해당 재무적 투자자에게 상환우선주식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(RPS)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또는 전환상환우선주식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(RCPS)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으로 대상회사에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투자금에 대한 상환권이 부여되지 아니하는 경우에는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투자회수를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위하여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대한 구체적인 내용을 규정하고자 하는 경우가 많음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통상적으로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이행기한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3~5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사이에서 결정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절차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위원회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하지 못 하는 경우의 페널티에 대하여 규정하나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당사자간 협상에 따라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 관련한 추가적인 내용을 규정할 수도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정의 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 관련된 사항에 대해서는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지배주주가 주도권 내지는 재량권을 가지고 결정할 수 있도록 규정하는 것을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당시 자신이 보유한 주식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매출이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최대화되고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보호예수의무를 최소화할 수 있도록 요구하는 문구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추가 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SHA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’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참고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추가하는 것을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  <a:tr h="14387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SHA</a:t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b="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(1) </a:t>
                      </a:r>
                      <a:r>
                        <a:rPr lang="en-US" altLang="ko-KR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en-US" altLang="ko-KR" sz="10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회사로 하여금 거래종결일로부터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지배주주의 요청 및 소수주주의 동의에 따라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 연장할 수 있으며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합리적인 사유 없이 동의를 유보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거부할 수 없음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이내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그러한 기간의 최종일을 “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적격 </a:t>
                      </a:r>
                      <a:r>
                        <a:rPr lang="en-US" altLang="ko-KR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이행기한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”이라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함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적격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완료하기 위하여 합리적인 노력을 다하게 하여야 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거래종결일로부터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개월 이내에 적격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완료하는 경우에는 소수주주의 사전 서면 동의를 요한다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적격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와 관련하여 지배주주가 합리적으로 요구하는 범위 내에서 협조하여야 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[…]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  <a:tr h="12834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SHA 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구주 매출 최대화 및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보호예수의무 최소화</a:t>
                      </a:r>
                      <a:endParaRPr lang="en-US" altLang="ko-KR" sz="1000" b="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추진함에 있어서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관련 법령 또는 상장 관련 기관의 규정이 허용하는 범위 내에서 소수주주와의 협의를 통하여 소수주주가 보유하는 회사 주식의 구주 매출이 지배주주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 특수관계인 포함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우선하여 이루어지고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 수량이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최대화될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수 있도록 최대한 노력하기로 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와 관련하여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관련 법령 및 상장 관련 기관의 규정이 허용하는 범위 내에서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소수주주가 보유하는 회사 주식의 전부 또는 일부에 대하여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의무보유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보호예수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 요구되지 아니하도록 하거나 요구된다 하더라도 그 범위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기간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 주식 수 등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 최소화될 수 있도록 최대한 노력하기로 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528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6846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IPO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적격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IPO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간주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316919"/>
              </p:ext>
            </p:extLst>
          </p:nvPr>
        </p:nvGraphicFramePr>
        <p:xfrm>
          <a:off x="439738" y="1038740"/>
          <a:ext cx="9188450" cy="4548370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5918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요건을 충족하지 못함에 따른 페널티를 지배주주가 받거나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분쟁이 발생하는 것을 미연에 방지하기 위하여 적격 간주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대해 규정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8392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관련 규정은 계약 체결 시점으로부터 약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3~5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이후의 상황을 규정하는 것으로서 계약 체결 당시와는 다른 시장 여건 등으로 인하여 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요건을 갖추지 못하는 경우가 발생할 수 있는바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아래와 같은 적격 간주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조건을 규정하는 것을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  <a:tr h="311727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SHA</a:t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b="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(1) </a:t>
                      </a:r>
                      <a:r>
                        <a:rPr lang="en-US" altLang="ko-KR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[…]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en-US" altLang="ko-KR" sz="10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호의 일반성을 해함이 없이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당사자들은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 적격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로 진행되지 않을 것이라는 지배주주의 합리적인 판단이 있을 경우 지배주주는 회사로 하여금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진행하게 할 의무를 지지 않음에 동의한다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 적격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로 진행될 것이라는 합리적인 판단에 따라 지배주주가 회사로 하여금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진행하게 하였으나 해당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 완료 당시 적격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조건을 충족하지 않는 경우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계약상 상반되는 조항에도 불구하고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해당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완료일로부터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 이내에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소수주주가 매도대상주식 전부에 대하여 최소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IRR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실현할 수 있는 금액의 현금 대금 또는 지급액을 수취하는 것을 조건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적격 간주 </a:t>
                      </a:r>
                      <a:r>
                        <a:rPr lang="en-US" altLang="ko-KR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조건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으로 하는 대체 거래를 제안하고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(ii)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지배주주의 제안을 받은 날로부터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 이내에 제안 수락 여부를 결정하여 지배주주에 통지하여야 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소수주주가 지배주주의 제안을 수락하는 경우 해당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는 적격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로 간주된다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적격 간주 </a:t>
                      </a:r>
                      <a:r>
                        <a:rPr lang="en-US" altLang="ko-KR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이는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(A)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소수주주가 지배주주의 제안을 수락할 의사를 통지한 날로부터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영업일이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경과한 날 또는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(B) IPO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시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소수주주에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적용되는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매도제한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약정이 있을 경우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이후 매도제한기간이 만료된 날로부터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영업일이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경과한 날 중 나중에 도래하는 날까지 해당 거래가 종결되고 소수주주가 현금 대금 또는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지급금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전액을 수취하는 경우에 한한다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나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ko-KR" sz="10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소수주주가 수락 및 이행하였다면 적격 간주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조건을 전부 충족하였을 지배주주의 제안을 수락하지 않을 경우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는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하자면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적격 간주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조건의 충족 여부를 불문하고 적격 간주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해당하는 것으로 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해당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이행하는 과정에서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소수주주와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협의하고 해당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에서 매각될 본건 주식의 수 등과 관련하여 소수주주가 제시하는 합리적인 의견을 선의로써 검토하며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회사로 하여금 그와 같이 행하도록 하여야 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213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IPO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3.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소수주주 주도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IPO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286995"/>
              </p:ext>
            </p:extLst>
          </p:nvPr>
        </p:nvGraphicFramePr>
        <p:xfrm>
          <a:off x="439738" y="1038740"/>
          <a:ext cx="9188450" cy="4428475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4719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es-MX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(IPO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이행기한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주도권을 소수주주가 가져가는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관해 규정 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11989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계약상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이행기한까지는 지배주주가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대한 주도권을 갖되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IPO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이행기한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이후에는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대한 주도권을 소수주주가 가져가는 구조를 요구하는 것을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소수주주가 주도하는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 진행되는 경우 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 이행되지 아니함으로써 발생하는 페널티의 적용이 정지되도록 하는 것을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  <a:tr h="275758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SHA</a:t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b="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(2) </a:t>
                      </a:r>
                      <a:r>
                        <a:rPr lang="en-US" altLang="ko-KR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위원회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en-US" altLang="ko-KR" sz="10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당사자들은 거래종결일로부터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 이내에 회사로 하여금 적격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시기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방식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절차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자문인 선임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 외 세부 사항 등 적격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준비 및 완료에 대하여 검토하고 논의할 특별 위원회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en-US" altLang="ko-KR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위원회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설립하도록 하여야 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IPO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위원회의 구성원은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인으로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 중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인은 지배주주가 선임하고 나머지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인은 소수주주가 선임한다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하자면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호를 조건으로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IPO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위원회는 어떠한 의사결정권한도 갖지 않으며 적격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적격 간주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관련 중대 사안만을 검토 및 논의할 수 있다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적격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이행기한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이후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적격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와 적격 간주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 어느 것도 완료되지 않은 경우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), (</a:t>
                      </a:r>
                      <a:r>
                        <a:rPr lang="en-US" altLang="ko-KR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IPO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위원회에는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인의 구성원을 두고 이 중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인은 지배주주가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인은 소수주주가 선임하는 것으로 하며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IPO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위원회는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관련 중대 사안에 대하여 의사결정권한을 갖는다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IPO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위원회는 구성원 과반수의 찬성으로 의결한다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소수주주가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이행하고 해당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공모가격을 최대화하기 위해 합리적으로 요구되는 범위 내에서 회사로 하여금 협조하도록 하여야 하며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준비 과정에서 지배주주 및 회사와 신의성실로써 협의하고 지배주주의 합리적인 의견을 선의로써 검토한다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하자면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호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예정된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는 적격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이행기한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이전에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 이행되었더라면 적격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포함되었을 조건을 달성할 의무를 지지 않는다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en-US" altLang="ko-KR" sz="10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하자면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적격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적격 간주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와 관련한 어떠한 조건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요건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의무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권리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ko-KR" altLang="en-US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ko-KR" altLang="en-US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en-US" altLang="ko-KR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ko-KR" altLang="en-US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ko-KR" altLang="en-US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포함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도 적격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이행기한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이후에 예정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이행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완료되는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에는 적용되지 않고 이를 주장할 수도 없다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</a:t>
                      </a:r>
                      <a:r>
                        <a:rPr lang="en-US" altLang="ko-KR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ko-KR" altLang="en-US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따라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위원회가 구성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권한 부여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운영되고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계약상 조건에 따라 해당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 완료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그러한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“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 주도 </a:t>
                      </a:r>
                      <a:r>
                        <a:rPr lang="en-US" altLang="ko-KR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라 함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되는 것을 조건으로 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0644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IPO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4.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콜옵션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816004"/>
              </p:ext>
            </p:extLst>
          </p:nvPr>
        </p:nvGraphicFramePr>
        <p:xfrm>
          <a:off x="439738" y="1038740"/>
          <a:ext cx="9188450" cy="5627425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4719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및 적격 간주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불발의 결과로 행사되는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콜옵션에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관해 규정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203821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 되지 아니하여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소수주주인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재무적 투자자가 문제를 제기하거나 계약상 페널티를 가하고자 하는 경우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대상회사의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경영권을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잃거나 대상회사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운영에 장애가 발생할 수 있는바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지배주주는 재무적 투자자의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IRR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고려하여 소수주주의 주식을 매수함으로써 분쟁 상황을 조기에 종결하는 것도 고려 가능함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콜옵션은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권리이고 의무는 아니기 때문에 일부 지배주주에게 유리한 측면이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). 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소수주주의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지배주주에게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콜옵션을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행사할 의무가 없는 이상 지배주주에게 자신이 보유한 주식을 매각할 수 없으므로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또는 적격 간주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실패 시 지배주주의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콜옵션이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아닌 소수주주에게 불이행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풋옵션을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부여할 것을 주장할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 참고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다만 이 경우에는 지배주주의 재무제표에 해당 불이행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풋옵션이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부채로 인식될 수 있으므로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회계전문가의 사전 검토가 필요함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회사에 대한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풋옵션은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상법상 자기주식 취득 제한 규정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회사에 배당가능이익이 존재하여야 하고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주주평등의 원칙에 따라 모든 주주에게 자기주식 매입에 대한 기회를 공평하게 부여하여야 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따라 집행이 어려울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  <a:tr h="311727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SHA</a:t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b="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(3) </a:t>
                      </a: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적격 </a:t>
                      </a:r>
                      <a:r>
                        <a:rPr lang="en-US" altLang="ko-KR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불발의 결과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적격 간주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및 적격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 어느 것도 완료되지 않을 경우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en-US" altLang="ko-KR" sz="10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적격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이행기한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이후 언제든지 수시로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당시 소수주주가 보유하는 본건 주식의 전부 또는 일부를 매수할 권리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갖고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이를 매도할 의무를 갖되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지배주주가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콜옵션을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행사하더라도 당시 소수주주가 보유하는 매도대상주식의 수가 당시 발행된 본건 주식 총수의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[•]%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이하가 되지 않는 경우에 한한다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이하 </a:t>
                      </a:r>
                      <a:r>
                        <a:rPr lang="ko-KR" altLang="en-US" sz="1000" b="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항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에서 “</a:t>
                      </a:r>
                      <a:r>
                        <a:rPr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제안주식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 때 매수 가격은 소수주주가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제안주식에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대하여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IRR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실현할 수 있는 금액으로 하고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지배주주가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콜옵션을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행사할 의사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(ii)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매수할 본건 주식의 수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(iii)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행사가격 등을 기재한 서면 통지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행사통지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소수주주에게 송부함으로써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콜옵션을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행사한다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행사통지가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발송됨과 동시에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제안주식의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매매에 관한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확정계약이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체결된 것으로 간주한다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콜옵션의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행사에 따른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제안주식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매매 거래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거래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는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행사통지가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송부된 날로부터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그리고 관련 법률상 요구되는 바에 따라 필요한 정부승인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이를 신속히 취득하기 위하여 최선의 노력을 다하여야 함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취득하는 데 필요한 시간을 더한 기간 이내에 종결되어야 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거래는 회사의 주된 사무소 또는 그 외 당사자들이 합의하는 장소에서 종결되는 것으로 하며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종결 당시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제안주식을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표창하는 주권을 교부하여야 하고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제안주식은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본 계약상 발생하는 담보 및 지배주주에 귀책사유가 있는 담보를 제외한 어떠한 담보도 없는 상태여야 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당사자들이 달리 합의하지 않는 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거래의 종결 당시 자신이 매수한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제안주식에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대한 대금을 즉시 이용 가능한 자금의 형태로 전액 납부하여야 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그러한 종결 당시 당사자들은 달리 합리적으로 필요하거나 적절한 경우 추가 서류를 체결 및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교부하여야 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제안주식은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엄격하게 있는 그대로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(strict as-is basis)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매매하기로 하며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거래 종결 이후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거래와 관련하여 어떠한 책임 또는 의무도 부담하지 않는다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제안주식에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대한 수권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집행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집행가능성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상충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부존재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소유권과 관련하여 진술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보장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면책할 의무를 부담한다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[…]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615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III. IPO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5. 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[Pro-minority]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소수주주의 동반매각요구권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(Minority Drag-Along Right)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841718"/>
              </p:ext>
            </p:extLst>
          </p:nvPr>
        </p:nvGraphicFramePr>
        <p:xfrm>
          <a:off x="439738" y="1038740"/>
          <a:ext cx="9188450" cy="5387635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5918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 실패 시 소수주주 주도 하에 매각절차를 진행할 권한을 소수주주에게 부여하고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 경우 소수주주에게 지배주주 보유주식에 대한 동반매각요구권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(Drag-Along Right)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부여하는 방안에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관해 규정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11989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이해관계인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소수주주의 동반매각요구권 행사로 대상회사의 경영권을 상실하고 보유 주식을 저가에 매각하도록 강요당할 수 있으므로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이러한 요구에 대해서는 수용 여부를 신중하게 결정하여야 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투자자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소수주주는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또는 적격 간주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실패 시 투자금 회수를 위해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exit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하는 차원에서 동반매각요구권을 행사하는 것으로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 경우에도 최소한의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IRR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보장 받기 위해 아래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표준 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SHA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호에서와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같이 최소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IRR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해당하는 금액만큼을 우선 지급 받을 수 있는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waterfall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조항을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규정해두는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것을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  <a:tr h="35968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(Pro-minority)</a:t>
                      </a:r>
                    </a:p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SHA</a:t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b="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(1)</a:t>
                      </a:r>
                      <a:r>
                        <a:rPr lang="en-US" altLang="ko-KR" sz="10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투자자는 다음 각 호 어느 하나에 해당하는 경우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이해관계인이 보유하고 있는 회사 주식의 전부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동반매각주식”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그 투자자가 지정하는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자에게 자신이 보유하는 주식과 함께 동일한 매각절차에서 실질적으로 동일한 조건으로 함께 매각할 것을 요구할 수 있는 권리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동반매각요구권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가진다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하면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조에 따른 동반매각거래에는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내지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조는 적용되지 아니한다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1. 202[•]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월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일까지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 따른 적격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 완료되지 않은 경우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항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호에도 불구하고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202[•]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월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일까지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 따른 적격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 완료되지 않고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투자자가 이해관계인에게 관련 법령이 허용하는 방법에 따라 투자자가 보유하고 있는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보통주식을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매수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주당 매매가격은 해당 주식의 주당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투자원금에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대하여 해당 주식의 취득일로부터 본 호에 따른 거래의 매매대금 지급일까지의 기간에 대해 내부수익률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(IRR)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 연 복리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[•]%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 되는 금액이 되어야 함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하도록 서면 요청을 하였음에도 그 서면 요청일로부터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년이 경과할 때까지 이해관계인 또는 이해관계인이 지정한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자가 매수 요청을 한 투자자의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보통주식을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전부 매수하지 못한 경우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하면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근본적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진술보장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외에 일체의 진술 및 보장이 없는 그 당시 현상 그대로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(as-is basis)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매수하여야 함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[…]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(3)</a:t>
                      </a:r>
                      <a:r>
                        <a:rPr lang="en-US" altLang="ko-KR" sz="10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투자자가 동반매각요구권을 행사하여 투자자와 이해관계인이 회사의 주식을 매도한 경우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 주식을 양수하는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잠재적 매수인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로부터 지급받게 되는 주식매매대금은 다음 각 호의 순서 및 방법에 따라 배분한다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투자자는 본 조에 따른 조건을 해당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잠재적 매수인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와 체결하는 주식매매계약에 반영하여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 및 이해관계인이 각 매각하는 주식의 매매대금을 달리 설정할 수 있다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조에 따른 분배 대상이 되는 주식매매대금 수령에 관한 주식매매 거래에 대하여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자문용역을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제공한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재무자문사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회계자문사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및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법률자문사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수수료 등 비용 지급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투자자에게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</a:t>
                      </a:r>
                      <a:r>
                        <a:rPr lang="en-US" altLang="ko-KR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투자자가 매각한 주식의 주당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투자원금에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대하여 해당 주식의 취득일로부터 본 항에 따른 분배일까지의 기간을 기준으로 내부수익률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(IRR)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연 복리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[•]%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달성할 수 있도록 하는 금액에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투자자가 실제로 매각한 주식 수를 곱한 금액을 지급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이해관계인에게 다음과 같이 산정한 금액을 지급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(</a:t>
                      </a:r>
                      <a:r>
                        <a:rPr lang="en-US" altLang="ko-KR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이해관계인이 매각한 동반매각주식의 수에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금액을 곱한 금액  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지급잔여금액은 투자자 및 이해관계인에게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본조에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따라 실제로 매각한 회사 주식의 상대적 비율에 따라 지급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81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s-MX" altLang="ko-KR" dirty="0" smtClean="0">
                <a:latin typeface="+mn-ea"/>
              </a:rPr>
              <a:t>IV. </a:t>
            </a:r>
            <a:r>
              <a:rPr lang="ko-KR" altLang="en-US" dirty="0" smtClean="0">
                <a:latin typeface="+mn-ea"/>
              </a:rPr>
              <a:t>주식의 양도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매도제한기간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010195"/>
              </p:ext>
            </p:extLst>
          </p:nvPr>
        </p:nvGraphicFramePr>
        <p:xfrm>
          <a:off x="439738" y="1038739"/>
          <a:ext cx="9188450" cy="4908056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47194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지분율에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관계없이 대상회사의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 관계를 유지하고자 하는 최소 기간을 규정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311727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매도제한기간은 일반적으로 전략적 투자자와의 사이에서는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5~10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재무적 투자자와의 사이에서는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2~3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또는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이행기한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만료시까지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사이의 기간에서 정해짐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매도제한기간 중 사전에 정해진 허용된 계열회사에 대한 양도 외에는 아예 양도를 금지하는 경우도 존재하나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매도제한기간 중에도 상대방 당사자에게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우선매수권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부여 등의 절차를 거쳐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자에게 양도하는 것을 허용하는 취지로 규정할 수도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이는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대한 투자 목적 및 당사자간 협상에 따라 달라질 수 있으므로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경우에 맞게 매도제한기간을 어떻게 설정할지 고려가 필요함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지배주주인 경우 대상회사의 경영권 양도 등 그룹 내 재편 과정에서 유연함을 확보하기 위하여 소수주주의 동의 없이 대상회사의 경영권 양도가 가능하되 소수주주에게 동반매도청구권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(Tag-Along Right)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부여하는 것도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 참고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주주간계약상 매도제한기간 규정은 주주간 계약상의 의무이기 때문에 상대방이 이를 위반하는 경우에는 원칙적으로 계약 위반에 대한 손해배상의무가 발생하는 것 외에 주주간계약의 존재를 알지 못하고 양수한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자에 대해서는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특히 선의취득 등의 관점에서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대항하기 어려울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이를 방지하기 위하여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다음과 같은 방안을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상법의 경우 정관에서 주식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양수도에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관하여 이사회 승인을 받도록 규정하고 이를 법인등기부에 등기하면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이를 위반하여 이루어진 주식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양수도는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회사에 대하여 효력이 없으므로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정관에 주식 양도에 대해 이사회 승인을 요하도록 규정하고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관련 등기를 하는 방안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매도제한기간 규정 위반의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이로 인하여 위반 주주가 얻게 되는 양도차익을 상대방 주주에게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위약벌로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지급하도록 주주간 계약에 규정하는 방안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추가 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SHA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’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참고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  <a:tr h="131884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매도제한기간 규정 위반에 따른 </a:t>
                      </a:r>
                      <a:r>
                        <a:rPr lang="ko-KR" altLang="en-US" sz="1000" b="1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위약벌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어느 당사자가 본 조를 위반하여 그 보유 회사 주식을 양도할 경우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그당사자는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상대방 당사자에게 다음과 같이 계산한 금액을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위약벌로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지급하여야 한다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총 </a:t>
                      </a:r>
                      <a:r>
                        <a:rPr lang="ko-KR" altLang="en-US" sz="1000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위약벌</a:t>
                      </a: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지급 금액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= (</a:t>
                      </a:r>
                      <a:r>
                        <a:rPr lang="en-US" altLang="ko-KR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(a)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당사자의 주당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투자원금에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대하여 해당 주식의 취득일로부터 본 항에 따른 양도 거래의 종결일까지의 기간을 기준으로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IRR [•]%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달성할 수 있도록 하는 금액에서 주당 투자원금을 차감한 금액 및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(b)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주당 처분금액에서 주당 투자원금을 차감한 금액 중 높은 금액에 해당하는 가격에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조를 위반하여 양도를 한 주식 수를 곱한 금액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947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s-MX" altLang="ko-KR" dirty="0" smtClean="0">
                <a:latin typeface="+mn-ea"/>
              </a:rPr>
              <a:t>IV. </a:t>
            </a:r>
            <a:r>
              <a:rPr lang="ko-KR" altLang="en-US" dirty="0" smtClean="0">
                <a:latin typeface="+mn-ea"/>
              </a:rPr>
              <a:t>주식의 양도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우선매수권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(Right of First Refusal, “ROFR”) (1)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382850"/>
              </p:ext>
            </p:extLst>
          </p:nvPr>
        </p:nvGraphicFramePr>
        <p:xfrm>
          <a:off x="440455" y="1038739"/>
          <a:ext cx="9188450" cy="4428476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591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지분을 매도하고자 하는 주주가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자와 사이에 가격을 포함한 관련 조건을 확정하고 상대방 주주에게 동일한 조건으로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자에 우선하여 매수할 수 있는 권리를 상대방 주주에게 부여하는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우선매수권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(ROFR)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관해 규정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38366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ROFO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 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ROFR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차이점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ROFO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매도하고자 하는 주주가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자와 사전에 매매와 관련한 조건 확정 없이 바로 상대방 주주와 매도 조건에 대하여 협상할 수 있어서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상대방 주주가 거절하는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ROFO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 규정된 제한 외에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자와의 협상을 통하여 주식을 매각할 수 있다는 점에서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자와의 거래에 있어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거래종결의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확실성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(deal certainty)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 보장됨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ROFR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ROFO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 달리 매도하고자 하는 주식의 보다 객관적인 가격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자와 협상된 가격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상대방 주주가 확인할 수 있고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이에 따라 상대방 주주가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informed decision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할 수 있는 기회가 보장됨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반면 매도하고자 하는 주주의 입장에서는 인수희망자와의 협상을 끝낸 뒤 상대방 주주에게 기회를 주어야 하므로 매각절차가 어려워질 가능성이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ROFO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 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ROFR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행사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관련 통지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상대방 주주의 검토 및 결정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결정에 따라 상대방 주주의 매수 또는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자에 대한 매각 절차를 거침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구체적인 절차나 기간은 당사자간 협상에 따라 달라짐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ROFR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행사 대상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기본적으로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ROFR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대상이 보유 주식 전부를 양도하는 경우로 한정하는 표준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SHA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 달리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일부 주식을 양도하고자 하는 경우에도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ROFR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행사할 수 있도록 규정할 수도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소수주주의 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ROFR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ROFR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는 소수주주가 아닌 지배주주에게만 부여하며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지배주주가 주식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양수도를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하는 경우에 소수주주에게는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ROFR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 발생하지 아니하고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Tag-Along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Right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 발생함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보유 주식이 양도되는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Drag-Along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권리를 가지는 구조를 고려해볼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SHA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는 관련 규정이 없으나 표준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5.4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조를 기준으로 일반적인 지배주주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Drag-Along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규정을 준비할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). 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지배주주의 주식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양도시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Tag-Along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Right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요구할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참고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9395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s-MX" altLang="ko-KR" dirty="0" smtClean="0">
                <a:latin typeface="+mn-ea"/>
              </a:rPr>
              <a:t>IV. </a:t>
            </a:r>
            <a:r>
              <a:rPr lang="ko-KR" altLang="en-US" dirty="0" smtClean="0">
                <a:latin typeface="+mn-ea"/>
              </a:rPr>
              <a:t>주식의 양도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우선매수권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(Right of First Refusal, “ROFR”) (2)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063378"/>
              </p:ext>
            </p:extLst>
          </p:nvPr>
        </p:nvGraphicFramePr>
        <p:xfrm>
          <a:off x="440455" y="1038738"/>
          <a:ext cx="9188450" cy="2749947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274994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(3) </a:t>
                      </a:r>
                      <a:r>
                        <a:rPr lang="ko-KR" altLang="en-US" sz="1000" u="sng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u="sng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u="sng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자에 대한 양도</a:t>
                      </a:r>
                      <a:r>
                        <a:rPr lang="en-US" altLang="ko-KR" sz="1000" u="sng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ko-KR" altLang="en-US" sz="1000" u="sng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우선매수권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altLang="ko-KR" sz="100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[…]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양도통지를 수령한 후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옵션기간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이내에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소수주주에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서면으로 통지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우선매수권통지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함으로써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양도통지에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명시된 것과 동일한 조건으로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제안주식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전부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일부는 불가함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매수할 수 있는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우선매수권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우선매수권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행사하여야 한다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지배주주가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옵션기간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이내에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제안주식에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대한 우선매수권을 행사하지 않을 경우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그 이후부터 자유롭게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제안주식을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 매수인에 양도할 수 있다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양도통지에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명시된 것보다 더 낮은 가격 또는 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 매수인에 더 유리한 조건으로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제안주식을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양도하여서는 안 된다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옵션기간이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만료된 날로부터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그리고 관련 법률상 요구되는 바에 따라 필요한 정부 또는 규제당국의 승인을 취득하는 데 필요한 시간을 더한 기간 이내에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제안주식이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 매수인에 양도되지 않을 경우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이후 소수주주의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제안주식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양도는 다시 </a:t>
                      </a:r>
                      <a:r>
                        <a:rPr lang="ko-KR" altLang="en-US" sz="1000" u="non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조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따른 제한을 받게 되어 지배주주가 해당 양도에 대한 우선매수권을 갖는다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 매수인에 대한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제안주식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매각이 종결되면 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 매수인은 본 계약상 소수주주의 모든 권리를 부여 받고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 매수인으로 하여금 별지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6.2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첨부 양식에 따라 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 매수인이 적법하게 체결한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이행약정서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원본을 지배주주에 교부하고 본 계약상 소수주주의 권리 및 의무 일체를 양수하도록 하여야 한다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4.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지배주주가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옵션기간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이내에 우선매수권을 행사하는 경우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양도통지에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명시된 것과 동일한 조건으로 다음 사항에 따라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제안주식을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지배주주에 양도하여야 한다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[…]</a:t>
                      </a:r>
                      <a:endParaRPr lang="ko-KR" altLang="en-US" sz="100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0347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s-MX" altLang="ko-KR" dirty="0" smtClean="0">
                <a:latin typeface="+mn-ea"/>
              </a:rPr>
              <a:t>IV. </a:t>
            </a:r>
            <a:r>
              <a:rPr lang="ko-KR" altLang="en-US" dirty="0" smtClean="0">
                <a:latin typeface="+mn-ea"/>
              </a:rPr>
              <a:t>주식의 양도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3.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동반매도청구권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(Tag-Along Right)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994484"/>
              </p:ext>
            </p:extLst>
          </p:nvPr>
        </p:nvGraphicFramePr>
        <p:xfrm>
          <a:off x="439738" y="1038739"/>
          <a:ext cx="9188450" cy="5387636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591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일방주주가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자에게 보유주식을 매도하고자 하는 경우 상대방 주주가 그 양도하는 주주와 함께 동일한 조건으로 해당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자에게 양도할 수 있는 권리인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동반매도청구권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(Tag-Along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Right)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관해 규정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16785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지배주주가 있는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통상적으로는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지배주주가 일부 주식을 매각하거나 소수주주가 주식을 매각하는 경우에는 동반매도청구권이 발생하지 않도록 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SHA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경우 경영권 변동의 경우에 동반매도청구권이 발동되는 것으로 규정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). 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 입장에서 지배주주 외 다른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주요주주가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발생하게 되면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IRR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또는 투자회수 과정에서 영향이 발생할 수 있으므로 경영권 변동이 없는 일부 지분 매각의 경우에도 동반매도청구권이 발동할 수 있도록 요구할 가능성도 존재함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동반매도청구권의 경우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매수자가 인수하고자 하는 주식 수에 한계가 존재할 수 있으므로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소수주주의 경우 자신이 보유한 주식이 먼저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매출될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 있도록 규정하는 경우도 존재함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추가 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SHA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’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참고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  <a:tr h="22780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(4)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동반매도청구권</a:t>
                      </a:r>
                      <a:r>
                        <a:rPr lang="en-US" altLang="ko-KR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(Tag-Along</a:t>
                      </a:r>
                      <a:r>
                        <a:rPr lang="en-US" altLang="ko-KR" sz="1000" u="sng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Right)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포함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 상반되는 내용에도 불구하고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자신이 보유한 본건 주식을 여하한 인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人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에게 양도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그러한 인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人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“</a:t>
                      </a:r>
                      <a:r>
                        <a:rPr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동반매도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매수인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”라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함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할 수 있되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 결과 해당 인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人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 회사에 대한 지배권을 취득하여야 하고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하자면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하기 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호를 조건으로 지배주주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직∙간접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모회사 또는 이들 각 계열회사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 제외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지배 구조가 변동되는 경우에는 지배권 변동 매각으로 간주되지 않음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본 항에 따른 의무를 준수하여야 한다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지배권 변동 매각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).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지배주주가 지배권 변동 매각을 제안하는 경우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소수주주에게 자신이 보유한 본건 주식의 전부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동반매도주식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동반매도청구통지에 명시된 것과 동일한 본건 주식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주당 가격에 실질적으로 유사한 조건으로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동반매도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매수인에게 매도하는 거래에 참여할 수 있는 권리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의무는 아님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)(“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동반매도청구권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제안하여야 한다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전술한 사항에도 불구하고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지배주주가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소수주주로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하여금 본 항에 따라 당시 자신이 보유하고 있는 매도대상주식의 전부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일부는 불가함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소수주주가 당시 자신이 보유하고 있는 매도대상주식에 대해 최소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IRR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실현할 수 있는 현금 가격으로 매도할 수 있도록 하거나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소수주주에게 상기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문에 따른 것과 동일하거나 실질적으로 유사한 경제적 권리를 부여하는 투자금 회수 옵션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(exit option)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부여하는 경우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그리고 그러한 경우에 한하여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지배권 변동 매각 시 자신이 보유한 본건 주식을 양도할 수 있다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[…]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  <a:tr h="8392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</a:t>
                      </a:r>
                    </a:p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 보유 주식 우선 매출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양도희망주주는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동반매도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대상주식의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전부를 양수희망자에게 매도하기 전까지 자신의 양도대상주식을 매도할 수 없고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양수희망자가 양수하고자 하는 주식의 총 수량이 양도대상주식 및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동반매도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대상주식의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합계에 미달하는 경우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동반매도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대상주식을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우선적으로 양도하여야 한다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ko-KR" altLang="en-US" sz="100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76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09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s-MX" altLang="ko-KR" dirty="0" smtClean="0">
                <a:latin typeface="+mn-ea"/>
              </a:rPr>
              <a:t>IV. </a:t>
            </a:r>
            <a:r>
              <a:rPr lang="ko-KR" altLang="en-US" dirty="0" smtClean="0">
                <a:latin typeface="+mn-ea"/>
              </a:rPr>
              <a:t>주식의 양도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4.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동반매각요구권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(Drag-Along Right)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44651"/>
              </p:ext>
            </p:extLst>
          </p:nvPr>
        </p:nvGraphicFramePr>
        <p:xfrm>
          <a:off x="439738" y="1038739"/>
          <a:ext cx="9188450" cy="5627426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47194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일방주주가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자에게 보유주식을 매도하고자 하는 경우 상대방 주주가 보유하는 주식을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동등한 조건으로 함께 매각할 것을 요구할 수 있는 권리인 동반매각요구권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(Drag-Along Right)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관해 규정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11989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지배주주가 있는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지배주주가 보유하는 주식 전부를 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자에게 매각하는 경우 소수주주가 보유하는 주식 전부를 동일한 매도 절차에서 동등한 조건으로 함께 매각하도록 규정하는 것이 흔함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 입장에서도 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 실패 시 소수주주 주도 하에 매각절차를 진행할 권한을 소수주주에게 부여하고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 경우 소수주주에게 지배주주 보유주식에 대한 동반매각요구권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(Drag-Along Right)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부여하는 방안에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관해 규정하기도 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(‘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[Pro-minority]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소수주주의 동반매각요구권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(Minority Drag-Along Right)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’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참고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ko-KR" sz="10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  <a:tr h="39565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(5)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u="sng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동반매각요구권</a:t>
                      </a:r>
                      <a:r>
                        <a:rPr lang="en-US" altLang="ko-KR" sz="1000" u="sng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(Drag-Along Right)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지배주주가 보유하는 회사 주식의 전부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지배주주매도주식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제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자에게 매각하는 경우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소수주주가 보유하는 회사 주식의 전부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동반매각주식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지배주주매도주식과 동일한 매도 절차에서 동등한 조건으로 함께 매각할 것을 요구할 수 있는 권리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동반매각요구권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가진다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지배주주가 본 항에 따라 동반매각요구권을 행사하고자 하는 경우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소수주주에게 동반매각요구권을 행사한다는 취지의 서면 통지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ko-KR" altLang="en-US" sz="1000" b="1" u="sng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동반매각요구권 행사개시통지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하여야 한다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구체적인 </a:t>
                      </a:r>
                      <a:r>
                        <a:rPr lang="ko-KR" altLang="en-US" sz="1000" u="non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행사절차는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다음과 같으며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이에 따른 지배주주의 통지 및 권리 행사는 서면 통지에 의하여야 한다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소수주주가 동반매각요구권 행사개시통지를 수령한 경우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그 </a:t>
                      </a:r>
                      <a:r>
                        <a:rPr lang="ko-KR" altLang="en-US" sz="1000" u="non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수령일에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본 계약을 준수한 주식매매계약의 체결 권한 및 동반매각주식을 표창하는 주권의 교부 권한을 포함하여 동반매각주식의 매각에 관한 일체의 권한을 지배주주에게 위임한 것으로 간주한다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하면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지배주주가 본 계약상 조건에 따라 절차를 진행할 것을 조건으로 위와 같이 위임한 것으로 간주하기로 한다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). </a:t>
                      </a:r>
                      <a:r>
                        <a:rPr lang="ko-KR" altLang="en-US" sz="1000" u="non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동반매각주식의 매각이 본 계약에 따라 이루어질 수 있도록 필요한 모든 절차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필요적 제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u="non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자승인에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따른 동의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협의 등의 조치를 포함함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이행하기로 한다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나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소수주주가 동반매각요구권의 행사개시통지를 받은 날로부터 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u="non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영업일이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지난 경우 지배주주는 회사에 대한 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Information Memorandum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 작성 및 교부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잠재적 매수인의 유치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지배주주의 회사에 대한 </a:t>
                      </a:r>
                      <a:r>
                        <a:rPr lang="ko-KR" altLang="en-US" sz="1000" u="non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매도실사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잠재적 매수인의 회사에 대한 </a:t>
                      </a:r>
                      <a:r>
                        <a:rPr lang="ko-KR" altLang="en-US" sz="1000" u="non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매수실사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입찰의 실시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우선협상대상자의 선정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주식매매계약 기타 거래 관련 계약의 체결 및 그 </a:t>
                      </a:r>
                      <a:r>
                        <a:rPr lang="ko-KR" altLang="en-US" sz="1000" u="non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거래종결을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포함하여 지배주주매도주식 및 동반매각주식의 매각에 관한 일체의 절차에 관하여 전반적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최종적 결정권과 주도권을 가진다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 및 </a:t>
                      </a:r>
                      <a:r>
                        <a:rPr lang="ko-KR" altLang="en-US" sz="1000" u="non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지배주주가 동반매각주식 매각을 위해 필요한 협조를 요청하는 경우 적극적으로 지원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경영권의 양도가 수반되는 소수주주의 지분 매각 시 통상적으로 요구되는 수준의 협조를 의미함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하여야 한다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[…]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u="non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신의성실에 따라 본 항에 따른 동반매각거래가 통상적이고 합리적인 방식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하면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이는 반드시 경쟁입찰방식을 의미하는 것은 아님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과 조건으로 이루어질 수 있도록 하여야 하고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(ii)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동반매각주식 전부가 잠재적 매수인에게 매각될 수 있도록 잠재적 매수인과 매각 조건을 협상하여야 한다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라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지배주주가 본 항을 준수하여 잠재적 매수인과 매각 조건을 확정하면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소수주주에게 서명 또는 기명날인 등 동반매각주식의 매각을 위한 주식매매계약의 체결 및 주권의 교부 등 그 </a:t>
                      </a:r>
                      <a:r>
                        <a:rPr lang="ko-KR" altLang="en-US" sz="1000" u="non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거래종결에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필요한 행위의 이행을 요구할 수 있고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이를 이행하여야 한다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altLang="ko-KR" sz="100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67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s-MX" altLang="ko-KR" dirty="0" smtClean="0">
                <a:latin typeface="+mn-ea"/>
              </a:rPr>
              <a:t>IV. </a:t>
            </a:r>
            <a:r>
              <a:rPr lang="ko-KR" altLang="en-US" dirty="0" smtClean="0">
                <a:latin typeface="+mn-ea"/>
              </a:rPr>
              <a:t>주식의 양도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5. IPO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전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콜옵션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914830"/>
              </p:ext>
            </p:extLst>
          </p:nvPr>
        </p:nvGraphicFramePr>
        <p:xfrm>
          <a:off x="439738" y="1038739"/>
          <a:ext cx="9188450" cy="2390261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591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소수주주의 투자 시점의 기업가치 대비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의해 실현이 예상되는 회사의 기업가치가 급격히 증대된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소수주주의 차익 일부를 지배주주와 분배할 수 있도록 하는 장치에 관해 규정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71937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 입장에서는 계약 체결 당시에 상정하지 못하였던 사유로 인해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이행기한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무렵에 적격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IPO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 어려운 경우에 대비하여 사전에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소수주주로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하여금 투자 회수를 할 수 있도록 해주는 옵션을 규정하는 것을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165038"/>
                  </a:ext>
                </a:extLst>
              </a:tr>
              <a:tr h="107905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(6) </a:t>
                      </a:r>
                      <a:r>
                        <a:rPr lang="en-US" altLang="ko-KR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전 </a:t>
                      </a:r>
                      <a:r>
                        <a:rPr lang="ko-KR" altLang="en-US" sz="1000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거래종결일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후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년째 되는 날부터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상장예비심사청구서 제출일 또는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적격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이행기한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중 먼저 도래하는 날까지의 기간 중 언제든지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 또는 수회에 걸쳐 매도대상주식의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[•]%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까지 매수할 권리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en-US" altLang="ko-KR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전 </a:t>
                      </a:r>
                      <a:r>
                        <a:rPr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갖고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소수주주는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이를 매도할 의무를 가지며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 때 매매대금은 소수주주가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IPO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전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콜옵션에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따른 인수 대상 본건 주식에 대하여 최소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IRR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실현할 수 있는 금액으로 한다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IPO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전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콜옵션의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행사 및 종결에 관하여는 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 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호를 준용한다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3221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V. </a:t>
            </a:r>
            <a:r>
              <a:rPr lang="ko-KR" altLang="en-US" dirty="0" smtClean="0">
                <a:latin typeface="+mn-ea"/>
              </a:rPr>
              <a:t>확약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경업 금지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;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유인 금지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;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자산유출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 금지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920175"/>
              </p:ext>
            </p:extLst>
          </p:nvPr>
        </p:nvGraphicFramePr>
        <p:xfrm>
          <a:off x="439738" y="1038739"/>
          <a:ext cx="9188450" cy="3829001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71173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지배주주가 대상회사와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동종업종을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영위하거나 대상회사의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임직원을 유인하는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등으로 대상회사의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가치를 훼손하는 행위에 대한 금지하기 위한 내용 규정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[50:50]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지분 구조가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50:50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 합작회사의 경우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대상회사와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주주들 간의 이해충돌 방지가 더욱 중요하므로 주의할 필요가 있음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311727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경업 금지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	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소수주주의 사전 서면 동의가 없는 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계약이 존속하는 동안 직접 또는 특수관계인을 통하여 간접적으로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대한민국 및 회사가 그 사업을 영위하는 국가에서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회사가 수행하는 주된 사업과 동일하거나 경쟁관계에 있는 사업을 영위하거나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회사가 수행하는 주된 사업과 동일하거나 경쟁관계에 있는 사업을 영위하는 회사의 주주 또는 채권자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단순 투자목적으로 상장회사의 지분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[•]%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미만을 소유하는 경우는 제외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 되거나 이에 대하여 자문을 제공하는 행위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(ii)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회사가 수행하는 주된 사업과 동일하거나 경쟁관계에 있는 사업을 영위하는 회사 또는 사업체에 취업하여 그 임직원이 되는 행위를 하여서는 아니된다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US" altLang="ko-KR" sz="100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유인 금지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	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소수주주의 사전 서면 동의가 없는 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계약이 존속하는 동안 및 본 계약의 해지일로부터 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년이 경과한 날까지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직접 또는 특수관계인을 통하여 간접적으로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</a:t>
                      </a:r>
                      <a:r>
                        <a:rPr lang="en-US" altLang="ko-KR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회사의 고객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협력업체 기타 거래처로 하여금 회사와의 계약관계 기타 거래관계를 종료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축소하거나 거래조건을 불리하게 변경하도록 하는 행위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(ii)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회사의 임직원을 고용 또는 채용하거나 이를 권유하는 행위를 하여서는 아니된다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US" altLang="ko-KR" sz="100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altLang="en-US" sz="1000" b="1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자산유출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금지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지배주주는 소수주주의 사전 서면 동의가 없는 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현재 회사가 보유하고 있는 지식재산권이나 기술 또는 개발 중이거나 개발계획이 확정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외부기관에 의뢰하여 개발하는 경우도 포함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이하 같음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되었거나 도입 예정인 지식재산권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정보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기술 등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유∙무형의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재산적 가치가 있는 자산을 자신 또는 계열회사를 포함한 제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자에게 제공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라이선스를 주는 것 포함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이전 또는 양도하거나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담보 제공 기타 처분을 할 수 없다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445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V. </a:t>
            </a:r>
            <a:r>
              <a:rPr lang="ko-KR" altLang="en-US" dirty="0" smtClean="0">
                <a:latin typeface="+mn-ea"/>
              </a:rPr>
              <a:t>확약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정관 개정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893854"/>
              </p:ext>
            </p:extLst>
          </p:nvPr>
        </p:nvGraphicFramePr>
        <p:xfrm>
          <a:off x="439738" y="1038739"/>
          <a:ext cx="9188450" cy="2869841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5918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계약상의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내용을 대상회사의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회사법적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절차로도 규정하기 위하여 주주간계약과 정관 사이에 불일치가 있는 경우 정관을 개정하도록 하는 근거 규정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14387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지배주주인 경우에는 가능한 한 정관에 규정하지 않고 계약상 의무로만 남겨두는 것이 바람직하고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소수주주인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경우에는 계약 내용을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명시하여 상법에 따른 보호를 받을 수 있도록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초다수결이나 특정 주주의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동의권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등 주주평등의 원칙에 위배되는 정관 규정은 무효라고 판단될 수 있으므로 사전에 그 유효성에 대한 법률 검토가 필요함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유효성 검토에 따라 소수주주 입장에서는 계약상 의무로 두되 보다 광범위한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풋옵션이나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위약벌을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규정할 것을 주장할 가능성도 존재함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  <a:tr h="8392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추가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정관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개정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	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당사자들은 회사의 정관이 본 계약에 일치되지 않는 경우 본 계약과 일치되도록 회사의 정관을 개정하여야 한다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향후 본 계약이 변경되는 경우 당사자들은 회사의 정관을 관련 법령상 허용되는 범위 내에서 본 계약에 일치되도록 하는 데 필요한 모든 조치를 취하여야 한다</a:t>
                      </a:r>
                      <a:r>
                        <a:rPr lang="en-US" altLang="ko-KR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387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555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VI. </a:t>
            </a:r>
            <a:r>
              <a:rPr lang="ko-KR" altLang="en-US" dirty="0" smtClean="0">
                <a:latin typeface="+mn-ea"/>
              </a:rPr>
              <a:t>기타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963334"/>
              </p:ext>
            </p:extLst>
          </p:nvPr>
        </p:nvGraphicFramePr>
        <p:xfrm>
          <a:off x="436543" y="1031099"/>
          <a:ext cx="9182903" cy="5515171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8951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Deadlock 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교착상태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은 주주간계약에 따라 정한 이사회 또는 주주총회 결의 사항이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주주간계약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당사자간 이견으로 승인되지 아니하고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이러한 상태가 계속적으로 유지될 때 발생함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Deadlock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 발생하는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경우 대상회사의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경영이나 가치에 영향을 줄 수 있으므로 해소 메커니즘을 계약서로 정하게 되며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Deadlock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발생 사유도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계약상으로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사전에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정해놓을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수 있음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나아가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당사자들이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exit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하기 위해 의도적으로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Deadlock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을 발생시킬 수 있다는 점에서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Deadlock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해소 메커니즘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특히 매매대금 산정의 관점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을 정치하게 마련하는 것이 중요함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[50:50]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지분 구조가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50:50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 합작회사에서 교착상태가 문제되는 경우가 더 빈번하므로 이하 지분 구조가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50:50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SHA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 표준 문구를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‘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표준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SHA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문구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’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부분에 기재함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622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ko-KR" sz="1000" b="1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Deadlock</a:t>
                      </a:r>
                      <a:r>
                        <a:rPr lang="en-US" altLang="ko-KR" sz="1000" b="1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1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발생 사유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특정 안건에서의 주주들간의 의견 대립으로 의사결정이 이루어지지 못 하는 경우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당사자간 협상으로 정해지나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대체적으로 이사회 또는 주주총회에서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 이상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deadlock</a:t>
                      </a:r>
                      <a:r>
                        <a:rPr lang="en-US" altLang="ko-KR" sz="10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 안건이 부결되는 경우</a:t>
                      </a:r>
                      <a:r>
                        <a:rPr lang="en-US" altLang="ko-KR" sz="10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주주들간에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계약기간 연장에 대해 합의가 이루어지지 않고 계약기간 만료일이 경과된 경우</a:t>
                      </a:r>
                      <a:r>
                        <a:rPr lang="en-US" altLang="ko-KR" sz="10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등</a:t>
                      </a:r>
                      <a:endParaRPr lang="en-US" altLang="ko-KR" sz="1000" b="0" u="none" kern="1200" baseline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altLang="ko-KR" sz="1000" b="0" u="none" kern="1200" baseline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marR="0" lvl="0" indent="-22860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000" b="1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교착상태 해소 방안</a:t>
                      </a:r>
                      <a:endParaRPr lang="en-US" altLang="ko-KR" sz="1000" b="1" u="none" kern="1200" baseline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Deadlock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해소 위원회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Deadlock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해소를 위하여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 단계의 의사결정권자로 구성된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Deadlock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해소 위원회를 구성하고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 위원회에서 일정 기간 동안 관련 사항을 협의 내지 합의하도록 규정하는 것을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구성원 등은 당사자간 협상에 따라 다양하게 구성할 수 있으나 주주 단계에서 의사결정을 할 수 있는 고위 임원이 위원회에 참여하는 것이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Deadlock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해소에 효율적일 것임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Russian Roulette / Texas Shoot-out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Deadlock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해소 위원회에서 협의 내지 합의가 되지 아니하는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결과적으로는 어느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주주가 대상회사의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주식을 매수하거나 매각하는 방법으로 주주 관계를 해소하는 것이 필요함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지분 구조가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50:50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 경우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Deadlock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해소 방안으로 주식 양수도 절차를 통해 상대방의 주식을 전부 매수한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주주가 대상회사의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사업을 계속 영위하게 하는 방안이 있고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 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M&amp;A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실무상 알려진 방법에는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Russian Roulette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방법과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Texas Shoot-out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방법이 존재함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실무상 이와 같은 두 가지 방법을 그대로 사용하는 경우도 있지만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상황에 맞게 조정하여 당사자간 합당한 방법을 고안하여 규정하는 경우도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722313" marR="0" lvl="2" indent="-271463" algn="l" defTabSz="801688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Russian Roulette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일방 주주가 상대방이 보유한 주식을 특정 가격에 매수하겠다고 상대방 주주에게 청약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(offer)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청약을 받은 주주는 그 특정 가격에 자신의 주식을 매각하거나 반대로 그 특정 가격에 청약을 한 주주의 주식을 매수할 수 있는 선택권을 주는 방법으로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청약을 하는 주주는 청약을 받는 주주의 의사에 따라 주식을 매도할 가능성도 존재하기 때문에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청약을 하는 주주 입장에서는 가장 공평한 가격을 제시할 것이라는 관점에 따라 고안된 방법임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722313" marR="0" lvl="2" indent="-271463" algn="l" defTabSz="801688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Texas Shoot-out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모든 주주가 각자 비밀 입찰을 하고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 입찰 결과 높은 가격을 쓴 주주가 다른 주주의 주식을 매수하는 방법임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Call/Put option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표준 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SHA 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’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참고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):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기존주주는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투자자에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대해 대상회사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주식을 매도할 것을 청구하는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 option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투자자는 기존주주에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대해 대상회사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주식을 매수할 것을 청구하는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Put option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행사할 수 있도록 규정하는 것을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이때 행사가격은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market value, market value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일정 수익을 더한 금액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당사자들이 미리 정한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formula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의해 결정되는 금액 등으로 정하는 방법을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447675" marR="0" lvl="1" indent="-180975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청산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대상회사를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청산하여 합작관계를 해소하고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잔여재산을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분배하는 방안을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54897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7813" y="682381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교착상태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(Deadlock) (1)</a:t>
            </a:r>
            <a:endParaRPr lang="ko-KR" altLang="en-US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344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VI. </a:t>
            </a:r>
            <a:r>
              <a:rPr lang="ko-KR" altLang="en-US" dirty="0" smtClean="0">
                <a:latin typeface="+mn-ea"/>
              </a:rPr>
              <a:t>기타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374726"/>
              </p:ext>
            </p:extLst>
          </p:nvPr>
        </p:nvGraphicFramePr>
        <p:xfrm>
          <a:off x="436543" y="1031099"/>
          <a:ext cx="9182903" cy="4436116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6116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[50:50]</a:t>
                      </a:r>
                    </a:p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SHA 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just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</a:t>
                      </a:r>
                      <a:r>
                        <a:rPr kumimoji="1"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기존주주의 주식매도청구권</a:t>
                      </a:r>
                      <a:r>
                        <a:rPr kumimoji="1" lang="en-US" altLang="ko-KR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(Call Option)</a:t>
                      </a:r>
                    </a:p>
                    <a:p>
                      <a:pPr algn="just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(1) </a:t>
                      </a:r>
                      <a:r>
                        <a:rPr kumimoji="1"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주식매도청구권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다음 각 호 중 하나의 사유가 발생한 경우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이하 각 사유를 통틀어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kumimoji="1"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교착상태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”),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기존주주는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투자자에 대하여 본 조에 </a:t>
                      </a:r>
                      <a:r>
                        <a:rPr kumimoji="1" lang="ko-KR" altLang="en-US" sz="1000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따라 대상회사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발행 주식을 매도할 것을 청구할 수 있다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just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ko-KR" sz="1000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1" lang="ko-KR" altLang="en-US" sz="1000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대상회사의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이사회 또는 주주총회에서 특정 안건이 연속으로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 이상 상정되었다가 부결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보류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된 경우</a:t>
                      </a:r>
                    </a:p>
                    <a:p>
                      <a:pPr algn="just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조에서 정한 주주간 합의사항 및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또는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조에서 정한 협의체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논의안건과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관련하여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일방 당사자가 상대방 당사자에게 서면으로 특정 안건에 대한 상호 합의 요청한 날로부터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월 이내에 해당 안건에 대한 상호 합의가 이루어지지 않은 경우</a:t>
                      </a:r>
                    </a:p>
                    <a:p>
                      <a:pPr algn="just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(2)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기존주주는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교착상태가 발생한 날로부터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주가 되는 날까지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주식매도청구권을 행사한다는 의사를 기재한 서면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이하 “</a:t>
                      </a:r>
                      <a:r>
                        <a:rPr kumimoji="1"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kumimoji="1"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행사통지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투자자에게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통지함으로써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투자자가 </a:t>
                      </a:r>
                      <a:r>
                        <a:rPr kumimoji="1" lang="ko-KR" altLang="en-US" sz="10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보유하는 대상회사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주식 전부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이하 “</a:t>
                      </a:r>
                      <a:r>
                        <a:rPr kumimoji="1"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kumimoji="1"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대상주식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를 매수할 수 있는 권리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이하 “</a:t>
                      </a:r>
                      <a:r>
                        <a:rPr kumimoji="1"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를 갖는다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명확히 하면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기존주주는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투자자가 </a:t>
                      </a:r>
                      <a:r>
                        <a:rPr kumimoji="1" lang="ko-KR" altLang="en-US" sz="100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보유하는 대상회사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주식 일부에 대하여는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콜옵션을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행사할 수 없다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). </a:t>
                      </a:r>
                    </a:p>
                    <a:p>
                      <a:pPr marL="0" algn="just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(3) </a:t>
                      </a:r>
                      <a:r>
                        <a:rPr kumimoji="1"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매매대금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행사에 따른 매매대금은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교착상태로 인한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행사의 경우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따른 거래가 완료되는 시점을 기준으로 계산한 투자자의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대상주식에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관한 주금납입액의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%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가 되도록 하는 금액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및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(ii)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대상주식에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대하여 상호 합의에 따라 정한 국내 상위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대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소속 회계사 수를 기준으로 하고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이하 같음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회계법인 중 하나의 회계법인이 산정한 공정가치 중 높은 금액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이하 “</a:t>
                      </a:r>
                      <a:r>
                        <a:rPr kumimoji="1"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kumimoji="1"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대금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으로 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다만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당사자들 사이에서 회계법인에 대한 합의가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행사통지를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투자자가 수령한 날로부터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일 이내에 이루어지지 아니하는 경우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기존주주가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단독으로 국내 상위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대 회계법인 중 하나의 회계법인을 선정할 수 있다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algn="just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4) </a:t>
                      </a:r>
                      <a:r>
                        <a:rPr kumimoji="1"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매매대금의 지급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본 조에 따라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콜옵션이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행사된 경우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투자자가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행사통지를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수령한 날에 투자자와 기존주주 간에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대상주식에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관하여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항에 따른 매매대금으로 하는 주식매매계약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이하 “</a:t>
                      </a:r>
                      <a:r>
                        <a:rPr kumimoji="1"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kumimoji="1"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주식매매계약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이 체결된 것으로 간주된다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행사에 따른 주식의 매매에 있어 투자자는 주식의 소유권에 대한 것 외에 일체의 진술 및 보장이 없는 그 당시 현상 그대로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(as-is basis)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주식을 양도하는 것으로 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주식매매계약이 체결된 것으로 간주된 날로부터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일 이내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다만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법률상 필수적인 사전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정부승인이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위 기간 내 이루어지지 않는 경우에는 그 정부승인 완료일로부터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영업일이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경과하는 날 이내로 하며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이하 “</a:t>
                      </a:r>
                      <a:r>
                        <a:rPr kumimoji="1"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kumimoji="1"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대금지급기한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에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기존주주는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투자자에게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대상주식에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대한 매매대금을 지급하고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투자자는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대상주식을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기존주주에게 양도하여야 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algn="just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(5)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기존주주는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투자자에 대한 사전통지로써 본 조에 따른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콜옵션을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행사할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자를 지정할 수 있다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이 경우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기존주주는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해당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자로 하여금 본 조에 따라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콜옵션을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행사하고 그에 따른 의무를 이행하도록 하며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해당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자의 투자자에 대한 의무에 대하여 연대책임을 부담한다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7813" y="682381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교착상태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(Deadlock) (2)</a:t>
            </a:r>
            <a:endParaRPr lang="ko-KR" altLang="en-US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9330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VI. </a:t>
            </a:r>
            <a:r>
              <a:rPr lang="ko-KR" altLang="en-US" dirty="0" smtClean="0">
                <a:latin typeface="+mn-ea"/>
              </a:rPr>
              <a:t>기타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134293"/>
              </p:ext>
            </p:extLst>
          </p:nvPr>
        </p:nvGraphicFramePr>
        <p:xfrm>
          <a:off x="436543" y="1031099"/>
          <a:ext cx="9182903" cy="3476956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6956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[50:50]</a:t>
                      </a:r>
                    </a:p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SHA 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just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</a:t>
                      </a:r>
                      <a:r>
                        <a:rPr kumimoji="1"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투자자의 주식매수청구권</a:t>
                      </a:r>
                      <a:r>
                        <a:rPr kumimoji="1" lang="en-US" altLang="ko-KR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(Put Option)</a:t>
                      </a:r>
                    </a:p>
                    <a:p>
                      <a:pPr algn="just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(1) </a:t>
                      </a:r>
                      <a:r>
                        <a:rPr kumimoji="1"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주식매수청구권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교착상태가 발생한 경우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투자자는 기존주주에 대하여 본 조에 따라 회사 발행 주식을 매수할 것을 청구할 수 있다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just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(2)</a:t>
                      </a:r>
                      <a:r>
                        <a:rPr kumimoji="1" lang="en-US" altLang="ko-KR" sz="1000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투자자는 교착상태가 발생한 날로부터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주가 되는 날까지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주식매수청구권을 행사한다는 의사를 기재한 서면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kumimoji="1"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</a:t>
                      </a:r>
                      <a:r>
                        <a:rPr kumimoji="1"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행사통지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기존주주에게 통지함으로써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투자자가 보유하는 회사 주식 전부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kumimoji="1"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</a:t>
                      </a:r>
                      <a:r>
                        <a:rPr kumimoji="1"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대상주식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매도할 수 있는 권리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kumimoji="1"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갖는다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하면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투자자는 자신이 보유하는 회사 주식 일부에 대하여는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풋옵션을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행사할 수 없다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). </a:t>
                      </a:r>
                    </a:p>
                    <a:p>
                      <a:pPr algn="just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(3) </a:t>
                      </a:r>
                      <a:r>
                        <a:rPr kumimoji="1"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매매대금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행사에 따른 매매대금은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교착상태로 인한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행사의 경우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따른 거래가 완료되는 시점을 기준으로 계산한 투자자의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대상주식에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관한 주금납입액의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[•]%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가 되도록 하는 금액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및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(ii)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대상주식에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대한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조에 따라 산정한 공정가치 중 높은 금액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kumimoji="1"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</a:t>
                      </a:r>
                      <a:r>
                        <a:rPr kumimoji="1"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대금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으로 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다만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 사이에서 회계법인에 대한 합의가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행사통지를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기존주주가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수령한 날로부터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 이내에 이루어지지 아니하는 경우 투자자가 단독으로 국내 상위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 회계법인 중 하나의 회계법인을 선정할 수 있다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just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(4) </a:t>
                      </a:r>
                      <a:r>
                        <a:rPr kumimoji="1" lang="ko-KR" altLang="en-US" sz="100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매매대금의 지급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조에 따라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풋옵션이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행사된 경우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기존주주가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행사통지를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수령한 날에 투자자와 기존주주 간에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대상주식에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관하여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항에 따른 매매대금으로 하는 주식매매계약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kumimoji="1"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</a:t>
                      </a:r>
                      <a:r>
                        <a:rPr kumimoji="1"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주식매매계약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 체결된 것으로 간주된다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행사에 따른 주식의 매매에 있어 투자자는 주식의 소유권에 대한 것 외에 일체의 진술 및 보장이 없는 그 당시 현상 그대로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(as-is basis)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주식을 양도하는 것으로 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주식매매계약이 체결된 것으로 간주된 날로부터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 이내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다만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법률상 필수적인 사전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정부승인이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위 기간 내 이루어지지 않는 경우에는 그 정부승인 완료일로부터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영업일이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경과하는 날 이내로 하며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이하 “</a:t>
                      </a:r>
                      <a:r>
                        <a:rPr kumimoji="1" lang="ko-KR" altLang="en-US" sz="1000" b="1" u="sng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</a:t>
                      </a:r>
                      <a:r>
                        <a:rPr kumimoji="1"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대금지급기한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기존주주는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투자자에게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대상주식에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대한 매매대금을 지급하고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투자자는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대상주식을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기존주주에게 양도하여야 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just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(5)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기존주주는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행사통지를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받은 날로부터 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[•]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주가 되는 날까지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투자자에 대한 사전통지로써 본 조에 따라 투자자로부터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풋옵션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대상주식을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매수할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자를 지정할 수 있다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 경우 </a:t>
                      </a:r>
                      <a:r>
                        <a:rPr kumimoji="1"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기존주주는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해당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자로 하여금 본 조에 따른 기존주주의 투자자에 대한 의무를 이행하도록 하며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해당 제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자의 투자자에 대한 의무에 대하여 연대책임을 부담한다</a:t>
                      </a:r>
                      <a:r>
                        <a:rPr kumimoji="1"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7813" y="682381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교착상태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(Deadlock) (3)</a:t>
            </a:r>
            <a:endParaRPr lang="ko-KR" altLang="en-US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55569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467590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VI. </a:t>
            </a:r>
            <a:r>
              <a:rPr lang="ko-KR" altLang="en-US" dirty="0" smtClean="0">
                <a:latin typeface="+mn-ea"/>
              </a:rPr>
              <a:t>기타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7814" y="680478"/>
            <a:ext cx="5553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2. [Pro-minority]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투자자의 증자참여우선권 및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</a:rPr>
              <a:t>후속투자권</a:t>
            </a:r>
            <a:endParaRPr lang="ko-KR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02170"/>
              </p:ext>
            </p:extLst>
          </p:nvPr>
        </p:nvGraphicFramePr>
        <p:xfrm>
          <a:off x="440455" y="1038739"/>
          <a:ext cx="9188450" cy="4428476"/>
        </p:xfrm>
        <a:graphic>
          <a:graphicData uri="http://schemas.openxmlformats.org/drawingml/2006/table">
            <a:tbl>
              <a:tblPr firstRow="1" firstCol="1" bandRow="1"/>
              <a:tblGrid>
                <a:gridCol w="853257">
                  <a:extLst>
                    <a:ext uri="{9D8B030D-6E8A-4147-A177-3AD203B41FA5}">
                      <a16:colId xmlns:a16="http://schemas.microsoft.com/office/drawing/2014/main" val="2132502965"/>
                    </a:ext>
                  </a:extLst>
                </a:gridCol>
                <a:gridCol w="8335193">
                  <a:extLst>
                    <a:ext uri="{9D8B030D-6E8A-4147-A177-3AD203B41FA5}">
                      <a16:colId xmlns:a16="http://schemas.microsoft.com/office/drawing/2014/main" val="1121733556"/>
                    </a:ext>
                  </a:extLst>
                </a:gridCol>
              </a:tblGrid>
              <a:tr h="47194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대상회사가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신주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CB, BW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등의 증권을 발행함으로써 투자자의 지분이 희석될 수 있는 경우 그로부터 투자자를 보호하기 위한 규정</a:t>
                      </a:r>
                      <a:endParaRPr lang="ko-KR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0728"/>
                  </a:ext>
                </a:extLst>
              </a:tr>
              <a:tr h="8392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100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소수지분을</a:t>
                      </a:r>
                      <a:r>
                        <a:rPr lang="ko-KR" altLang="en-US" sz="100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보유한 투자자의 경우 지분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희석으로 투자 당시 상정한 수익률 등 투자 관련 기본 구조가 변경될 가능성이 존재하므로 주주간계약을 체결함에 있어 </a:t>
                      </a:r>
                      <a:r>
                        <a:rPr lang="ko-KR" altLang="en-US" sz="1000" u="non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대상회사가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투자자의 지분을 희석시킬 수 있는 증권 발행을 하기 전에 사전에 정한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혹은 관련 행위 결의일 전일을 기준으로 한</a:t>
                      </a:r>
                      <a:r>
                        <a:rPr lang="en-US" altLang="ko-KR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u="non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지분율을</a:t>
                      </a:r>
                      <a:r>
                        <a:rPr lang="ko-KR" altLang="en-US" sz="100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유지할 수 있도록 투자자에게 먼저 증권을 인수할 권리를 부여해주도록 요구하는 것을 고려할 수 있음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617847"/>
                  </a:ext>
                </a:extLst>
              </a:tr>
              <a:tr h="311727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[Pro-minority]</a:t>
                      </a:r>
                    </a:p>
                    <a:p>
                      <a:pPr algn="ctr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</a:t>
                      </a: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ko-KR" sz="1000" b="1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  <a:endParaRPr lang="ko-KR" sz="10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</a:t>
                      </a: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투자자의</a:t>
                      </a:r>
                      <a:r>
                        <a:rPr lang="en-US" altLang="ko-KR" sz="1000" b="0" u="sng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sng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증자우선참여권</a:t>
                      </a:r>
                      <a:endParaRPr lang="en-US" altLang="ko-KR" sz="1000" b="0" u="sng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회사가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 배정의 방식으로 신주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전환사채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신주인수권부사채 기타 주식연계사채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총칭하여 “</a:t>
                      </a:r>
                      <a:r>
                        <a:rPr lang="ko-KR" altLang="en-US" sz="1000" b="1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신주등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다만 주식매수선택권 행사에 따른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신주발행은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제외함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발행할 경우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투자자는 발행 예정 수량에 당시의 투자자의 각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지분율을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곱한 수량의 한도 내에서 우선하여 인수할 수 있는 권리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증자우선참여권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가진다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이해관계인은 이를 위하여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ko-KR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주주로서 주주총회에서 의결권을 행사하고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(ii)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직접 또는 자신이 지명한 이사로 하여금 이사회에서의 의결권 및 기타 이사로서의 권한을 행사하도록 하여야 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US" altLang="ko-KR" sz="1000" b="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[…]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US" altLang="ko-KR" sz="1000" b="0" u="none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 </a:t>
                      </a:r>
                      <a:r>
                        <a:rPr lang="ko-KR" altLang="en-US" sz="1000" b="0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후속 투자 권리</a:t>
                      </a:r>
                      <a:endParaRPr lang="en-US" altLang="ko-KR" sz="1000" b="0" u="sng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(1)</a:t>
                      </a:r>
                      <a:r>
                        <a:rPr lang="en-US" altLang="ko-KR" sz="10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회사는 본건 거래의 거래종결일로부터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[*]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개월 이내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후속 투자 기간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[*]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한하여 어느 시점에 제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자로부터 투자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후속 투자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를 유치할 수 있고 후속 투자를 유치하고자 하는 경우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명확히 하면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[*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개월 이내 후속 투자를 위한 구속력 있는 계약이 체결되는 것을 의미함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투자자에게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[*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 범위 내에서의 후속 투자 금액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후속 투자의 방식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후속 투자 관련 회사의 가치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(Valuation),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후속 투자의 조건 및 총 </a:t>
                      </a:r>
                      <a:r>
                        <a:rPr lang="ko-KR" altLang="en-US" sz="1000" b="0" u="none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모집금액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등을 기재한 서면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후속 투자 제안서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제공하여야 하고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투자자는 회사로부터 후속 투자 제안서를 제공받은 날로부터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[*]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 이내에 회사에 후속 투자 제안서에 대해 동의 또는 거절하거나 후속 투자 제안서에 대한 대안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ko-KR" altLang="en-US" sz="1000" b="1" u="sng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후속 투자 대안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을 제시하여야 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투자자가 후속 투자 대안을 회사에 제시한 경우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회사는 그 후속 투자 대안을 제시 받은 날로부터 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[*]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 이내에 동의 여부에 대한 의사 표시를 하여야 한다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투자자나 회사가 본 조에 따른 기한 내 아무런 통지를 하지 않은 경우에는 각 상대방 제안을 확정적으로 거절한 것으로 본다</a:t>
                      </a: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u="non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[…]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387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8472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/>
          <p:cNvSpPr txBox="1">
            <a:spLocks/>
          </p:cNvSpPr>
          <p:nvPr/>
        </p:nvSpPr>
        <p:spPr>
          <a:xfrm>
            <a:off x="157200" y="140948"/>
            <a:ext cx="2997375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latinLnBrk="0"/>
            <a:r>
              <a:rPr lang="en-US" altLang="ko-KR" dirty="0" smtClean="0">
                <a:latin typeface="+mn-ea"/>
              </a:rPr>
              <a:t>VI. </a:t>
            </a:r>
            <a:r>
              <a:rPr lang="ko-KR" altLang="en-US" dirty="0" smtClean="0">
                <a:latin typeface="+mn-ea"/>
              </a:rPr>
              <a:t>기타</a:t>
            </a:r>
            <a:endParaRPr lang="ko-KR" altLang="en-US" dirty="0">
              <a:latin typeface="+mn-ea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6871320" y="180000"/>
            <a:ext cx="2857318" cy="34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914400" eaLnBrk="1" hangingPunct="1">
              <a:buNone/>
              <a:defRPr sz="18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j-cs"/>
              </a:defRPr>
            </a:lvl1pPr>
          </a:lstStyle>
          <a:p>
            <a:pPr algn="r"/>
            <a:endParaRPr lang="ko-KR" altLang="en-US" sz="1400" dirty="0">
              <a:latin typeface="+mn-ea"/>
            </a:endParaRPr>
          </a:p>
        </p:txBody>
      </p:sp>
      <p:graphicFrame>
        <p:nvGraphicFramePr>
          <p:cNvPr id="3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807082"/>
              </p:ext>
            </p:extLst>
          </p:nvPr>
        </p:nvGraphicFramePr>
        <p:xfrm>
          <a:off x="436543" y="1031100"/>
          <a:ext cx="9182903" cy="4076430"/>
        </p:xfrm>
        <a:graphic>
          <a:graphicData uri="http://schemas.openxmlformats.org/drawingml/2006/table">
            <a:tbl>
              <a:tblPr/>
              <a:tblGrid>
                <a:gridCol w="8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58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원칙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의의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분쟁 해결 수단으로서 소송과 중재 비교</a:t>
                      </a: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6077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Checklist</a:t>
                      </a:r>
                      <a:endParaRPr lang="ko-KR" sz="10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소송과 중재 중 국내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deal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에서는 비용적인 측면을 고려하여 소송으로 분쟁을 해결하고자 하는 경우가 많으나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아래와 같은 소송과 중재의 장단점을 비교하여 분쟁 해결 방식을 정하는 것이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바람직</a:t>
                      </a: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ko-KR" altLang="en-US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548978"/>
                  </a:ext>
                </a:extLst>
              </a:tr>
              <a:tr h="760773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 </a:t>
                      </a:r>
                      <a:r>
                        <a:rPr lang="ko-KR" sz="10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문구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</a:t>
                      </a:r>
                      <a:endParaRPr lang="en-US" altLang="ko-KR" sz="10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(4)</a:t>
                      </a:r>
                      <a:r>
                        <a:rPr lang="en-US" altLang="ko-KR" sz="1000" baseline="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u="sng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준거법 및 분쟁해결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본 계약 및 본 계약에 따른 당사자들의 권리 및 의무는 대한민국 법률에 따라 규율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해석 및 집행되며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국제사법 규정의 적용을 배제한다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당사자들 간의 분쟁은 서울중앙지방법원을 제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심 전속관할법원으로 하여 해결한다</a:t>
                      </a:r>
                      <a:r>
                        <a:rPr lang="en-US" altLang="ko-KR" sz="10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kumimoji="1" lang="en-US" altLang="ko-KR" sz="1000" kern="12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7813" y="682381"/>
            <a:ext cx="7477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+mn-ea"/>
                <a:ea typeface="+mn-ea"/>
              </a:rPr>
              <a:t>3. </a:t>
            </a:r>
            <a:r>
              <a:rPr lang="ko-KR" altLang="en-US" dirty="0" smtClean="0">
                <a:latin typeface="+mn-ea"/>
                <a:ea typeface="+mn-ea"/>
              </a:rPr>
              <a:t>분쟁 해결</a:t>
            </a:r>
            <a:endParaRPr lang="ko-KR" altLang="en-US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63721"/>
              </p:ext>
            </p:extLst>
          </p:nvPr>
        </p:nvGraphicFramePr>
        <p:xfrm>
          <a:off x="1476047" y="2026120"/>
          <a:ext cx="8032963" cy="216360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93961">
                  <a:extLst>
                    <a:ext uri="{9D8B030D-6E8A-4147-A177-3AD203B41FA5}">
                      <a16:colId xmlns:a16="http://schemas.microsoft.com/office/drawing/2014/main" val="214653204"/>
                    </a:ext>
                  </a:extLst>
                </a:gridCol>
                <a:gridCol w="3489494">
                  <a:extLst>
                    <a:ext uri="{9D8B030D-6E8A-4147-A177-3AD203B41FA5}">
                      <a16:colId xmlns:a16="http://schemas.microsoft.com/office/drawing/2014/main" val="1489506677"/>
                    </a:ext>
                  </a:extLst>
                </a:gridCol>
                <a:gridCol w="3949508">
                  <a:extLst>
                    <a:ext uri="{9D8B030D-6E8A-4147-A177-3AD203B41FA5}">
                      <a16:colId xmlns:a16="http://schemas.microsoft.com/office/drawing/2014/main" val="2865285229"/>
                    </a:ext>
                  </a:extLst>
                </a:gridCol>
              </a:tblGrid>
              <a:tr h="250906">
                <a:tc>
                  <a:txBody>
                    <a:bodyPr/>
                    <a:lstStyle/>
                    <a:p>
                      <a:pPr algn="l" latinLnBrk="0">
                        <a:lnSpc>
                          <a:spcPct val="1200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장점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단점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135588"/>
                  </a:ext>
                </a:extLst>
              </a:tr>
              <a:tr h="689242">
                <a:tc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9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소송</a:t>
                      </a:r>
                      <a:endParaRPr lang="ko-KR" sz="9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상소 가능</a:t>
                      </a: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판결에 대한 집행 용이</a:t>
                      </a: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비용이 상대적으로 적게 소요</a:t>
                      </a: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자에 대한 증거 수집 가능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상소 절차로 인하여 분쟁 해결 지연</a:t>
                      </a: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담당 재판부의 전문성 결여 가능성</a:t>
                      </a: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변론 절차 및 판결문 공개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087457"/>
                  </a:ext>
                </a:extLst>
              </a:tr>
              <a:tr h="121832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900" b="1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중재</a:t>
                      </a:r>
                      <a:endParaRPr lang="ko-KR" sz="9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소송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(3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심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 비하여 신속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단심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ko-KR" sz="9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절차가 상대적으로 유연</a:t>
                      </a: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중재판정부의 전문성 기대</a:t>
                      </a: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심리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판정의 기밀 유지</a:t>
                      </a: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증거조사의 범위가 넓음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이러한 이유로 신청인 측에 불리한 문서도 제출해야 할 수 있음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ko-KR" sz="9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상소 불가</a:t>
                      </a: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중재판정에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대한 임의 이행 거절 시 별도 소송을 통한 </a:t>
                      </a:r>
                      <a:r>
                        <a:rPr lang="ko-KR" sz="9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집행판결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필요</a:t>
                      </a: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비용이 상대적으로 많이 소요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이러한 이유로 소송과 달리 중재 신청 남용 방지 가능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ko-KR" sz="9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68288" lvl="0" indent="-179388" algn="l" latinLnBrk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자에 대한 증거 수집이 어려움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9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중재법상</a:t>
                      </a:r>
                      <a:r>
                        <a:rPr lang="ko-KR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원칙적으로는 허용되나 아직 선례가 없음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ko-KR" sz="9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522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126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2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124127</TotalTime>
  <Words>12002</Words>
  <Application>Microsoft Office PowerPoint</Application>
  <PresentationFormat>A4 용지(210x297mm)</PresentationFormat>
  <Paragraphs>608</Paragraphs>
  <Slides>34</Slides>
  <Notes>34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34</vt:i4>
      </vt:variant>
    </vt:vector>
  </HeadingPairs>
  <TitlesOfParts>
    <vt:vector size="48" baseType="lpstr">
      <vt:lpstr>LG스마트체2.0 SemiBold</vt:lpstr>
      <vt:lpstr>Times New Roman</vt:lpstr>
      <vt:lpstr>LG Smart_H2.0 R</vt:lpstr>
      <vt:lpstr>Wingdings</vt:lpstr>
      <vt:lpstr>Arial</vt:lpstr>
      <vt:lpstr>LG스마트체 Regular</vt:lpstr>
      <vt:lpstr>Arial Unicode MS</vt:lpstr>
      <vt:lpstr>LG스마트체2.0 Bold</vt:lpstr>
      <vt:lpstr>맑은 고딕</vt:lpstr>
      <vt:lpstr>Wingdings 2</vt:lpstr>
      <vt:lpstr>굴림</vt:lpstr>
      <vt:lpstr>바탕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lgcns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권진오</dc:creator>
  <cp:lastModifiedBy>yongho.cho</cp:lastModifiedBy>
  <cp:revision>10558</cp:revision>
  <cp:lastPrinted>2024-08-30T06:10:42Z</cp:lastPrinted>
  <dcterms:created xsi:type="dcterms:W3CDTF">2012-10-19T01:42:40Z</dcterms:created>
  <dcterms:modified xsi:type="dcterms:W3CDTF">2025-04-16T09:54:03Z</dcterms:modified>
</cp:coreProperties>
</file>