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embedTrueTypeFonts="1" saveSubsetFonts="1" bookmarkIdSeed="2">
  <p:sldMasterIdLst>
    <p:sldMasterId id="2147483735" r:id="rId1"/>
    <p:sldMasterId id="2147483741" r:id="rId2"/>
  </p:sldMasterIdLst>
  <p:notesMasterIdLst>
    <p:notesMasterId r:id="rId53"/>
  </p:notesMasterIdLst>
  <p:handoutMasterIdLst>
    <p:handoutMasterId r:id="rId54"/>
  </p:handoutMasterIdLst>
  <p:sldIdLst>
    <p:sldId id="3679" r:id="rId3"/>
    <p:sldId id="3795" r:id="rId4"/>
    <p:sldId id="3831" r:id="rId5"/>
    <p:sldId id="3848" r:id="rId6"/>
    <p:sldId id="3784" r:id="rId7"/>
    <p:sldId id="3805" r:id="rId8"/>
    <p:sldId id="3888" r:id="rId9"/>
    <p:sldId id="3889" r:id="rId10"/>
    <p:sldId id="3890" r:id="rId11"/>
    <p:sldId id="3891" r:id="rId12"/>
    <p:sldId id="3806" r:id="rId13"/>
    <p:sldId id="3892" r:id="rId14"/>
    <p:sldId id="3893" r:id="rId15"/>
    <p:sldId id="3852" r:id="rId16"/>
    <p:sldId id="3894" r:id="rId17"/>
    <p:sldId id="3853" r:id="rId18"/>
    <p:sldId id="3895" r:id="rId19"/>
    <p:sldId id="3896" r:id="rId20"/>
    <p:sldId id="3897" r:id="rId21"/>
    <p:sldId id="3854" r:id="rId22"/>
    <p:sldId id="3898" r:id="rId23"/>
    <p:sldId id="3856" r:id="rId24"/>
    <p:sldId id="3899" r:id="rId25"/>
    <p:sldId id="3900" r:id="rId26"/>
    <p:sldId id="3901" r:id="rId27"/>
    <p:sldId id="3902" r:id="rId28"/>
    <p:sldId id="3903" r:id="rId29"/>
    <p:sldId id="3857" r:id="rId30"/>
    <p:sldId id="3904" r:id="rId31"/>
    <p:sldId id="3858" r:id="rId32"/>
    <p:sldId id="3905" r:id="rId33"/>
    <p:sldId id="3906" r:id="rId34"/>
    <p:sldId id="3859" r:id="rId35"/>
    <p:sldId id="3907" r:id="rId36"/>
    <p:sldId id="3860" r:id="rId37"/>
    <p:sldId id="3908" r:id="rId38"/>
    <p:sldId id="3861" r:id="rId39"/>
    <p:sldId id="3909" r:id="rId40"/>
    <p:sldId id="3863" r:id="rId41"/>
    <p:sldId id="3910" r:id="rId42"/>
    <p:sldId id="3864" r:id="rId43"/>
    <p:sldId id="3911" r:id="rId44"/>
    <p:sldId id="3912" r:id="rId45"/>
    <p:sldId id="3865" r:id="rId46"/>
    <p:sldId id="3866" r:id="rId47"/>
    <p:sldId id="3913" r:id="rId48"/>
    <p:sldId id="3914" r:id="rId49"/>
    <p:sldId id="3871" r:id="rId50"/>
    <p:sldId id="3915" r:id="rId51"/>
    <p:sldId id="3872" r:id="rId52"/>
  </p:sldIdLst>
  <p:sldSz cx="9906000" cy="6858000" type="A4"/>
  <p:notesSz cx="6807200" cy="9939338"/>
  <p:embeddedFontLst>
    <p:embeddedFont>
      <p:font typeface="맑은 고딕" panose="020B0503020000020004" pitchFamily="50" charset="-127"/>
      <p:regular r:id="rId55"/>
      <p:bold r:id="rId56"/>
    </p:embeddedFont>
    <p:embeddedFont>
      <p:font typeface="MS Mincho" panose="02020609040205080304" pitchFamily="49" charset="-128"/>
      <p:regular r:id="rId57"/>
    </p:embeddedFont>
    <p:embeddedFont>
      <p:font typeface="Wingdings 2" panose="05020102010507070707" pitchFamily="18" charset="2"/>
      <p:regular r:id="rId58"/>
    </p:embeddedFont>
    <p:embeddedFont>
      <p:font typeface="Arial Narrow" panose="020B0606020202030204" pitchFamily="34" charset="0"/>
      <p:regular r:id="rId59"/>
      <p:bold r:id="rId60"/>
      <p:italic r:id="rId61"/>
      <p:boldItalic r:id="rId62"/>
    </p:embeddedFont>
  </p:embeddedFontLst>
  <p:defaultTextStyle>
    <a:defPPr>
      <a:defRPr lang="ko-KR"/>
    </a:defPPr>
    <a:lvl1pPr algn="l" rtl="0" fontAlgn="base" latinLnBrk="1">
      <a:spcBef>
        <a:spcPct val="0"/>
      </a:spcBef>
      <a:spcAft>
        <a:spcPct val="0"/>
      </a:spcAft>
      <a:defRPr sz="1200" b="1" kern="1200">
        <a:solidFill>
          <a:srgbClr val="000000"/>
        </a:solidFill>
        <a:latin typeface="Arial" charset="0"/>
        <a:ea typeface="맑은 고딕" pitchFamily="50" charset="-127"/>
        <a:cs typeface="+mn-cs"/>
      </a:defRPr>
    </a:lvl1pPr>
    <a:lvl2pPr marL="457200" algn="l" rtl="0" fontAlgn="base" latinLnBrk="1">
      <a:spcBef>
        <a:spcPct val="0"/>
      </a:spcBef>
      <a:spcAft>
        <a:spcPct val="0"/>
      </a:spcAft>
      <a:defRPr sz="1200" b="1" kern="1200">
        <a:solidFill>
          <a:srgbClr val="000000"/>
        </a:solidFill>
        <a:latin typeface="Arial" charset="0"/>
        <a:ea typeface="맑은 고딕" pitchFamily="50" charset="-127"/>
        <a:cs typeface="+mn-cs"/>
      </a:defRPr>
    </a:lvl2pPr>
    <a:lvl3pPr marL="914400" algn="l" rtl="0" fontAlgn="base" latinLnBrk="1">
      <a:spcBef>
        <a:spcPct val="0"/>
      </a:spcBef>
      <a:spcAft>
        <a:spcPct val="0"/>
      </a:spcAft>
      <a:defRPr sz="1200" b="1" kern="1200">
        <a:solidFill>
          <a:srgbClr val="000000"/>
        </a:solidFill>
        <a:latin typeface="Arial" charset="0"/>
        <a:ea typeface="맑은 고딕" pitchFamily="50" charset="-127"/>
        <a:cs typeface="+mn-cs"/>
      </a:defRPr>
    </a:lvl3pPr>
    <a:lvl4pPr marL="1371600" algn="l" rtl="0" fontAlgn="base" latinLnBrk="1">
      <a:spcBef>
        <a:spcPct val="0"/>
      </a:spcBef>
      <a:spcAft>
        <a:spcPct val="0"/>
      </a:spcAft>
      <a:defRPr sz="1200" b="1" kern="1200">
        <a:solidFill>
          <a:srgbClr val="000000"/>
        </a:solidFill>
        <a:latin typeface="Arial" charset="0"/>
        <a:ea typeface="맑은 고딕" pitchFamily="50" charset="-127"/>
        <a:cs typeface="+mn-cs"/>
      </a:defRPr>
    </a:lvl4pPr>
    <a:lvl5pPr marL="1828800" algn="l" rtl="0" fontAlgn="base" latinLnBrk="1">
      <a:spcBef>
        <a:spcPct val="0"/>
      </a:spcBef>
      <a:spcAft>
        <a:spcPct val="0"/>
      </a:spcAft>
      <a:defRPr sz="1200" b="1" kern="1200">
        <a:solidFill>
          <a:srgbClr val="000000"/>
        </a:solidFill>
        <a:latin typeface="Arial" charset="0"/>
        <a:ea typeface="맑은 고딕" pitchFamily="50" charset="-127"/>
        <a:cs typeface="+mn-cs"/>
      </a:defRPr>
    </a:lvl5pPr>
    <a:lvl6pPr marL="2286000" algn="l" defTabSz="914400" rtl="0" eaLnBrk="1" latinLnBrk="1" hangingPunct="1">
      <a:defRPr sz="1200" b="1" kern="1200">
        <a:solidFill>
          <a:srgbClr val="000000"/>
        </a:solidFill>
        <a:latin typeface="Arial" charset="0"/>
        <a:ea typeface="맑은 고딕" pitchFamily="50" charset="-127"/>
        <a:cs typeface="+mn-cs"/>
      </a:defRPr>
    </a:lvl6pPr>
    <a:lvl7pPr marL="2743200" algn="l" defTabSz="914400" rtl="0" eaLnBrk="1" latinLnBrk="1" hangingPunct="1">
      <a:defRPr sz="1200" b="1" kern="1200">
        <a:solidFill>
          <a:srgbClr val="000000"/>
        </a:solidFill>
        <a:latin typeface="Arial" charset="0"/>
        <a:ea typeface="맑은 고딕" pitchFamily="50" charset="-127"/>
        <a:cs typeface="+mn-cs"/>
      </a:defRPr>
    </a:lvl7pPr>
    <a:lvl8pPr marL="3200400" algn="l" defTabSz="914400" rtl="0" eaLnBrk="1" latinLnBrk="1" hangingPunct="1">
      <a:defRPr sz="1200" b="1" kern="1200">
        <a:solidFill>
          <a:srgbClr val="000000"/>
        </a:solidFill>
        <a:latin typeface="Arial" charset="0"/>
        <a:ea typeface="맑은 고딕" pitchFamily="50" charset="-127"/>
        <a:cs typeface="+mn-cs"/>
      </a:defRPr>
    </a:lvl8pPr>
    <a:lvl9pPr marL="3657600" algn="l" defTabSz="914400" rtl="0" eaLnBrk="1" latinLnBrk="1" hangingPunct="1">
      <a:defRPr sz="1200" b="1" kern="1200">
        <a:solidFill>
          <a:srgbClr val="000000"/>
        </a:solidFill>
        <a:latin typeface="Arial" charset="0"/>
        <a:ea typeface="맑은 고딕" pitchFamily="50" charset="-127"/>
        <a:cs typeface="+mn-cs"/>
      </a:defRPr>
    </a:lvl9pPr>
  </p:defaultTextStyle>
  <p:extLst>
    <p:ext uri="{EFAFB233-063F-42B5-8137-9DF3F51BA10A}">
      <p15:sldGuideLst xmlns:p15="http://schemas.microsoft.com/office/powerpoint/2012/main">
        <p15:guide id="1" orient="horz" pos="3746" userDrawn="1">
          <p15:clr>
            <a:srgbClr val="A4A3A4"/>
          </p15:clr>
        </p15:guide>
        <p15:guide id="2" orient="horz" pos="1329" userDrawn="1">
          <p15:clr>
            <a:srgbClr val="A4A3A4"/>
          </p15:clr>
        </p15:guide>
        <p15:guide id="5" pos="6065" userDrawn="1">
          <p15:clr>
            <a:srgbClr val="A4A3A4"/>
          </p15:clr>
        </p15:guide>
        <p15:guide id="6" pos="277" userDrawn="1">
          <p15:clr>
            <a:srgbClr val="A4A3A4"/>
          </p15:clr>
        </p15:guide>
        <p15:guide id="8" pos="819" userDrawn="1">
          <p15:clr>
            <a:srgbClr val="A4A3A4"/>
          </p15:clr>
        </p15:guide>
        <p15:guide id="9" orient="horz" pos="423" userDrawn="1">
          <p15:clr>
            <a:srgbClr val="A4A3A4"/>
          </p15:clr>
        </p15:guide>
        <p15:guide id="10" orient="horz" pos="650" userDrawn="1">
          <p15:clr>
            <a:srgbClr val="A4A3A4"/>
          </p15:clr>
        </p15:guide>
        <p15:guide id="11" pos="175" userDrawn="1">
          <p15:clr>
            <a:srgbClr val="A4A3A4"/>
          </p15:clr>
        </p15:guide>
        <p15:guide id="12" orient="horz" pos="801"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2" userDrawn="1">
          <p15:clr>
            <a:srgbClr val="A4A3A4"/>
          </p15:clr>
        </p15:guide>
        <p15:guide id="3" orient="horz" pos="3130" userDrawn="1">
          <p15:clr>
            <a:srgbClr val="A4A3A4"/>
          </p15:clr>
        </p15:guide>
        <p15:guide id="4" pos="2143"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만든 이" initials="오전"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FF0000"/>
    <a:srgbClr val="0000FF"/>
    <a:srgbClr val="C00000"/>
    <a:srgbClr val="A50034"/>
    <a:srgbClr val="C0504D"/>
    <a:srgbClr val="EAEAEA"/>
    <a:srgbClr val="DDDDDD"/>
    <a:srgbClr val="008000"/>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보통 스타일 3 - 강조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밝은 스타일 1 - 강조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C4B1156A-380E-4F78-BDF5-A606A8083BF9}" styleName="보통 스타일 4 - 강조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93" autoAdjust="0"/>
    <p:restoredTop sz="96391" autoAdjust="0"/>
  </p:normalViewPr>
  <p:slideViewPr>
    <p:cSldViewPr snapToObjects="1" showGuides="1">
      <p:cViewPr varScale="1">
        <p:scale>
          <a:sx n="107" d="100"/>
          <a:sy n="107" d="100"/>
        </p:scale>
        <p:origin x="1824" y="84"/>
      </p:cViewPr>
      <p:guideLst>
        <p:guide orient="horz" pos="3746"/>
        <p:guide orient="horz" pos="1329"/>
        <p:guide pos="6065"/>
        <p:guide pos="277"/>
        <p:guide pos="819"/>
        <p:guide orient="horz" pos="423"/>
        <p:guide orient="horz" pos="650"/>
        <p:guide pos="175"/>
        <p:guide orient="horz" pos="801"/>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00" d="100"/>
        <a:sy n="100" d="100"/>
      </p:scale>
      <p:origin x="0" y="0"/>
    </p:cViewPr>
  </p:sorterViewPr>
  <p:notesViewPr>
    <p:cSldViewPr snapToObjects="1" showGuides="1">
      <p:cViewPr varScale="1">
        <p:scale>
          <a:sx n="75" d="100"/>
          <a:sy n="75" d="100"/>
        </p:scale>
        <p:origin x="4026" y="60"/>
      </p:cViewPr>
      <p:guideLst>
        <p:guide orient="horz" pos="3131"/>
        <p:guide pos="2142"/>
        <p:guide orient="horz" pos="3130"/>
        <p:guide pos="2143"/>
      </p:guideLst>
    </p:cSldViewPr>
  </p:notesViewPr>
  <p:gridSpacing cx="119895" cy="11989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1.fntdata"/><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font" Target="fonts/font4.fntdata"/><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7.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2.fntdata"/><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5.fntdata"/><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3.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6.fntdata"/><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62" name="Rectangle 2"/>
          <p:cNvSpPr>
            <a:spLocks noGrp="1" noChangeArrowheads="1"/>
          </p:cNvSpPr>
          <p:nvPr>
            <p:ph type="hdr" sz="quarter"/>
          </p:nvPr>
        </p:nvSpPr>
        <p:spPr bwMode="auto">
          <a:xfrm>
            <a:off x="3" y="0"/>
            <a:ext cx="2950529" cy="497445"/>
          </a:xfrm>
          <a:prstGeom prst="rect">
            <a:avLst/>
          </a:prstGeom>
          <a:noFill/>
          <a:ln w="9525">
            <a:noFill/>
            <a:miter lim="800000"/>
            <a:headEnd/>
            <a:tailEnd/>
          </a:ln>
          <a:effectLst/>
        </p:spPr>
        <p:txBody>
          <a:bodyPr vert="horz" wrap="square" lIns="92366" tIns="46183" rIns="92366" bIns="46183" numCol="1" anchor="t" anchorCtr="0" compatLnSpc="1">
            <a:prstTxWarp prst="textNoShape">
              <a:avLst/>
            </a:prstTxWarp>
          </a:bodyPr>
          <a:lstStyle>
            <a:lvl1pPr algn="l" defTabSz="924794"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218563" name="Rectangle 3"/>
          <p:cNvSpPr>
            <a:spLocks noGrp="1" noChangeArrowheads="1"/>
          </p:cNvSpPr>
          <p:nvPr>
            <p:ph type="dt" sz="quarter" idx="1"/>
          </p:nvPr>
        </p:nvSpPr>
        <p:spPr bwMode="auto">
          <a:xfrm>
            <a:off x="3855083" y="0"/>
            <a:ext cx="2950529" cy="497445"/>
          </a:xfrm>
          <a:prstGeom prst="rect">
            <a:avLst/>
          </a:prstGeom>
          <a:noFill/>
          <a:ln w="9525">
            <a:noFill/>
            <a:miter lim="800000"/>
            <a:headEnd/>
            <a:tailEnd/>
          </a:ln>
          <a:effectLst/>
        </p:spPr>
        <p:txBody>
          <a:bodyPr vert="horz" wrap="square" lIns="92366" tIns="46183" rIns="92366" bIns="46183" numCol="1" anchor="t" anchorCtr="0" compatLnSpc="1">
            <a:prstTxWarp prst="textNoShape">
              <a:avLst/>
            </a:prstTxWarp>
          </a:bodyPr>
          <a:lstStyle>
            <a:lvl1pPr algn="r" defTabSz="924794"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218564" name="Rectangle 4"/>
          <p:cNvSpPr>
            <a:spLocks noGrp="1" noChangeArrowheads="1"/>
          </p:cNvSpPr>
          <p:nvPr>
            <p:ph type="ftr" sz="quarter" idx="2"/>
          </p:nvPr>
        </p:nvSpPr>
        <p:spPr bwMode="auto">
          <a:xfrm>
            <a:off x="3" y="9440305"/>
            <a:ext cx="2950529" cy="497445"/>
          </a:xfrm>
          <a:prstGeom prst="rect">
            <a:avLst/>
          </a:prstGeom>
          <a:noFill/>
          <a:ln w="9525">
            <a:noFill/>
            <a:miter lim="800000"/>
            <a:headEnd/>
            <a:tailEnd/>
          </a:ln>
          <a:effectLst/>
        </p:spPr>
        <p:txBody>
          <a:bodyPr vert="horz" wrap="square" lIns="92366" tIns="46183" rIns="92366" bIns="46183" numCol="1" anchor="b" anchorCtr="0" compatLnSpc="1">
            <a:prstTxWarp prst="textNoShape">
              <a:avLst/>
            </a:prstTxWarp>
          </a:bodyPr>
          <a:lstStyle>
            <a:lvl1pPr algn="l" defTabSz="924794"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218565" name="Rectangle 5"/>
          <p:cNvSpPr>
            <a:spLocks noGrp="1" noChangeArrowheads="1"/>
          </p:cNvSpPr>
          <p:nvPr>
            <p:ph type="sldNum" sz="quarter" idx="3"/>
          </p:nvPr>
        </p:nvSpPr>
        <p:spPr bwMode="auto">
          <a:xfrm>
            <a:off x="3855083" y="9440305"/>
            <a:ext cx="2950529" cy="497445"/>
          </a:xfrm>
          <a:prstGeom prst="rect">
            <a:avLst/>
          </a:prstGeom>
          <a:noFill/>
          <a:ln w="9525">
            <a:noFill/>
            <a:miter lim="800000"/>
            <a:headEnd/>
            <a:tailEnd/>
          </a:ln>
          <a:effectLst/>
        </p:spPr>
        <p:txBody>
          <a:bodyPr vert="horz" wrap="square" lIns="92366" tIns="46183" rIns="92366" bIns="46183" numCol="1" anchor="b" anchorCtr="0" compatLnSpc="1">
            <a:prstTxWarp prst="textNoShape">
              <a:avLst/>
            </a:prstTxWarp>
          </a:bodyPr>
          <a:lstStyle>
            <a:lvl1pPr algn="r" defTabSz="924794" latinLnBrk="1">
              <a:defRPr kumimoji="1" sz="1200" b="0">
                <a:solidFill>
                  <a:schemeClr val="tx1"/>
                </a:solidFill>
                <a:latin typeface="굴림" pitchFamily="50" charset="-127"/>
                <a:ea typeface="굴림" pitchFamily="50" charset="-127"/>
              </a:defRPr>
            </a:lvl1pPr>
          </a:lstStyle>
          <a:p>
            <a:pPr>
              <a:defRPr/>
            </a:pPr>
            <a:fld id="{92727AB2-DBE6-4817-B7D3-07FE23D14A51}" type="slidenum">
              <a:rPr lang="en-US" altLang="ko-KR"/>
              <a:pPr>
                <a:defRPr/>
              </a:pPr>
              <a:t>‹#›</a:t>
            </a:fld>
            <a:endParaRPr lang="en-US" altLang="ko-KR" dirty="0"/>
          </a:p>
        </p:txBody>
      </p:sp>
    </p:spTree>
    <p:extLst>
      <p:ext uri="{BB962C8B-B14F-4D97-AF65-F5344CB8AC3E}">
        <p14:creationId xmlns:p14="http://schemas.microsoft.com/office/powerpoint/2010/main" val="148976029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3" y="0"/>
            <a:ext cx="2950529" cy="497445"/>
          </a:xfrm>
          <a:prstGeom prst="rect">
            <a:avLst/>
          </a:prstGeom>
          <a:noFill/>
          <a:ln w="9525">
            <a:noFill/>
            <a:miter lim="800000"/>
            <a:headEnd/>
            <a:tailEnd/>
          </a:ln>
          <a:effectLst/>
        </p:spPr>
        <p:txBody>
          <a:bodyPr vert="horz" wrap="square" lIns="91367" tIns="45684" rIns="91367" bIns="45684" numCol="1" anchor="t" anchorCtr="0" compatLnSpc="1">
            <a:prstTxWarp prst="textNoShape">
              <a:avLst/>
            </a:prstTxWarp>
          </a:bodyPr>
          <a:lstStyle>
            <a:lvl1pPr algn="l"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0243" name="Rectangle 3"/>
          <p:cNvSpPr>
            <a:spLocks noGrp="1" noChangeArrowheads="1"/>
          </p:cNvSpPr>
          <p:nvPr>
            <p:ph type="dt" idx="1"/>
          </p:nvPr>
        </p:nvSpPr>
        <p:spPr bwMode="auto">
          <a:xfrm>
            <a:off x="3855083" y="0"/>
            <a:ext cx="2950529" cy="497445"/>
          </a:xfrm>
          <a:prstGeom prst="rect">
            <a:avLst/>
          </a:prstGeom>
          <a:noFill/>
          <a:ln w="9525">
            <a:noFill/>
            <a:miter lim="800000"/>
            <a:headEnd/>
            <a:tailEnd/>
          </a:ln>
          <a:effectLst/>
        </p:spPr>
        <p:txBody>
          <a:bodyPr vert="horz" wrap="square" lIns="91367" tIns="45684" rIns="91367" bIns="45684" numCol="1" anchor="t" anchorCtr="0" compatLnSpc="1">
            <a:prstTxWarp prst="textNoShape">
              <a:avLst/>
            </a:prstTxWarp>
          </a:bodyPr>
          <a:lstStyle>
            <a:lvl1pPr algn="r"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92164" name="Rectangle 4"/>
          <p:cNvSpPr>
            <a:spLocks noGrp="1" noRot="1" noChangeAspect="1" noChangeArrowheads="1" noTextEdit="1"/>
          </p:cNvSpPr>
          <p:nvPr>
            <p:ph type="sldImg" idx="2"/>
          </p:nvPr>
        </p:nvSpPr>
        <p:spPr bwMode="auto">
          <a:xfrm>
            <a:off x="717550" y="746125"/>
            <a:ext cx="5384800" cy="3727450"/>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678817" y="4718567"/>
            <a:ext cx="5449575" cy="4476993"/>
          </a:xfrm>
          <a:prstGeom prst="rect">
            <a:avLst/>
          </a:prstGeom>
          <a:noFill/>
          <a:ln w="9525">
            <a:noFill/>
            <a:miter lim="800000"/>
            <a:headEnd/>
            <a:tailEnd/>
          </a:ln>
          <a:effectLst/>
        </p:spPr>
        <p:txBody>
          <a:bodyPr vert="horz" wrap="square" lIns="91367" tIns="45684" rIns="91367" bIns="45684" numCol="1" anchor="t" anchorCtr="0" compatLnSpc="1">
            <a:prstTxWarp prst="textNoShape">
              <a:avLst/>
            </a:prstTxWarp>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p>
        </p:txBody>
      </p:sp>
      <p:sp>
        <p:nvSpPr>
          <p:cNvPr id="10246" name="Rectangle 6"/>
          <p:cNvSpPr>
            <a:spLocks noGrp="1" noChangeArrowheads="1"/>
          </p:cNvSpPr>
          <p:nvPr>
            <p:ph type="ftr" sz="quarter" idx="4"/>
          </p:nvPr>
        </p:nvSpPr>
        <p:spPr bwMode="auto">
          <a:xfrm>
            <a:off x="3" y="9440305"/>
            <a:ext cx="2950529" cy="497445"/>
          </a:xfrm>
          <a:prstGeom prst="rect">
            <a:avLst/>
          </a:prstGeom>
          <a:noFill/>
          <a:ln w="9525">
            <a:noFill/>
            <a:miter lim="800000"/>
            <a:headEnd/>
            <a:tailEnd/>
          </a:ln>
          <a:effectLst/>
        </p:spPr>
        <p:txBody>
          <a:bodyPr vert="horz" wrap="square" lIns="91367" tIns="45684" rIns="91367" bIns="45684" numCol="1" anchor="b" anchorCtr="0" compatLnSpc="1">
            <a:prstTxWarp prst="textNoShape">
              <a:avLst/>
            </a:prstTxWarp>
          </a:bodyPr>
          <a:lstStyle>
            <a:lvl1pPr algn="l" latinLnBrk="1">
              <a:defRPr kumimoji="1" sz="1200" b="0">
                <a:solidFill>
                  <a:schemeClr val="tx1"/>
                </a:solidFill>
                <a:latin typeface="굴림" pitchFamily="50" charset="-127"/>
                <a:ea typeface="굴림" pitchFamily="50" charset="-127"/>
              </a:defRPr>
            </a:lvl1pPr>
          </a:lstStyle>
          <a:p>
            <a:pPr>
              <a:defRPr/>
            </a:pPr>
            <a:endParaRPr lang="en-US" altLang="ko-KR" dirty="0"/>
          </a:p>
        </p:txBody>
      </p:sp>
      <p:sp>
        <p:nvSpPr>
          <p:cNvPr id="10247" name="Rectangle 7"/>
          <p:cNvSpPr>
            <a:spLocks noGrp="1" noChangeArrowheads="1"/>
          </p:cNvSpPr>
          <p:nvPr>
            <p:ph type="sldNum" sz="quarter" idx="5"/>
          </p:nvPr>
        </p:nvSpPr>
        <p:spPr bwMode="auto">
          <a:xfrm>
            <a:off x="3855083" y="9440305"/>
            <a:ext cx="2950529" cy="497445"/>
          </a:xfrm>
          <a:prstGeom prst="rect">
            <a:avLst/>
          </a:prstGeom>
          <a:noFill/>
          <a:ln w="9525">
            <a:noFill/>
            <a:miter lim="800000"/>
            <a:headEnd/>
            <a:tailEnd/>
          </a:ln>
          <a:effectLst/>
        </p:spPr>
        <p:txBody>
          <a:bodyPr vert="horz" wrap="square" lIns="91367" tIns="45684" rIns="91367" bIns="45684" numCol="1" anchor="b" anchorCtr="0" compatLnSpc="1">
            <a:prstTxWarp prst="textNoShape">
              <a:avLst/>
            </a:prstTxWarp>
          </a:bodyPr>
          <a:lstStyle>
            <a:lvl1pPr algn="r" latinLnBrk="1">
              <a:defRPr kumimoji="1" sz="1200" b="0">
                <a:solidFill>
                  <a:schemeClr val="tx1"/>
                </a:solidFill>
                <a:latin typeface="굴림" pitchFamily="50" charset="-127"/>
                <a:ea typeface="굴림" pitchFamily="50" charset="-127"/>
              </a:defRPr>
            </a:lvl1pPr>
          </a:lstStyle>
          <a:p>
            <a:pPr>
              <a:defRPr/>
            </a:pPr>
            <a:fld id="{F58AD39B-30E0-4E97-8A0D-948230F53372}" type="slidenum">
              <a:rPr lang="en-US" altLang="ko-KR"/>
              <a:pPr>
                <a:defRPr/>
              </a:pPr>
              <a:t>‹#›</a:t>
            </a:fld>
            <a:endParaRPr lang="en-US" altLang="ko-KR" dirty="0"/>
          </a:p>
        </p:txBody>
      </p:sp>
    </p:spTree>
    <p:extLst>
      <p:ext uri="{BB962C8B-B14F-4D97-AF65-F5344CB8AC3E}">
        <p14:creationId xmlns:p14="http://schemas.microsoft.com/office/powerpoint/2010/main" val="1983426751"/>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Tree>
    <p:extLst>
      <p:ext uri="{BB962C8B-B14F-4D97-AF65-F5344CB8AC3E}">
        <p14:creationId xmlns:p14="http://schemas.microsoft.com/office/powerpoint/2010/main" val="1694417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2226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963649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43361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60813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47765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010917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086356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161662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67907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921722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936869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941039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9632465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39201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76429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892059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064612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1486699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2228779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60543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757880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6878391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482076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579930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872074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8844736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871193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143384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689657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5760590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8216880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8053374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068629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901101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7231537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7413138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224392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7986492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0262896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497586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2895028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2155336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434136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3202634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7384947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2680820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18828068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32395389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171673" indent="-171673">
              <a:buFontTx/>
              <a:buChar char="-"/>
            </a:pPr>
            <a:endParaRPr lang="ko-KR" altLang="en-US" dirty="0"/>
          </a:p>
        </p:txBody>
      </p:sp>
    </p:spTree>
    <p:extLst>
      <p:ext uri="{BB962C8B-B14F-4D97-AF65-F5344CB8AC3E}">
        <p14:creationId xmlns:p14="http://schemas.microsoft.com/office/powerpoint/2010/main" val="402102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p:spTree>
      <p:nvGrpSpPr>
        <p:cNvPr id="1" name=""/>
        <p:cNvGrpSpPr/>
        <p:nvPr/>
      </p:nvGrpSpPr>
      <p:grpSpPr>
        <a:xfrm>
          <a:off x="0" y="0"/>
          <a:ext cx="0" cy="0"/>
          <a:chOff x="0" y="0"/>
          <a:chExt cx="0" cy="0"/>
        </a:xfrm>
      </p:grpSpPr>
      <p:cxnSp>
        <p:nvCxnSpPr>
          <p:cNvPr id="12" name="직선 연결선 11"/>
          <p:cNvCxnSpPr/>
          <p:nvPr userDrawn="1"/>
        </p:nvCxnSpPr>
        <p:spPr bwMode="auto">
          <a:xfrm>
            <a:off x="847535" y="2646774"/>
            <a:ext cx="8191368" cy="0"/>
          </a:xfrm>
          <a:prstGeom prst="line">
            <a:avLst/>
          </a:prstGeom>
          <a:noFill/>
          <a:ln w="25400">
            <a:solidFill>
              <a:schemeClr val="tx1"/>
            </a:solidFill>
            <a:round/>
            <a:headEnd/>
            <a:tailEnd type="none" w="med" len="med"/>
          </a:ln>
        </p:spPr>
      </p:cxnSp>
      <p:pic>
        <p:nvPicPr>
          <p:cNvPr id="14" name="그림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4900" y="943323"/>
            <a:ext cx="2141404" cy="467746"/>
          </a:xfrm>
          <a:prstGeom prst="rect">
            <a:avLst/>
          </a:prstGeom>
        </p:spPr>
      </p:pic>
      <p:sp>
        <p:nvSpPr>
          <p:cNvPr id="15" name="제목 1"/>
          <p:cNvSpPr>
            <a:spLocks noGrp="1"/>
          </p:cNvSpPr>
          <p:nvPr>
            <p:ph type="title" hasCustomPrompt="1"/>
          </p:nvPr>
        </p:nvSpPr>
        <p:spPr>
          <a:xfrm>
            <a:off x="4927477" y="1023940"/>
            <a:ext cx="4673724" cy="34605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r">
              <a:defRPr kumimoji="1" lang="ko-KR" altLang="en-US" sz="1600" b="1">
                <a:latin typeface="LG스마트체 Regular" panose="020B0600000101010101" pitchFamily="50" charset="-127"/>
                <a:ea typeface="LG스마트체 Regular" panose="020B0600000101010101" pitchFamily="50" charset="-127"/>
                <a:cs typeface="+mn-cs"/>
              </a:defRPr>
            </a:lvl1pPr>
          </a:lstStyle>
          <a:p>
            <a:pPr lvl="0" algn="r" fontAlgn="base" latinLnBrk="0">
              <a:spcBef>
                <a:spcPct val="50000"/>
              </a:spcBef>
              <a:spcAft>
                <a:spcPct val="0"/>
              </a:spcAft>
            </a:pPr>
            <a:r>
              <a:rPr lang="ko-KR" altLang="en-US" dirty="0" smtClean="0"/>
              <a:t>프로젝트 명 편집</a:t>
            </a:r>
            <a:endParaRPr lang="ko-KR" altLang="en-US" dirty="0"/>
          </a:p>
        </p:txBody>
      </p:sp>
      <p:sp>
        <p:nvSpPr>
          <p:cNvPr id="22" name="내용 개체 틀 21"/>
          <p:cNvSpPr>
            <a:spLocks noGrp="1"/>
          </p:cNvSpPr>
          <p:nvPr>
            <p:ph sz="quarter" idx="10" hasCustomPrompt="1"/>
          </p:nvPr>
        </p:nvSpPr>
        <p:spPr>
          <a:xfrm>
            <a:off x="843493" y="2056467"/>
            <a:ext cx="7073552" cy="522000"/>
          </a:xfrm>
        </p:spPr>
        <p:txBody>
          <a:bodyPr>
            <a:normAutofit/>
          </a:bodyPr>
          <a:lstStyle>
            <a:lvl1pPr marL="0" indent="0">
              <a:buFontTx/>
              <a:buNone/>
              <a:defRPr kumimoji="1" lang="ko-KR" altLang="en-US" sz="2800" b="1" kern="1200" dirty="0">
                <a:solidFill>
                  <a:schemeClr val="tx1"/>
                </a:solidFill>
                <a:latin typeface="LG스마트체 Regular" panose="020B0600000101010101" pitchFamily="50" charset="-127"/>
                <a:ea typeface="LG스마트체 Regular" panose="020B0600000101010101" pitchFamily="50" charset="-127"/>
                <a:cs typeface="Arial Unicode MS" pitchFamily="50" charset="-127"/>
              </a:defRPr>
            </a:lvl1pPr>
          </a:lstStyle>
          <a:p>
            <a:pPr lvl="0"/>
            <a:r>
              <a:rPr lang="ko-KR" altLang="en-US" dirty="0" smtClean="0"/>
              <a:t>마스터 제목 편집</a:t>
            </a:r>
            <a:endParaRPr lang="ko-KR" altLang="en-US" dirty="0"/>
          </a:p>
        </p:txBody>
      </p:sp>
    </p:spTree>
    <p:extLst>
      <p:ext uri="{BB962C8B-B14F-4D97-AF65-F5344CB8AC3E}">
        <p14:creationId xmlns:p14="http://schemas.microsoft.com/office/powerpoint/2010/main" val="262958480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본문">
    <p:spTree>
      <p:nvGrpSpPr>
        <p:cNvPr id="1" name=""/>
        <p:cNvGrpSpPr/>
        <p:nvPr/>
      </p:nvGrpSpPr>
      <p:grpSpPr>
        <a:xfrm>
          <a:off x="0" y="0"/>
          <a:ext cx="0" cy="0"/>
          <a:chOff x="0" y="0"/>
          <a:chExt cx="0" cy="0"/>
        </a:xfrm>
      </p:grpSpPr>
      <p:sp>
        <p:nvSpPr>
          <p:cNvPr id="2" name="제목 1"/>
          <p:cNvSpPr>
            <a:spLocks noGrp="1"/>
          </p:cNvSpPr>
          <p:nvPr>
            <p:ph type="title"/>
          </p:nvPr>
        </p:nvSpPr>
        <p:spPr>
          <a:xfrm>
            <a:off x="171194" y="130622"/>
            <a:ext cx="4673724" cy="346050"/>
          </a:xfrm>
        </p:spPr>
        <p:txBody>
          <a:bodyPr>
            <a:noAutofit/>
          </a:bodyPr>
          <a:lstStyle>
            <a:lvl1pPr algn="l">
              <a:defRPr sz="2000" b="1"/>
            </a:lvl1pPr>
          </a:lstStyle>
          <a:p>
            <a:r>
              <a:rPr lang="ko-KR" altLang="en-US" smtClean="0"/>
              <a:t>마스터 제목 스타일 편집</a:t>
            </a:r>
            <a:endParaRPr lang="ko-KR" altLang="en-US"/>
          </a:p>
        </p:txBody>
      </p:sp>
      <p:sp>
        <p:nvSpPr>
          <p:cNvPr id="4" name="직선 연결선 7">
            <a:extLst>
              <a:ext uri="{FF2B5EF4-FFF2-40B4-BE49-F238E27FC236}">
                <a16:creationId xmlns:a16="http://schemas.microsoft.com/office/drawing/2014/main" id="{3959789E-1396-4E3D-AAD6-3123B61C9B94}"/>
              </a:ext>
            </a:extLst>
          </p:cNvPr>
          <p:cNvSpPr/>
          <p:nvPr userDrawn="1"/>
        </p:nvSpPr>
        <p:spPr>
          <a:xfrm>
            <a:off x="217592" y="490742"/>
            <a:ext cx="9470816" cy="0"/>
          </a:xfrm>
          <a:prstGeom prst="line">
            <a:avLst/>
          </a:prstGeom>
          <a:ln w="25400">
            <a:solidFill>
              <a:srgbClr val="000000"/>
            </a:solidFill>
          </a:ln>
        </p:spPr>
        <p:txBody>
          <a:bodyPr lIns="45719" rIns="45719"/>
          <a:lstStyle/>
          <a:p>
            <a:endParaRPr/>
          </a:p>
        </p:txBody>
      </p:sp>
      <p:sp>
        <p:nvSpPr>
          <p:cNvPr id="5" name="슬라이드 번호 개체 틀 5">
            <a:extLst>
              <a:ext uri="{FF2B5EF4-FFF2-40B4-BE49-F238E27FC236}">
                <a16:creationId xmlns:a16="http://schemas.microsoft.com/office/drawing/2014/main" id="{BC967B58-6B76-4496-B5BF-77C609D288E1}"/>
              </a:ext>
            </a:extLst>
          </p:cNvPr>
          <p:cNvSpPr txBox="1">
            <a:spLocks/>
          </p:cNvSpPr>
          <p:nvPr userDrawn="1"/>
        </p:nvSpPr>
        <p:spPr>
          <a:xfrm>
            <a:off x="8913440" y="6685388"/>
            <a:ext cx="864096" cy="13849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lIns="90000" tIns="0" rIns="90000" bIns="0" rtlCol="0" anchor="ctr">
            <a:spAutoFit/>
          </a:bodyPr>
          <a:lstStyle>
            <a:defPPr>
              <a:defRPr lang="ko-KR"/>
            </a:defPPr>
            <a:lvl1pPr algn="r">
              <a:defRPr sz="1000" baseline="0">
                <a:solidFill>
                  <a:srgbClr val="000000"/>
                </a:solidFill>
                <a:latin typeface="Arial Narrow" panose="020B0606020202030204" pitchFamily="34" charset="0"/>
                <a:ea typeface="LG스마트체2.0 Regular" panose="020B0600000101010101" pitchFamily="50" charset="-127"/>
                <a:cs typeface="LG Smart_H2.0 R"/>
              </a:defRPr>
            </a:lvl1pPr>
          </a:lstStyle>
          <a:p>
            <a:pPr lvl="0"/>
            <a:fld id="{86CB4B4D-7CA3-9044-876B-883B54F8677D}" type="slidenum">
              <a:rPr lang="en-US" altLang="ko-KR" sz="900" b="0" smtClean="0">
                <a:latin typeface="+mn-ea"/>
                <a:ea typeface="+mn-ea"/>
              </a:rPr>
              <a:pPr lvl="0"/>
              <a:t>‹#›</a:t>
            </a:fld>
            <a:endParaRPr lang="ko-KR" altLang="en-US" sz="900" b="0" dirty="0">
              <a:latin typeface="+mn-ea"/>
              <a:ea typeface="+mn-ea"/>
            </a:endParaRPr>
          </a:p>
        </p:txBody>
      </p:sp>
    </p:spTree>
    <p:extLst>
      <p:ext uri="{BB962C8B-B14F-4D97-AF65-F5344CB8AC3E}">
        <p14:creationId xmlns:p14="http://schemas.microsoft.com/office/powerpoint/2010/main" val="252489428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3" name="직선 연결선 7">
            <a:extLst>
              <a:ext uri="{FF2B5EF4-FFF2-40B4-BE49-F238E27FC236}">
                <a16:creationId xmlns:a16="http://schemas.microsoft.com/office/drawing/2014/main" id="{3959789E-1396-4E3D-AAD6-3123B61C9B94}"/>
              </a:ext>
            </a:extLst>
          </p:cNvPr>
          <p:cNvSpPr/>
          <p:nvPr userDrawn="1"/>
        </p:nvSpPr>
        <p:spPr>
          <a:xfrm>
            <a:off x="217592" y="490742"/>
            <a:ext cx="9470816" cy="0"/>
          </a:xfrm>
          <a:prstGeom prst="line">
            <a:avLst/>
          </a:prstGeom>
          <a:ln w="25400">
            <a:solidFill>
              <a:srgbClr val="000000"/>
            </a:solidFill>
          </a:ln>
        </p:spPr>
        <p:txBody>
          <a:bodyPr lIns="45719" rIns="45719"/>
          <a:lstStyle/>
          <a:p>
            <a:endParaRPr/>
          </a:p>
        </p:txBody>
      </p:sp>
    </p:spTree>
    <p:extLst>
      <p:ext uri="{BB962C8B-B14F-4D97-AF65-F5344CB8AC3E}">
        <p14:creationId xmlns:p14="http://schemas.microsoft.com/office/powerpoint/2010/main" val="245661696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
        <p:nvSpPr>
          <p:cNvPr id="8" name="Text Box 2"/>
          <p:cNvSpPr txBox="1">
            <a:spLocks noChangeArrowheads="1"/>
          </p:cNvSpPr>
          <p:nvPr userDrawn="1"/>
        </p:nvSpPr>
        <p:spPr bwMode="gray">
          <a:xfrm>
            <a:off x="4442044" y="6660775"/>
            <a:ext cx="10150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lIns="0" rIns="0">
            <a:spAutoFit/>
          </a:bodyPr>
          <a:lstStyle>
            <a:lvl1pPr eaLnBrk="0" hangingPunct="0">
              <a:defRPr kumimoji="1" sz="1200" b="1">
                <a:solidFill>
                  <a:schemeClr val="tx1"/>
                </a:solidFill>
                <a:latin typeface="Arial" charset="0"/>
                <a:ea typeface="맑은 고딕" pitchFamily="50" charset="-127"/>
              </a:defRPr>
            </a:lvl1pPr>
            <a:lvl2pPr marL="742950" indent="-285750" eaLnBrk="0" hangingPunct="0">
              <a:defRPr kumimoji="1" sz="1200" b="1">
                <a:solidFill>
                  <a:schemeClr val="tx1"/>
                </a:solidFill>
                <a:latin typeface="Arial" charset="0"/>
                <a:ea typeface="맑은 고딕" pitchFamily="50" charset="-127"/>
              </a:defRPr>
            </a:lvl2pPr>
            <a:lvl3pPr marL="1143000" indent="-228600" eaLnBrk="0" hangingPunct="0">
              <a:defRPr kumimoji="1" sz="1200" b="1">
                <a:solidFill>
                  <a:schemeClr val="tx1"/>
                </a:solidFill>
                <a:latin typeface="Arial" charset="0"/>
                <a:ea typeface="맑은 고딕" pitchFamily="50" charset="-127"/>
              </a:defRPr>
            </a:lvl3pPr>
            <a:lvl4pPr marL="1600200" indent="-228600" eaLnBrk="0" hangingPunct="0">
              <a:defRPr kumimoji="1" sz="1200" b="1">
                <a:solidFill>
                  <a:schemeClr val="tx1"/>
                </a:solidFill>
                <a:latin typeface="Arial" charset="0"/>
                <a:ea typeface="맑은 고딕" pitchFamily="50" charset="-127"/>
              </a:defRPr>
            </a:lvl4pPr>
            <a:lvl5pPr marL="2057400" indent="-228600" eaLnBrk="0" hangingPunct="0">
              <a:defRPr kumimoji="1" sz="1200" b="1">
                <a:solidFill>
                  <a:schemeClr val="tx1"/>
                </a:solidFill>
                <a:latin typeface="Arial" charset="0"/>
                <a:ea typeface="맑은 고딕" pitchFamily="50" charset="-127"/>
              </a:defRPr>
            </a:lvl5pPr>
            <a:lvl6pPr marL="25146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6pPr>
            <a:lvl7pPr marL="29718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7pPr>
            <a:lvl8pPr marL="34290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8pPr>
            <a:lvl9pPr marL="3886200" indent="-228600" algn="ctr" eaLnBrk="0" fontAlgn="base" hangingPunct="0">
              <a:lnSpc>
                <a:spcPct val="120000"/>
              </a:lnSpc>
              <a:spcBef>
                <a:spcPct val="70000"/>
              </a:spcBef>
              <a:spcAft>
                <a:spcPct val="0"/>
              </a:spcAft>
              <a:buFont typeface="Arial" charset="0"/>
              <a:defRPr kumimoji="1" sz="1200" b="1">
                <a:solidFill>
                  <a:schemeClr val="tx1"/>
                </a:solidFill>
                <a:latin typeface="Arial" charset="0"/>
                <a:ea typeface="맑은 고딕" pitchFamily="50" charset="-127"/>
              </a:defRPr>
            </a:lvl9pPr>
          </a:lstStyle>
          <a:p>
            <a:pPr algn="dist" eaLnBrk="1" fontAlgn="auto" latinLnBrk="0" hangingPunct="1">
              <a:spcBef>
                <a:spcPct val="50000"/>
              </a:spcBef>
              <a:spcAft>
                <a:spcPts val="0"/>
              </a:spcAft>
            </a:pPr>
            <a:r>
              <a:rPr lang="ko-KR" altLang="en-US" sz="800" dirty="0">
                <a:solidFill>
                  <a:srgbClr val="A50034"/>
                </a:solidFill>
                <a:latin typeface="LG스마트체2.0 SemiBold" panose="020B0600000101010101" pitchFamily="50" charset="-127"/>
                <a:ea typeface="LG스마트체2.0 SemiBold" panose="020B0600000101010101" pitchFamily="50" charset="-127"/>
              </a:rPr>
              <a:t>｜</a:t>
            </a:r>
            <a:r>
              <a:rPr lang="en-US" altLang="ko-KR" sz="800" b="0" dirty="0">
                <a:solidFill>
                  <a:srgbClr val="A50034"/>
                </a:solidFill>
                <a:latin typeface="LG스마트체2.0 Bold" panose="020B0600000101010101" pitchFamily="50" charset="-127"/>
                <a:ea typeface="LG스마트체2.0 Bold" panose="020B0600000101010101" pitchFamily="50" charset="-127"/>
              </a:rPr>
              <a:t>CONFIDENTIAL</a:t>
            </a:r>
            <a:r>
              <a:rPr lang="ko-KR" altLang="en-US" sz="800" dirty="0">
                <a:solidFill>
                  <a:srgbClr val="A50034"/>
                </a:solidFill>
                <a:latin typeface="LG스마트체2.0 SemiBold" panose="020B0600000101010101" pitchFamily="50" charset="-127"/>
                <a:ea typeface="LG스마트체2.0 SemiBold" panose="020B0600000101010101" pitchFamily="50" charset="-127"/>
              </a:rPr>
              <a:t>｜</a:t>
            </a:r>
            <a:endParaRPr lang="en-US" altLang="ko-KR" sz="800" dirty="0">
              <a:solidFill>
                <a:srgbClr val="A50034"/>
              </a:solidFill>
              <a:latin typeface="LG스마트체2.0 SemiBold" panose="020B0600000101010101" pitchFamily="50" charset="-127"/>
              <a:ea typeface="LG스마트체2.0 SemiBold" panose="020B0600000101010101" pitchFamily="50" charset="-127"/>
            </a:endParaRPr>
          </a:p>
        </p:txBody>
      </p:sp>
      <p:grpSp>
        <p:nvGrpSpPr>
          <p:cNvPr id="12" name="그룹 11"/>
          <p:cNvGrpSpPr/>
          <p:nvPr/>
        </p:nvGrpSpPr>
        <p:grpSpPr>
          <a:xfrm>
            <a:off x="200025" y="188913"/>
            <a:ext cx="9505950" cy="6480175"/>
            <a:chOff x="200025" y="188913"/>
            <a:chExt cx="9505950" cy="6480175"/>
          </a:xfrm>
        </p:grpSpPr>
        <p:sp>
          <p:nvSpPr>
            <p:cNvPr id="14" name="직사각형 13"/>
            <p:cNvSpPr/>
            <p:nvPr/>
          </p:nvSpPr>
          <p:spPr>
            <a:xfrm>
              <a:off x="200025" y="188913"/>
              <a:ext cx="9505950" cy="6480175"/>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rtlCol="0" anchor="ctr"/>
            <a:lstStyle/>
            <a:p>
              <a:pPr algn="ctr" fontAlgn="auto">
                <a:spcBef>
                  <a:spcPts val="0"/>
                </a:spcBef>
                <a:spcAft>
                  <a:spcPts val="0"/>
                </a:spcAft>
              </a:pPr>
              <a:endParaRPr kumimoji="0" lang="ko-KR" altLang="en-US" sz="1800">
                <a:solidFill>
                  <a:prstClr val="white"/>
                </a:solidFill>
              </a:endParaRPr>
            </a:p>
          </p:txBody>
        </p:sp>
        <p:pic>
          <p:nvPicPr>
            <p:cNvPr id="15"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00025" y="188913"/>
              <a:ext cx="735289"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ECM\TEMP\부서함\Brand담당\20년 연간업무계획\디지털 그래픽 모티브 개발★\★1st Manual Official Release\Graphic Asset_v1.0\1. Main motif - Solid color\png\Main_motif-LG_red_solid.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8249308" y="5229088"/>
              <a:ext cx="1456667" cy="1440000"/>
            </a:xfrm>
            <a:prstGeom prst="rect">
              <a:avLst/>
            </a:prstGeom>
            <a:noFill/>
            <a:extLst>
              <a:ext uri="{909E8E84-426E-40DD-AFC4-6F175D3DCCD1}">
                <a14:hiddenFill xmlns:a14="http://schemas.microsoft.com/office/drawing/2010/main">
                  <a:solidFill>
                    <a:srgbClr val="FFFFFF"/>
                  </a:solidFill>
                </a14:hiddenFill>
              </a:ext>
            </a:extLst>
          </p:spPr>
        </p:pic>
      </p:grpSp>
      <p:pic>
        <p:nvPicPr>
          <p:cNvPr id="9" name="그림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20223" y="5146837"/>
            <a:ext cx="1608868" cy="351425"/>
          </a:xfrm>
          <a:prstGeom prst="rect">
            <a:avLst/>
          </a:prstGeom>
        </p:spPr>
      </p:pic>
    </p:spTree>
    <p:extLst>
      <p:ext uri="{BB962C8B-B14F-4D97-AF65-F5344CB8AC3E}">
        <p14:creationId xmlns:p14="http://schemas.microsoft.com/office/powerpoint/2010/main" val="203045159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
        <p:nvSpPr>
          <p:cNvPr id="4" name="날짜 개체 틀 3"/>
          <p:cNvSpPr>
            <a:spLocks noGrp="1"/>
          </p:cNvSpPr>
          <p:nvPr>
            <p:ph type="dt" sz="half" idx="10"/>
          </p:nvPr>
        </p:nvSpPr>
        <p:spPr/>
        <p:txBody>
          <a:bodyPr/>
          <a:lstStyle/>
          <a:p>
            <a:fld id="{1E9C1F57-6407-4F9A-87B3-597B2D7E29F8}" type="datetime1">
              <a:rPr lang="ko-KR" altLang="en-US" smtClean="0">
                <a:solidFill>
                  <a:prstClr val="black">
                    <a:tint val="75000"/>
                  </a:prstClr>
                </a:solidFill>
              </a:rPr>
              <a:t>2025-01-13</a:t>
            </a:fld>
            <a:endParaRPr lang="ko-KR" altLang="en-US">
              <a:solidFill>
                <a:prstClr val="black">
                  <a:tint val="75000"/>
                </a:prstClr>
              </a:solidFill>
            </a:endParaRPr>
          </a:p>
        </p:txBody>
      </p:sp>
      <p:sp>
        <p:nvSpPr>
          <p:cNvPr id="5" name="바닥글 개체 틀 4"/>
          <p:cNvSpPr>
            <a:spLocks noGrp="1"/>
          </p:cNvSpPr>
          <p:nvPr>
            <p:ph type="ftr" sz="quarter" idx="11"/>
          </p:nvPr>
        </p:nvSpPr>
        <p:spPr>
          <a:xfrm>
            <a:off x="5601072" y="6356350"/>
            <a:ext cx="3136900" cy="365125"/>
          </a:xfr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2864768" y="6356351"/>
            <a:ext cx="2311400" cy="365125"/>
          </a:xfrm>
        </p:spPr>
        <p:txBody>
          <a:bodyPr/>
          <a:lstStyle/>
          <a:p>
            <a:fld id="{1D3BA075-CA25-46AB-8832-7464718604D1}" type="slidenum">
              <a:rPr lang="ko-KR" altLang="en-US" smtClean="0">
                <a:solidFill>
                  <a:prstClr val="black">
                    <a:tint val="75000"/>
                  </a:prstClr>
                </a:solidFill>
              </a:rPr>
              <a:pPr/>
              <a:t>‹#›</a:t>
            </a:fld>
            <a:endParaRPr lang="ko-KR" altLang="en-US" dirty="0">
              <a:solidFill>
                <a:prstClr val="black">
                  <a:tint val="75000"/>
                </a:prstClr>
              </a:solidFill>
            </a:endParaRPr>
          </a:p>
        </p:txBody>
      </p:sp>
    </p:spTree>
    <p:extLst>
      <p:ext uri="{BB962C8B-B14F-4D97-AF65-F5344CB8AC3E}">
        <p14:creationId xmlns:p14="http://schemas.microsoft.com/office/powerpoint/2010/main" val="16532218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136639653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113936796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347871660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1038" y="1825625"/>
            <a:ext cx="4195762"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5029200" y="1825625"/>
            <a:ext cx="4195763" cy="435133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61350129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682625" y="2505075"/>
            <a:ext cx="4191000"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4089710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37169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57948215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19187152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4211638" y="987425"/>
            <a:ext cx="50149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349416290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76119078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061BEB4-0766-4F86-8A6A-72EB12F049DF}" type="datetimeFigureOut">
              <a:rPr lang="ko-KR" altLang="en-US" smtClean="0"/>
              <a:t>2025-01-13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8513139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ko-KR" altLang="en-US" dirty="0" smtClean="0"/>
              <a:t>마스터 텍스트 스타일을 편집합니다</a:t>
            </a:r>
          </a:p>
          <a:p>
            <a:pPr lvl="1"/>
            <a:r>
              <a:rPr lang="ko-KR" altLang="en-US" dirty="0" smtClean="0"/>
              <a:t>둘째 수준</a:t>
            </a:r>
          </a:p>
          <a:p>
            <a:pPr lvl="2"/>
            <a:r>
              <a:rPr lang="ko-KR" altLang="en-US" dirty="0" smtClean="0"/>
              <a:t>셋째 수준</a:t>
            </a:r>
          </a:p>
          <a:p>
            <a:pPr lvl="3"/>
            <a:r>
              <a:rPr lang="ko-KR" altLang="en-US" dirty="0" smtClean="0"/>
              <a:t>넷째 수준</a:t>
            </a:r>
          </a:p>
          <a:p>
            <a:pPr lvl="4"/>
            <a:r>
              <a:rPr lang="ko-KR" altLang="en-US" dirty="0" smtClean="0"/>
              <a:t>다섯째 수준</a:t>
            </a:r>
            <a:endParaRPr lang="ko-KR" altLang="en-US" dirty="0"/>
          </a:p>
        </p:txBody>
      </p:sp>
    </p:spTree>
    <p:extLst>
      <p:ext uri="{BB962C8B-B14F-4D97-AF65-F5344CB8AC3E}">
        <p14:creationId xmlns:p14="http://schemas.microsoft.com/office/powerpoint/2010/main" val="2270098153"/>
      </p:ext>
    </p:extLst>
  </p:cSld>
  <p:clrMap bg1="lt1" tx1="dk1" bg2="lt2" tx2="dk2" accent1="accent1" accent2="accent2" accent3="accent3" accent4="accent4" accent5="accent5" accent6="accent6" hlink="hlink" folHlink="folHlink"/>
  <p:sldLayoutIdLst>
    <p:sldLayoutId id="2147483736" r:id="rId1"/>
    <p:sldLayoutId id="2147483740" r:id="rId2"/>
    <p:sldLayoutId id="2147483737" r:id="rId3"/>
    <p:sldLayoutId id="2147483753" r:id="rId4"/>
    <p:sldLayoutId id="2147483754" r:id="rId5"/>
  </p:sldLayoutIdLst>
  <p:timing>
    <p:tnLst>
      <p:par>
        <p:cTn id="1" dur="indefinite" restart="never" nodeType="tmRoot"/>
      </p:par>
    </p:tnLst>
  </p:timing>
  <p:hf sldNum="0" hdr="0" ftr="0" dt="0"/>
  <p:txStyles>
    <p:titleStyle>
      <a:lvl1pPr algn="ctr" defTabSz="914400" rtl="0" eaLnBrk="1" latinLnBrk="1" hangingPunct="1">
        <a:spcBef>
          <a:spcPct val="0"/>
        </a:spcBef>
        <a:buNone/>
        <a:defRPr sz="4400" kern="1200">
          <a:solidFill>
            <a:schemeClr val="tx1"/>
          </a:solidFill>
          <a:latin typeface="LG스마트체 Regular" panose="020B0600000101010101" pitchFamily="50" charset="-127"/>
          <a:ea typeface="LG스마트체 Regular" panose="020B0600000101010101" pitchFamily="50" charset="-127"/>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LG스마트체 Regular" panose="020B0600000101010101" pitchFamily="50" charset="-127"/>
          <a:ea typeface="LG스마트체 Regular" panose="020B0600000101010101" pitchFamily="50" charset="-127"/>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LG스마트체 Regular" panose="020B0600000101010101" pitchFamily="50" charset="-127"/>
          <a:ea typeface="LG스마트체 Regular" panose="020B0600000101010101" pitchFamily="50" charset="-127"/>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LG스마트체 Regular" panose="020B0600000101010101" pitchFamily="50" charset="-127"/>
          <a:ea typeface="LG스마트체 Regular" panose="020B0600000101010101" pitchFamily="50" charset="-127"/>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LG스마트체 Regular" panose="020B0600000101010101" pitchFamily="50" charset="-127"/>
          <a:ea typeface="LG스마트체 Regular" panose="020B0600000101010101" pitchFamily="50" charset="-127"/>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LG스마트체 Regular" panose="020B0600000101010101" pitchFamily="50" charset="-127"/>
          <a:ea typeface="LG스마트체 Regular" panose="020B0600000101010101" pitchFamily="50"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61BEB4-0766-4F86-8A6A-72EB12F049DF}" type="datetimeFigureOut">
              <a:rPr lang="ko-KR" altLang="en-US" smtClean="0"/>
              <a:t>2025-01-13</a:t>
            </a:fld>
            <a:endParaRPr lang="ko-KR" altLang="en-US"/>
          </a:p>
        </p:txBody>
      </p:sp>
      <p:sp>
        <p:nvSpPr>
          <p:cNvPr id="5" name="바닥글 개체 틀 4"/>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FADAAD-3E67-4088-A1F2-BED9F0414934}" type="slidenum">
              <a:rPr lang="ko-KR" altLang="en-US" smtClean="0"/>
              <a:t>‹#›</a:t>
            </a:fld>
            <a:endParaRPr lang="ko-KR" altLang="en-US"/>
          </a:p>
        </p:txBody>
      </p:sp>
    </p:spTree>
    <p:extLst>
      <p:ext uri="{BB962C8B-B14F-4D97-AF65-F5344CB8AC3E}">
        <p14:creationId xmlns:p14="http://schemas.microsoft.com/office/powerpoint/2010/main" val="2338903014"/>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iming>
    <p:tnLst>
      <p:par>
        <p:cTn id="1" dur="indefinite" restart="never" nodeType="tmRoot"/>
      </p:par>
    </p:tnLst>
  </p:timing>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25449" y="1963316"/>
            <a:ext cx="8502739" cy="584775"/>
          </a:xfrm>
          <a:prstGeom prst="rect">
            <a:avLst/>
          </a:prstGeom>
        </p:spPr>
        <p:txBody>
          <a:bodyPr/>
          <a:lstStyle>
            <a:lvl1pPr algn="ctr" defTabSz="914400" rtl="0" eaLnBrk="1" latinLnBrk="1" hangingPunct="1">
              <a:spcBef>
                <a:spcPct val="0"/>
              </a:spcBef>
              <a:buNone/>
              <a:defRPr sz="4400" kern="1200">
                <a:solidFill>
                  <a:schemeClr val="tx1"/>
                </a:solidFill>
                <a:latin typeface="+mj-lt"/>
                <a:ea typeface="+mj-ea"/>
                <a:cs typeface="+mj-cs"/>
              </a:defRPr>
            </a:lvl1pPr>
          </a:lstStyle>
          <a:p>
            <a:pPr lvl="0" algn="l" fontAlgn="auto">
              <a:spcAft>
                <a:spcPts val="0"/>
              </a:spcAft>
              <a:defRPr/>
            </a:pPr>
            <a:r>
              <a:rPr lang="en-US" altLang="ko-KR" sz="3000" dirty="0" smtClean="0">
                <a:solidFill>
                  <a:prstClr val="black">
                    <a:lumMod val="65000"/>
                    <a:lumOff val="35000"/>
                  </a:prstClr>
                </a:solidFill>
                <a:latin typeface="+mn-ea"/>
                <a:ea typeface="+mn-ea"/>
              </a:rPr>
              <a:t>SHA </a:t>
            </a:r>
            <a:r>
              <a:rPr lang="en-US" altLang="ko-KR" sz="3000" dirty="0">
                <a:solidFill>
                  <a:prstClr val="black">
                    <a:lumMod val="65000"/>
                    <a:lumOff val="35000"/>
                  </a:prstClr>
                </a:solidFill>
                <a:latin typeface="+mn-ea"/>
                <a:ea typeface="+mn-ea"/>
              </a:rPr>
              <a:t>Review Guidelines</a:t>
            </a:r>
            <a:endParaRPr lang="ko-KR" altLang="en-US" sz="3000" dirty="0">
              <a:solidFill>
                <a:prstClr val="black">
                  <a:lumMod val="65000"/>
                  <a:lumOff val="35000"/>
                </a:prstClr>
              </a:solidFill>
              <a:latin typeface="+mn-ea"/>
              <a:ea typeface="+mn-ea"/>
            </a:endParaRPr>
          </a:p>
        </p:txBody>
      </p:sp>
      <p:sp>
        <p:nvSpPr>
          <p:cNvPr id="14" name="내용 개체 틀 3"/>
          <p:cNvSpPr txBox="1">
            <a:spLocks/>
          </p:cNvSpPr>
          <p:nvPr/>
        </p:nvSpPr>
        <p:spPr>
          <a:xfrm>
            <a:off x="1208089" y="6149305"/>
            <a:ext cx="3744912" cy="307777"/>
          </a:xfrm>
          <a:prstGeom prst="rect">
            <a:avLst/>
          </a:prstGeom>
        </p:spPr>
        <p:txBody>
          <a:bodyPr/>
          <a:lst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ct val="20000"/>
              </a:spcBef>
              <a:spcAft>
                <a:spcPts val="0"/>
              </a:spcAft>
              <a:buClrTx/>
              <a:buSzTx/>
              <a:buFont typeface="Arial" panose="020B0604020202020204" pitchFamily="34" charset="0"/>
              <a:buNone/>
              <a:tabLst/>
              <a:defRPr/>
            </a:pPr>
            <a:r>
              <a:rPr lang="ko-KR" altLang="en-US" sz="1400" b="0" dirty="0" smtClean="0">
                <a:solidFill>
                  <a:schemeClr val="tx1">
                    <a:lumMod val="65000"/>
                    <a:lumOff val="35000"/>
                  </a:schemeClr>
                </a:solidFill>
                <a:latin typeface="+mn-ea"/>
              </a:rPr>
              <a:t>법무실</a:t>
            </a:r>
            <a:r>
              <a:rPr kumimoji="0" lang="ko-KR" altLang="en-US" sz="1400" b="0" i="0" u="none" strike="noStrike" kern="1200" cap="none" spc="0" normalizeH="0" baseline="0" noProof="0" dirty="0" smtClean="0">
                <a:ln>
                  <a:noFill/>
                </a:ln>
                <a:solidFill>
                  <a:schemeClr val="tx1">
                    <a:lumMod val="65000"/>
                    <a:lumOff val="35000"/>
                  </a:schemeClr>
                </a:solidFill>
                <a:effectLst/>
                <a:uLnTx/>
                <a:uFillTx/>
                <a:latin typeface="+mn-ea"/>
              </a:rPr>
              <a:t> </a:t>
            </a:r>
            <a:r>
              <a:rPr kumimoji="0" lang="ko-KR" altLang="en-US" sz="1400" b="0" i="0" u="none" strike="noStrike" kern="1200" cap="none" spc="0" normalizeH="0" baseline="0" noProof="0" dirty="0">
                <a:ln>
                  <a:noFill/>
                </a:ln>
                <a:solidFill>
                  <a:schemeClr val="tx1">
                    <a:lumMod val="65000"/>
                    <a:lumOff val="35000"/>
                  </a:schemeClr>
                </a:solidFill>
                <a:effectLst/>
                <a:uLnTx/>
                <a:uFillTx/>
                <a:latin typeface="+mn-ea"/>
              </a:rPr>
              <a:t>｜ </a:t>
            </a:r>
            <a:r>
              <a:rPr kumimoji="0" lang="en-US" altLang="ko-KR" sz="1400" b="0" i="0" u="none" strike="noStrike" kern="1200" cap="none" spc="0" normalizeH="0" baseline="0" noProof="0" dirty="0" smtClean="0">
                <a:ln>
                  <a:noFill/>
                </a:ln>
                <a:solidFill>
                  <a:schemeClr val="tx1">
                    <a:lumMod val="65000"/>
                    <a:lumOff val="35000"/>
                  </a:schemeClr>
                </a:solidFill>
                <a:effectLst/>
                <a:uLnTx/>
                <a:uFillTx/>
                <a:latin typeface="+mn-ea"/>
              </a:rPr>
              <a:t>2025. </a:t>
            </a:r>
            <a:r>
              <a:rPr lang="en-US" altLang="ko-KR" sz="1400" b="0" noProof="0" smtClean="0">
                <a:solidFill>
                  <a:schemeClr val="tx1">
                    <a:lumMod val="65000"/>
                    <a:lumOff val="35000"/>
                  </a:schemeClr>
                </a:solidFill>
                <a:latin typeface="+mn-ea"/>
              </a:rPr>
              <a:t>1.</a:t>
            </a:r>
            <a:endParaRPr kumimoji="0" lang="ko-KR" altLang="en-US" sz="1400" b="0" i="0" u="none" strike="noStrike" kern="1200" cap="none" spc="0" normalizeH="0" baseline="0" noProof="0" dirty="0">
              <a:ln>
                <a:noFill/>
              </a:ln>
              <a:solidFill>
                <a:schemeClr val="tx1">
                  <a:lumMod val="65000"/>
                  <a:lumOff val="35000"/>
                </a:schemeClr>
              </a:solidFill>
              <a:effectLst/>
              <a:uLnTx/>
              <a:uFillTx/>
              <a:latin typeface="+mn-ea"/>
            </a:endParaRPr>
          </a:p>
        </p:txBody>
      </p:sp>
      <p:sp>
        <p:nvSpPr>
          <p:cNvPr id="6" name="TextBox 5"/>
          <p:cNvSpPr txBox="1"/>
          <p:nvPr/>
        </p:nvSpPr>
        <p:spPr>
          <a:xfrm>
            <a:off x="1300164" y="2822404"/>
            <a:ext cx="7369582" cy="600164"/>
          </a:xfrm>
          <a:prstGeom prst="rect">
            <a:avLst/>
          </a:prstGeom>
          <a:noFill/>
        </p:spPr>
        <p:txBody>
          <a:bodyPr wrap="square" rtlCol="0">
            <a:spAutoFit/>
          </a:bodyPr>
          <a:lstStyle/>
          <a:p>
            <a:pPr marL="285750" indent="-285750">
              <a:spcBef>
                <a:spcPts val="300"/>
              </a:spcBef>
              <a:spcAft>
                <a:spcPts val="300"/>
              </a:spcAft>
              <a:buFont typeface="Wingdings" panose="05000000000000000000" pitchFamily="2" charset="2"/>
              <a:buChar char="§"/>
              <a:defRPr/>
            </a:pPr>
            <a:r>
              <a:rPr lang="ko-KR" altLang="en-US" sz="1400" b="0" dirty="0" smtClean="0">
                <a:solidFill>
                  <a:schemeClr val="tx1">
                    <a:lumMod val="65000"/>
                    <a:lumOff val="35000"/>
                  </a:schemeClr>
                </a:solidFill>
                <a:latin typeface="+mn-ea"/>
                <a:ea typeface="+mn-ea"/>
              </a:rPr>
              <a:t>가이드라인 전제사항</a:t>
            </a:r>
            <a:endParaRPr lang="en-US" altLang="ko-KR" sz="1400" b="0" dirty="0" smtClean="0">
              <a:solidFill>
                <a:schemeClr val="tx1">
                  <a:lumMod val="65000"/>
                  <a:lumOff val="35000"/>
                </a:schemeClr>
              </a:solidFill>
              <a:latin typeface="+mn-ea"/>
              <a:ea typeface="+mn-ea"/>
            </a:endParaRPr>
          </a:p>
          <a:p>
            <a:pPr marL="285750" indent="-285750">
              <a:spcBef>
                <a:spcPts val="300"/>
              </a:spcBef>
              <a:spcAft>
                <a:spcPts val="300"/>
              </a:spcAft>
              <a:buFont typeface="Wingdings" panose="05000000000000000000" pitchFamily="2" charset="2"/>
              <a:buChar char="§"/>
              <a:defRPr/>
            </a:pPr>
            <a:r>
              <a:rPr lang="ko-KR" altLang="en-US" sz="1400" b="0" dirty="0" smtClean="0">
                <a:solidFill>
                  <a:schemeClr val="tx1">
                    <a:lumMod val="65000"/>
                    <a:lumOff val="35000"/>
                  </a:schemeClr>
                </a:solidFill>
                <a:latin typeface="+mn-ea"/>
                <a:ea typeface="+mn-ea"/>
              </a:rPr>
              <a:t>목차</a:t>
            </a:r>
            <a:r>
              <a:rPr lang="en-US" altLang="ko-KR" sz="1400" b="0" dirty="0" smtClean="0">
                <a:solidFill>
                  <a:schemeClr val="tx1">
                    <a:lumMod val="65000"/>
                    <a:lumOff val="35000"/>
                  </a:schemeClr>
                </a:solidFill>
                <a:latin typeface="+mn-ea"/>
                <a:ea typeface="+mn-ea"/>
              </a:rPr>
              <a:t>(I~X)</a:t>
            </a:r>
          </a:p>
        </p:txBody>
      </p:sp>
    </p:spTree>
    <p:extLst>
      <p:ext uri="{BB962C8B-B14F-4D97-AF65-F5344CB8AC3E}">
        <p14:creationId xmlns:p14="http://schemas.microsoft.com/office/powerpoint/2010/main" val="8106689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48" name="TextBox 47"/>
          <p:cNvSpPr txBox="1"/>
          <p:nvPr/>
        </p:nvSpPr>
        <p:spPr>
          <a:xfrm>
            <a:off x="636780" y="827170"/>
            <a:ext cx="4556011" cy="5262979"/>
          </a:xfrm>
          <a:prstGeom prst="rect">
            <a:avLst/>
          </a:prstGeom>
          <a:noFill/>
        </p:spPr>
        <p:txBody>
          <a:bodyPr wrap="square" rtlCol="0">
            <a:spAutoFit/>
          </a:bodyPr>
          <a:lstStyle/>
          <a:p>
            <a:pPr marL="322263" lvl="0" indent="-322263" latinLnBrk="0">
              <a:spcBef>
                <a:spcPts val="0"/>
              </a:spcBef>
              <a:spcAft>
                <a:spcPts val="0"/>
              </a:spcAft>
              <a:buFont typeface="Wingdings" panose="05000000000000000000" pitchFamily="2" charset="2"/>
              <a:buChar char="§"/>
              <a:defRPr/>
            </a:pPr>
            <a:r>
              <a:rPr lang="ko-KR" altLang="en-US" dirty="0" smtClean="0">
                <a:solidFill>
                  <a:schemeClr val="tx1"/>
                </a:solidFill>
                <a:latin typeface="+mn-ea"/>
                <a:ea typeface="+mn-ea"/>
              </a:rPr>
              <a:t>가이드라인 전제사항</a:t>
            </a:r>
            <a:endParaRPr lang="en-US" altLang="ko-KR" dirty="0" smtClean="0">
              <a:solidFill>
                <a:schemeClr val="tx1"/>
              </a:solidFill>
              <a:latin typeface="+mn-ea"/>
              <a:ea typeface="+mn-ea"/>
            </a:endParaRPr>
          </a:p>
          <a:p>
            <a:pPr lvl="0" latinLnBrk="0">
              <a:spcBef>
                <a:spcPts val="0"/>
              </a:spcBef>
              <a:spcAft>
                <a:spcPts val="0"/>
              </a:spcAft>
              <a:defRPr/>
            </a:pPr>
            <a:endParaRPr lang="en-US" altLang="ko-KR" b="0" dirty="0" smtClean="0">
              <a:solidFill>
                <a:schemeClr val="tx1"/>
              </a:solidFill>
              <a:latin typeface="+mn-ea"/>
              <a:ea typeface="+mn-ea"/>
            </a:endParaRPr>
          </a:p>
          <a:p>
            <a:pPr marL="322263" indent="-322263" latinLnBrk="0">
              <a:spcBef>
                <a:spcPts val="0"/>
              </a:spcBef>
              <a:spcAft>
                <a:spcPts val="0"/>
              </a:spcAft>
              <a:buAutoNum type="romanUcPeriod"/>
              <a:defRPr/>
            </a:pPr>
            <a:r>
              <a:rPr lang="en-US" altLang="ko-KR" dirty="0">
                <a:solidFill>
                  <a:schemeClr val="tx1"/>
                </a:solidFill>
                <a:latin typeface="+mn-ea"/>
                <a:ea typeface="+mn-ea"/>
              </a:rPr>
              <a:t>Parties </a:t>
            </a:r>
            <a:r>
              <a:rPr lang="ko-KR" altLang="en-US" dirty="0" smtClean="0">
                <a:solidFill>
                  <a:schemeClr val="tx1"/>
                </a:solidFill>
                <a:latin typeface="+mn-ea"/>
                <a:ea typeface="+mn-ea"/>
              </a:rPr>
              <a:t> </a:t>
            </a:r>
            <a:endParaRPr lang="en-US" altLang="ko-KR" dirty="0" smtClean="0">
              <a:solidFill>
                <a:schemeClr val="tx1"/>
              </a:solidFill>
              <a:latin typeface="+mn-ea"/>
              <a:ea typeface="+mn-ea"/>
            </a:endParaRPr>
          </a:p>
          <a:p>
            <a:pPr marL="233363" indent="-233363" latinLnBrk="0">
              <a:spcBef>
                <a:spcPts val="0"/>
              </a:spcBef>
              <a:spcAft>
                <a:spcPts val="0"/>
              </a:spcAft>
              <a:buAutoNum type="romanUcPeriod"/>
              <a:defRPr/>
            </a:pPr>
            <a:endParaRPr lang="ko-KR" altLang="en-US" b="0" dirty="0">
              <a:solidFill>
                <a:schemeClr val="tx1"/>
              </a:solidFill>
              <a:latin typeface="+mn-ea"/>
              <a:ea typeface="+mn-ea"/>
            </a:endParaRPr>
          </a:p>
          <a:p>
            <a:pPr marL="322263" indent="-322263" latinLnBrk="0">
              <a:spcBef>
                <a:spcPts val="0"/>
              </a:spcBef>
              <a:spcAft>
                <a:spcPts val="0"/>
              </a:spcAft>
              <a:buAutoNum type="romanUcPeriod"/>
              <a:defRPr/>
            </a:pPr>
            <a:r>
              <a:rPr lang="en-US" altLang="ko-KR" dirty="0">
                <a:solidFill>
                  <a:schemeClr val="tx1"/>
                </a:solidFill>
                <a:latin typeface="+mn-ea"/>
                <a:ea typeface="+mn-ea"/>
              </a:rPr>
              <a:t>Definitions</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Prohibited Competitor</a:t>
            </a:r>
          </a:p>
          <a:p>
            <a:pPr marL="365125" lvl="1" latinLnBrk="0">
              <a:spcBef>
                <a:spcPts val="0"/>
              </a:spcBef>
              <a:spcAft>
                <a:spcPts val="0"/>
              </a:spcAft>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3"/>
              <a:defRPr/>
            </a:pPr>
            <a:r>
              <a:rPr lang="en-US" altLang="ko-KR" dirty="0">
                <a:solidFill>
                  <a:schemeClr val="tx1"/>
                </a:solidFill>
                <a:latin typeface="+mn-ea"/>
                <a:ea typeface="+mn-ea"/>
              </a:rPr>
              <a:t>Operation and Management of the </a:t>
            </a:r>
            <a:r>
              <a:rPr lang="en-US" altLang="ko-KR" dirty="0" smtClean="0">
                <a:solidFill>
                  <a:schemeClr val="tx1"/>
                </a:solidFill>
                <a:latin typeface="+mn-ea"/>
                <a:ea typeface="+mn-ea"/>
              </a:rPr>
              <a:t>Company</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Business </a:t>
            </a:r>
            <a:r>
              <a:rPr lang="en-US" altLang="ko-KR" sz="1100" b="0" dirty="0" smtClean="0">
                <a:solidFill>
                  <a:schemeClr val="tx1"/>
                </a:solidFill>
                <a:latin typeface="+mn-ea"/>
                <a:ea typeface="+mn-ea"/>
              </a:rPr>
              <a:t>Purpose</a:t>
            </a: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Name of the Company; Place of Business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Articles </a:t>
            </a:r>
            <a:r>
              <a:rPr lang="en-US" altLang="ko-KR" sz="1100" b="0" dirty="0">
                <a:solidFill>
                  <a:schemeClr val="tx1"/>
                </a:solidFill>
                <a:latin typeface="+mn-ea"/>
                <a:ea typeface="+mn-ea"/>
              </a:rPr>
              <a:t>of Incorporation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Issuance </a:t>
            </a:r>
            <a:r>
              <a:rPr lang="en-US" altLang="ko-KR" sz="1100" b="0" dirty="0">
                <a:solidFill>
                  <a:schemeClr val="tx1"/>
                </a:solidFill>
                <a:latin typeface="+mn-ea"/>
                <a:ea typeface="+mn-ea"/>
              </a:rPr>
              <a:t>of Additional Shares; Preemptive Rights</a:t>
            </a:r>
          </a:p>
          <a:p>
            <a:pPr marL="365125" lvl="1" latinLnBrk="0">
              <a:spcBef>
                <a:spcPts val="0"/>
              </a:spcBef>
              <a:spcAft>
                <a:spcPts val="0"/>
              </a:spcAft>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4"/>
              <a:defRPr/>
            </a:pPr>
            <a:r>
              <a:rPr lang="en-US" altLang="ko-KR" dirty="0" smtClean="0">
                <a:solidFill>
                  <a:schemeClr val="tx1"/>
                </a:solidFill>
                <a:latin typeface="+mn-ea"/>
                <a:ea typeface="+mn-ea"/>
              </a:rPr>
              <a:t>Governance</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a:solidFill>
                  <a:schemeClr val="tx1"/>
                </a:solidFill>
                <a:latin typeface="+mn-ea"/>
                <a:ea typeface="+mn-ea"/>
              </a:rPr>
              <a:t>Shareholders Meeting; </a:t>
            </a:r>
            <a:r>
              <a:rPr lang="en-US" altLang="ko-KR" sz="1100" b="0" dirty="0" smtClean="0">
                <a:solidFill>
                  <a:schemeClr val="tx1"/>
                </a:solidFill>
                <a:latin typeface="+mn-ea"/>
                <a:ea typeface="+mn-ea"/>
              </a:rPr>
              <a:t>Resolution</a:t>
            </a:r>
          </a:p>
          <a:p>
            <a:pPr marL="627063" lvl="1" indent="-261938" latinLnBrk="0">
              <a:spcBef>
                <a:spcPts val="0"/>
              </a:spcBef>
              <a:spcAft>
                <a:spcPts val="0"/>
              </a:spcAft>
              <a:buFont typeface="+mj-lt"/>
              <a:buAutoNum type="arabicPeriod"/>
              <a:defRPr/>
            </a:pPr>
            <a:r>
              <a:rPr lang="en-US" altLang="ko-KR" b="0" dirty="0">
                <a:solidFill>
                  <a:schemeClr val="tx1"/>
                </a:solidFill>
                <a:latin typeface="+mn-ea"/>
                <a:ea typeface="+mn-ea"/>
              </a:rPr>
              <a:t>Board Composition </a:t>
            </a:r>
            <a:endParaRPr lang="en-US" altLang="ko-KR"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b="0" dirty="0">
                <a:solidFill>
                  <a:schemeClr val="tx1"/>
                </a:solidFill>
                <a:latin typeface="+mn-ea"/>
                <a:ea typeface="+mn-ea"/>
              </a:rPr>
              <a:t>Board of Director Meetings </a:t>
            </a:r>
            <a:endParaRPr lang="en-US" altLang="ko-KR"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b="0" dirty="0">
                <a:solidFill>
                  <a:schemeClr val="tx1"/>
                </a:solidFill>
                <a:latin typeface="+mn-ea"/>
                <a:ea typeface="+mn-ea"/>
              </a:rPr>
              <a:t>Board of Director Resolutions </a:t>
            </a:r>
            <a:endParaRPr lang="en-US" altLang="ko-KR"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b="0" dirty="0">
                <a:solidFill>
                  <a:schemeClr val="tx1"/>
                </a:solidFill>
                <a:latin typeface="+mn-ea"/>
                <a:ea typeface="+mn-ea"/>
              </a:rPr>
              <a:t>Chief Executive Officer </a:t>
            </a:r>
            <a:endParaRPr lang="en-US" altLang="ko-KR"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b="0" dirty="0">
                <a:solidFill>
                  <a:schemeClr val="tx1"/>
                </a:solidFill>
                <a:latin typeface="+mn-ea"/>
                <a:ea typeface="+mn-ea"/>
              </a:rPr>
              <a:t>Deadlock </a:t>
            </a:r>
            <a:r>
              <a:rPr lang="en-US" altLang="ko-KR" b="0" dirty="0" smtClean="0">
                <a:solidFill>
                  <a:schemeClr val="tx1"/>
                </a:solidFill>
                <a:latin typeface="+mn-ea"/>
                <a:ea typeface="+mn-ea"/>
              </a:rPr>
              <a:t>Matters</a:t>
            </a:r>
          </a:p>
          <a:p>
            <a:pPr marL="627063" lvl="1" indent="-261938" latinLnBrk="0">
              <a:spcBef>
                <a:spcPts val="0"/>
              </a:spcBef>
              <a:spcAft>
                <a:spcPts val="0"/>
              </a:spcAft>
              <a:buFont typeface="+mj-lt"/>
              <a:buAutoNum type="arabicPeriod"/>
              <a:defRPr/>
            </a:pPr>
            <a:r>
              <a:rPr lang="en-US" altLang="ko-KR" b="0" dirty="0">
                <a:solidFill>
                  <a:schemeClr val="tx1"/>
                </a:solidFill>
                <a:latin typeface="+mn-ea"/>
                <a:ea typeface="+mn-ea"/>
              </a:rPr>
              <a:t>Deadlock </a:t>
            </a:r>
            <a:r>
              <a:rPr lang="en-US" altLang="ko-KR" b="0" dirty="0" smtClean="0">
                <a:solidFill>
                  <a:schemeClr val="tx1"/>
                </a:solidFill>
                <a:latin typeface="+mn-ea"/>
                <a:ea typeface="+mn-ea"/>
              </a:rPr>
              <a:t>Resolution</a:t>
            </a:r>
          </a:p>
          <a:p>
            <a:pPr marL="627063" lvl="1" indent="-261938" latinLnBrk="0">
              <a:spcBef>
                <a:spcPts val="0"/>
              </a:spcBef>
              <a:spcAft>
                <a:spcPts val="0"/>
              </a:spcAft>
              <a:buFont typeface="+mj-lt"/>
              <a:buAutoNum type="arabicPeriod"/>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5"/>
              <a:defRPr/>
            </a:pPr>
            <a:r>
              <a:rPr lang="en-US" altLang="ko-KR" dirty="0">
                <a:latin typeface="+mn-ea"/>
                <a:ea typeface="+mn-ea"/>
              </a:rPr>
              <a:t>Transfer Restriction </a:t>
            </a:r>
            <a:endParaRPr lang="en-US" altLang="ko-KR" dirty="0" smtClean="0">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Lock-Up</a:t>
            </a: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ROFO </a:t>
            </a:r>
            <a:r>
              <a:rPr lang="en-US" altLang="ko-KR" sz="1100" b="0" dirty="0">
                <a:solidFill>
                  <a:schemeClr val="tx1"/>
                </a:solidFill>
                <a:latin typeface="+mn-ea"/>
                <a:ea typeface="+mn-ea"/>
              </a:rPr>
              <a:t>/ ROFR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Tag-Along </a:t>
            </a:r>
            <a:r>
              <a:rPr lang="en-US" altLang="ko-KR" sz="1100" b="0" dirty="0">
                <a:solidFill>
                  <a:schemeClr val="tx1"/>
                </a:solidFill>
                <a:latin typeface="+mn-ea"/>
                <a:ea typeface="+mn-ea"/>
              </a:rPr>
              <a:t>Right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ko-KR" altLang="en-US" sz="1100" b="0" dirty="0" smtClean="0">
                <a:solidFill>
                  <a:schemeClr val="tx1"/>
                </a:solidFill>
                <a:latin typeface="+mn-ea"/>
                <a:ea typeface="+mn-ea"/>
              </a:rPr>
              <a:t>기타</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Call </a:t>
            </a:r>
            <a:r>
              <a:rPr lang="en-US" altLang="ko-KR" sz="1100" b="0" dirty="0">
                <a:solidFill>
                  <a:schemeClr val="tx1"/>
                </a:solidFill>
                <a:latin typeface="+mn-ea"/>
                <a:ea typeface="+mn-ea"/>
              </a:rPr>
              <a:t>Option </a:t>
            </a:r>
            <a:endParaRPr lang="en-US" altLang="ko-KR" sz="1100" b="0" dirty="0" smtClean="0">
              <a:solidFill>
                <a:schemeClr val="tx1"/>
              </a:solidFill>
              <a:latin typeface="+mn-ea"/>
              <a:ea typeface="+mn-ea"/>
            </a:endParaRPr>
          </a:p>
          <a:p>
            <a:pPr marL="627063" lvl="1" indent="-261938" latinLnBrk="0">
              <a:spcBef>
                <a:spcPts val="0"/>
              </a:spcBef>
              <a:spcAft>
                <a:spcPts val="0"/>
              </a:spcAft>
              <a:buFont typeface="+mj-lt"/>
              <a:buAutoNum type="arabicPeriod"/>
              <a:defRPr/>
            </a:pPr>
            <a:r>
              <a:rPr lang="en-US" altLang="ko-KR" sz="1100" b="0" dirty="0" smtClean="0">
                <a:solidFill>
                  <a:schemeClr val="tx1"/>
                </a:solidFill>
                <a:latin typeface="+mn-ea"/>
                <a:ea typeface="+mn-ea"/>
              </a:rPr>
              <a:t>Transfer </a:t>
            </a:r>
            <a:r>
              <a:rPr lang="en-US" altLang="ko-KR" sz="1100" b="0" dirty="0">
                <a:solidFill>
                  <a:schemeClr val="tx1"/>
                </a:solidFill>
                <a:latin typeface="+mn-ea"/>
                <a:ea typeface="+mn-ea"/>
              </a:rPr>
              <a:t>Violation </a:t>
            </a:r>
          </a:p>
        </p:txBody>
      </p:sp>
      <p:sp>
        <p:nvSpPr>
          <p:cNvPr id="21" name="TextBox 20"/>
          <p:cNvSpPr txBox="1"/>
          <p:nvPr/>
        </p:nvSpPr>
        <p:spPr>
          <a:xfrm>
            <a:off x="5396720" y="1226124"/>
            <a:ext cx="4147417" cy="2108269"/>
          </a:xfrm>
          <a:prstGeom prst="rect">
            <a:avLst/>
          </a:prstGeom>
          <a:noFill/>
        </p:spPr>
        <p:txBody>
          <a:bodyPr wrap="square" rtlCol="0">
            <a:spAutoFit/>
          </a:bodyPr>
          <a:lstStyle/>
          <a:p>
            <a:pPr marL="322263" lvl="1" indent="-322263" latinLnBrk="0">
              <a:spcBef>
                <a:spcPts val="0"/>
              </a:spcBef>
              <a:spcAft>
                <a:spcPts val="0"/>
              </a:spcAft>
              <a:buFont typeface="+mj-lt"/>
              <a:buAutoNum type="romanUcPeriod" startAt="6"/>
              <a:defRPr/>
            </a:pPr>
            <a:r>
              <a:rPr lang="en-US" altLang="ko-KR" dirty="0">
                <a:latin typeface="+mn-ea"/>
                <a:ea typeface="+mn-ea"/>
              </a:rPr>
              <a:t>Non-Competition /</a:t>
            </a:r>
            <a:r>
              <a:rPr lang="en-US" altLang="ko-KR" dirty="0" smtClean="0">
                <a:latin typeface="+mn-ea"/>
                <a:ea typeface="+mn-ea"/>
              </a:rPr>
              <a:t>Non-Solicitation</a:t>
            </a:r>
            <a:endParaRPr lang="en-US" altLang="ko-KR" b="0" dirty="0" smtClean="0">
              <a:solidFill>
                <a:schemeClr val="tx1"/>
              </a:solidFill>
              <a:latin typeface="+mn-ea"/>
              <a:ea typeface="+mn-ea"/>
            </a:endParaRPr>
          </a:p>
          <a:p>
            <a:pPr marL="447675" lvl="1" indent="-228600" latinLnBrk="0">
              <a:spcBef>
                <a:spcPts val="0"/>
              </a:spcBef>
              <a:spcAft>
                <a:spcPts val="0"/>
              </a:spcAft>
              <a:buFont typeface="+mj-lt"/>
              <a:buAutoNum type="arabicPeriod"/>
              <a:defRPr/>
            </a:pPr>
            <a:endParaRPr lang="en-US" altLang="ko-KR" b="0" dirty="0">
              <a:solidFill>
                <a:schemeClr val="tx1"/>
              </a:solidFill>
              <a:latin typeface="+mn-ea"/>
              <a:ea typeface="+mn-ea"/>
            </a:endParaRPr>
          </a:p>
          <a:p>
            <a:pPr marL="322263" lvl="1" indent="-322263" latinLnBrk="0">
              <a:spcBef>
                <a:spcPts val="0"/>
              </a:spcBef>
              <a:spcAft>
                <a:spcPts val="0"/>
              </a:spcAft>
              <a:buFont typeface="+mj-lt"/>
              <a:buAutoNum type="romanUcPeriod" startAt="7"/>
              <a:defRPr/>
            </a:pPr>
            <a:r>
              <a:rPr lang="en-US" altLang="ko-KR" dirty="0">
                <a:latin typeface="+mn-ea"/>
                <a:ea typeface="+mn-ea"/>
              </a:rPr>
              <a:t>Accounting / Financing / </a:t>
            </a:r>
            <a:r>
              <a:rPr lang="en-US" altLang="ko-KR" dirty="0" smtClean="0">
                <a:latin typeface="+mn-ea"/>
                <a:ea typeface="+mn-ea"/>
              </a:rPr>
              <a:t>Dividends</a:t>
            </a: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8"/>
              <a:defRPr/>
            </a:pPr>
            <a:endParaRPr lang="en-US" altLang="ko-KR" dirty="0" smtClean="0">
              <a:solidFill>
                <a:schemeClr val="tx1"/>
              </a:solidFill>
              <a:latin typeface="+mn-ea"/>
              <a:ea typeface="+mn-ea"/>
            </a:endParaRPr>
          </a:p>
          <a:p>
            <a:pPr marL="322263" lvl="1" indent="-322263" latinLnBrk="0">
              <a:spcBef>
                <a:spcPts val="0"/>
              </a:spcBef>
              <a:spcAft>
                <a:spcPts val="0"/>
              </a:spcAft>
              <a:buFont typeface="+mj-lt"/>
              <a:buAutoNum type="romanUcPeriod" startAt="8"/>
              <a:defRPr/>
            </a:pPr>
            <a:r>
              <a:rPr lang="en-US" altLang="ko-KR" dirty="0" smtClean="0">
                <a:solidFill>
                  <a:schemeClr val="tx1"/>
                </a:solidFill>
                <a:latin typeface="+mn-ea"/>
                <a:ea typeface="+mn-ea"/>
              </a:rPr>
              <a:t>Termination </a:t>
            </a:r>
          </a:p>
          <a:p>
            <a:pPr marL="0" lvl="1" latinLnBrk="0">
              <a:spcBef>
                <a:spcPts val="0"/>
              </a:spcBef>
              <a:spcAft>
                <a:spcPts val="0"/>
              </a:spcAft>
              <a:defRPr/>
            </a:pPr>
            <a:r>
              <a:rPr lang="en-US" altLang="ko-KR" dirty="0">
                <a:solidFill>
                  <a:schemeClr val="tx1"/>
                </a:solidFill>
                <a:latin typeface="+mn-ea"/>
              </a:rPr>
              <a:t> </a:t>
            </a:r>
            <a:r>
              <a:rPr lang="en-US" altLang="ko-KR" dirty="0" smtClean="0">
                <a:solidFill>
                  <a:schemeClr val="tx1"/>
                </a:solidFill>
                <a:latin typeface="+mn-ea"/>
              </a:rPr>
              <a:t>     </a:t>
            </a:r>
            <a:r>
              <a:rPr lang="en-US" altLang="ko-KR" sz="1100" b="0" dirty="0" smtClean="0">
                <a:solidFill>
                  <a:schemeClr val="tx1"/>
                </a:solidFill>
                <a:latin typeface="+mn-ea"/>
              </a:rPr>
              <a:t>1. Termination Events</a:t>
            </a:r>
          </a:p>
          <a:p>
            <a:pPr marL="0" lvl="1" latinLnBrk="0">
              <a:spcBef>
                <a:spcPts val="0"/>
              </a:spcBef>
              <a:spcAft>
                <a:spcPts val="0"/>
              </a:spcAft>
              <a:defRPr/>
            </a:pPr>
            <a:r>
              <a:rPr lang="en-US" altLang="ko-KR" sz="1100" b="0" dirty="0">
                <a:solidFill>
                  <a:schemeClr val="tx1"/>
                </a:solidFill>
                <a:latin typeface="+mn-ea"/>
              </a:rPr>
              <a:t> </a:t>
            </a:r>
            <a:r>
              <a:rPr lang="en-US" altLang="ko-KR" sz="1100" b="0" dirty="0" smtClean="0">
                <a:solidFill>
                  <a:schemeClr val="tx1"/>
                </a:solidFill>
                <a:latin typeface="+mn-ea"/>
              </a:rPr>
              <a:t>      2. Consequence of Termination </a:t>
            </a:r>
          </a:p>
          <a:p>
            <a:pPr marL="0" lvl="1" latinLnBrk="0">
              <a:spcBef>
                <a:spcPts val="0"/>
              </a:spcBef>
              <a:spcAft>
                <a:spcPts val="0"/>
              </a:spcAft>
              <a:defRPr/>
            </a:pPr>
            <a:endParaRPr lang="en-US" altLang="ko-KR" b="0" dirty="0" smtClean="0">
              <a:solidFill>
                <a:schemeClr val="tx1"/>
              </a:solidFill>
              <a:latin typeface="+mn-ea"/>
              <a:ea typeface="+mn-ea"/>
            </a:endParaRPr>
          </a:p>
          <a:p>
            <a:pPr marL="322263" lvl="1" indent="-322263" latinLnBrk="0">
              <a:spcBef>
                <a:spcPts val="0"/>
              </a:spcBef>
              <a:spcAft>
                <a:spcPts val="0"/>
              </a:spcAft>
              <a:buFont typeface="+mj-lt"/>
              <a:buAutoNum type="romanUcPeriod" startAt="9"/>
              <a:defRPr/>
            </a:pPr>
            <a:r>
              <a:rPr lang="en-US" altLang="ko-KR" dirty="0" smtClean="0">
                <a:latin typeface="+mn-ea"/>
                <a:ea typeface="+mn-ea"/>
              </a:rPr>
              <a:t>Covenants </a:t>
            </a:r>
            <a:r>
              <a:rPr lang="en-US" altLang="ko-KR" dirty="0" smtClean="0">
                <a:solidFill>
                  <a:schemeClr val="tx1"/>
                </a:solidFill>
                <a:latin typeface="+mn-ea"/>
                <a:ea typeface="+mn-ea"/>
              </a:rPr>
              <a:t> </a:t>
            </a:r>
            <a:endParaRPr lang="en-US" altLang="ko-KR" dirty="0">
              <a:solidFill>
                <a:schemeClr val="tx1"/>
              </a:solidFill>
              <a:latin typeface="+mn-ea"/>
              <a:ea typeface="+mn-ea"/>
            </a:endParaRPr>
          </a:p>
          <a:p>
            <a:pPr marL="447675" lvl="1" indent="-228600" latinLnBrk="0">
              <a:spcBef>
                <a:spcPts val="0"/>
              </a:spcBef>
              <a:spcAft>
                <a:spcPts val="0"/>
              </a:spcAft>
              <a:buFont typeface="+mj-lt"/>
              <a:buAutoNum type="arabicPeriod"/>
              <a:defRPr/>
            </a:pPr>
            <a:endParaRPr lang="en-US" altLang="ko-KR" b="0" dirty="0">
              <a:solidFill>
                <a:schemeClr val="tx1"/>
              </a:solidFill>
              <a:latin typeface="+mn-ea"/>
              <a:ea typeface="+mn-ea"/>
            </a:endParaRPr>
          </a:p>
          <a:p>
            <a:pPr marL="322263" lvl="1" indent="-322263" latinLnBrk="0">
              <a:spcBef>
                <a:spcPts val="0"/>
              </a:spcBef>
              <a:spcAft>
                <a:spcPts val="0"/>
              </a:spcAft>
              <a:buFont typeface="+mj-lt"/>
              <a:buAutoNum type="romanUcPeriod" startAt="10"/>
              <a:defRPr/>
            </a:pPr>
            <a:r>
              <a:rPr lang="en-US" altLang="ko-KR" dirty="0">
                <a:latin typeface="+mn-ea"/>
                <a:ea typeface="+mn-ea"/>
              </a:rPr>
              <a:t>Arbitration </a:t>
            </a:r>
            <a:r>
              <a:rPr lang="ko-KR" altLang="en-US" dirty="0" smtClean="0">
                <a:solidFill>
                  <a:schemeClr val="tx1"/>
                </a:solidFill>
                <a:latin typeface="+mn-ea"/>
                <a:ea typeface="+mn-ea"/>
              </a:rPr>
              <a:t>  </a:t>
            </a:r>
            <a:endParaRPr lang="en-US" altLang="ko-KR" dirty="0" smtClean="0">
              <a:solidFill>
                <a:schemeClr val="tx1"/>
              </a:solidFill>
              <a:latin typeface="+mn-ea"/>
              <a:ea typeface="+mn-ea"/>
            </a:endParaRPr>
          </a:p>
        </p:txBody>
      </p:sp>
      <p:cxnSp>
        <p:nvCxnSpPr>
          <p:cNvPr id="3" name="직선 연결선 2"/>
          <p:cNvCxnSpPr/>
          <p:nvPr/>
        </p:nvCxnSpPr>
        <p:spPr>
          <a:xfrm>
            <a:off x="5126684" y="1226124"/>
            <a:ext cx="0" cy="5052690"/>
          </a:xfrm>
          <a:prstGeom prst="line">
            <a:avLst/>
          </a:prstGeom>
          <a:ln>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ko-KR" altLang="en-US" dirty="0" smtClean="0">
                <a:latin typeface="+mn-ea"/>
              </a:rPr>
              <a:t>목차</a:t>
            </a:r>
            <a:endParaRPr lang="ko-KR" altLang="en-US" dirty="0">
              <a:latin typeface="+mn-ea"/>
            </a:endParaRPr>
          </a:p>
        </p:txBody>
      </p:sp>
    </p:spTree>
    <p:extLst>
      <p:ext uri="{BB962C8B-B14F-4D97-AF65-F5344CB8AC3E}">
        <p14:creationId xmlns:p14="http://schemas.microsoft.com/office/powerpoint/2010/main" val="16799689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ko-KR" altLang="en-US" dirty="0" smtClean="0">
                <a:latin typeface="+mn-ea"/>
              </a:rPr>
              <a:t>가이드라인 </a:t>
            </a:r>
            <a:r>
              <a:rPr lang="ko-KR" altLang="en-US" dirty="0" err="1" smtClean="0">
                <a:latin typeface="+mn-ea"/>
              </a:rPr>
              <a:t>전제사항</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48" name="TextBox 47"/>
          <p:cNvSpPr txBox="1"/>
          <p:nvPr/>
        </p:nvSpPr>
        <p:spPr>
          <a:xfrm>
            <a:off x="439739" y="1040065"/>
            <a:ext cx="9188449" cy="5512278"/>
          </a:xfrm>
          <a:prstGeom prst="rect">
            <a:avLst/>
          </a:prstGeom>
          <a:noFill/>
        </p:spPr>
        <p:txBody>
          <a:bodyPr wrap="square" rtlCol="0">
            <a:spAutoFit/>
          </a:bodyPr>
          <a:lstStyle/>
          <a:p>
            <a:pPr marL="268288" lvl="0" indent="-268288" algn="just">
              <a:lnSpc>
                <a:spcPct val="115000"/>
              </a:lnSpc>
              <a:spcAft>
                <a:spcPts val="0"/>
              </a:spcAft>
              <a:buFont typeface="+mj-lt"/>
              <a:buAutoNum type="arabicPeriod"/>
            </a:pPr>
            <a:r>
              <a:rPr lang="ko-KR" altLang="ko-KR" sz="1000" b="0" dirty="0">
                <a:latin typeface="+mn-ea"/>
                <a:ea typeface="+mn-ea"/>
                <a:cs typeface="Times New Roman" panose="02020603050405020304" pitchFamily="18" charset="0"/>
              </a:rPr>
              <a:t>본 표준 </a:t>
            </a:r>
            <a:r>
              <a:rPr lang="en-US" altLang="ko-KR" sz="1000" b="0" dirty="0">
                <a:latin typeface="+mn-ea"/>
                <a:ea typeface="+mn-ea"/>
                <a:cs typeface="Times New Roman" panose="02020603050405020304" pitchFamily="18" charset="0"/>
              </a:rPr>
              <a:t>Shareholders Agreement(“</a:t>
            </a:r>
            <a:r>
              <a:rPr lang="ko-KR" altLang="ko-KR" sz="1000" b="0" u="sng" dirty="0">
                <a:latin typeface="+mn-ea"/>
                <a:ea typeface="+mn-ea"/>
                <a:cs typeface="Times New Roman" panose="02020603050405020304" pitchFamily="18" charset="0"/>
              </a:rPr>
              <a:t>표준</a:t>
            </a:r>
            <a:r>
              <a:rPr lang="en-US" altLang="ko-KR" sz="1000" b="0" u="sng" dirty="0">
                <a:latin typeface="+mn-ea"/>
                <a:ea typeface="+mn-ea"/>
                <a:cs typeface="Times New Roman" panose="02020603050405020304" pitchFamily="18" charset="0"/>
              </a:rPr>
              <a:t>SHA</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의 내용과 이하 가이드라인상의 관련 설명은 다음과 같은 사항을 전제로 합니다</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ko-KR" altLang="ko-KR" sz="1000" b="0" dirty="0" err="1">
                <a:latin typeface="+mn-ea"/>
                <a:ea typeface="+mn-ea"/>
                <a:cs typeface="Times New Roman" panose="02020603050405020304" pitchFamily="18" charset="0"/>
              </a:rPr>
              <a:t>대상회사는</a:t>
            </a:r>
            <a:r>
              <a:rPr lang="ko-KR" altLang="ko-KR" sz="1000" b="0" dirty="0">
                <a:latin typeface="+mn-ea"/>
                <a:ea typeface="+mn-ea"/>
                <a:cs typeface="Times New Roman" panose="02020603050405020304" pitchFamily="18" charset="0"/>
              </a:rPr>
              <a:t> 대한민국에서 설립된 비상장회사로 주식회사임</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ko-KR" altLang="ko-KR" sz="1000" b="0" dirty="0">
                <a:latin typeface="+mn-ea"/>
                <a:ea typeface="+mn-ea"/>
                <a:cs typeface="Times New Roman" panose="02020603050405020304" pitchFamily="18" charset="0"/>
              </a:rPr>
              <a:t>대상회사의 지분 구조는 </a:t>
            </a:r>
            <a:r>
              <a:rPr lang="en-US" altLang="ko-KR" sz="1000" b="0" dirty="0">
                <a:latin typeface="+mn-ea"/>
                <a:ea typeface="+mn-ea"/>
                <a:cs typeface="Times New Roman" panose="02020603050405020304" pitchFamily="18" charset="0"/>
              </a:rPr>
              <a:t>50:50</a:t>
            </a:r>
            <a:r>
              <a:rPr lang="ko-KR" altLang="ko-KR" sz="1000" b="0" dirty="0">
                <a:latin typeface="+mn-ea"/>
                <a:ea typeface="+mn-ea"/>
                <a:cs typeface="Times New Roman" panose="02020603050405020304" pitchFamily="18" charset="0"/>
              </a:rPr>
              <a:t>으로 상대방은 법인 주주 하나임</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en-US" altLang="ko-KR" sz="1000" b="0" dirty="0">
                <a:latin typeface="+mn-ea"/>
                <a:ea typeface="+mn-ea"/>
                <a:cs typeface="Times New Roman" panose="02020603050405020304" pitchFamily="18" charset="0"/>
              </a:rPr>
              <a:t>LG H&amp;H</a:t>
            </a:r>
            <a:r>
              <a:rPr lang="ko-KR" altLang="ko-KR" sz="1000" b="0" dirty="0">
                <a:latin typeface="+mn-ea"/>
                <a:ea typeface="+mn-ea"/>
                <a:cs typeface="Times New Roman" panose="02020603050405020304" pitchFamily="18" charset="0"/>
              </a:rPr>
              <a:t>는 주식매매계약에 따른 </a:t>
            </a:r>
            <a:r>
              <a:rPr lang="ko-KR" altLang="ko-KR" sz="1000" b="0" dirty="0" err="1">
                <a:latin typeface="+mn-ea"/>
                <a:ea typeface="+mn-ea"/>
                <a:cs typeface="Times New Roman" panose="02020603050405020304" pitchFamily="18" charset="0"/>
              </a:rPr>
              <a:t>주식양수에</a:t>
            </a:r>
            <a:r>
              <a:rPr lang="ko-KR" altLang="ko-KR" sz="1000" b="0" dirty="0">
                <a:latin typeface="+mn-ea"/>
                <a:ea typeface="+mn-ea"/>
                <a:cs typeface="Times New Roman" panose="02020603050405020304" pitchFamily="18" charset="0"/>
              </a:rPr>
              <a:t> 따라 주주가 되는 시점에 상대방과 주주간계약을 체결하는 것임</a:t>
            </a:r>
            <a:r>
              <a:rPr lang="en-US" altLang="ko-KR" sz="1000" b="0" dirty="0">
                <a:latin typeface="+mn-ea"/>
                <a:ea typeface="+mn-ea"/>
                <a:cs typeface="Times New Roman" panose="02020603050405020304" pitchFamily="18" charset="0"/>
              </a:rPr>
              <a:t>. </a:t>
            </a:r>
            <a:endParaRPr lang="ko-KR" altLang="ko-KR" sz="1000" b="0" dirty="0">
              <a:latin typeface="+mn-ea"/>
              <a:ea typeface="+mn-ea"/>
              <a:cs typeface="Times New Roman" panose="02020603050405020304" pitchFamily="18" charset="0"/>
            </a:endParaRPr>
          </a:p>
          <a:p>
            <a:pPr marL="538163" lvl="1" indent="-233363" algn="just">
              <a:lnSpc>
                <a:spcPct val="115000"/>
              </a:lnSpc>
              <a:spcAft>
                <a:spcPts val="0"/>
              </a:spcAft>
              <a:buFont typeface="+mj-lt"/>
              <a:buAutoNum type="arabicParenR"/>
            </a:pPr>
            <a:r>
              <a:rPr lang="ko-KR" altLang="ko-KR" sz="1000" b="0" dirty="0">
                <a:latin typeface="+mn-ea"/>
                <a:ea typeface="+mn-ea"/>
                <a:cs typeface="Times New Roman" panose="02020603050405020304" pitchFamily="18" charset="0"/>
              </a:rPr>
              <a:t>대한민국 또는 그와 유사한 </a:t>
            </a:r>
            <a:r>
              <a:rPr lang="en-US" altLang="ko-KR" sz="1000" b="0" dirty="0">
                <a:latin typeface="+mn-ea"/>
                <a:ea typeface="+mn-ea"/>
                <a:cs typeface="Times New Roman" panose="02020603050405020304" pitchFamily="18" charset="0"/>
              </a:rPr>
              <a:t>M&amp;A practice</a:t>
            </a:r>
            <a:r>
              <a:rPr lang="ko-KR" altLang="ko-KR" sz="1000" b="0" dirty="0">
                <a:latin typeface="+mn-ea"/>
                <a:ea typeface="+mn-ea"/>
                <a:cs typeface="Times New Roman" panose="02020603050405020304" pitchFamily="18" charset="0"/>
              </a:rPr>
              <a:t>를 가지는 </a:t>
            </a:r>
            <a:r>
              <a:rPr lang="en-US" altLang="ko-KR" sz="1000" b="0" dirty="0">
                <a:latin typeface="+mn-ea"/>
                <a:ea typeface="+mn-ea"/>
                <a:cs typeface="Times New Roman" panose="02020603050405020304" pitchFamily="18" charset="0"/>
              </a:rPr>
              <a:t>jurisdiction</a:t>
            </a:r>
            <a:r>
              <a:rPr lang="ko-KR" altLang="ko-KR" sz="1000" b="0" dirty="0">
                <a:latin typeface="+mn-ea"/>
                <a:ea typeface="+mn-ea"/>
                <a:cs typeface="Times New Roman" panose="02020603050405020304" pitchFamily="18" charset="0"/>
              </a:rPr>
              <a:t>에서의 거래임</a:t>
            </a:r>
            <a:r>
              <a:rPr lang="en-US" altLang="ko-KR" sz="1000" b="0" dirty="0" smtClean="0">
                <a:latin typeface="+mn-ea"/>
                <a:ea typeface="+mn-ea"/>
                <a:cs typeface="Times New Roman" panose="02020603050405020304" pitchFamily="18" charset="0"/>
              </a:rPr>
              <a:t>.</a:t>
            </a:r>
          </a:p>
          <a:p>
            <a:pPr lvl="1" algn="just">
              <a:lnSpc>
                <a:spcPct val="115000"/>
              </a:lnSpc>
              <a:spcAft>
                <a:spcPts val="0"/>
              </a:spcAft>
            </a:pPr>
            <a:endParaRPr lang="en-US" altLang="ko-KR" sz="1000" b="0" dirty="0">
              <a:latin typeface="+mn-ea"/>
              <a:ea typeface="+mn-ea"/>
              <a:cs typeface="Times New Roman" panose="02020603050405020304" pitchFamily="18" charset="0"/>
            </a:endParaRPr>
          </a:p>
          <a:p>
            <a:pPr marL="268288" lvl="0" indent="-268288" algn="just">
              <a:lnSpc>
                <a:spcPts val="1500"/>
              </a:lnSpc>
              <a:spcAft>
                <a:spcPts val="0"/>
              </a:spcAft>
              <a:buFont typeface="+mj-lt"/>
              <a:buAutoNum type="arabicPeriod"/>
            </a:pPr>
            <a:r>
              <a:rPr lang="ko-KR" altLang="ko-KR" sz="1000" b="0" dirty="0">
                <a:latin typeface="+mn-ea"/>
                <a:ea typeface="+mn-ea"/>
                <a:cs typeface="Times New Roman" panose="02020603050405020304" pitchFamily="18" charset="0"/>
              </a:rPr>
              <a:t>지분 구조가 </a:t>
            </a:r>
            <a:r>
              <a:rPr lang="en-US" altLang="ko-KR" sz="1000" b="0" dirty="0">
                <a:latin typeface="+mn-ea"/>
                <a:ea typeface="+mn-ea"/>
                <a:cs typeface="Times New Roman" panose="02020603050405020304" pitchFamily="18" charset="0"/>
              </a:rPr>
              <a:t>50:50</a:t>
            </a:r>
            <a:r>
              <a:rPr lang="ko-KR" altLang="ko-KR" sz="1000" b="0" dirty="0">
                <a:latin typeface="+mn-ea"/>
                <a:ea typeface="+mn-ea"/>
                <a:cs typeface="Times New Roman" panose="02020603050405020304" pitchFamily="18" charset="0"/>
              </a:rPr>
              <a:t>인 경우 일방 주주가 </a:t>
            </a:r>
            <a:r>
              <a:rPr lang="ko-KR" altLang="ko-KR" sz="1000" b="0" dirty="0" err="1">
                <a:latin typeface="+mn-ea"/>
                <a:ea typeface="+mn-ea"/>
                <a:cs typeface="Times New Roman" panose="02020603050405020304" pitchFamily="18" charset="0"/>
              </a:rPr>
              <a:t>대상회사에</a:t>
            </a:r>
            <a:r>
              <a:rPr lang="ko-KR" altLang="ko-KR" sz="1000" b="0" dirty="0">
                <a:latin typeface="+mn-ea"/>
                <a:ea typeface="+mn-ea"/>
                <a:cs typeface="Times New Roman" panose="02020603050405020304" pitchFamily="18" charset="0"/>
              </a:rPr>
              <a:t> 대한 지배력</a:t>
            </a:r>
            <a:r>
              <a:rPr lang="en-US" altLang="ko-KR" sz="1000" b="0" dirty="0">
                <a:latin typeface="+mn-ea"/>
                <a:ea typeface="+mn-ea"/>
                <a:cs typeface="Times New Roman" panose="02020603050405020304" pitchFamily="18" charset="0"/>
              </a:rPr>
              <a:t>(control)</a:t>
            </a:r>
            <a:r>
              <a:rPr lang="ko-KR" altLang="ko-KR" sz="1000" b="0" dirty="0">
                <a:latin typeface="+mn-ea"/>
                <a:ea typeface="+mn-ea"/>
                <a:cs typeface="Times New Roman" panose="02020603050405020304" pitchFamily="18" charset="0"/>
              </a:rPr>
              <a:t>을 가지고 회계상 연결</a:t>
            </a:r>
            <a:r>
              <a:rPr lang="en-US" altLang="ko-KR" sz="1000" b="0" dirty="0">
                <a:latin typeface="+mn-ea"/>
                <a:ea typeface="+mn-ea"/>
                <a:cs typeface="Times New Roman" panose="02020603050405020304" pitchFamily="18" charset="0"/>
              </a:rPr>
              <a:t>(consolidate)</a:t>
            </a:r>
            <a:r>
              <a:rPr lang="ko-KR" altLang="ko-KR" sz="1000" b="0" dirty="0">
                <a:latin typeface="+mn-ea"/>
                <a:ea typeface="+mn-ea"/>
                <a:cs typeface="Times New Roman" panose="02020603050405020304" pitchFamily="18" charset="0"/>
              </a:rPr>
              <a:t>할 수 있는지 여부가 </a:t>
            </a:r>
            <a:r>
              <a:rPr lang="ko-KR" altLang="ko-KR" sz="1000" b="0" dirty="0" err="1">
                <a:latin typeface="+mn-ea"/>
                <a:ea typeface="+mn-ea"/>
                <a:cs typeface="Times New Roman" panose="02020603050405020304" pitchFamily="18" charset="0"/>
              </a:rPr>
              <a:t>불분명하므로</a:t>
            </a:r>
            <a:r>
              <a:rPr lang="en-US" altLang="ko-KR" sz="1000" b="0" dirty="0">
                <a:latin typeface="+mn-ea"/>
                <a:ea typeface="+mn-ea"/>
                <a:cs typeface="Times New Roman" panose="02020603050405020304" pitchFamily="18" charset="0"/>
              </a:rPr>
              <a:t>, LG H&amp;H</a:t>
            </a:r>
            <a:r>
              <a:rPr lang="ko-KR" altLang="ko-KR" sz="1000" b="0" dirty="0">
                <a:latin typeface="+mn-ea"/>
                <a:ea typeface="+mn-ea"/>
                <a:cs typeface="Times New Roman" panose="02020603050405020304" pitchFamily="18" charset="0"/>
              </a:rPr>
              <a:t>가 </a:t>
            </a:r>
            <a:r>
              <a:rPr lang="ko-KR" altLang="ko-KR" sz="1000" b="0" dirty="0" err="1">
                <a:latin typeface="+mn-ea"/>
                <a:ea typeface="+mn-ea"/>
                <a:cs typeface="Times New Roman" panose="02020603050405020304" pitchFamily="18" charset="0"/>
              </a:rPr>
              <a:t>대상회사를</a:t>
            </a:r>
            <a:r>
              <a:rPr lang="ko-KR" altLang="ko-KR" sz="1000" b="0" dirty="0">
                <a:latin typeface="+mn-ea"/>
                <a:ea typeface="+mn-ea"/>
                <a:cs typeface="Times New Roman" panose="02020603050405020304" pitchFamily="18" charset="0"/>
              </a:rPr>
              <a:t> 연결할 수 있기 위해서는 어떤 요건이 필요한지 사전에 검토하여 주주간 계약 협상 시에 반영하여야 합니다</a:t>
            </a:r>
            <a:r>
              <a:rPr lang="en-US" altLang="ko-KR" sz="1000" b="0" dirty="0">
                <a:latin typeface="+mn-ea"/>
                <a:ea typeface="+mn-ea"/>
                <a:cs typeface="Times New Roman" panose="02020603050405020304" pitchFamily="18" charset="0"/>
              </a:rPr>
              <a:t>. K-IFRS </a:t>
            </a:r>
            <a:r>
              <a:rPr lang="ko-KR" altLang="ko-KR" sz="1000" b="0" dirty="0">
                <a:latin typeface="+mn-ea"/>
                <a:ea typeface="+mn-ea"/>
                <a:cs typeface="Times New Roman" panose="02020603050405020304" pitchFamily="18" charset="0"/>
              </a:rPr>
              <a:t>상 연결 요건을 간단히 요약하면 아래와 같습니다</a:t>
            </a:r>
            <a:r>
              <a:rPr lang="en-US" altLang="ko-KR" sz="1000" b="0" dirty="0">
                <a:latin typeface="+mn-ea"/>
                <a:ea typeface="+mn-ea"/>
                <a:cs typeface="Times New Roman" panose="02020603050405020304" pitchFamily="18" charset="0"/>
              </a:rPr>
              <a:t>. </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en-US" altLang="ko-KR" sz="1000" b="0" dirty="0">
                <a:latin typeface="+mn-ea"/>
                <a:ea typeface="+mn-ea"/>
                <a:cs typeface="Times New Roman" panose="02020603050405020304" pitchFamily="18" charset="0"/>
              </a:rPr>
              <a:t>K-IFRS</a:t>
            </a:r>
            <a:r>
              <a:rPr lang="ko-KR" altLang="ko-KR" sz="1000" b="0" dirty="0">
                <a:latin typeface="+mn-ea"/>
                <a:ea typeface="+mn-ea"/>
                <a:cs typeface="Times New Roman" panose="02020603050405020304" pitchFamily="18" charset="0"/>
              </a:rPr>
              <a:t>에 따르면</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투자자가 </a:t>
            </a:r>
            <a:r>
              <a:rPr lang="ko-KR" altLang="ko-KR" sz="1000" b="0" dirty="0" err="1">
                <a:latin typeface="+mn-ea"/>
                <a:ea typeface="+mn-ea"/>
                <a:cs typeface="Times New Roman" panose="02020603050405020304" pitchFamily="18" charset="0"/>
              </a:rPr>
              <a:t>피투자자</a:t>
            </a:r>
            <a:r>
              <a:rPr lang="en-US" altLang="ko-KR" sz="1000" b="0" dirty="0">
                <a:latin typeface="+mn-ea"/>
                <a:ea typeface="+mn-ea"/>
                <a:cs typeface="Times New Roman" panose="02020603050405020304" pitchFamily="18" charset="0"/>
              </a:rPr>
              <a:t>(</a:t>
            </a:r>
            <a:r>
              <a:rPr lang="ko-KR" altLang="ko-KR" sz="1000" b="0" dirty="0" err="1">
                <a:latin typeface="+mn-ea"/>
                <a:ea typeface="+mn-ea"/>
                <a:cs typeface="Times New Roman" panose="02020603050405020304" pitchFamily="18" charset="0"/>
              </a:rPr>
              <a:t>대상회사</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에 대한 지배력을 보유하면 </a:t>
            </a:r>
            <a:r>
              <a:rPr lang="ko-KR" altLang="ko-KR" sz="1000" b="0" dirty="0" err="1">
                <a:latin typeface="+mn-ea"/>
                <a:ea typeface="+mn-ea"/>
                <a:cs typeface="Times New Roman" panose="02020603050405020304" pitchFamily="18" charset="0"/>
              </a:rPr>
              <a:t>대상회사를</a:t>
            </a:r>
            <a:r>
              <a:rPr lang="ko-KR" altLang="ko-KR" sz="1000" b="0" dirty="0">
                <a:latin typeface="+mn-ea"/>
                <a:ea typeface="+mn-ea"/>
                <a:cs typeface="Times New Roman" panose="02020603050405020304" pitchFamily="18" charset="0"/>
              </a:rPr>
              <a:t> 회계상 연결해야 되는데</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지배력을 보유</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하는지 여부는</a:t>
            </a:r>
            <a:r>
              <a:rPr lang="en-US" altLang="ko-KR" sz="1000" b="0" dirty="0">
                <a:latin typeface="+mn-ea"/>
                <a:ea typeface="+mn-ea"/>
                <a:cs typeface="Times New Roman" panose="02020603050405020304" pitchFamily="18" charset="0"/>
              </a:rPr>
              <a:t> (</a:t>
            </a:r>
            <a:r>
              <a:rPr lang="en-US" altLang="ko-KR" sz="1000" b="0" dirty="0" err="1">
                <a:latin typeface="+mn-ea"/>
                <a:ea typeface="+mn-ea"/>
                <a:cs typeface="Times New Roman" panose="02020603050405020304" pitchFamily="18" charset="0"/>
              </a:rPr>
              <a:t>i</a:t>
            </a:r>
            <a:r>
              <a:rPr lang="en-US" altLang="ko-KR" sz="1000" b="0" dirty="0">
                <a:latin typeface="+mn-ea"/>
                <a:ea typeface="+mn-ea"/>
                <a:cs typeface="Times New Roman" panose="02020603050405020304" pitchFamily="18" charset="0"/>
              </a:rPr>
              <a:t>) </a:t>
            </a:r>
            <a:r>
              <a:rPr lang="ko-KR" altLang="ko-KR" sz="1000" b="0" dirty="0" err="1">
                <a:latin typeface="+mn-ea"/>
                <a:ea typeface="+mn-ea"/>
                <a:cs typeface="Times New Roman" panose="02020603050405020304" pitchFamily="18" charset="0"/>
              </a:rPr>
              <a:t>대상회사에</a:t>
            </a:r>
            <a:r>
              <a:rPr lang="ko-KR" altLang="ko-KR" sz="1000" b="0" dirty="0">
                <a:latin typeface="+mn-ea"/>
                <a:ea typeface="+mn-ea"/>
                <a:cs typeface="Times New Roman" panose="02020603050405020304" pitchFamily="18" charset="0"/>
              </a:rPr>
              <a:t> 대한 영향력</a:t>
            </a:r>
            <a:r>
              <a:rPr lang="en-US" altLang="ko-KR" sz="1000" b="0" dirty="0">
                <a:latin typeface="+mn-ea"/>
                <a:ea typeface="+mn-ea"/>
                <a:cs typeface="Times New Roman" panose="02020603050405020304" pitchFamily="18" charset="0"/>
              </a:rPr>
              <a:t>(power), (ii) </a:t>
            </a:r>
            <a:r>
              <a:rPr lang="ko-KR" altLang="ko-KR" sz="1000" b="0" dirty="0">
                <a:latin typeface="+mn-ea"/>
                <a:ea typeface="+mn-ea"/>
                <a:cs typeface="Times New Roman" panose="02020603050405020304" pitchFamily="18" charset="0"/>
              </a:rPr>
              <a:t>대상회사로부터 비롯되는 </a:t>
            </a:r>
            <a:r>
              <a:rPr lang="ko-KR" altLang="ko-KR" sz="1000" b="0" dirty="0" err="1">
                <a:latin typeface="+mn-ea"/>
                <a:ea typeface="+mn-ea"/>
                <a:cs typeface="Times New Roman" panose="02020603050405020304" pitchFamily="18" charset="0"/>
              </a:rPr>
              <a:t>변동이익</a:t>
            </a:r>
            <a:r>
              <a:rPr lang="en-US" altLang="ko-KR" sz="1000" b="0" dirty="0">
                <a:latin typeface="+mn-ea"/>
                <a:ea typeface="+mn-ea"/>
                <a:cs typeface="Times New Roman" panose="02020603050405020304" pitchFamily="18" charset="0"/>
              </a:rPr>
              <a:t>(variable return)</a:t>
            </a:r>
            <a:r>
              <a:rPr lang="ko-KR" altLang="ko-KR" sz="1000" b="0" dirty="0">
                <a:latin typeface="+mn-ea"/>
                <a:ea typeface="+mn-ea"/>
                <a:cs typeface="Times New Roman" panose="02020603050405020304" pitchFamily="18" charset="0"/>
              </a:rPr>
              <a:t>에 대한 노출 또는 권리</a:t>
            </a:r>
            <a:r>
              <a:rPr lang="en-US" altLang="ko-KR" sz="1000" b="0" dirty="0">
                <a:latin typeface="+mn-ea"/>
                <a:ea typeface="+mn-ea"/>
                <a:cs typeface="Times New Roman" panose="02020603050405020304" pitchFamily="18" charset="0"/>
              </a:rPr>
              <a:t>, (iii) </a:t>
            </a:r>
            <a:r>
              <a:rPr lang="ko-KR" altLang="ko-KR" sz="1000" b="0" dirty="0">
                <a:latin typeface="+mn-ea"/>
                <a:ea typeface="+mn-ea"/>
                <a:cs typeface="Times New Roman" panose="02020603050405020304" pitchFamily="18" charset="0"/>
              </a:rPr>
              <a:t>본인으로서</a:t>
            </a:r>
            <a:r>
              <a:rPr lang="en-US" altLang="ko-KR" sz="1000" b="0" dirty="0">
                <a:latin typeface="+mn-ea"/>
                <a:ea typeface="+mn-ea"/>
                <a:cs typeface="Times New Roman" panose="02020603050405020304" pitchFamily="18" charset="0"/>
              </a:rPr>
              <a:t>(as principal) </a:t>
            </a:r>
            <a:r>
              <a:rPr lang="ko-KR" altLang="ko-KR" sz="1000" b="0" dirty="0">
                <a:latin typeface="+mn-ea"/>
                <a:ea typeface="+mn-ea"/>
                <a:cs typeface="Times New Roman" panose="02020603050405020304" pitchFamily="18" charset="0"/>
              </a:rPr>
              <a:t>영향력을 행사할 수 있는 능력을 모두 보유하는지 여부로 판단함</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ko-KR" altLang="ko-KR" sz="1000" b="0" dirty="0">
                <a:latin typeface="+mn-ea"/>
                <a:ea typeface="+mn-ea"/>
                <a:cs typeface="Times New Roman" panose="02020603050405020304" pitchFamily="18" charset="0"/>
              </a:rPr>
              <a:t>이 중 일반적으로 지배력 평가에 있어 관건이 되는 사항은</a:t>
            </a:r>
            <a:r>
              <a:rPr lang="en-US" altLang="ko-KR" sz="1000" b="0" dirty="0">
                <a:latin typeface="+mn-ea"/>
                <a:ea typeface="+mn-ea"/>
                <a:cs typeface="Times New Roman" panose="02020603050405020304" pitchFamily="18" charset="0"/>
              </a:rPr>
              <a:t> (</a:t>
            </a:r>
            <a:r>
              <a:rPr lang="en-US" altLang="ko-KR" sz="1000" b="0" dirty="0" err="1">
                <a:latin typeface="+mn-ea"/>
                <a:ea typeface="+mn-ea"/>
                <a:cs typeface="Times New Roman" panose="02020603050405020304" pitchFamily="18" charset="0"/>
              </a:rPr>
              <a:t>i</a:t>
            </a:r>
            <a:r>
              <a:rPr lang="en-US" altLang="ko-KR" sz="1000" b="0" dirty="0">
                <a:latin typeface="+mn-ea"/>
                <a:ea typeface="+mn-ea"/>
                <a:cs typeface="Times New Roman" panose="02020603050405020304" pitchFamily="18" charset="0"/>
              </a:rPr>
              <a:t>) </a:t>
            </a:r>
            <a:r>
              <a:rPr lang="ko-KR" altLang="ko-KR" sz="1000" b="0" dirty="0" err="1">
                <a:latin typeface="+mn-ea"/>
                <a:ea typeface="+mn-ea"/>
                <a:cs typeface="Times New Roman" panose="02020603050405020304" pitchFamily="18" charset="0"/>
              </a:rPr>
              <a:t>대상회사에</a:t>
            </a:r>
            <a:r>
              <a:rPr lang="ko-KR" altLang="ko-KR" sz="1000" b="0" dirty="0">
                <a:latin typeface="+mn-ea"/>
                <a:ea typeface="+mn-ea"/>
                <a:cs typeface="Times New Roman" panose="02020603050405020304" pitchFamily="18" charset="0"/>
              </a:rPr>
              <a:t> 대한 영향력</a:t>
            </a:r>
            <a:r>
              <a:rPr lang="en-US" altLang="ko-KR" sz="1000" b="0" dirty="0">
                <a:latin typeface="+mn-ea"/>
                <a:ea typeface="+mn-ea"/>
                <a:cs typeface="Times New Roman" panose="02020603050405020304" pitchFamily="18" charset="0"/>
              </a:rPr>
              <a:t>(power)</a:t>
            </a:r>
            <a:r>
              <a:rPr lang="ko-KR" altLang="ko-KR" sz="1000" b="0" dirty="0">
                <a:latin typeface="+mn-ea"/>
                <a:ea typeface="+mn-ea"/>
                <a:cs typeface="Times New Roman" panose="02020603050405020304" pitchFamily="18" charset="0"/>
              </a:rPr>
              <a:t>을 보유하는지 여부인데</a:t>
            </a:r>
            <a:r>
              <a:rPr lang="en-US" altLang="ko-KR" sz="1000" b="0" dirty="0">
                <a:latin typeface="+mn-ea"/>
                <a:ea typeface="+mn-ea"/>
                <a:cs typeface="Times New Roman" panose="02020603050405020304" pitchFamily="18" charset="0"/>
              </a:rPr>
              <a:t>, K-IFRS</a:t>
            </a:r>
            <a:r>
              <a:rPr lang="ko-KR" altLang="ko-KR" sz="1000" b="0" dirty="0">
                <a:latin typeface="+mn-ea"/>
                <a:ea typeface="+mn-ea"/>
                <a:cs typeface="Times New Roman" panose="02020603050405020304" pitchFamily="18" charset="0"/>
              </a:rPr>
              <a:t>는 이를 </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대상회사의 유의적인 의사결정사항을 결정할 수 있는 능력</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으로 설명하고 있음</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이러한 능력에는 </a:t>
            </a:r>
            <a:r>
              <a:rPr lang="ko-KR" altLang="ko-KR" sz="1000" b="0" dirty="0" err="1">
                <a:latin typeface="+mn-ea"/>
                <a:ea typeface="+mn-ea"/>
                <a:cs typeface="Times New Roman" panose="02020603050405020304" pitchFamily="18" charset="0"/>
              </a:rPr>
              <a:t>의결권뿐만</a:t>
            </a:r>
            <a:r>
              <a:rPr lang="ko-KR" altLang="ko-KR" sz="1000" b="0" dirty="0">
                <a:latin typeface="+mn-ea"/>
                <a:ea typeface="+mn-ea"/>
                <a:cs typeface="Times New Roman" panose="02020603050405020304" pitchFamily="18" charset="0"/>
              </a:rPr>
              <a:t> 아니라 다른 투자자 등과의 계약상 약정에서 발생하는 권리</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예</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주주간 계약에 따른 이사 선임권</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주요 사항에 대한 </a:t>
            </a:r>
            <a:r>
              <a:rPr lang="ko-KR" altLang="ko-KR" sz="1000" b="0" dirty="0" err="1">
                <a:latin typeface="+mn-ea"/>
                <a:ea typeface="+mn-ea"/>
                <a:cs typeface="Times New Roman" panose="02020603050405020304" pitchFamily="18" charset="0"/>
              </a:rPr>
              <a:t>동의권</a:t>
            </a:r>
            <a:r>
              <a:rPr lang="en-US" altLang="ko-KR" sz="1000" b="0" dirty="0">
                <a:latin typeface="+mn-ea"/>
                <a:ea typeface="+mn-ea"/>
                <a:cs typeface="Times New Roman" panose="02020603050405020304" pitchFamily="18" charset="0"/>
              </a:rPr>
              <a:t>/</a:t>
            </a:r>
            <a:r>
              <a:rPr lang="ko-KR" altLang="ko-KR" sz="1000" b="0" dirty="0" err="1">
                <a:latin typeface="+mn-ea"/>
                <a:ea typeface="+mn-ea"/>
                <a:cs typeface="Times New Roman" panose="02020603050405020304" pitchFamily="18" charset="0"/>
              </a:rPr>
              <a:t>반대권</a:t>
            </a:r>
            <a:r>
              <a:rPr lang="ko-KR" altLang="ko-KR" sz="1000" b="0" dirty="0">
                <a:latin typeface="+mn-ea"/>
                <a:ea typeface="+mn-ea"/>
                <a:cs typeface="Times New Roman" panose="02020603050405020304" pitchFamily="18" charset="0"/>
              </a:rPr>
              <a:t> 등</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를 모두 포함함</a:t>
            </a:r>
            <a:r>
              <a:rPr lang="en-US" altLang="ko-KR" sz="1000" b="0" dirty="0">
                <a:latin typeface="+mn-ea"/>
                <a:ea typeface="+mn-ea"/>
                <a:cs typeface="Times New Roman" panose="02020603050405020304" pitchFamily="18" charset="0"/>
              </a:rPr>
              <a:t>. </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ko-KR" altLang="ko-KR" sz="1000" b="0" dirty="0">
                <a:latin typeface="+mn-ea"/>
                <a:ea typeface="+mn-ea"/>
                <a:cs typeface="Times New Roman" panose="02020603050405020304" pitchFamily="18" charset="0"/>
              </a:rPr>
              <a:t>즉</a:t>
            </a:r>
            <a:r>
              <a:rPr lang="en-US" altLang="ko-KR" sz="1000" b="0" dirty="0">
                <a:latin typeface="+mn-ea"/>
                <a:ea typeface="+mn-ea"/>
                <a:cs typeface="Times New Roman" panose="02020603050405020304" pitchFamily="18" charset="0"/>
              </a:rPr>
              <a:t>, </a:t>
            </a:r>
            <a:r>
              <a:rPr lang="ko-KR" altLang="ko-KR" sz="1000" b="0" dirty="0" err="1">
                <a:latin typeface="+mn-ea"/>
                <a:ea typeface="+mn-ea"/>
                <a:cs typeface="Times New Roman" panose="02020603050405020304" pitchFamily="18" charset="0"/>
              </a:rPr>
              <a:t>대상회사에</a:t>
            </a:r>
            <a:r>
              <a:rPr lang="ko-KR" altLang="ko-KR" sz="1000" b="0" dirty="0">
                <a:latin typeface="+mn-ea"/>
                <a:ea typeface="+mn-ea"/>
                <a:cs typeface="Times New Roman" panose="02020603050405020304" pitchFamily="18" charset="0"/>
              </a:rPr>
              <a:t> 대한 지분 구조가 </a:t>
            </a:r>
            <a:r>
              <a:rPr lang="en-US" altLang="ko-KR" sz="1000" b="0" dirty="0">
                <a:latin typeface="+mn-ea"/>
                <a:ea typeface="+mn-ea"/>
                <a:cs typeface="Times New Roman" panose="02020603050405020304" pitchFamily="18" charset="0"/>
              </a:rPr>
              <a:t>50:50</a:t>
            </a:r>
            <a:r>
              <a:rPr lang="ko-KR" altLang="ko-KR" sz="1000" b="0" dirty="0">
                <a:latin typeface="+mn-ea"/>
                <a:ea typeface="+mn-ea"/>
                <a:cs typeface="Times New Roman" panose="02020603050405020304" pitchFamily="18" charset="0"/>
              </a:rPr>
              <a:t>이라면 결국 주주간 계약상 누가 이사 선임권</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주요 사항에 대한 </a:t>
            </a:r>
            <a:r>
              <a:rPr lang="ko-KR" altLang="ko-KR" sz="1000" b="0" dirty="0" err="1">
                <a:latin typeface="+mn-ea"/>
                <a:ea typeface="+mn-ea"/>
                <a:cs typeface="Times New Roman" panose="02020603050405020304" pitchFamily="18" charset="0"/>
              </a:rPr>
              <a:t>동의권</a:t>
            </a:r>
            <a:r>
              <a:rPr lang="en-US" altLang="ko-KR" sz="1000" b="0" dirty="0">
                <a:latin typeface="+mn-ea"/>
                <a:ea typeface="+mn-ea"/>
                <a:cs typeface="Times New Roman" panose="02020603050405020304" pitchFamily="18" charset="0"/>
              </a:rPr>
              <a:t>/</a:t>
            </a:r>
            <a:r>
              <a:rPr lang="ko-KR" altLang="ko-KR" sz="1000" b="0" dirty="0" err="1">
                <a:latin typeface="+mn-ea"/>
                <a:ea typeface="+mn-ea"/>
                <a:cs typeface="Times New Roman" panose="02020603050405020304" pitchFamily="18" charset="0"/>
              </a:rPr>
              <a:t>반대권</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가부 동수인 경우 </a:t>
            </a:r>
            <a:r>
              <a:rPr lang="ko-KR" altLang="ko-KR" sz="1000" b="0" dirty="0" err="1">
                <a:latin typeface="+mn-ea"/>
                <a:ea typeface="+mn-ea"/>
                <a:cs typeface="Times New Roman" panose="02020603050405020304" pitchFamily="18" charset="0"/>
              </a:rPr>
              <a:t>의사결정권</a:t>
            </a:r>
            <a:r>
              <a:rPr lang="en-US" altLang="ko-KR" sz="1000" b="0" dirty="0">
                <a:latin typeface="+mn-ea"/>
                <a:ea typeface="+mn-ea"/>
                <a:cs typeface="Times New Roman" panose="02020603050405020304" pitchFamily="18" charset="0"/>
              </a:rPr>
              <a:t>(casting vote) </a:t>
            </a:r>
            <a:r>
              <a:rPr lang="ko-KR" altLang="ko-KR" sz="1000" b="0" dirty="0">
                <a:latin typeface="+mn-ea"/>
                <a:ea typeface="+mn-ea"/>
                <a:cs typeface="Times New Roman" panose="02020603050405020304" pitchFamily="18" charset="0"/>
              </a:rPr>
              <a:t>등을 갖는지 여부를 판단해야 할 것이고</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그러한 계약상 권리를 가진 자가 </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지배력을 보유</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한다고 평가 받을 가능성이 높음</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ko-KR" altLang="ko-KR" sz="1000" b="0" dirty="0">
                <a:latin typeface="+mn-ea"/>
                <a:ea typeface="+mn-ea"/>
                <a:cs typeface="Times New Roman" panose="02020603050405020304" pitchFamily="18" charset="0"/>
              </a:rPr>
              <a:t>다만</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상기 언급한 사정 외 기타 사정도 종합적으로 고려되어야 하므로</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연결 여부가 문제되는 경우에는 회계 전문가의 검토가 필요함</a:t>
            </a:r>
            <a:r>
              <a:rPr lang="en-US" altLang="ko-KR" sz="1000" b="0" dirty="0" smtClean="0">
                <a:latin typeface="+mn-ea"/>
                <a:ea typeface="+mn-ea"/>
                <a:cs typeface="Times New Roman" panose="02020603050405020304" pitchFamily="18" charset="0"/>
              </a:rPr>
              <a:t>.</a:t>
            </a:r>
          </a:p>
          <a:p>
            <a:pPr lvl="1" algn="just">
              <a:lnSpc>
                <a:spcPts val="1500"/>
              </a:lnSpc>
              <a:spcAft>
                <a:spcPts val="0"/>
              </a:spcAft>
            </a:pPr>
            <a:endParaRPr lang="en-US" altLang="ko-KR" sz="1000" b="0" dirty="0" smtClean="0">
              <a:latin typeface="+mn-ea"/>
              <a:ea typeface="+mn-ea"/>
              <a:cs typeface="Times New Roman" panose="02020603050405020304" pitchFamily="18" charset="0"/>
            </a:endParaRPr>
          </a:p>
          <a:p>
            <a:pPr marL="268288" lvl="0" indent="-268288" algn="just">
              <a:lnSpc>
                <a:spcPts val="1500"/>
              </a:lnSpc>
              <a:spcAft>
                <a:spcPts val="0"/>
              </a:spcAft>
              <a:buFont typeface="+mj-lt"/>
              <a:buAutoNum type="arabicPeriod"/>
            </a:pPr>
            <a:r>
              <a:rPr lang="ko-KR" altLang="ko-KR" sz="1000" b="0" dirty="0">
                <a:latin typeface="+mn-ea"/>
                <a:ea typeface="+mn-ea"/>
                <a:cs typeface="Times New Roman" panose="02020603050405020304" pitchFamily="18" charset="0"/>
              </a:rPr>
              <a:t>다음과 같은 사정에 비추어 보았을 때</a:t>
            </a:r>
            <a:r>
              <a:rPr lang="en-US" altLang="ko-KR" sz="1000" b="0" dirty="0">
                <a:latin typeface="+mn-ea"/>
                <a:ea typeface="+mn-ea"/>
                <a:cs typeface="Times New Roman" panose="02020603050405020304" pitchFamily="18" charset="0"/>
              </a:rPr>
              <a:t>, </a:t>
            </a:r>
            <a:r>
              <a:rPr lang="ko-KR" altLang="ko-KR" sz="1000" b="0" dirty="0" err="1">
                <a:latin typeface="+mn-ea"/>
                <a:ea typeface="+mn-ea"/>
                <a:cs typeface="Times New Roman" panose="02020603050405020304" pitchFamily="18" charset="0"/>
              </a:rPr>
              <a:t>대상회사가</a:t>
            </a:r>
            <a:r>
              <a:rPr lang="ko-KR" altLang="ko-KR" sz="1000" b="0" dirty="0">
                <a:latin typeface="+mn-ea"/>
                <a:ea typeface="+mn-ea"/>
                <a:cs typeface="Times New Roman" panose="02020603050405020304" pitchFamily="18" charset="0"/>
              </a:rPr>
              <a:t> 대한민국 외의 </a:t>
            </a:r>
            <a:r>
              <a:rPr lang="en-US" altLang="ko-KR" sz="1000" b="0" dirty="0">
                <a:latin typeface="+mn-ea"/>
                <a:ea typeface="+mn-ea"/>
                <a:cs typeface="Times New Roman" panose="02020603050405020304" pitchFamily="18" charset="0"/>
              </a:rPr>
              <a:t>jurisdiction</a:t>
            </a:r>
            <a:r>
              <a:rPr lang="ko-KR" altLang="ko-KR" sz="1000" b="0" dirty="0">
                <a:latin typeface="+mn-ea"/>
                <a:ea typeface="+mn-ea"/>
                <a:cs typeface="Times New Roman" panose="02020603050405020304" pitchFamily="18" charset="0"/>
              </a:rPr>
              <a:t>에 설립된 회사인 경우에는</a:t>
            </a:r>
            <a:r>
              <a:rPr lang="en-US" altLang="ko-KR" sz="1000" b="0" dirty="0">
                <a:latin typeface="+mn-ea"/>
                <a:ea typeface="+mn-ea"/>
                <a:cs typeface="Times New Roman" panose="02020603050405020304" pitchFamily="18" charset="0"/>
              </a:rPr>
              <a:t>, </a:t>
            </a:r>
            <a:r>
              <a:rPr lang="ko-KR" altLang="ko-KR" sz="1000" b="0" dirty="0" err="1">
                <a:latin typeface="+mn-ea"/>
                <a:ea typeface="+mn-ea"/>
                <a:cs typeface="Times New Roman" panose="02020603050405020304" pitchFamily="18" charset="0"/>
              </a:rPr>
              <a:t>대상회사</a:t>
            </a:r>
            <a:r>
              <a:rPr lang="ko-KR" altLang="ko-KR" sz="1000" b="0" dirty="0">
                <a:latin typeface="+mn-ea"/>
                <a:ea typeface="+mn-ea"/>
                <a:cs typeface="Times New Roman" panose="02020603050405020304" pitchFamily="18" charset="0"/>
              </a:rPr>
              <a:t> 설립준거지법</a:t>
            </a:r>
            <a:r>
              <a:rPr lang="en-US" altLang="ko-KR" sz="1000" b="0" dirty="0">
                <a:latin typeface="+mn-ea"/>
                <a:ea typeface="+mn-ea"/>
                <a:cs typeface="Times New Roman" panose="02020603050405020304" pitchFamily="18" charset="0"/>
              </a:rPr>
              <a:t>(“</a:t>
            </a:r>
            <a:r>
              <a:rPr lang="ko-KR" altLang="ko-KR" sz="1000" b="0" u="sng" dirty="0" err="1">
                <a:latin typeface="+mn-ea"/>
                <a:ea typeface="+mn-ea"/>
                <a:cs typeface="Times New Roman" panose="02020603050405020304" pitchFamily="18" charset="0"/>
              </a:rPr>
              <a:t>준거지법</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의 법률전문가로부터 검토가 필요합니다</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ts val="1500"/>
              </a:lnSpc>
              <a:spcAft>
                <a:spcPts val="0"/>
              </a:spcAft>
              <a:buFont typeface="+mj-lt"/>
              <a:buAutoNum type="arabicParenR"/>
            </a:pPr>
            <a:r>
              <a:rPr lang="ko-KR" altLang="ko-KR" sz="1000" b="0" dirty="0" err="1">
                <a:latin typeface="+mn-ea"/>
                <a:ea typeface="+mn-ea"/>
                <a:cs typeface="Times New Roman" panose="02020603050405020304" pitchFamily="18" charset="0"/>
              </a:rPr>
              <a:t>준거지법에</a:t>
            </a:r>
            <a:r>
              <a:rPr lang="ko-KR" altLang="ko-KR" sz="1000" b="0" dirty="0">
                <a:latin typeface="+mn-ea"/>
                <a:ea typeface="+mn-ea"/>
                <a:cs typeface="Times New Roman" panose="02020603050405020304" pitchFamily="18" charset="0"/>
              </a:rPr>
              <a:t> 따라 </a:t>
            </a:r>
            <a:r>
              <a:rPr lang="ko-KR" altLang="ko-KR" sz="1000" b="0" dirty="0" err="1">
                <a:latin typeface="+mn-ea"/>
                <a:ea typeface="+mn-ea"/>
                <a:cs typeface="Times New Roman" panose="02020603050405020304" pitchFamily="18" charset="0"/>
              </a:rPr>
              <a:t>대상회사</a:t>
            </a:r>
            <a:r>
              <a:rPr lang="ko-KR" altLang="ko-KR" sz="1000" b="0" dirty="0">
                <a:latin typeface="+mn-ea"/>
                <a:ea typeface="+mn-ea"/>
                <a:cs typeface="Times New Roman" panose="02020603050405020304" pitchFamily="18" charset="0"/>
              </a:rPr>
              <a:t> 지배구조 구성에 대한 고려가 필요한 점</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예를 들어</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이사회 구성원 중 일부가 현지인으로 구성되어야 한다거나</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이사회 외에 이를 감독하는 기구의 설치가 필요하다는 등</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marL="538163" lvl="1" indent="-233363" algn="just">
              <a:lnSpc>
                <a:spcPct val="115000"/>
              </a:lnSpc>
              <a:spcAft>
                <a:spcPts val="0"/>
              </a:spcAft>
              <a:buFont typeface="+mj-lt"/>
              <a:buAutoNum type="arabicParenR"/>
            </a:pPr>
            <a:r>
              <a:rPr lang="ko-KR" altLang="ko-KR" sz="1000" b="0" dirty="0" err="1">
                <a:latin typeface="+mn-ea"/>
                <a:ea typeface="+mn-ea"/>
                <a:cs typeface="Times New Roman" panose="02020603050405020304" pitchFamily="18" charset="0"/>
              </a:rPr>
              <a:t>준거지법에</a:t>
            </a:r>
            <a:r>
              <a:rPr lang="ko-KR" altLang="ko-KR" sz="1000" b="0" dirty="0">
                <a:latin typeface="+mn-ea"/>
                <a:ea typeface="+mn-ea"/>
                <a:cs typeface="Times New Roman" panose="02020603050405020304" pitchFamily="18" charset="0"/>
              </a:rPr>
              <a:t> 따라 당사자간의 사적 자치가 허용되지 아니하는 영역이 있어</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주주간 계약 중 일부 규정이 적용되지 아니할 수 있다는 점</a:t>
            </a:r>
            <a:r>
              <a:rPr lang="en-US" altLang="ko-KR" sz="1000" b="0" dirty="0" smtClean="0">
                <a:latin typeface="+mn-ea"/>
                <a:ea typeface="+mn-ea"/>
                <a:cs typeface="Times New Roman" panose="02020603050405020304" pitchFamily="18" charset="0"/>
              </a:rPr>
              <a:t>.</a:t>
            </a:r>
          </a:p>
          <a:p>
            <a:pPr lvl="1" algn="just">
              <a:lnSpc>
                <a:spcPct val="115000"/>
              </a:lnSpc>
              <a:spcAft>
                <a:spcPts val="0"/>
              </a:spcAft>
            </a:pPr>
            <a:endParaRPr lang="ko-KR" altLang="ko-KR" sz="1000" b="0" dirty="0">
              <a:latin typeface="+mn-ea"/>
              <a:ea typeface="+mn-ea"/>
              <a:cs typeface="Times New Roman" panose="02020603050405020304" pitchFamily="18" charset="0"/>
            </a:endParaRPr>
          </a:p>
          <a:p>
            <a:pPr marL="268288" indent="-268288" algn="just">
              <a:lnSpc>
                <a:spcPct val="115000"/>
              </a:lnSpc>
              <a:spcAft>
                <a:spcPts val="0"/>
              </a:spcAft>
              <a:buFont typeface="+mj-lt"/>
              <a:buAutoNum type="arabicPeriod"/>
            </a:pPr>
            <a:r>
              <a:rPr lang="ko-KR" altLang="ko-KR" sz="1000" b="0" dirty="0" smtClean="0">
                <a:latin typeface="+mn-ea"/>
                <a:ea typeface="+mn-ea"/>
                <a:cs typeface="Times New Roman" panose="02020603050405020304" pitchFamily="18" charset="0"/>
              </a:rPr>
              <a:t>표준 </a:t>
            </a:r>
            <a:r>
              <a:rPr lang="en-US" altLang="ko-KR" sz="1000" b="0" dirty="0">
                <a:latin typeface="+mn-ea"/>
                <a:ea typeface="+mn-ea"/>
                <a:cs typeface="Times New Roman" panose="02020603050405020304" pitchFamily="18" charset="0"/>
              </a:rPr>
              <a:t>SHA</a:t>
            </a:r>
            <a:r>
              <a:rPr lang="ko-KR" altLang="ko-KR" sz="1000" b="0" dirty="0">
                <a:latin typeface="+mn-ea"/>
                <a:ea typeface="+mn-ea"/>
                <a:cs typeface="Times New Roman" panose="02020603050405020304" pitchFamily="18" charset="0"/>
              </a:rPr>
              <a:t>상의 문구는</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표준</a:t>
            </a:r>
            <a:r>
              <a:rPr lang="en-US" altLang="ko-KR" sz="1000" b="0" dirty="0">
                <a:latin typeface="+mn-ea"/>
                <a:ea typeface="+mn-ea"/>
                <a:cs typeface="Times New Roman" panose="02020603050405020304" pitchFamily="18" charset="0"/>
              </a:rPr>
              <a:t> SHA </a:t>
            </a:r>
            <a:r>
              <a:rPr lang="ko-KR" altLang="ko-KR" sz="1000" b="0" dirty="0">
                <a:latin typeface="+mn-ea"/>
                <a:ea typeface="+mn-ea"/>
                <a:cs typeface="Times New Roman" panose="02020603050405020304" pitchFamily="18" charset="0"/>
              </a:rPr>
              <a:t>문구</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란에 기재하였고</a:t>
            </a:r>
            <a:r>
              <a:rPr lang="en-US" altLang="ko-KR" sz="1000" b="0" dirty="0">
                <a:latin typeface="+mn-ea"/>
                <a:ea typeface="+mn-ea"/>
                <a:cs typeface="Times New Roman" panose="02020603050405020304" pitchFamily="18" charset="0"/>
              </a:rPr>
              <a:t>, Checklist</a:t>
            </a:r>
            <a:r>
              <a:rPr lang="ko-KR" altLang="ko-KR" sz="1000" b="0" dirty="0">
                <a:latin typeface="+mn-ea"/>
                <a:ea typeface="+mn-ea"/>
                <a:cs typeface="Times New Roman" panose="02020603050405020304" pitchFamily="18" charset="0"/>
              </a:rPr>
              <a:t>란에 기재되어 있는 내용에 비추어 사용할 수 있는 문구는</a:t>
            </a:r>
            <a:r>
              <a:rPr lang="en-US" altLang="ko-KR" sz="1000" b="0" dirty="0">
                <a:latin typeface="+mn-ea"/>
                <a:ea typeface="+mn-ea"/>
                <a:cs typeface="Times New Roman" panose="02020603050405020304" pitchFamily="18" charset="0"/>
              </a:rPr>
              <a:t> ‘</a:t>
            </a:r>
            <a:r>
              <a:rPr lang="ko-KR" altLang="ko-KR" sz="1000" b="0" dirty="0">
                <a:latin typeface="+mn-ea"/>
                <a:ea typeface="+mn-ea"/>
                <a:cs typeface="Times New Roman" panose="02020603050405020304" pitchFamily="18" charset="0"/>
              </a:rPr>
              <a:t>추가</a:t>
            </a:r>
            <a:r>
              <a:rPr lang="en-US" altLang="ko-KR" sz="1000" b="0" dirty="0">
                <a:latin typeface="+mn-ea"/>
                <a:ea typeface="+mn-ea"/>
                <a:cs typeface="Times New Roman" panose="02020603050405020304" pitchFamily="18" charset="0"/>
              </a:rPr>
              <a:t> SHA </a:t>
            </a:r>
            <a:r>
              <a:rPr lang="ko-KR" altLang="ko-KR" sz="1000" b="0" dirty="0">
                <a:latin typeface="+mn-ea"/>
                <a:ea typeface="+mn-ea"/>
                <a:cs typeface="Times New Roman" panose="02020603050405020304" pitchFamily="18" charset="0"/>
              </a:rPr>
              <a:t>문구</a:t>
            </a:r>
            <a:r>
              <a:rPr lang="en-US" altLang="ko-KR" sz="1000" b="0" dirty="0">
                <a:latin typeface="+mn-ea"/>
                <a:ea typeface="+mn-ea"/>
                <a:cs typeface="Times New Roman" panose="02020603050405020304" pitchFamily="18" charset="0"/>
              </a:rPr>
              <a:t>’</a:t>
            </a:r>
            <a:r>
              <a:rPr lang="ko-KR" altLang="ko-KR" sz="1000" b="0" dirty="0">
                <a:latin typeface="+mn-ea"/>
                <a:ea typeface="+mn-ea"/>
                <a:cs typeface="Times New Roman" panose="02020603050405020304" pitchFamily="18" charset="0"/>
              </a:rPr>
              <a:t>란에 기재하였습니다</a:t>
            </a:r>
            <a:r>
              <a:rPr lang="en-US" altLang="ko-KR" sz="1000" b="0" dirty="0">
                <a:latin typeface="+mn-ea"/>
                <a:ea typeface="+mn-ea"/>
                <a:cs typeface="Times New Roman" panose="02020603050405020304" pitchFamily="18" charset="0"/>
              </a:rPr>
              <a:t>.</a:t>
            </a:r>
            <a:endParaRPr lang="ko-KR" altLang="ko-KR" sz="1000" b="0" dirty="0">
              <a:latin typeface="+mn-ea"/>
              <a:ea typeface="+mn-ea"/>
              <a:cs typeface="Times New Roman" panose="02020603050405020304" pitchFamily="18" charset="0"/>
            </a:endParaRPr>
          </a:p>
          <a:p>
            <a:pPr lvl="1" algn="just">
              <a:lnSpc>
                <a:spcPct val="115000"/>
              </a:lnSpc>
              <a:spcAft>
                <a:spcPts val="0"/>
              </a:spcAft>
            </a:pPr>
            <a:endParaRPr lang="ko-KR" altLang="ko-KR" sz="1000" b="0" dirty="0" smtClean="0">
              <a:latin typeface="+mn-ea"/>
              <a:ea typeface="+mn-ea"/>
              <a:cs typeface="Times New Roman" panose="02020603050405020304" pitchFamily="18" charset="0"/>
            </a:endParaRPr>
          </a:p>
          <a:p>
            <a:pPr marL="627063" lvl="1" indent="-268288" latinLnBrk="0">
              <a:lnSpc>
                <a:spcPct val="110000"/>
              </a:lnSpc>
              <a:spcAft>
                <a:spcPts val="600"/>
              </a:spcAft>
              <a:buFont typeface="Wingdings" panose="05000000000000000000" pitchFamily="2" charset="2"/>
              <a:buChar char="ü"/>
            </a:pPr>
            <a:endParaRPr lang="ko-KR" altLang="ko-KR" b="0" dirty="0" smtClean="0">
              <a:solidFill>
                <a:schemeClr val="tx1"/>
              </a:solidFill>
              <a:latin typeface="+mn-ea"/>
              <a:ea typeface="+mn-ea"/>
            </a:endParaRPr>
          </a:p>
        </p:txBody>
      </p:sp>
    </p:spTree>
    <p:extLst>
      <p:ext uri="{BB962C8B-B14F-4D97-AF65-F5344CB8AC3E}">
        <p14:creationId xmlns:p14="http://schemas.microsoft.com/office/powerpoint/2010/main" val="23290306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 Parties – </a:t>
            </a:r>
            <a:r>
              <a:rPr lang="ko-KR" altLang="en-US" dirty="0" err="1">
                <a:latin typeface="+mn-ea"/>
              </a:rPr>
              <a:t>대상회사</a:t>
            </a:r>
            <a:r>
              <a:rPr lang="ko-KR" altLang="en-US" dirty="0">
                <a:latin typeface="+mn-ea"/>
              </a:rPr>
              <a:t> 포함여부</a:t>
            </a:r>
            <a:r>
              <a:rPr lang="en-US" altLang="ko-KR" dirty="0" smtClean="0">
                <a:latin typeface="+mn-ea"/>
              </a:rPr>
              <a:t>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2917619116"/>
              </p:ext>
            </p:extLst>
          </p:nvPr>
        </p:nvGraphicFramePr>
        <p:xfrm>
          <a:off x="455696" y="671511"/>
          <a:ext cx="9188450" cy="3801877"/>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484936">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lvl1pPr>
                        <a:spcBef>
                          <a:spcPct val="20000"/>
                        </a:spcBef>
                        <a:defRPr kumimoji="1" sz="2800">
                          <a:solidFill>
                            <a:schemeClr val="tx1"/>
                          </a:solidFill>
                          <a:latin typeface="굴림" panose="020B0600000101010101" pitchFamily="50" charset="-127"/>
                          <a:ea typeface="굴림" panose="020B0600000101010101" pitchFamily="50" charset="-127"/>
                        </a:defRPr>
                      </a:lvl1pPr>
                      <a:lvl2pPr>
                        <a:spcBef>
                          <a:spcPct val="20000"/>
                        </a:spcBef>
                        <a:defRPr kumimoji="1" sz="2400">
                          <a:solidFill>
                            <a:schemeClr val="tx1"/>
                          </a:solidFill>
                          <a:latin typeface="굴림" panose="020B0600000101010101" pitchFamily="50" charset="-127"/>
                          <a:ea typeface="굴림" panose="020B0600000101010101" pitchFamily="50" charset="-127"/>
                        </a:defRPr>
                      </a:lvl2pPr>
                      <a:lvl3pPr>
                        <a:spcBef>
                          <a:spcPct val="20000"/>
                        </a:spcBef>
                        <a:defRPr kumimoji="1" sz="2000">
                          <a:solidFill>
                            <a:schemeClr val="tx1"/>
                          </a:solidFill>
                          <a:latin typeface="굴림" panose="020B0600000101010101" pitchFamily="50" charset="-127"/>
                          <a:ea typeface="굴림" panose="020B0600000101010101" pitchFamily="50" charset="-127"/>
                        </a:defRPr>
                      </a:lvl3pPr>
                      <a:lvl4pPr>
                        <a:spcBef>
                          <a:spcPct val="20000"/>
                        </a:spcBef>
                        <a:defRPr kumimoji="1">
                          <a:solidFill>
                            <a:schemeClr val="tx1"/>
                          </a:solidFill>
                          <a:latin typeface="굴림" panose="020B0600000101010101" pitchFamily="50" charset="-127"/>
                          <a:ea typeface="굴림" panose="020B0600000101010101" pitchFamily="50" charset="-127"/>
                        </a:defRPr>
                      </a:lvl4pPr>
                      <a:lvl5pPr>
                        <a:spcBef>
                          <a:spcPct val="20000"/>
                        </a:spcBef>
                        <a:defRPr kumimoji="1">
                          <a:solidFill>
                            <a:schemeClr val="tx1"/>
                          </a:solidFill>
                          <a:latin typeface="굴림" panose="020B0600000101010101" pitchFamily="50" charset="-127"/>
                          <a:ea typeface="굴림" panose="020B0600000101010101" pitchFamily="50" charset="-127"/>
                        </a:defRPr>
                      </a:lvl5pPr>
                      <a:lvl6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marL="0" marR="0" lvl="0" indent="0" algn="l" defTabSz="914400" rtl="0" eaLnBrk="1" fontAlgn="base" latinLnBrk="1" hangingPunct="1">
                        <a:lnSpc>
                          <a:spcPct val="110000"/>
                        </a:lnSpc>
                        <a:spcBef>
                          <a:spcPct val="0"/>
                        </a:spcBef>
                        <a:spcAft>
                          <a:spcPts val="600"/>
                        </a:spcAft>
                        <a:buClrTx/>
                        <a:buSzTx/>
                        <a:buFont typeface="Wingdings" panose="05000000000000000000" pitchFamily="2" charset="2"/>
                        <a:buNone/>
                        <a:tabLst/>
                        <a:defRPr/>
                      </a:pPr>
                      <a:r>
                        <a:rPr kumimoji="1" lang="ko-KR" altLang="en-US" sz="1000" b="0" i="0" u="none" strike="noStrike" cap="none" normalizeH="0" baseline="0" dirty="0" smtClean="0">
                          <a:ln>
                            <a:noFill/>
                          </a:ln>
                          <a:solidFill>
                            <a:schemeClr val="tx1"/>
                          </a:solidFill>
                          <a:effectLst/>
                          <a:latin typeface="+mn-ea"/>
                          <a:ea typeface="+mn-ea"/>
                        </a:rPr>
                        <a:t>주주간계약서에 대상회사의 운영과 관련된 내용이 포함이 되어 당사자에 </a:t>
                      </a:r>
                      <a:r>
                        <a:rPr kumimoji="1" lang="ko-KR" altLang="en-US" sz="1000" b="0" i="0" u="none" strike="noStrike" cap="none" normalizeH="0" baseline="0" dirty="0" err="1" smtClean="0">
                          <a:ln>
                            <a:noFill/>
                          </a:ln>
                          <a:solidFill>
                            <a:schemeClr val="tx1"/>
                          </a:solidFill>
                          <a:effectLst/>
                          <a:latin typeface="+mn-ea"/>
                          <a:ea typeface="+mn-ea"/>
                        </a:rPr>
                        <a:t>대상회사를</a:t>
                      </a:r>
                      <a:r>
                        <a:rPr kumimoji="1" lang="ko-KR" altLang="en-US" sz="1000" b="0" i="0" u="none" strike="noStrike" cap="none" normalizeH="0" baseline="0" dirty="0" smtClean="0">
                          <a:ln>
                            <a:noFill/>
                          </a:ln>
                          <a:solidFill>
                            <a:schemeClr val="tx1"/>
                          </a:solidFill>
                          <a:effectLst/>
                          <a:latin typeface="+mn-ea"/>
                          <a:ea typeface="+mn-ea"/>
                        </a:rPr>
                        <a:t> 포함하는 것을 고려할 수 있음</a:t>
                      </a:r>
                      <a:r>
                        <a:rPr kumimoji="1" lang="en-US" altLang="ko-KR" sz="1000" b="0" i="0" u="none" strike="noStrike" cap="none" normalizeH="0" baseline="0" dirty="0" smtClean="0">
                          <a:ln>
                            <a:noFill/>
                          </a:ln>
                          <a:solidFill>
                            <a:schemeClr val="tx1"/>
                          </a:solidFill>
                          <a:effectLst/>
                          <a:latin typeface="+mn-ea"/>
                          <a:ea typeface="+mn-ea"/>
                        </a:rPr>
                        <a:t>. </a:t>
                      </a:r>
                      <a:endParaRPr kumimoji="1" lang="ko-KR" altLang="en-US" sz="1000" b="0" i="0" u="none" strike="noStrike" cap="none" normalizeH="0" baseline="0" dirty="0" smtClean="0">
                        <a:ln>
                          <a:noFill/>
                        </a:ln>
                        <a:solidFill>
                          <a:schemeClr val="tx1"/>
                        </a:solidFill>
                        <a:effectLst/>
                        <a:latin typeface="+mn-ea"/>
                        <a:ea typeface="+mn-ea"/>
                      </a:endParaRPr>
                    </a:p>
                  </a:txBody>
                  <a:tcPr marL="84406" marR="84406" anchor="ctr" horzOverflow="overflow">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532965">
                <a:tc>
                  <a:txBody>
                    <a:bodyPr/>
                    <a:lstStyle/>
                    <a:p>
                      <a:pPr algn="ctr" latinLnBrk="1">
                        <a:lnSpc>
                          <a:spcPct val="110000"/>
                        </a:lnSpc>
                        <a:spcAft>
                          <a:spcPts val="0"/>
                        </a:spcAft>
                      </a:pPr>
                      <a:r>
                        <a:rPr lang="en-US" sz="1000" b="1" smtClean="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0" indent="-228600" algn="l" defTabSz="914400" rtl="0" eaLnBrk="1" fontAlgn="base" latinLnBrk="1" hangingPunct="1">
                        <a:lnSpc>
                          <a:spcPct val="110000"/>
                        </a:lnSpc>
                        <a:spcBef>
                          <a:spcPct val="0"/>
                        </a:spcBef>
                        <a:spcAft>
                          <a:spcPts val="600"/>
                        </a:spcAft>
                        <a:buClrTx/>
                        <a:buSzTx/>
                        <a:buFont typeface="+mj-lt"/>
                        <a:buAutoNum type="arabicPeriod"/>
                        <a:tabLst/>
                      </a:pPr>
                      <a:r>
                        <a:rPr kumimoji="1" lang="ko-KR" altLang="en-US" sz="1000" b="0" i="0" u="none" strike="noStrike" kern="1200" cap="none" normalizeH="0" baseline="0" dirty="0" err="1" smtClean="0">
                          <a:ln>
                            <a:noFill/>
                          </a:ln>
                          <a:solidFill>
                            <a:schemeClr val="tx1"/>
                          </a:solidFill>
                          <a:effectLst/>
                          <a:latin typeface="+mn-ea"/>
                          <a:ea typeface="+mn-ea"/>
                          <a:cs typeface="+mn-cs"/>
                        </a:rPr>
                        <a:t>대상회사가</a:t>
                      </a:r>
                      <a:r>
                        <a:rPr kumimoji="1" lang="ko-KR" altLang="en-US"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주주간 계약에 따라 직접적인 의무를 부담하게 하고자 하는 경우 </a:t>
                      </a:r>
                      <a:r>
                        <a:rPr kumimoji="1" lang="ko-KR" altLang="en-US" sz="1000" b="0" i="0" u="none" strike="noStrike" kern="1200" cap="none" normalizeH="0" baseline="0" dirty="0" err="1" smtClean="0">
                          <a:ln>
                            <a:noFill/>
                          </a:ln>
                          <a:solidFill>
                            <a:schemeClr val="tx1"/>
                          </a:solidFill>
                          <a:effectLst/>
                          <a:latin typeface="+mn-ea"/>
                          <a:ea typeface="+mn-ea"/>
                          <a:cs typeface="+mn-cs"/>
                        </a:rPr>
                        <a:t>대상회사를</a:t>
                      </a:r>
                      <a:r>
                        <a:rPr kumimoji="1" lang="ko-KR" altLang="en-US" sz="1000" b="0" i="0" u="none" strike="noStrike" kern="1200" cap="none" normalizeH="0" baseline="0" dirty="0" smtClean="0">
                          <a:ln>
                            <a:noFill/>
                          </a:ln>
                          <a:solidFill>
                            <a:schemeClr val="tx1"/>
                          </a:solidFill>
                          <a:effectLst/>
                          <a:latin typeface="+mn-ea"/>
                          <a:ea typeface="+mn-ea"/>
                          <a:cs typeface="+mn-cs"/>
                        </a:rPr>
                        <a:t> 당사자로 추가할 수 있음</a:t>
                      </a:r>
                      <a:r>
                        <a:rPr kumimoji="1" lang="en-US" altLang="ko-KR" sz="1000" b="0" i="0" u="none" strike="noStrike" kern="1200" cap="none" normalizeH="0" baseline="0" dirty="0" smtClean="0">
                          <a:ln>
                            <a:noFill/>
                          </a:ln>
                          <a:solidFill>
                            <a:schemeClr val="tx1"/>
                          </a:solidFill>
                          <a:effectLst/>
                          <a:latin typeface="+mn-ea"/>
                          <a:ea typeface="+mn-ea"/>
                          <a:cs typeface="+mn-cs"/>
                        </a:rPr>
                        <a:t>. </a:t>
                      </a:r>
                    </a:p>
                    <a:p>
                      <a:pPr marL="228600" marR="0" lvl="0" indent="-228600" algn="l" defTabSz="914400" rtl="0" eaLnBrk="1" fontAlgn="base" latinLnBrk="1" hangingPunct="1">
                        <a:lnSpc>
                          <a:spcPct val="110000"/>
                        </a:lnSpc>
                        <a:spcBef>
                          <a:spcPct val="0"/>
                        </a:spcBef>
                        <a:spcAft>
                          <a:spcPts val="600"/>
                        </a:spcAft>
                        <a:buClrTx/>
                        <a:buSzTx/>
                        <a:buFont typeface="+mj-lt"/>
                        <a:buAutoNum type="arabicPeriod"/>
                        <a:tabLst/>
                      </a:pPr>
                      <a:r>
                        <a:rPr kumimoji="1" lang="ko-KR" altLang="en-US" sz="1000" b="0" i="0" u="none" strike="noStrike" kern="1200" cap="none" normalizeH="0" baseline="0" dirty="0" smtClean="0">
                          <a:ln>
                            <a:noFill/>
                          </a:ln>
                          <a:solidFill>
                            <a:schemeClr val="tx1"/>
                          </a:solidFill>
                          <a:effectLst/>
                          <a:latin typeface="+mn-ea"/>
                          <a:ea typeface="+mn-ea"/>
                          <a:cs typeface="+mn-cs"/>
                        </a:rPr>
                        <a:t>합작회사와 같이</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합작투자계약서</a:t>
                      </a:r>
                      <a:r>
                        <a:rPr kumimoji="1" lang="en-US" altLang="ko-KR" sz="1000" b="0" i="0" u="none" strike="noStrike" kern="1200" cap="none" normalizeH="0" baseline="0" dirty="0" smtClean="0">
                          <a:ln>
                            <a:noFill/>
                          </a:ln>
                          <a:solidFill>
                            <a:schemeClr val="tx1"/>
                          </a:solidFill>
                          <a:effectLst/>
                          <a:latin typeface="+mn-ea"/>
                          <a:ea typeface="+mn-ea"/>
                          <a:cs typeface="+mn-cs"/>
                        </a:rPr>
                        <a:t>(Joint Venture Agreement)</a:t>
                      </a:r>
                      <a:r>
                        <a:rPr kumimoji="1" lang="ko-KR" altLang="en-US" sz="1000" b="0" i="0" u="none" strike="noStrike" kern="1200" cap="none" normalizeH="0" baseline="0" dirty="0" smtClean="0">
                          <a:ln>
                            <a:noFill/>
                          </a:ln>
                          <a:solidFill>
                            <a:schemeClr val="tx1"/>
                          </a:solidFill>
                          <a:effectLst/>
                          <a:latin typeface="+mn-ea"/>
                          <a:ea typeface="+mn-ea"/>
                          <a:cs typeface="+mn-cs"/>
                        </a:rPr>
                        <a:t>가 주주간 계약의 내용을 담는 경우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합작투자계약 체결 당시에는 합작회사가 설립이 되지 아니한 상태인 것이 일반적이므로 합작회사는 당사자로 참여하지 못하나</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합작투자계약에서 합작회사가 설립된 직후 합작투자계약의 당사자로 참여하도록 하는 경우도 있음</a:t>
                      </a:r>
                      <a:r>
                        <a:rPr kumimoji="1" lang="en-US" altLang="ko-KR" sz="1000" b="0" i="0" u="none" strike="noStrike" kern="1200" cap="none" normalizeH="0" baseline="0" dirty="0" smtClean="0">
                          <a:ln>
                            <a:noFill/>
                          </a:ln>
                          <a:solidFill>
                            <a:schemeClr val="tx1"/>
                          </a:solidFill>
                          <a:effectLst/>
                          <a:latin typeface="+mn-ea"/>
                          <a:ea typeface="+mn-ea"/>
                          <a:cs typeface="+mn-cs"/>
                        </a:rPr>
                        <a:t>.</a:t>
                      </a:r>
                    </a:p>
                    <a:p>
                      <a:pPr marL="228600" marR="0" lvl="0" indent="-228600" algn="l" defTabSz="914400" rtl="0" eaLnBrk="1" fontAlgn="base" latinLnBrk="1" hangingPunct="1">
                        <a:lnSpc>
                          <a:spcPct val="110000"/>
                        </a:lnSpc>
                        <a:spcBef>
                          <a:spcPct val="0"/>
                        </a:spcBef>
                        <a:spcAft>
                          <a:spcPts val="600"/>
                        </a:spcAft>
                        <a:buClrTx/>
                        <a:buSzTx/>
                        <a:buFont typeface="+mj-lt"/>
                        <a:buAutoNum type="arabicPeriod"/>
                        <a:tabLst/>
                      </a:pPr>
                      <a:r>
                        <a:rPr kumimoji="1" lang="ko-KR" altLang="en-US" sz="1000" b="0" i="0" u="none" strike="noStrike" kern="1200" cap="none" normalizeH="0" baseline="0" dirty="0" err="1" smtClean="0">
                          <a:ln>
                            <a:noFill/>
                          </a:ln>
                          <a:solidFill>
                            <a:schemeClr val="tx1"/>
                          </a:solidFill>
                          <a:effectLst/>
                          <a:latin typeface="+mn-ea"/>
                          <a:ea typeface="+mn-ea"/>
                          <a:cs typeface="+mn-cs"/>
                        </a:rPr>
                        <a:t>대상회사가</a:t>
                      </a:r>
                      <a:r>
                        <a:rPr kumimoji="1" lang="ko-KR" altLang="en-US" sz="1000" b="0" i="0" u="none" strike="noStrike" kern="1200" cap="none" normalizeH="0" baseline="0" dirty="0" smtClean="0">
                          <a:ln>
                            <a:noFill/>
                          </a:ln>
                          <a:solidFill>
                            <a:schemeClr val="tx1"/>
                          </a:solidFill>
                          <a:effectLst/>
                          <a:latin typeface="+mn-ea"/>
                          <a:ea typeface="+mn-ea"/>
                          <a:cs typeface="+mn-cs"/>
                        </a:rPr>
                        <a:t> 상장회사인 경우에도 주주간 계약 체결이 원칙적으로 불가능한 것은 아니지만</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대상회사의 </a:t>
                      </a:r>
                      <a:r>
                        <a:rPr kumimoji="1" lang="ko-KR" altLang="en-US" sz="1000" b="0" i="0" u="none" strike="noStrike" kern="1200" cap="none" normalizeH="0" baseline="0" dirty="0" err="1" smtClean="0">
                          <a:ln>
                            <a:noFill/>
                          </a:ln>
                          <a:solidFill>
                            <a:schemeClr val="tx1"/>
                          </a:solidFill>
                          <a:effectLst/>
                          <a:latin typeface="+mn-ea"/>
                          <a:ea typeface="+mn-ea"/>
                          <a:cs typeface="+mn-cs"/>
                        </a:rPr>
                        <a:t>설립지국이</a:t>
                      </a:r>
                      <a:r>
                        <a:rPr kumimoji="1" lang="ko-KR" altLang="en-US" sz="1000" b="0" i="0" u="none" strike="noStrike" kern="1200" cap="none" normalizeH="0" baseline="0" dirty="0" smtClean="0">
                          <a:ln>
                            <a:noFill/>
                          </a:ln>
                          <a:solidFill>
                            <a:schemeClr val="tx1"/>
                          </a:solidFill>
                          <a:effectLst/>
                          <a:latin typeface="+mn-ea"/>
                          <a:ea typeface="+mn-ea"/>
                          <a:cs typeface="+mn-cs"/>
                        </a:rPr>
                        <a:t> 대한민국이 아닌 경우에는 각 </a:t>
                      </a:r>
                      <a:r>
                        <a:rPr kumimoji="1" lang="ko-KR" altLang="en-US" sz="1000" b="0" i="0" u="none" strike="noStrike" kern="1200" cap="none" normalizeH="0" baseline="0" dirty="0" err="1" smtClean="0">
                          <a:ln>
                            <a:noFill/>
                          </a:ln>
                          <a:solidFill>
                            <a:schemeClr val="tx1"/>
                          </a:solidFill>
                          <a:effectLst/>
                          <a:latin typeface="+mn-ea"/>
                          <a:ea typeface="+mn-ea"/>
                          <a:cs typeface="+mn-cs"/>
                        </a:rPr>
                        <a:t>준거지법에</a:t>
                      </a:r>
                      <a:r>
                        <a:rPr kumimoji="1" lang="ko-KR" altLang="en-US" sz="1000" b="0" i="0" u="none" strike="noStrike" kern="1200" cap="none" normalizeH="0" baseline="0" dirty="0" smtClean="0">
                          <a:ln>
                            <a:noFill/>
                          </a:ln>
                          <a:solidFill>
                            <a:schemeClr val="tx1"/>
                          </a:solidFill>
                          <a:effectLst/>
                          <a:latin typeface="+mn-ea"/>
                          <a:ea typeface="+mn-ea"/>
                          <a:cs typeface="+mn-cs"/>
                        </a:rPr>
                        <a:t> 따라 이러한 주주간 약정이 가능한지 여부를 별도로 검토하여야 하며</a:t>
                      </a:r>
                      <a:r>
                        <a:rPr kumimoji="1" lang="en-US" altLang="ko-KR" sz="1000" b="0" i="0" u="none" strike="noStrike" kern="1200" cap="none" normalizeH="0" baseline="0" dirty="0" smtClean="0">
                          <a:ln>
                            <a:noFill/>
                          </a:ln>
                          <a:solidFill>
                            <a:schemeClr val="tx1"/>
                          </a:solidFill>
                          <a:effectLst/>
                          <a:latin typeface="+mn-ea"/>
                          <a:ea typeface="+mn-ea"/>
                          <a:cs typeface="+mn-cs"/>
                        </a:rPr>
                        <a:t>, </a:t>
                      </a:r>
                      <a:r>
                        <a:rPr kumimoji="1" lang="ko-KR" altLang="en-US" sz="1000" b="0" i="0" u="none" strike="noStrike" kern="1200" cap="none" normalizeH="0" baseline="0" dirty="0" smtClean="0">
                          <a:ln>
                            <a:noFill/>
                          </a:ln>
                          <a:solidFill>
                            <a:schemeClr val="tx1"/>
                          </a:solidFill>
                          <a:effectLst/>
                          <a:latin typeface="+mn-ea"/>
                          <a:ea typeface="+mn-ea"/>
                          <a:cs typeface="+mn-cs"/>
                        </a:rPr>
                        <a:t>가능하다고 하더라도 관련 법령 및 거래소 규정에 따라 주주간 계약의 주요 내용에 대한 공시가 필요할 수 있음</a:t>
                      </a:r>
                      <a:r>
                        <a:rPr kumimoji="1" lang="en-US" altLang="ko-KR" sz="1000" b="0" i="0" u="none" strike="noStrike" kern="1200" cap="none" normalizeH="0" baseline="0" dirty="0" smtClean="0">
                          <a:ln>
                            <a:noFill/>
                          </a:ln>
                          <a:solidFill>
                            <a:schemeClr val="tx1"/>
                          </a:solidFill>
                          <a:effectLst/>
                          <a:latin typeface="+mn-ea"/>
                          <a:ea typeface="+mn-ea"/>
                          <a:cs typeface="+mn-cs"/>
                        </a:rPr>
                        <a:t>.</a:t>
                      </a:r>
                    </a:p>
                  </a:txBody>
                  <a:tcPr marL="84406" marR="84406" anchor="ctr" horzOverflow="overflow">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1783976">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SPA</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lvl1pPr>
                        <a:spcBef>
                          <a:spcPct val="20000"/>
                        </a:spcBef>
                        <a:defRPr kumimoji="1" sz="2800">
                          <a:solidFill>
                            <a:schemeClr val="tx1"/>
                          </a:solidFill>
                          <a:latin typeface="굴림" panose="020B0600000101010101" pitchFamily="50" charset="-127"/>
                          <a:ea typeface="굴림" panose="020B0600000101010101" pitchFamily="50" charset="-127"/>
                        </a:defRPr>
                      </a:lvl1pPr>
                      <a:lvl2pPr>
                        <a:spcBef>
                          <a:spcPct val="20000"/>
                        </a:spcBef>
                        <a:defRPr kumimoji="1" sz="2400">
                          <a:solidFill>
                            <a:schemeClr val="tx1"/>
                          </a:solidFill>
                          <a:latin typeface="굴림" panose="020B0600000101010101" pitchFamily="50" charset="-127"/>
                          <a:ea typeface="굴림" panose="020B0600000101010101" pitchFamily="50" charset="-127"/>
                        </a:defRPr>
                      </a:lvl2pPr>
                      <a:lvl3pPr>
                        <a:spcBef>
                          <a:spcPct val="20000"/>
                        </a:spcBef>
                        <a:defRPr kumimoji="1" sz="2000">
                          <a:solidFill>
                            <a:schemeClr val="tx1"/>
                          </a:solidFill>
                          <a:latin typeface="굴림" panose="020B0600000101010101" pitchFamily="50" charset="-127"/>
                          <a:ea typeface="굴림" panose="020B0600000101010101" pitchFamily="50" charset="-127"/>
                        </a:defRPr>
                      </a:lvl3pPr>
                      <a:lvl4pPr>
                        <a:spcBef>
                          <a:spcPct val="20000"/>
                        </a:spcBef>
                        <a:defRPr kumimoji="1">
                          <a:solidFill>
                            <a:schemeClr val="tx1"/>
                          </a:solidFill>
                          <a:latin typeface="굴림" panose="020B0600000101010101" pitchFamily="50" charset="-127"/>
                          <a:ea typeface="굴림" panose="020B0600000101010101" pitchFamily="50" charset="-127"/>
                        </a:defRPr>
                      </a:lvl4pPr>
                      <a:lvl5pPr>
                        <a:spcBef>
                          <a:spcPct val="20000"/>
                        </a:spcBef>
                        <a:defRPr kumimoji="1">
                          <a:solidFill>
                            <a:schemeClr val="tx1"/>
                          </a:solidFill>
                          <a:latin typeface="굴림" panose="020B0600000101010101" pitchFamily="50" charset="-127"/>
                          <a:ea typeface="굴림" panose="020B0600000101010101" pitchFamily="50" charset="-127"/>
                        </a:defRPr>
                      </a:lvl5pPr>
                      <a:lvl6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6pPr>
                      <a:lvl7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7pPr>
                      <a:lvl8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8pPr>
                      <a:lvl9pPr fontAlgn="base">
                        <a:spcBef>
                          <a:spcPct val="2000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just">
                        <a:lnSpc>
                          <a:spcPct val="115000"/>
                        </a:lnSpc>
                        <a:spcAft>
                          <a:spcPts val="600"/>
                        </a:spcAft>
                      </a:pPr>
                      <a:r>
                        <a:rPr lang="en-US" altLang="ko-KR" sz="1000" dirty="0" smtClean="0">
                          <a:effectLst/>
                          <a:latin typeface="+mn-ea"/>
                          <a:ea typeface="+mn-ea"/>
                          <a:cs typeface="Times New Roman" panose="02020603050405020304" pitchFamily="18" charset="0"/>
                        </a:rPr>
                        <a:t>This Shareholders Agreement (this “</a:t>
                      </a:r>
                      <a:r>
                        <a:rPr lang="en-US" altLang="ko-KR" sz="1000" u="sng" dirty="0" smtClean="0">
                          <a:effectLst/>
                          <a:latin typeface="+mn-ea"/>
                          <a:ea typeface="+mn-ea"/>
                          <a:cs typeface="Times New Roman" panose="02020603050405020304" pitchFamily="18" charset="0"/>
                        </a:rPr>
                        <a:t>Agreement</a:t>
                      </a:r>
                      <a:r>
                        <a:rPr lang="en-US" altLang="ko-KR" sz="1000" dirty="0" smtClean="0">
                          <a:effectLst/>
                          <a:latin typeface="+mn-ea"/>
                          <a:ea typeface="+mn-ea"/>
                          <a:cs typeface="Times New Roman" panose="02020603050405020304" pitchFamily="18" charset="0"/>
                        </a:rPr>
                        <a:t>”), dated as of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 is made and entered into by and among:  </a:t>
                      </a:r>
                      <a:endParaRPr lang="ko-KR" altLang="ko-KR" sz="1000" dirty="0" smtClean="0">
                        <a:effectLst/>
                        <a:latin typeface="+mn-ea"/>
                        <a:ea typeface="+mn-ea"/>
                        <a:cs typeface="Times New Roman" panose="02020603050405020304" pitchFamily="18" charset="0"/>
                      </a:endParaRPr>
                    </a:p>
                    <a:p>
                      <a:pPr algn="just">
                        <a:lnSpc>
                          <a:spcPts val="1500"/>
                        </a:lnSpc>
                        <a:spcAft>
                          <a:spcPts val="600"/>
                        </a:spcAft>
                        <a:tabLst>
                          <a:tab pos="2865755" algn="ctr"/>
                          <a:tab pos="5731510" algn="r"/>
                        </a:tabLst>
                      </a:pPr>
                      <a:r>
                        <a:rPr lang="en-US" altLang="ko-KR" sz="1000" b="1" dirty="0" smtClean="0">
                          <a:effectLst/>
                          <a:latin typeface="+mn-ea"/>
                          <a:ea typeface="+mn-ea"/>
                          <a:cs typeface="Times New Roman" panose="02020603050405020304" pitchFamily="18" charset="0"/>
                        </a:rPr>
                        <a:t>LG H&amp;H Co., Ltd.</a:t>
                      </a:r>
                      <a:r>
                        <a:rPr lang="en-US" altLang="ko-KR" sz="1000" dirty="0" smtClean="0">
                          <a:effectLst/>
                          <a:latin typeface="+mn-ea"/>
                          <a:ea typeface="+mn-ea"/>
                          <a:cs typeface="Times New Roman" panose="02020603050405020304" pitchFamily="18" charset="0"/>
                        </a:rPr>
                        <a:t>, a corporation organized and existing under the Laws of Korea, having its registered office at </a:t>
                      </a:r>
                      <a:r>
                        <a:rPr lang="en-US" altLang="ko-KR" sz="1000" dirty="0" smtClean="0">
                          <a:solidFill>
                            <a:srgbClr val="000000"/>
                          </a:solidFill>
                          <a:effectLst/>
                          <a:latin typeface="+mn-ea"/>
                          <a:ea typeface="+mn-ea"/>
                          <a:cs typeface="Arial" panose="020B0604020202020204" pitchFamily="34" charset="0"/>
                        </a:rPr>
                        <a:t>LG </a:t>
                      </a:r>
                      <a:r>
                        <a:rPr lang="en-US" altLang="ko-KR" sz="1000" dirty="0" err="1" smtClean="0">
                          <a:solidFill>
                            <a:srgbClr val="000000"/>
                          </a:solidFill>
                          <a:effectLst/>
                          <a:latin typeface="+mn-ea"/>
                          <a:ea typeface="+mn-ea"/>
                          <a:cs typeface="Arial" panose="020B0604020202020204" pitchFamily="34" charset="0"/>
                        </a:rPr>
                        <a:t>GwangHwaMoon</a:t>
                      </a:r>
                      <a:r>
                        <a:rPr lang="en-US" altLang="ko-KR" sz="1000" dirty="0" smtClean="0">
                          <a:solidFill>
                            <a:srgbClr val="000000"/>
                          </a:solidFill>
                          <a:effectLst/>
                          <a:latin typeface="+mn-ea"/>
                          <a:ea typeface="+mn-ea"/>
                          <a:cs typeface="Arial" panose="020B0604020202020204" pitchFamily="34" charset="0"/>
                        </a:rPr>
                        <a:t> B/D, 58 </a:t>
                      </a:r>
                      <a:r>
                        <a:rPr lang="en-US" altLang="ko-KR" sz="1000" dirty="0" err="1" smtClean="0">
                          <a:solidFill>
                            <a:srgbClr val="000000"/>
                          </a:solidFill>
                          <a:effectLst/>
                          <a:latin typeface="+mn-ea"/>
                          <a:ea typeface="+mn-ea"/>
                          <a:cs typeface="Arial" panose="020B0604020202020204" pitchFamily="34" charset="0"/>
                        </a:rPr>
                        <a:t>Saemunan-ro</a:t>
                      </a:r>
                      <a:r>
                        <a:rPr lang="en-US" altLang="ko-KR" sz="1000" dirty="0" smtClean="0">
                          <a:solidFill>
                            <a:srgbClr val="000000"/>
                          </a:solidFill>
                          <a:effectLst/>
                          <a:latin typeface="+mn-ea"/>
                          <a:ea typeface="+mn-ea"/>
                          <a:cs typeface="Arial" panose="020B0604020202020204" pitchFamily="34" charset="0"/>
                        </a:rPr>
                        <a:t>, </a:t>
                      </a:r>
                      <a:r>
                        <a:rPr lang="en-US" altLang="ko-KR" sz="1000" dirty="0" err="1" smtClean="0">
                          <a:solidFill>
                            <a:srgbClr val="000000"/>
                          </a:solidFill>
                          <a:effectLst/>
                          <a:latin typeface="+mn-ea"/>
                          <a:ea typeface="+mn-ea"/>
                          <a:cs typeface="Arial" panose="020B0604020202020204" pitchFamily="34" charset="0"/>
                        </a:rPr>
                        <a:t>Jongno-gu</a:t>
                      </a:r>
                      <a:r>
                        <a:rPr lang="en-US" altLang="ko-KR" sz="1000" dirty="0" smtClean="0">
                          <a:solidFill>
                            <a:srgbClr val="000000"/>
                          </a:solidFill>
                          <a:effectLst/>
                          <a:latin typeface="+mn-ea"/>
                          <a:ea typeface="+mn-ea"/>
                          <a:cs typeface="Arial" panose="020B0604020202020204" pitchFamily="34" charset="0"/>
                        </a:rPr>
                        <a:t>, Seoul, 03184</a:t>
                      </a:r>
                      <a:r>
                        <a:rPr lang="en-US" altLang="ko-KR" sz="1000" dirty="0" smtClean="0">
                          <a:effectLst/>
                          <a:latin typeface="+mn-ea"/>
                          <a:ea typeface="+mn-ea"/>
                          <a:cs typeface="Times New Roman" panose="02020603050405020304" pitchFamily="18" charset="0"/>
                        </a:rPr>
                        <a:t>, Korea (“</a:t>
                      </a:r>
                      <a:r>
                        <a:rPr lang="en-US" altLang="ko-KR" sz="1000" u="sng" dirty="0" smtClean="0">
                          <a:effectLst/>
                          <a:latin typeface="+mn-ea"/>
                          <a:ea typeface="+mn-ea"/>
                          <a:cs typeface="Times New Roman" panose="02020603050405020304" pitchFamily="18" charset="0"/>
                        </a:rPr>
                        <a:t>LG H&amp;H</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algn="just">
                        <a:lnSpc>
                          <a:spcPts val="1500"/>
                        </a:lnSpc>
                        <a:spcAft>
                          <a:spcPts val="600"/>
                        </a:spcAft>
                      </a:pPr>
                      <a:r>
                        <a:rPr lang="en-US" altLang="ko-KR" sz="1000" b="1" dirty="0" smtClean="0">
                          <a:effectLst/>
                          <a:latin typeface="+mn-ea"/>
                          <a:ea typeface="+mn-ea"/>
                          <a:cs typeface="Times New Roman" panose="02020603050405020304" pitchFamily="18" charset="0"/>
                        </a:rPr>
                        <a:t>[</a:t>
                      </a:r>
                      <a:r>
                        <a:rPr lang="en-US" altLang="ko-KR" sz="1000" b="1" i="1" dirty="0" smtClean="0">
                          <a:effectLst/>
                          <a:latin typeface="+mn-ea"/>
                          <a:ea typeface="+mn-ea"/>
                          <a:cs typeface="Times New Roman" panose="02020603050405020304" pitchFamily="18" charset="0"/>
                        </a:rPr>
                        <a:t>Name of Other Shareholder</a:t>
                      </a:r>
                      <a:r>
                        <a:rPr lang="en-US" altLang="ko-KR" sz="1000" b="1"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a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 organized under the Laws of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 having its registered office at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a:t>
                      </a:r>
                      <a:r>
                        <a:rPr lang="en-US" altLang="ko-KR" sz="1000" b="1"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a:t>
                      </a:r>
                      <a:r>
                        <a:rPr lang="en-US" altLang="ko-KR" sz="1000" u="sng" dirty="0" smtClean="0">
                          <a:effectLst/>
                          <a:latin typeface="+mn-ea"/>
                          <a:ea typeface="+mn-ea"/>
                          <a:cs typeface="Times New Roman" panose="02020603050405020304" pitchFamily="18" charset="0"/>
                        </a:rPr>
                        <a:t>Other Shareholder</a:t>
                      </a:r>
                      <a:r>
                        <a:rPr lang="en-US" altLang="ko-KR" sz="1000" dirty="0" smtClean="0">
                          <a:effectLst/>
                          <a:latin typeface="+mn-ea"/>
                          <a:ea typeface="+mn-ea"/>
                          <a:cs typeface="Times New Roman" panose="02020603050405020304" pitchFamily="18" charset="0"/>
                        </a:rPr>
                        <a:t>”) (LG H&amp;H and Other Shareholder, each, a “</a:t>
                      </a:r>
                      <a:r>
                        <a:rPr lang="en-US" altLang="ko-KR" sz="1000" u="sng" dirty="0" smtClean="0">
                          <a:effectLst/>
                          <a:latin typeface="+mn-ea"/>
                          <a:ea typeface="+mn-ea"/>
                          <a:cs typeface="Times New Roman" panose="02020603050405020304" pitchFamily="18" charset="0"/>
                        </a:rPr>
                        <a:t>Shareholder</a:t>
                      </a:r>
                      <a:r>
                        <a:rPr lang="en-US" altLang="ko-KR" sz="1000" dirty="0" smtClean="0">
                          <a:effectLst/>
                          <a:latin typeface="+mn-ea"/>
                          <a:ea typeface="+mn-ea"/>
                          <a:cs typeface="Times New Roman" panose="02020603050405020304" pitchFamily="18" charset="0"/>
                        </a:rPr>
                        <a:t>” and, collectively, the “</a:t>
                      </a:r>
                      <a:r>
                        <a:rPr lang="en-US" altLang="ko-KR" sz="1000" u="sng" dirty="0" smtClean="0">
                          <a:effectLst/>
                          <a:latin typeface="+mn-ea"/>
                          <a:ea typeface="+mn-ea"/>
                          <a:cs typeface="Times New Roman" panose="02020603050405020304" pitchFamily="18" charset="0"/>
                        </a:rPr>
                        <a:t>Shareholders</a:t>
                      </a:r>
                      <a:r>
                        <a:rPr lang="en-US" altLang="ko-KR" sz="1000" dirty="0" smtClean="0">
                          <a:effectLst/>
                          <a:latin typeface="+mn-ea"/>
                          <a:ea typeface="+mn-ea"/>
                          <a:cs typeface="Times New Roman" panose="02020603050405020304" pitchFamily="18" charset="0"/>
                        </a:rPr>
                        <a:t>”); and</a:t>
                      </a:r>
                      <a:endParaRPr lang="ko-KR" altLang="ko-KR" sz="1000" dirty="0" smtClean="0">
                        <a:effectLst/>
                        <a:latin typeface="+mn-ea"/>
                        <a:ea typeface="+mn-ea"/>
                        <a:cs typeface="Times New Roman" panose="02020603050405020304" pitchFamily="18" charset="0"/>
                      </a:endParaRPr>
                    </a:p>
                    <a:p>
                      <a:pPr>
                        <a:spcAft>
                          <a:spcPts val="600"/>
                        </a:spcAft>
                      </a:pPr>
                      <a:r>
                        <a:rPr lang="en-US" altLang="ko-KR" sz="1000" b="1" dirty="0" smtClean="0">
                          <a:effectLst/>
                          <a:latin typeface="+mn-ea"/>
                          <a:ea typeface="+mn-ea"/>
                          <a:cs typeface="Times New Roman" panose="02020603050405020304" pitchFamily="18" charset="0"/>
                        </a:rPr>
                        <a:t>[</a:t>
                      </a:r>
                      <a:r>
                        <a:rPr lang="en-US" altLang="ko-KR" sz="1000" b="1" i="1" dirty="0" smtClean="0">
                          <a:effectLst/>
                          <a:latin typeface="+mn-ea"/>
                          <a:ea typeface="+mn-ea"/>
                          <a:cs typeface="Times New Roman" panose="02020603050405020304" pitchFamily="18" charset="0"/>
                        </a:rPr>
                        <a:t>Name of Company</a:t>
                      </a:r>
                      <a:r>
                        <a:rPr lang="en-US" altLang="ko-KR" sz="1000" b="1"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a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 organized and existing under the Laws of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 having its registered office at [</a:t>
                      </a:r>
                      <a:r>
                        <a:rPr lang="en-US" altLang="ko-KR" sz="1000" dirty="0" smtClean="0">
                          <a:effectLst/>
                          <a:latin typeface="+mn-ea"/>
                          <a:ea typeface="+mn-ea"/>
                          <a:cs typeface="Wingdings 2" panose="05020102010507070707" pitchFamily="18" charset="2"/>
                          <a:sym typeface="Wingdings" panose="05000000000000000000" pitchFamily="2" charset="2"/>
                        </a:rPr>
                        <a:t></a:t>
                      </a:r>
                      <a:r>
                        <a:rPr lang="en-US" altLang="ko-KR" sz="1000" dirty="0" smtClean="0">
                          <a:effectLst/>
                          <a:latin typeface="+mn-ea"/>
                          <a:ea typeface="+mn-ea"/>
                          <a:cs typeface="Times New Roman" panose="02020603050405020304" pitchFamily="18" charset="0"/>
                        </a:rPr>
                        <a:t>] (the “</a:t>
                      </a:r>
                      <a:r>
                        <a:rPr lang="en-US" altLang="ko-KR" sz="1000" u="sng" dirty="0" smtClean="0">
                          <a:effectLst/>
                          <a:latin typeface="+mn-ea"/>
                          <a:ea typeface="+mn-ea"/>
                          <a:cs typeface="Times New Roman" panose="02020603050405020304" pitchFamily="18" charset="0"/>
                        </a:rPr>
                        <a:t>Company</a:t>
                      </a:r>
                      <a:r>
                        <a:rPr lang="en-US" altLang="ko-KR" sz="1000" dirty="0" smtClean="0">
                          <a:effectLst/>
                          <a:latin typeface="+mn-ea"/>
                          <a:ea typeface="+mn-ea"/>
                          <a:cs typeface="Times New Roman" panose="02020603050405020304" pitchFamily="18" charset="0"/>
                        </a:rPr>
                        <a:t>” and together with the Shareholders, each, a “</a:t>
                      </a:r>
                      <a:r>
                        <a:rPr lang="en-US" altLang="ko-KR" sz="1000" u="sng" dirty="0" smtClean="0">
                          <a:effectLst/>
                          <a:latin typeface="+mn-ea"/>
                          <a:ea typeface="+mn-ea"/>
                          <a:cs typeface="Times New Roman" panose="02020603050405020304" pitchFamily="18" charset="0"/>
                        </a:rPr>
                        <a:t>Party</a:t>
                      </a:r>
                      <a:r>
                        <a:rPr lang="en-US" altLang="ko-KR" sz="1000" dirty="0" smtClean="0">
                          <a:effectLst/>
                          <a:latin typeface="+mn-ea"/>
                          <a:ea typeface="+mn-ea"/>
                          <a:cs typeface="Times New Roman" panose="02020603050405020304" pitchFamily="18" charset="0"/>
                        </a:rPr>
                        <a:t>” and, collectively, the “</a:t>
                      </a:r>
                      <a:r>
                        <a:rPr lang="en-US" altLang="ko-KR" sz="1000" u="sng" dirty="0" smtClean="0">
                          <a:effectLst/>
                          <a:latin typeface="+mn-ea"/>
                          <a:ea typeface="+mn-ea"/>
                          <a:cs typeface="Times New Roman" panose="02020603050405020304" pitchFamily="18" charset="0"/>
                        </a:rPr>
                        <a:t>Parties</a:t>
                      </a:r>
                      <a:r>
                        <a:rPr lang="en-US" altLang="ko-KR" sz="1000" dirty="0" smtClean="0">
                          <a:effectLst/>
                          <a:latin typeface="+mn-ea"/>
                          <a:ea typeface="+mn-ea"/>
                          <a:cs typeface="Times New Roman" panose="02020603050405020304" pitchFamily="18" charset="0"/>
                        </a:rPr>
                        <a:t>”).</a:t>
                      </a:r>
                      <a:endParaRPr kumimoji="1" lang="en-US" altLang="ko-KR" sz="1000" b="0" i="0" u="none" strike="noStrike" cap="none" normalizeH="0" baseline="0" dirty="0" smtClean="0">
                        <a:ln>
                          <a:noFill/>
                        </a:ln>
                        <a:solidFill>
                          <a:schemeClr val="tx1"/>
                        </a:solidFill>
                        <a:effectLst/>
                        <a:latin typeface="+mn-ea"/>
                        <a:ea typeface="+mn-ea"/>
                      </a:endParaRPr>
                    </a:p>
                  </a:txBody>
                  <a:tcPr marL="84406" marR="84406" anchor="ctr" horzOverflow="overflow">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839511996"/>
                  </a:ext>
                </a:extLst>
              </a:tr>
            </a:tbl>
          </a:graphicData>
        </a:graphic>
      </p:graphicFrame>
    </p:spTree>
    <p:extLst>
      <p:ext uri="{BB962C8B-B14F-4D97-AF65-F5344CB8AC3E}">
        <p14:creationId xmlns:p14="http://schemas.microsoft.com/office/powerpoint/2010/main" val="31447208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II. </a:t>
            </a:r>
            <a:r>
              <a:rPr lang="en-US" altLang="ko-KR" dirty="0">
                <a:latin typeface="+mn-ea"/>
              </a:rPr>
              <a:t>Definitions</a:t>
            </a: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31" name="TextBox 30"/>
          <p:cNvSpPr txBox="1"/>
          <p:nvPr/>
        </p:nvSpPr>
        <p:spPr>
          <a:xfrm>
            <a:off x="277814" y="680478"/>
            <a:ext cx="5553818" cy="276999"/>
          </a:xfrm>
          <a:prstGeom prst="rect">
            <a:avLst/>
          </a:prstGeom>
          <a:noFill/>
        </p:spPr>
        <p:txBody>
          <a:bodyPr wrap="square" rtlCol="0">
            <a:spAutoFit/>
          </a:bodyPr>
          <a:lstStyle/>
          <a:p>
            <a:r>
              <a:rPr lang="en-US" altLang="ko-KR" dirty="0" smtClean="0">
                <a:solidFill>
                  <a:schemeClr val="tx1"/>
                </a:solidFill>
                <a:latin typeface="+mn-ea"/>
                <a:ea typeface="+mn-ea"/>
              </a:rPr>
              <a:t>1. </a:t>
            </a:r>
            <a:r>
              <a:rPr lang="en-US" altLang="ko-KR" dirty="0"/>
              <a:t>Prohibited Competitor </a:t>
            </a:r>
            <a:endParaRPr lang="ko-KR" altLang="en-US" b="1" dirty="0">
              <a:solidFill>
                <a:schemeClr val="tx1"/>
              </a:solidFill>
              <a:latin typeface="+mn-ea"/>
              <a:ea typeface="+mn-ea"/>
            </a:endParaRPr>
          </a:p>
        </p:txBody>
      </p:sp>
      <p:graphicFrame>
        <p:nvGraphicFramePr>
          <p:cNvPr id="3" name="표 2"/>
          <p:cNvGraphicFramePr>
            <a:graphicFrameLocks noGrp="1"/>
          </p:cNvGraphicFramePr>
          <p:nvPr>
            <p:extLst>
              <p:ext uri="{D42A27DB-BD31-4B8C-83A1-F6EECF244321}">
                <p14:modId xmlns:p14="http://schemas.microsoft.com/office/powerpoint/2010/main" val="67700082"/>
              </p:ext>
            </p:extLst>
          </p:nvPr>
        </p:nvGraphicFramePr>
        <p:xfrm>
          <a:off x="439738" y="1038740"/>
          <a:ext cx="9188450" cy="2466460"/>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471940">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smtClean="0">
                          <a:solidFill>
                            <a:schemeClr val="tx1"/>
                          </a:solidFill>
                          <a:effectLst/>
                          <a:latin typeface="+mn-ea"/>
                          <a:ea typeface="+mn-ea"/>
                          <a:cs typeface="Times New Roman" panose="02020603050405020304" pitchFamily="18" charset="0"/>
                        </a:rPr>
                        <a:t>대상회사 주식의 양도를 제한해야하는 경쟁자의 범위를 계약서상으로 정함</a:t>
                      </a:r>
                      <a:r>
                        <a:rPr lang="en-US" altLang="ko-KR" sz="1000" smtClean="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429744">
                <a:tc>
                  <a:txBody>
                    <a:bodyPr/>
                    <a:lstStyle/>
                    <a:p>
                      <a:pPr algn="ctr" latinLnBrk="1">
                        <a:lnSpc>
                          <a:spcPct val="110000"/>
                        </a:lnSpc>
                        <a:spcAft>
                          <a:spcPts val="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marR="0" lvl="0" indent="-228600" algn="l" defTabSz="914400" rtl="0" eaLnBrk="1" fontAlgn="base" latinLnBrk="1" hangingPunct="1">
                        <a:lnSpc>
                          <a:spcPct val="110000"/>
                        </a:lnSpc>
                        <a:spcBef>
                          <a:spcPct val="0"/>
                        </a:spcBef>
                        <a:spcAft>
                          <a:spcPts val="600"/>
                        </a:spcAft>
                        <a:buClrTx/>
                        <a:buSzTx/>
                        <a:buFont typeface="+mj-lt"/>
                        <a:buAutoNum type="arabicPeriod"/>
                        <a:tabLst/>
                      </a:pPr>
                      <a:r>
                        <a:rPr lang="ko-KR" altLang="en-US" sz="1000" kern="1200" dirty="0" smtClean="0">
                          <a:solidFill>
                            <a:schemeClr val="tx1"/>
                          </a:solidFill>
                          <a:effectLst/>
                          <a:latin typeface="+mn-ea"/>
                          <a:ea typeface="+mn-ea"/>
                          <a:cs typeface="Times New Roman" panose="02020603050405020304" pitchFamily="18" charset="0"/>
                        </a:rPr>
                        <a:t>표준 </a:t>
                      </a:r>
                      <a:r>
                        <a:rPr lang="en-US" altLang="ko-KR" sz="1000" kern="1200" dirty="0" smtClean="0">
                          <a:solidFill>
                            <a:schemeClr val="tx1"/>
                          </a:solidFill>
                          <a:effectLst/>
                          <a:latin typeface="+mn-ea"/>
                          <a:ea typeface="+mn-ea"/>
                          <a:cs typeface="Times New Roman" panose="02020603050405020304" pitchFamily="18" charset="0"/>
                        </a:rPr>
                        <a:t>SHA</a:t>
                      </a:r>
                      <a:r>
                        <a:rPr lang="ko-KR" altLang="en-US" sz="1000" kern="1200" dirty="0" smtClean="0">
                          <a:solidFill>
                            <a:schemeClr val="tx1"/>
                          </a:solidFill>
                          <a:effectLst/>
                          <a:latin typeface="+mn-ea"/>
                          <a:ea typeface="+mn-ea"/>
                          <a:cs typeface="Times New Roman" panose="02020603050405020304" pitchFamily="18" charset="0"/>
                        </a:rPr>
                        <a:t>는 </a:t>
                      </a:r>
                      <a:r>
                        <a:rPr lang="ko-KR" altLang="en-US" sz="1000" kern="1200" dirty="0" err="1" smtClean="0">
                          <a:solidFill>
                            <a:schemeClr val="tx1"/>
                          </a:solidFill>
                          <a:effectLst/>
                          <a:latin typeface="+mn-ea"/>
                          <a:ea typeface="+mn-ea"/>
                          <a:cs typeface="Times New Roman" panose="02020603050405020304" pitchFamily="18" charset="0"/>
                        </a:rPr>
                        <a:t>대상회사</a:t>
                      </a:r>
                      <a:r>
                        <a:rPr lang="ko-KR" altLang="en-US" sz="1000" kern="1200" dirty="0" smtClean="0">
                          <a:solidFill>
                            <a:schemeClr val="tx1"/>
                          </a:solidFill>
                          <a:effectLst/>
                          <a:latin typeface="+mn-ea"/>
                          <a:ea typeface="+mn-ea"/>
                          <a:cs typeface="Times New Roman" panose="02020603050405020304" pitchFamily="18" charset="0"/>
                        </a:rPr>
                        <a:t> 주식 양도에 있어 일정한 제한을 두고 있는데</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특히</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각 당사자의 경쟁사에는 주식 양도를 할 수 없도록 규정하는 경우가 존재함</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이는</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err="1" smtClean="0">
                          <a:solidFill>
                            <a:schemeClr val="tx1"/>
                          </a:solidFill>
                          <a:effectLst/>
                          <a:latin typeface="+mn-ea"/>
                          <a:ea typeface="+mn-ea"/>
                          <a:cs typeface="Times New Roman" panose="02020603050405020304" pitchFamily="18" charset="0"/>
                        </a:rPr>
                        <a:t>대상회사에</a:t>
                      </a:r>
                      <a:r>
                        <a:rPr lang="ko-KR" altLang="en-US" sz="1000" kern="1200" dirty="0" smtClean="0">
                          <a:solidFill>
                            <a:schemeClr val="tx1"/>
                          </a:solidFill>
                          <a:effectLst/>
                          <a:latin typeface="+mn-ea"/>
                          <a:ea typeface="+mn-ea"/>
                          <a:cs typeface="Times New Roman" panose="02020603050405020304" pitchFamily="18" charset="0"/>
                        </a:rPr>
                        <a:t> 대한 지분 투자 이후 각 당사자의 경영 또는 기술 관련 노하우나 지식재산권이 </a:t>
                      </a:r>
                      <a:r>
                        <a:rPr lang="ko-KR" altLang="en-US" sz="1000" kern="1200" dirty="0" err="1" smtClean="0">
                          <a:solidFill>
                            <a:schemeClr val="tx1"/>
                          </a:solidFill>
                          <a:effectLst/>
                          <a:latin typeface="+mn-ea"/>
                          <a:ea typeface="+mn-ea"/>
                          <a:cs typeface="Times New Roman" panose="02020603050405020304" pitchFamily="18" charset="0"/>
                        </a:rPr>
                        <a:t>대상회사에</a:t>
                      </a:r>
                      <a:r>
                        <a:rPr lang="ko-KR" altLang="en-US" sz="1000" kern="1200" dirty="0" smtClean="0">
                          <a:solidFill>
                            <a:schemeClr val="tx1"/>
                          </a:solidFill>
                          <a:effectLst/>
                          <a:latin typeface="+mn-ea"/>
                          <a:ea typeface="+mn-ea"/>
                          <a:cs typeface="Times New Roman" panose="02020603050405020304" pitchFamily="18" charset="0"/>
                        </a:rPr>
                        <a:t> 투입될 수 있는데</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경쟁사가 </a:t>
                      </a:r>
                      <a:r>
                        <a:rPr lang="ko-KR" altLang="en-US" sz="1000" kern="1200" dirty="0" err="1" smtClean="0">
                          <a:solidFill>
                            <a:schemeClr val="tx1"/>
                          </a:solidFill>
                          <a:effectLst/>
                          <a:latin typeface="+mn-ea"/>
                          <a:ea typeface="+mn-ea"/>
                          <a:cs typeface="Times New Roman" panose="02020603050405020304" pitchFamily="18" charset="0"/>
                        </a:rPr>
                        <a:t>대상회사를</a:t>
                      </a:r>
                      <a:r>
                        <a:rPr lang="ko-KR" altLang="en-US" sz="1000" kern="1200" dirty="0" smtClean="0">
                          <a:solidFill>
                            <a:schemeClr val="tx1"/>
                          </a:solidFill>
                          <a:effectLst/>
                          <a:latin typeface="+mn-ea"/>
                          <a:ea typeface="+mn-ea"/>
                          <a:cs typeface="Times New Roman" panose="02020603050405020304" pitchFamily="18" charset="0"/>
                        </a:rPr>
                        <a:t> 취득하게 되면 위와 같은 노하우나 지식재산권이 유출될 수 있기 때문임</a:t>
                      </a:r>
                      <a:r>
                        <a:rPr lang="en-US" altLang="ko-KR" sz="1000" kern="1200" dirty="0" smtClean="0">
                          <a:solidFill>
                            <a:schemeClr val="tx1"/>
                          </a:solidFill>
                          <a:effectLst/>
                          <a:latin typeface="+mn-ea"/>
                          <a:ea typeface="+mn-ea"/>
                          <a:cs typeface="Times New Roman" panose="02020603050405020304" pitchFamily="18" charset="0"/>
                        </a:rPr>
                        <a:t>. </a:t>
                      </a:r>
                    </a:p>
                    <a:p>
                      <a:pPr marL="228600" marR="0" lvl="0" indent="-228600" algn="l" defTabSz="914400" rtl="0" eaLnBrk="1" fontAlgn="base" latinLnBrk="1" hangingPunct="1">
                        <a:lnSpc>
                          <a:spcPct val="110000"/>
                        </a:lnSpc>
                        <a:spcBef>
                          <a:spcPct val="0"/>
                        </a:spcBef>
                        <a:spcAft>
                          <a:spcPct val="0"/>
                        </a:spcAft>
                        <a:buClrTx/>
                        <a:buSzTx/>
                        <a:buFont typeface="+mj-lt"/>
                        <a:buAutoNum type="arabicPeriod"/>
                        <a:tabLst/>
                      </a:pPr>
                      <a:r>
                        <a:rPr lang="ko-KR" altLang="en-US" sz="1000" kern="1200" dirty="0" smtClean="0">
                          <a:solidFill>
                            <a:schemeClr val="tx1"/>
                          </a:solidFill>
                          <a:effectLst/>
                          <a:latin typeface="+mn-ea"/>
                          <a:ea typeface="+mn-ea"/>
                          <a:cs typeface="Times New Roman" panose="02020603050405020304" pitchFamily="18" charset="0"/>
                        </a:rPr>
                        <a:t>상대방 주주가 사모펀드 등 재무적 투자자</a:t>
                      </a:r>
                      <a:r>
                        <a:rPr lang="en-US" altLang="ko-KR" sz="1000" kern="1200" dirty="0" smtClean="0">
                          <a:solidFill>
                            <a:schemeClr val="tx1"/>
                          </a:solidFill>
                          <a:effectLst/>
                          <a:latin typeface="+mn-ea"/>
                          <a:ea typeface="+mn-ea"/>
                          <a:cs typeface="Times New Roman" panose="02020603050405020304" pitchFamily="18" charset="0"/>
                        </a:rPr>
                        <a:t>(financial investor)</a:t>
                      </a:r>
                      <a:r>
                        <a:rPr lang="ko-KR" altLang="en-US" sz="1000" kern="1200" dirty="0" smtClean="0">
                          <a:solidFill>
                            <a:schemeClr val="tx1"/>
                          </a:solidFill>
                          <a:effectLst/>
                          <a:latin typeface="+mn-ea"/>
                          <a:ea typeface="+mn-ea"/>
                          <a:cs typeface="Times New Roman" panose="02020603050405020304" pitchFamily="18" charset="0"/>
                        </a:rPr>
                        <a:t>인 경우에는</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자신의 투자 </a:t>
                      </a:r>
                      <a:r>
                        <a:rPr lang="en-US" altLang="ko-KR" sz="1000" kern="1200" dirty="0" smtClean="0">
                          <a:solidFill>
                            <a:schemeClr val="tx1"/>
                          </a:solidFill>
                          <a:effectLst/>
                          <a:latin typeface="+mn-ea"/>
                          <a:ea typeface="+mn-ea"/>
                          <a:cs typeface="Times New Roman" panose="02020603050405020304" pitchFamily="18" charset="0"/>
                        </a:rPr>
                        <a:t>exit </a:t>
                      </a:r>
                      <a:r>
                        <a:rPr lang="ko-KR" altLang="en-US" sz="1000" kern="1200" dirty="0" smtClean="0">
                          <a:solidFill>
                            <a:schemeClr val="tx1"/>
                          </a:solidFill>
                          <a:effectLst/>
                          <a:latin typeface="+mn-ea"/>
                          <a:ea typeface="+mn-ea"/>
                          <a:cs typeface="Times New Roman" panose="02020603050405020304" pitchFamily="18" charset="0"/>
                        </a:rPr>
                        <a:t>가능성이 한정되는 것을 우려하여 양도금지 대상인 경쟁사</a:t>
                      </a:r>
                      <a:r>
                        <a:rPr lang="en-US" altLang="ko-KR" sz="1000" kern="1200" dirty="0" smtClean="0">
                          <a:solidFill>
                            <a:schemeClr val="tx1"/>
                          </a:solidFill>
                          <a:effectLst/>
                          <a:latin typeface="+mn-ea"/>
                          <a:ea typeface="+mn-ea"/>
                          <a:cs typeface="Times New Roman" panose="02020603050405020304" pitchFamily="18" charset="0"/>
                        </a:rPr>
                        <a:t>(Prohibited Competitor) </a:t>
                      </a:r>
                      <a:r>
                        <a:rPr lang="ko-KR" altLang="en-US" sz="1000" kern="1200" dirty="0" smtClean="0">
                          <a:solidFill>
                            <a:schemeClr val="tx1"/>
                          </a:solidFill>
                          <a:effectLst/>
                          <a:latin typeface="+mn-ea"/>
                          <a:ea typeface="+mn-ea"/>
                          <a:cs typeface="Times New Roman" panose="02020603050405020304" pitchFamily="18" charset="0"/>
                        </a:rPr>
                        <a:t>리스트 작성에 있어 직접적인 경쟁사 및 지역으로 한정하고자 할 수 있으므로</a:t>
                      </a:r>
                      <a:r>
                        <a:rPr lang="en-US" altLang="ko-KR" sz="1000" kern="1200" dirty="0" smtClean="0">
                          <a:solidFill>
                            <a:schemeClr val="tx1"/>
                          </a:solidFill>
                          <a:effectLst/>
                          <a:latin typeface="+mn-ea"/>
                          <a:ea typeface="+mn-ea"/>
                          <a:cs typeface="Times New Roman" panose="02020603050405020304" pitchFamily="18" charset="0"/>
                        </a:rPr>
                        <a:t>, </a:t>
                      </a:r>
                      <a:r>
                        <a:rPr lang="ko-KR" altLang="en-US" sz="1000" kern="1200" dirty="0" smtClean="0">
                          <a:solidFill>
                            <a:schemeClr val="tx1"/>
                          </a:solidFill>
                          <a:effectLst/>
                          <a:latin typeface="+mn-ea"/>
                          <a:ea typeface="+mn-ea"/>
                          <a:cs typeface="Times New Roman" panose="02020603050405020304" pitchFamily="18" charset="0"/>
                        </a:rPr>
                        <a:t>향후 주주간 계약 협상에 있어 협상 포인트가 될 수 있음</a:t>
                      </a:r>
                      <a:r>
                        <a:rPr lang="en-US" altLang="ko-KR" sz="1000" kern="1200" dirty="0" smtClean="0">
                          <a:solidFill>
                            <a:schemeClr val="tx1"/>
                          </a:solidFill>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564776">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SHA</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ts val="1400"/>
                        </a:lnSpc>
                        <a:spcAft>
                          <a:spcPts val="0"/>
                        </a:spcAft>
                      </a:pPr>
                      <a:r>
                        <a:rPr lang="en-US" sz="1000" dirty="0">
                          <a:effectLst/>
                          <a:latin typeface="+mn-ea"/>
                          <a:ea typeface="+mn-ea"/>
                          <a:cs typeface="Times New Roman" panose="02020603050405020304" pitchFamily="18" charset="0"/>
                        </a:rPr>
                        <a:t>1.58  </a:t>
                      </a:r>
                      <a:r>
                        <a:rPr lang="en-US" sz="1000" u="sng" dirty="0">
                          <a:effectLst/>
                          <a:latin typeface="+mn-ea"/>
                          <a:ea typeface="+mn-ea"/>
                          <a:cs typeface="Times New Roman" panose="02020603050405020304" pitchFamily="18" charset="0"/>
                        </a:rPr>
                        <a:t>Prohibited Competitor</a:t>
                      </a:r>
                      <a:r>
                        <a:rPr lang="en-US" sz="1000" dirty="0">
                          <a:effectLst/>
                          <a:latin typeface="+mn-ea"/>
                          <a:ea typeface="+mn-ea"/>
                          <a:cs typeface="Times New Roman" panose="02020603050405020304" pitchFamily="18" charset="0"/>
                        </a:rPr>
                        <a:t>” shall mean any of the following: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971617847"/>
                  </a:ext>
                </a:extLst>
              </a:tr>
            </a:tbl>
          </a:graphicData>
        </a:graphic>
      </p:graphicFrame>
    </p:spTree>
    <p:extLst>
      <p:ext uri="{BB962C8B-B14F-4D97-AF65-F5344CB8AC3E}">
        <p14:creationId xmlns:p14="http://schemas.microsoft.com/office/powerpoint/2010/main" val="4716229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III. </a:t>
            </a:r>
            <a:r>
              <a:rPr lang="en-US" altLang="ko-KR" dirty="0"/>
              <a:t>Operation and Management of the Company </a:t>
            </a:r>
            <a:endParaRPr lang="ko-KR" altLang="en-US" sz="1000" dirty="0">
              <a:latin typeface="+mn-ea"/>
              <a:cs typeface="Times New Roman" panose="02020603050405020304" pitchFamily="18" charset="0"/>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3550"/>
            <a:ext cx="9163776" cy="276999"/>
          </a:xfrm>
          <a:prstGeom prst="rect">
            <a:avLst/>
          </a:prstGeom>
          <a:noFill/>
        </p:spPr>
        <p:txBody>
          <a:bodyPr wrap="square" rtlCol="0">
            <a:spAutoFit/>
          </a:bodyPr>
          <a:lstStyle/>
          <a:p>
            <a:r>
              <a:rPr lang="en-US" altLang="ko-KR" dirty="0">
                <a:latin typeface="+mn-ea"/>
                <a:ea typeface="+mn-ea"/>
              </a:rPr>
              <a:t>1. </a:t>
            </a:r>
            <a:r>
              <a:rPr lang="en-US" altLang="ko-KR" dirty="0"/>
              <a:t>Business Purpose</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582099992"/>
              </p:ext>
            </p:extLst>
          </p:nvPr>
        </p:nvGraphicFramePr>
        <p:xfrm>
          <a:off x="439738" y="1038740"/>
          <a:ext cx="9188450" cy="2798154"/>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458366">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effectLst/>
                          <a:latin typeface="+mn-ea"/>
                          <a:ea typeface="+mn-ea"/>
                          <a:cs typeface="Times New Roman" panose="02020603050405020304" pitchFamily="18" charset="0"/>
                        </a:rPr>
                        <a:t>대상회사의 사업목적을 주주간 계약서로 정함</a:t>
                      </a:r>
                      <a:r>
                        <a:rPr lang="en-US" altLang="ko-KR" sz="1000" dirty="0" smtClean="0">
                          <a:effectLst/>
                          <a:latin typeface="+mn-ea"/>
                          <a:ea typeface="+mn-ea"/>
                          <a:cs typeface="Times New Roman" panose="02020603050405020304" pitchFamily="18" charset="0"/>
                        </a:rPr>
                        <a:t>. </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066800">
                <a:tc>
                  <a:txBody>
                    <a:bodyPr/>
                    <a:lstStyle/>
                    <a:p>
                      <a:pPr algn="ctr" latinLnBrk="1">
                        <a:lnSpc>
                          <a:spcPct val="110000"/>
                        </a:lnSpc>
                        <a:spcAft>
                          <a:spcPts val="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l" latinLnBrk="1">
                        <a:lnSpc>
                          <a:spcPct val="110000"/>
                        </a:lnSpc>
                        <a:spcAft>
                          <a:spcPts val="600"/>
                        </a:spcAft>
                        <a:buFont typeface="+mj-lt"/>
                        <a:buAutoNum type="arabicPeriod"/>
                      </a:pPr>
                      <a:r>
                        <a:rPr lang="ko-KR" altLang="en-US" sz="1000" b="0" dirty="0" smtClean="0">
                          <a:effectLst/>
                          <a:latin typeface="+mn-ea"/>
                          <a:ea typeface="+mn-ea"/>
                          <a:cs typeface="Times New Roman" panose="02020603050405020304" pitchFamily="18" charset="0"/>
                        </a:rPr>
                        <a:t>통상적으로 이미 설립된 대상회사의 경우</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그 사업목적을 주주간 계약에서 정하지는 아니함</a:t>
                      </a:r>
                      <a:r>
                        <a:rPr lang="en-US" altLang="ko-KR" sz="1000" b="0" dirty="0" smtClean="0">
                          <a:effectLst/>
                          <a:latin typeface="+mn-ea"/>
                          <a:ea typeface="+mn-ea"/>
                          <a:cs typeface="Times New Roman" panose="02020603050405020304" pitchFamily="18" charset="0"/>
                        </a:rPr>
                        <a:t>.</a:t>
                      </a:r>
                    </a:p>
                    <a:p>
                      <a:pPr marL="228600" indent="-228600" algn="l" latinLnBrk="1">
                        <a:lnSpc>
                          <a:spcPct val="110000"/>
                        </a:lnSpc>
                        <a:spcAft>
                          <a:spcPts val="600"/>
                        </a:spcAft>
                        <a:buFont typeface="+mj-lt"/>
                        <a:buAutoNum type="arabicPeriod"/>
                      </a:pPr>
                      <a:r>
                        <a:rPr lang="ko-KR" altLang="en-US" sz="1000" b="0" dirty="0" smtClean="0">
                          <a:effectLst/>
                          <a:latin typeface="+mn-ea"/>
                          <a:ea typeface="+mn-ea"/>
                          <a:cs typeface="Times New Roman" panose="02020603050405020304" pitchFamily="18" charset="0"/>
                        </a:rPr>
                        <a:t>다만</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투자의 목적</a:t>
                      </a:r>
                      <a:r>
                        <a:rPr lang="en-US" altLang="ko-KR" sz="1000" b="0" dirty="0" smtClean="0">
                          <a:effectLst/>
                          <a:latin typeface="+mn-ea"/>
                          <a:ea typeface="+mn-ea"/>
                          <a:cs typeface="Times New Roman" panose="02020603050405020304" pitchFamily="18" charset="0"/>
                        </a:rPr>
                        <a:t>, </a:t>
                      </a:r>
                      <a:r>
                        <a:rPr lang="ko-KR" altLang="en-US" sz="1000" b="0" dirty="0" smtClean="0">
                          <a:effectLst/>
                          <a:latin typeface="+mn-ea"/>
                          <a:ea typeface="+mn-ea"/>
                          <a:cs typeface="Times New Roman" panose="02020603050405020304" pitchFamily="18" charset="0"/>
                        </a:rPr>
                        <a:t>지분구조</a:t>
                      </a:r>
                      <a:r>
                        <a:rPr lang="en-US" altLang="ko-KR" sz="1000" b="0" dirty="0" smtClean="0">
                          <a:effectLst/>
                          <a:latin typeface="+mn-ea"/>
                          <a:ea typeface="+mn-ea"/>
                          <a:cs typeface="Times New Roman" panose="02020603050405020304" pitchFamily="18" charset="0"/>
                        </a:rPr>
                        <a:t>(50:50), </a:t>
                      </a:r>
                      <a:r>
                        <a:rPr lang="ko-KR" altLang="en-US" sz="1000" b="0" dirty="0" err="1" smtClean="0">
                          <a:effectLst/>
                          <a:latin typeface="+mn-ea"/>
                          <a:ea typeface="+mn-ea"/>
                          <a:cs typeface="Times New Roman" panose="02020603050405020304" pitchFamily="18" charset="0"/>
                        </a:rPr>
                        <a:t>대상회사에</a:t>
                      </a:r>
                      <a:r>
                        <a:rPr lang="ko-KR" altLang="en-US" sz="1000" b="0" dirty="0" smtClean="0">
                          <a:effectLst/>
                          <a:latin typeface="+mn-ea"/>
                          <a:ea typeface="+mn-ea"/>
                          <a:cs typeface="Times New Roman" panose="02020603050405020304" pitchFamily="18" charset="0"/>
                        </a:rPr>
                        <a:t> 대한 </a:t>
                      </a:r>
                      <a:r>
                        <a:rPr lang="en-US" altLang="ko-KR" sz="1000" b="0" dirty="0" smtClean="0">
                          <a:effectLst/>
                          <a:latin typeface="+mn-ea"/>
                          <a:ea typeface="+mn-ea"/>
                          <a:cs typeface="Times New Roman" panose="02020603050405020304" pitchFamily="18" charset="0"/>
                        </a:rPr>
                        <a:t>valuation </a:t>
                      </a:r>
                      <a:r>
                        <a:rPr lang="ko-KR" altLang="en-US" sz="1000" b="0" dirty="0" smtClean="0">
                          <a:effectLst/>
                          <a:latin typeface="+mn-ea"/>
                          <a:ea typeface="+mn-ea"/>
                          <a:cs typeface="Times New Roman" panose="02020603050405020304" pitchFamily="18" charset="0"/>
                        </a:rPr>
                        <a:t>및 </a:t>
                      </a:r>
                      <a:r>
                        <a:rPr lang="en-US" altLang="ko-KR" sz="1000" b="0" dirty="0" smtClean="0">
                          <a:effectLst/>
                          <a:latin typeface="+mn-ea"/>
                          <a:ea typeface="+mn-ea"/>
                          <a:cs typeface="Times New Roman" panose="02020603050405020304" pitchFamily="18" charset="0"/>
                        </a:rPr>
                        <a:t>Post-Merger Integration (“PMI”) </a:t>
                      </a:r>
                      <a:r>
                        <a:rPr lang="ko-KR" altLang="en-US" sz="1000" b="0" dirty="0" smtClean="0">
                          <a:effectLst/>
                          <a:latin typeface="+mn-ea"/>
                          <a:ea typeface="+mn-ea"/>
                          <a:cs typeface="Times New Roman" panose="02020603050405020304" pitchFamily="18" charset="0"/>
                        </a:rPr>
                        <a:t>등 고려 요소에 따라 대상회사의 사업목적을 새롭게 바꾸는 것이 필요할 수 있으며</a:t>
                      </a:r>
                      <a:r>
                        <a:rPr lang="en-US" altLang="ko-KR" sz="1000" b="0" dirty="0" smtClean="0">
                          <a:effectLst/>
                          <a:latin typeface="+mn-ea"/>
                          <a:ea typeface="+mn-ea"/>
                          <a:cs typeface="Times New Roman" panose="02020603050405020304" pitchFamily="18" charset="0"/>
                        </a:rPr>
                        <a:t>, LG H&amp;H</a:t>
                      </a:r>
                      <a:r>
                        <a:rPr lang="ko-KR" altLang="en-US" sz="1000" b="0" dirty="0" smtClean="0">
                          <a:effectLst/>
                          <a:latin typeface="+mn-ea"/>
                          <a:ea typeface="+mn-ea"/>
                          <a:cs typeface="Times New Roman" panose="02020603050405020304" pitchFamily="18" charset="0"/>
                        </a:rPr>
                        <a:t>의 </a:t>
                      </a:r>
                      <a:r>
                        <a:rPr lang="ko-KR" altLang="en-US" sz="1000" b="0" dirty="0" err="1" smtClean="0">
                          <a:effectLst/>
                          <a:latin typeface="+mn-ea"/>
                          <a:ea typeface="+mn-ea"/>
                          <a:cs typeface="Times New Roman" panose="02020603050405020304" pitchFamily="18" charset="0"/>
                        </a:rPr>
                        <a:t>지분율에</a:t>
                      </a:r>
                      <a:r>
                        <a:rPr lang="ko-KR" altLang="en-US" sz="1000" b="0" dirty="0" smtClean="0">
                          <a:effectLst/>
                          <a:latin typeface="+mn-ea"/>
                          <a:ea typeface="+mn-ea"/>
                          <a:cs typeface="Times New Roman" panose="02020603050405020304" pitchFamily="18" charset="0"/>
                        </a:rPr>
                        <a:t> 관계없이 당사자들의 사업적 필요에 따라서도 포함될 수도 있음</a:t>
                      </a:r>
                      <a:r>
                        <a:rPr lang="en-US" altLang="ko-KR" sz="1000" b="0" dirty="0" smtClean="0">
                          <a:effectLst/>
                          <a:latin typeface="+mn-ea"/>
                          <a:ea typeface="+mn-ea"/>
                          <a:cs typeface="Times New Roman" panose="02020603050405020304" pitchFamily="18" charset="0"/>
                        </a:rPr>
                        <a:t>.</a:t>
                      </a:r>
                    </a:p>
                    <a:p>
                      <a:pPr marL="228600" indent="-228600" algn="l" latinLnBrk="1">
                        <a:lnSpc>
                          <a:spcPct val="110000"/>
                        </a:lnSpc>
                        <a:spcAft>
                          <a:spcPts val="600"/>
                        </a:spcAft>
                        <a:buFont typeface="+mj-lt"/>
                        <a:buAutoNum type="arabicPeriod"/>
                      </a:pPr>
                      <a:r>
                        <a:rPr lang="en-US" altLang="ko-KR" sz="1000" b="0" dirty="0" smtClean="0">
                          <a:effectLst/>
                          <a:latin typeface="+mn-ea"/>
                          <a:ea typeface="+mn-ea"/>
                          <a:cs typeface="Times New Roman" panose="02020603050405020304" pitchFamily="18" charset="0"/>
                        </a:rPr>
                        <a:t>Business Purposes</a:t>
                      </a:r>
                      <a:r>
                        <a:rPr lang="ko-KR" altLang="en-US" sz="1000" b="0" dirty="0" smtClean="0">
                          <a:effectLst/>
                          <a:latin typeface="+mn-ea"/>
                          <a:ea typeface="+mn-ea"/>
                          <a:cs typeface="Times New Roman" panose="02020603050405020304" pitchFamily="18" charset="0"/>
                        </a:rPr>
                        <a:t>의 경우</a:t>
                      </a:r>
                      <a:r>
                        <a:rPr lang="en-US" altLang="ko-KR" sz="1000" b="0" dirty="0" smtClean="0">
                          <a:effectLst/>
                          <a:latin typeface="+mn-ea"/>
                          <a:ea typeface="+mn-ea"/>
                          <a:cs typeface="Times New Roman" panose="02020603050405020304" pitchFamily="18" charset="0"/>
                        </a:rPr>
                        <a:t>, </a:t>
                      </a:r>
                      <a:r>
                        <a:rPr lang="ko-KR" altLang="en-US" sz="1000" b="0" dirty="0" err="1" smtClean="0">
                          <a:effectLst/>
                          <a:latin typeface="+mn-ea"/>
                          <a:ea typeface="+mn-ea"/>
                          <a:cs typeface="Times New Roman" panose="02020603050405020304" pitchFamily="18" charset="0"/>
                        </a:rPr>
                        <a:t>준거지법에</a:t>
                      </a:r>
                      <a:r>
                        <a:rPr lang="ko-KR" altLang="en-US" sz="1000" b="0" dirty="0" smtClean="0">
                          <a:effectLst/>
                          <a:latin typeface="+mn-ea"/>
                          <a:ea typeface="+mn-ea"/>
                          <a:cs typeface="Times New Roman" panose="02020603050405020304" pitchFamily="18" charset="0"/>
                        </a:rPr>
                        <a:t> 따라 정관 등 대상회사의 규정에의 반영과 함께 등기 내지 등록이 필요할 수 있음</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1272988">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SHA </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600"/>
                        </a:spcAft>
                      </a:pPr>
                      <a:r>
                        <a:rPr lang="en-US" altLang="ko-KR" sz="1000" dirty="0" smtClean="0">
                          <a:effectLst/>
                          <a:latin typeface="+mn-ea"/>
                          <a:ea typeface="+mn-ea"/>
                          <a:cs typeface="Times New Roman" panose="02020603050405020304" pitchFamily="18" charset="0"/>
                        </a:rPr>
                        <a:t>2.1  </a:t>
                      </a:r>
                      <a:r>
                        <a:rPr lang="en-US" altLang="ko-KR" sz="1000" u="sng" dirty="0" smtClean="0">
                          <a:effectLst/>
                          <a:latin typeface="+mn-ea"/>
                          <a:ea typeface="+mn-ea"/>
                          <a:cs typeface="Times New Roman" panose="02020603050405020304" pitchFamily="18" charset="0"/>
                        </a:rPr>
                        <a:t>Business Purposes</a:t>
                      </a:r>
                      <a:r>
                        <a:rPr lang="en-US" altLang="ko-KR" sz="1000" dirty="0" smtClean="0">
                          <a:effectLst/>
                          <a:latin typeface="+mn-ea"/>
                          <a:ea typeface="+mn-ea"/>
                          <a:cs typeface="Times New Roman" panose="02020603050405020304" pitchFamily="18" charset="0"/>
                        </a:rPr>
                        <a:t>.  The business purposes of the Company shall be: </a:t>
                      </a:r>
                      <a:endParaRPr lang="ko-KR" altLang="ko-KR" sz="1000" dirty="0" smtClean="0">
                        <a:effectLst/>
                        <a:latin typeface="+mn-ea"/>
                        <a:ea typeface="+mn-ea"/>
                        <a:cs typeface="Times New Roman" panose="02020603050405020304" pitchFamily="18" charset="0"/>
                      </a:endParaRPr>
                    </a:p>
                    <a:p>
                      <a:pPr marL="0" lvl="0" indent="0" algn="just">
                        <a:lnSpc>
                          <a:spcPct val="115000"/>
                        </a:lnSpc>
                        <a:spcAft>
                          <a:spcPts val="600"/>
                        </a:spcAft>
                        <a:buFont typeface="+mj-lt"/>
                        <a:buNone/>
                      </a:pPr>
                      <a:r>
                        <a:rPr lang="en-US" altLang="ko-KR" sz="1000" dirty="0" smtClean="0">
                          <a:effectLst/>
                          <a:latin typeface="+mn-ea"/>
                          <a:ea typeface="+mn-ea"/>
                          <a:cs typeface="Times New Roman" panose="02020603050405020304" pitchFamily="18" charset="0"/>
                        </a:rPr>
                        <a:t>(a)</a:t>
                      </a:r>
                      <a:r>
                        <a:rPr lang="en-US" altLang="ko-KR" sz="1000" baseline="0"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manufacture, develop, market, distribute and/or sell [</a:t>
                      </a:r>
                      <a:r>
                        <a:rPr lang="en-US" altLang="ko-KR" sz="1000" i="1" dirty="0" smtClean="0">
                          <a:effectLst/>
                          <a:latin typeface="+mn-ea"/>
                          <a:ea typeface="+mn-ea"/>
                          <a:cs typeface="Times New Roman" panose="02020603050405020304" pitchFamily="18" charset="0"/>
                        </a:rPr>
                        <a:t>Product</a:t>
                      </a:r>
                      <a:r>
                        <a:rPr lang="en-US" altLang="ko-KR" sz="1000" dirty="0" smtClean="0">
                          <a:effectLst/>
                          <a:latin typeface="+mn-ea"/>
                          <a:ea typeface="+mn-ea"/>
                          <a:cs typeface="Times New Roman" panose="02020603050405020304" pitchFamily="18" charset="0"/>
                        </a:rPr>
                        <a:t>] (the “</a:t>
                      </a:r>
                      <a:r>
                        <a:rPr lang="en-US" altLang="ko-KR" sz="1000" u="sng" dirty="0" smtClean="0">
                          <a:effectLst/>
                          <a:latin typeface="+mn-ea"/>
                          <a:ea typeface="+mn-ea"/>
                          <a:cs typeface="Times New Roman" panose="02020603050405020304" pitchFamily="18" charset="0"/>
                        </a:rPr>
                        <a:t>Products</a:t>
                      </a:r>
                      <a:r>
                        <a:rPr lang="en-US" altLang="ko-KR" sz="1000" dirty="0" smtClean="0">
                          <a:effectLst/>
                          <a:latin typeface="+mn-ea"/>
                          <a:ea typeface="+mn-ea"/>
                          <a:cs typeface="Times New Roman" panose="02020603050405020304" pitchFamily="18" charset="0"/>
                        </a:rPr>
                        <a:t>”) in the Territory; </a:t>
                      </a:r>
                      <a:endParaRPr lang="ko-KR" altLang="ko-KR" sz="1000" dirty="0" smtClean="0">
                        <a:effectLst/>
                        <a:latin typeface="+mn-ea"/>
                        <a:ea typeface="+mn-ea"/>
                        <a:cs typeface="Times New Roman" panose="02020603050405020304" pitchFamily="18" charset="0"/>
                      </a:endParaRPr>
                    </a:p>
                    <a:p>
                      <a:pPr marL="0" lvl="0" indent="0" algn="just">
                        <a:lnSpc>
                          <a:spcPct val="115000"/>
                        </a:lnSpc>
                        <a:spcAft>
                          <a:spcPts val="600"/>
                        </a:spcAft>
                        <a:buFont typeface="+mj-lt"/>
                        <a:buNone/>
                      </a:pPr>
                      <a:r>
                        <a:rPr lang="en-US" altLang="ko-KR" sz="1000" dirty="0" smtClean="0">
                          <a:effectLst/>
                          <a:latin typeface="+mn-ea"/>
                          <a:ea typeface="+mn-ea"/>
                          <a:cs typeface="Times New Roman" panose="02020603050405020304" pitchFamily="18" charset="0"/>
                        </a:rPr>
                        <a:t>(b)</a:t>
                      </a:r>
                      <a:r>
                        <a:rPr lang="en-US" altLang="ko-KR" sz="1000" baseline="0"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import relating to the Products; and </a:t>
                      </a:r>
                      <a:endParaRPr lang="ko-KR" altLang="ko-KR" sz="1000" dirty="0" smtClean="0">
                        <a:effectLst/>
                        <a:latin typeface="+mn-ea"/>
                        <a:ea typeface="+mn-ea"/>
                        <a:cs typeface="Times New Roman" panose="02020603050405020304" pitchFamily="18" charset="0"/>
                      </a:endParaRPr>
                    </a:p>
                    <a:p>
                      <a:pPr marL="0" lvl="0" indent="0" algn="just">
                        <a:lnSpc>
                          <a:spcPct val="115000"/>
                        </a:lnSpc>
                        <a:spcAft>
                          <a:spcPts val="600"/>
                        </a:spcAft>
                        <a:buFont typeface="+mj-lt"/>
                        <a:buNone/>
                      </a:pPr>
                      <a:r>
                        <a:rPr lang="en-US" altLang="ko-KR" sz="1000" dirty="0" smtClean="0">
                          <a:effectLst/>
                          <a:latin typeface="+mn-ea"/>
                          <a:ea typeface="+mn-ea"/>
                          <a:cs typeface="Times New Roman" panose="02020603050405020304" pitchFamily="18" charset="0"/>
                        </a:rPr>
                        <a:t>(c) carry out any other activities directly or indirectly incidental or related to the attainment of any and all of the foregoing businesses.</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971617847"/>
                  </a:ext>
                </a:extLst>
              </a:tr>
            </a:tbl>
          </a:graphicData>
        </a:graphic>
      </p:graphicFrame>
    </p:spTree>
    <p:extLst>
      <p:ext uri="{BB962C8B-B14F-4D97-AF65-F5344CB8AC3E}">
        <p14:creationId xmlns:p14="http://schemas.microsoft.com/office/powerpoint/2010/main" val="4341985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III. </a:t>
            </a:r>
            <a:r>
              <a:rPr lang="en-US" altLang="ko-KR" dirty="0"/>
              <a:t>Operation and Management of the Company </a:t>
            </a:r>
            <a:endParaRPr lang="ko-KR" altLang="en-US" sz="1000" dirty="0">
              <a:latin typeface="+mn-ea"/>
              <a:cs typeface="Times New Roman" panose="02020603050405020304" pitchFamily="18" charset="0"/>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3550"/>
            <a:ext cx="9163776" cy="276999"/>
          </a:xfrm>
          <a:prstGeom prst="rect">
            <a:avLst/>
          </a:prstGeom>
          <a:noFill/>
        </p:spPr>
        <p:txBody>
          <a:bodyPr wrap="square" rtlCol="0">
            <a:spAutoFit/>
          </a:bodyPr>
          <a:lstStyle/>
          <a:p>
            <a:r>
              <a:rPr lang="en-US" altLang="ko-KR" dirty="0">
                <a:latin typeface="+mn-ea"/>
                <a:ea typeface="+mn-ea"/>
              </a:rPr>
              <a:t>2</a:t>
            </a:r>
            <a:r>
              <a:rPr lang="en-US" altLang="ko-KR" dirty="0" smtClean="0">
                <a:latin typeface="+mn-ea"/>
                <a:ea typeface="+mn-ea"/>
              </a:rPr>
              <a:t>. </a:t>
            </a:r>
            <a:r>
              <a:rPr lang="en-US" altLang="ko-KR" dirty="0"/>
              <a:t>Name of the Company; Place of Business </a:t>
            </a:r>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2334889826"/>
              </p:ext>
            </p:extLst>
          </p:nvPr>
        </p:nvGraphicFramePr>
        <p:xfrm>
          <a:off x="439738" y="1038740"/>
          <a:ext cx="9188450" cy="2842978"/>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505676">
                <a:tc>
                  <a:txBody>
                    <a:bodyPr/>
                    <a:lstStyle/>
                    <a:p>
                      <a:pPr algn="ctr" latinLnBrk="1">
                        <a:lnSpc>
                          <a:spcPct val="110000"/>
                        </a:lnSpc>
                        <a:spcAft>
                          <a:spcPts val="60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600"/>
                        </a:spcAft>
                      </a:pPr>
                      <a:r>
                        <a:rPr lang="ko-KR" altLang="en-US" sz="1000" dirty="0" smtClean="0">
                          <a:effectLst/>
                          <a:latin typeface="+mn-ea"/>
                          <a:ea typeface="+mn-ea"/>
                          <a:cs typeface="Times New Roman" panose="02020603050405020304" pitchFamily="18" charset="0"/>
                        </a:rPr>
                        <a:t>대상회사의 상호 및 </a:t>
                      </a:r>
                      <a:r>
                        <a:rPr lang="ko-KR" altLang="en-US" sz="1000" dirty="0" err="1" smtClean="0">
                          <a:effectLst/>
                          <a:latin typeface="+mn-ea"/>
                          <a:ea typeface="+mn-ea"/>
                          <a:cs typeface="Times New Roman" panose="02020603050405020304" pitchFamily="18" charset="0"/>
                        </a:rPr>
                        <a:t>사업장소를</a:t>
                      </a:r>
                      <a:r>
                        <a:rPr lang="ko-KR" altLang="en-US" sz="1000" dirty="0" smtClean="0">
                          <a:effectLst/>
                          <a:latin typeface="+mn-ea"/>
                          <a:ea typeface="+mn-ea"/>
                          <a:cs typeface="Times New Roman" panose="02020603050405020304" pitchFamily="18" charset="0"/>
                        </a:rPr>
                        <a:t> 정함</a:t>
                      </a:r>
                      <a:r>
                        <a:rPr lang="en-US" altLang="ko-KR" sz="1000" dirty="0" smtClean="0">
                          <a:effectLst/>
                          <a:latin typeface="+mn-ea"/>
                          <a:ea typeface="+mn-ea"/>
                          <a:cs typeface="Times New Roman" panose="02020603050405020304" pitchFamily="18" charset="0"/>
                        </a:rPr>
                        <a:t>.</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285109">
                <a:tc>
                  <a:txBody>
                    <a:bodyPr/>
                    <a:lstStyle/>
                    <a:p>
                      <a:pPr algn="ctr" latinLnBrk="1">
                        <a:lnSpc>
                          <a:spcPct val="110000"/>
                        </a:lnSpc>
                        <a:spcAft>
                          <a:spcPts val="60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just" latinLnBrk="1">
                        <a:lnSpc>
                          <a:spcPct val="115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통상적으로 이미 설립된 대상회사의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그 상호나 본점 소재지 등 사업 장소를 주주간 계약에서 정하지는 아니함</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228600" indent="-228600" algn="just" latinLnBrk="1">
                        <a:lnSpc>
                          <a:spcPct val="115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다만</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지분구조</a:t>
                      </a:r>
                      <a:r>
                        <a:rPr lang="en-US" altLang="ko-KR" sz="1000" dirty="0" smtClean="0">
                          <a:effectLst/>
                          <a:latin typeface="+mn-ea"/>
                          <a:ea typeface="+mn-ea"/>
                          <a:cs typeface="Times New Roman" panose="02020603050405020304" pitchFamily="18" charset="0"/>
                        </a:rPr>
                        <a:t>(50:50)</a:t>
                      </a:r>
                      <a:r>
                        <a:rPr lang="ko-KR" altLang="ko-KR" sz="1000" dirty="0" smtClean="0">
                          <a:effectLst/>
                          <a:latin typeface="+mn-ea"/>
                          <a:ea typeface="+mn-ea"/>
                          <a:cs typeface="Times New Roman" panose="02020603050405020304" pitchFamily="18" charset="0"/>
                        </a:rPr>
                        <a:t>나</a:t>
                      </a:r>
                      <a:r>
                        <a:rPr lang="en-US" altLang="ko-KR" sz="1000" dirty="0" smtClean="0">
                          <a:effectLst/>
                          <a:latin typeface="+mn-ea"/>
                          <a:ea typeface="+mn-ea"/>
                          <a:cs typeface="Times New Roman" panose="02020603050405020304" pitchFamily="18" charset="0"/>
                        </a:rPr>
                        <a:t> PMI </a:t>
                      </a:r>
                      <a:r>
                        <a:rPr lang="ko-KR" altLang="ko-KR" sz="1000" dirty="0" smtClean="0">
                          <a:effectLst/>
                          <a:latin typeface="+mn-ea"/>
                          <a:ea typeface="+mn-ea"/>
                          <a:cs typeface="Times New Roman" panose="02020603050405020304" pitchFamily="18" charset="0"/>
                        </a:rPr>
                        <a:t>등 고려 요소에 따라 대상회사의 상호나 사업 장소를 새롭게 바꾸는 것이 필요할 수 있으며</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a:t>
                      </a:r>
                      <a:r>
                        <a:rPr lang="ko-KR" altLang="ko-KR" sz="1000" dirty="0" err="1" smtClean="0">
                          <a:effectLst/>
                          <a:latin typeface="+mn-ea"/>
                          <a:ea typeface="+mn-ea"/>
                          <a:cs typeface="Times New Roman" panose="02020603050405020304" pitchFamily="18" charset="0"/>
                        </a:rPr>
                        <a:t>지분율에</a:t>
                      </a:r>
                      <a:r>
                        <a:rPr lang="ko-KR" altLang="ko-KR" sz="1000" dirty="0" smtClean="0">
                          <a:effectLst/>
                          <a:latin typeface="+mn-ea"/>
                          <a:ea typeface="+mn-ea"/>
                          <a:cs typeface="Times New Roman" panose="02020603050405020304" pitchFamily="18" charset="0"/>
                        </a:rPr>
                        <a:t> 관계없이 당사자들의 사업적 필요에 따라서도 포함될 수도 있음</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228600" indent="-228600">
                        <a:spcAft>
                          <a:spcPts val="600"/>
                        </a:spcAft>
                        <a:buFont typeface="+mj-lt"/>
                        <a:buAutoNum type="arabicPeriod"/>
                      </a:pPr>
                      <a:r>
                        <a:rPr lang="ko-KR" altLang="ko-KR" sz="1000" dirty="0" smtClean="0">
                          <a:effectLst/>
                          <a:latin typeface="+mn-ea"/>
                          <a:ea typeface="+mn-ea"/>
                          <a:cs typeface="Times New Roman" panose="02020603050405020304" pitchFamily="18" charset="0"/>
                        </a:rPr>
                        <a:t>상호의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주주간 계약 체결 전 당사자들이 합의한 상호가 사용 가능한지 확인이 필요하며</a:t>
                      </a:r>
                      <a:r>
                        <a:rPr lang="en-US"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필요한 경우 상호 선점 또는 상호 가등기를 통하여 상호를 확보하여 두는 것도 필요할 수 있음</a:t>
                      </a:r>
                      <a:endParaRPr lang="ko-KR" altLang="en-US" sz="1000" b="0" dirty="0" smtClean="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1052193">
                <a:tc>
                  <a:txBody>
                    <a:bodyPr/>
                    <a:lstStyle/>
                    <a:p>
                      <a:pPr algn="ctr" latinLnBrk="1">
                        <a:lnSpc>
                          <a:spcPct val="110000"/>
                        </a:lnSpc>
                        <a:spcAft>
                          <a:spcPts val="60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SHA </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600"/>
                        </a:spcAft>
                      </a:pPr>
                      <a:r>
                        <a:rPr lang="en-US" altLang="ko-KR" sz="1000" dirty="0" smtClean="0">
                          <a:effectLst/>
                          <a:latin typeface="+mn-ea"/>
                          <a:ea typeface="+mn-ea"/>
                          <a:cs typeface="Times New Roman" panose="02020603050405020304" pitchFamily="18" charset="0"/>
                        </a:rPr>
                        <a:t>2.2</a:t>
                      </a:r>
                      <a:r>
                        <a:rPr lang="en-US" altLang="ko-KR" sz="1000"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Name of the Company</a:t>
                      </a:r>
                      <a:r>
                        <a:rPr lang="en-US" altLang="ko-KR" sz="1000" dirty="0" smtClean="0">
                          <a:effectLst/>
                          <a:latin typeface="+mn-ea"/>
                          <a:ea typeface="+mn-ea"/>
                          <a:cs typeface="Times New Roman" panose="02020603050405020304" pitchFamily="18" charset="0"/>
                        </a:rPr>
                        <a:t>.  The name of the Company shall be [•] in Korean, and [•] in English.</a:t>
                      </a:r>
                    </a:p>
                    <a:p>
                      <a:pPr algn="just">
                        <a:lnSpc>
                          <a:spcPct val="115000"/>
                        </a:lnSpc>
                        <a:spcAft>
                          <a:spcPts val="600"/>
                        </a:spcAft>
                      </a:pPr>
                      <a:r>
                        <a:rPr lang="en-US" altLang="ko-KR" sz="1000" dirty="0" smtClean="0">
                          <a:effectLst/>
                          <a:latin typeface="+mn-ea"/>
                          <a:ea typeface="+mn-ea"/>
                          <a:cs typeface="Times New Roman" panose="02020603050405020304" pitchFamily="18" charset="0"/>
                        </a:rPr>
                        <a:t>2.3</a:t>
                      </a:r>
                      <a:r>
                        <a:rPr lang="en-US" altLang="ko-KR" sz="1000"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Place of Business</a:t>
                      </a:r>
                      <a:r>
                        <a:rPr lang="en-US" altLang="ko-KR" sz="1000" dirty="0" smtClean="0">
                          <a:effectLst/>
                          <a:latin typeface="+mn-ea"/>
                          <a:ea typeface="+mn-ea"/>
                          <a:cs typeface="Times New Roman" panose="02020603050405020304" pitchFamily="18" charset="0"/>
                        </a:rPr>
                        <a:t>.  The principal place of the businesses of the Company shall be located at [•], or at such other place to be determined by the board of directors of the Company (the “Board of Directors”).</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971617847"/>
                  </a:ext>
                </a:extLst>
              </a:tr>
            </a:tbl>
          </a:graphicData>
        </a:graphic>
      </p:graphicFrame>
    </p:spTree>
    <p:extLst>
      <p:ext uri="{BB962C8B-B14F-4D97-AF65-F5344CB8AC3E}">
        <p14:creationId xmlns:p14="http://schemas.microsoft.com/office/powerpoint/2010/main" val="18546843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III. </a:t>
            </a:r>
            <a:r>
              <a:rPr lang="en-US" altLang="ko-KR" dirty="0"/>
              <a:t>Operation and Management of the Company </a:t>
            </a:r>
            <a:endParaRPr lang="ko-KR" altLang="en-US" sz="1000" dirty="0">
              <a:latin typeface="+mn-ea"/>
              <a:cs typeface="Times New Roman" panose="02020603050405020304" pitchFamily="18" charset="0"/>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3550"/>
            <a:ext cx="9163776" cy="276999"/>
          </a:xfrm>
          <a:prstGeom prst="rect">
            <a:avLst/>
          </a:prstGeom>
          <a:noFill/>
        </p:spPr>
        <p:txBody>
          <a:bodyPr wrap="square" rtlCol="0">
            <a:spAutoFit/>
          </a:bodyPr>
          <a:lstStyle/>
          <a:p>
            <a:r>
              <a:rPr lang="en-US" altLang="ko-KR" dirty="0">
                <a:latin typeface="+mn-ea"/>
                <a:ea typeface="+mn-ea"/>
              </a:rPr>
              <a:t>3</a:t>
            </a:r>
            <a:r>
              <a:rPr lang="en-US" altLang="ko-KR" dirty="0" smtClean="0">
                <a:latin typeface="+mn-ea"/>
                <a:ea typeface="+mn-ea"/>
              </a:rPr>
              <a:t>. </a:t>
            </a:r>
            <a:r>
              <a:rPr lang="en-US" altLang="ko-KR" dirty="0"/>
              <a:t>Articles of Incorporation </a:t>
            </a:r>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3781073542"/>
              </p:ext>
            </p:extLst>
          </p:nvPr>
        </p:nvGraphicFramePr>
        <p:xfrm>
          <a:off x="439738" y="1038740"/>
          <a:ext cx="9188450" cy="3138813"/>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591835">
                <a:tc>
                  <a:txBody>
                    <a:bodyPr/>
                    <a:lstStyle/>
                    <a:p>
                      <a:pPr algn="ctr" latinLnBrk="1">
                        <a:lnSpc>
                          <a:spcPct val="110000"/>
                        </a:lnSpc>
                        <a:spcAft>
                          <a:spcPts val="60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600"/>
                        </a:spcAft>
                      </a:pPr>
                      <a:r>
                        <a:rPr lang="ko-KR" altLang="en-US" sz="1000" dirty="0" smtClean="0">
                          <a:effectLst/>
                          <a:latin typeface="+mn-ea"/>
                          <a:ea typeface="+mn-ea"/>
                          <a:cs typeface="Times New Roman" panose="02020603050405020304" pitchFamily="18" charset="0"/>
                        </a:rPr>
                        <a:t>정관은 대상회사의 지배구조와 관련한 근본적인 규정에 해당하므로</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주주간 계약과 정관이 상충하는 경우</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정관의 변경을 통하여 주주간 계약을 통해 구현하고자 하는 지배구조를 명확하게 정관에 규정하는 것이 필요함</a:t>
                      </a:r>
                      <a:r>
                        <a:rPr lang="en-US" altLang="ko-KR" sz="1000" dirty="0" smtClean="0">
                          <a:effectLst/>
                          <a:latin typeface="+mn-ea"/>
                          <a:ea typeface="+mn-ea"/>
                          <a:cs typeface="Times New Roman" panose="02020603050405020304" pitchFamily="18" charset="0"/>
                        </a:rPr>
                        <a:t>.</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480178">
                <a:tc>
                  <a:txBody>
                    <a:bodyPr/>
                    <a:lstStyle/>
                    <a:p>
                      <a:pPr algn="ctr" latinLnBrk="1">
                        <a:lnSpc>
                          <a:spcPct val="110000"/>
                        </a:lnSpc>
                        <a:spcAft>
                          <a:spcPts val="60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just" latinLnBrk="1">
                        <a:lnSpc>
                          <a:spcPct val="115000"/>
                        </a:lnSpc>
                        <a:spcAft>
                          <a:spcPts val="600"/>
                        </a:spcAft>
                        <a:buFont typeface="+mj-lt"/>
                        <a:buAutoNum type="arabicPeriod"/>
                      </a:pPr>
                      <a:r>
                        <a:rPr lang="en-US" altLang="ko-KR" sz="1000" dirty="0" smtClean="0">
                          <a:effectLst/>
                          <a:latin typeface="+mn-ea"/>
                          <a:ea typeface="+mn-ea"/>
                          <a:cs typeface="Times New Roman" panose="02020603050405020304" pitchFamily="18" charset="0"/>
                        </a:rPr>
                        <a:t>LG H&amp;H</a:t>
                      </a:r>
                      <a:r>
                        <a:rPr lang="ko-KR" altLang="en-US" sz="1000" dirty="0" smtClean="0">
                          <a:effectLst/>
                          <a:latin typeface="+mn-ea"/>
                          <a:ea typeface="+mn-ea"/>
                          <a:cs typeface="Times New Roman" panose="02020603050405020304" pitchFamily="18" charset="0"/>
                        </a:rPr>
                        <a:t>가 대주주인 경우에는 가능한 한 정관에 규정하기 않고 계약상의 의무로만 남겨두는 것이 좋고</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소수 주주인 경우에는 계약 내용을 정관에 명시하여 </a:t>
                      </a:r>
                      <a:r>
                        <a:rPr lang="ko-KR" altLang="en-US" sz="1000" dirty="0" err="1" smtClean="0">
                          <a:effectLst/>
                          <a:latin typeface="+mn-ea"/>
                          <a:ea typeface="+mn-ea"/>
                          <a:cs typeface="Times New Roman" panose="02020603050405020304" pitchFamily="18" charset="0"/>
                        </a:rPr>
                        <a:t>준거지법의</a:t>
                      </a:r>
                      <a:r>
                        <a:rPr lang="ko-KR" altLang="en-US" sz="1000" dirty="0" smtClean="0">
                          <a:effectLst/>
                          <a:latin typeface="+mn-ea"/>
                          <a:ea typeface="+mn-ea"/>
                          <a:cs typeface="Times New Roman" panose="02020603050405020304" pitchFamily="18" charset="0"/>
                        </a:rPr>
                        <a:t> </a:t>
                      </a:r>
                      <a:r>
                        <a:rPr lang="ko-KR" altLang="en-US" sz="1000" dirty="0" err="1" smtClean="0">
                          <a:effectLst/>
                          <a:latin typeface="+mn-ea"/>
                          <a:ea typeface="+mn-ea"/>
                          <a:cs typeface="Times New Roman" panose="02020603050405020304" pitchFamily="18" charset="0"/>
                        </a:rPr>
                        <a:t>회사법에</a:t>
                      </a:r>
                      <a:r>
                        <a:rPr lang="ko-KR" altLang="en-US" sz="1000" dirty="0" smtClean="0">
                          <a:effectLst/>
                          <a:latin typeface="+mn-ea"/>
                          <a:ea typeface="+mn-ea"/>
                          <a:cs typeface="Times New Roman" panose="02020603050405020304" pitchFamily="18" charset="0"/>
                        </a:rPr>
                        <a:t> 따른 보호를 받을 수 있도록 하는 것이 바람직할 것임</a:t>
                      </a:r>
                      <a:r>
                        <a:rPr lang="en-US" altLang="ko-KR" sz="1000" dirty="0" smtClean="0">
                          <a:effectLst/>
                          <a:latin typeface="+mn-ea"/>
                          <a:ea typeface="+mn-ea"/>
                          <a:cs typeface="Times New Roman" panose="02020603050405020304" pitchFamily="18" charset="0"/>
                        </a:rPr>
                        <a:t>. </a:t>
                      </a:r>
                    </a:p>
                    <a:p>
                      <a:pPr marL="228600" indent="-228600" algn="just" latinLnBrk="1">
                        <a:lnSpc>
                          <a:spcPct val="115000"/>
                        </a:lnSpc>
                        <a:spcAft>
                          <a:spcPts val="600"/>
                        </a:spcAft>
                        <a:buFont typeface="+mj-lt"/>
                        <a:buAutoNum type="arabicPeriod"/>
                      </a:pPr>
                      <a:r>
                        <a:rPr lang="ko-KR" altLang="en-US" sz="1000" dirty="0" smtClean="0">
                          <a:effectLst/>
                          <a:latin typeface="+mn-ea"/>
                          <a:ea typeface="+mn-ea"/>
                          <a:cs typeface="Times New Roman" panose="02020603050405020304" pitchFamily="18" charset="0"/>
                        </a:rPr>
                        <a:t>관련하여</a:t>
                      </a:r>
                      <a:r>
                        <a:rPr lang="en-US" altLang="ko-KR" sz="1000" dirty="0" smtClean="0">
                          <a:effectLst/>
                          <a:latin typeface="+mn-ea"/>
                          <a:ea typeface="+mn-ea"/>
                          <a:cs typeface="Times New Roman" panose="02020603050405020304" pitchFamily="18" charset="0"/>
                        </a:rPr>
                        <a:t>, </a:t>
                      </a:r>
                      <a:r>
                        <a:rPr lang="ko-KR" altLang="en-US" sz="1000" dirty="0" err="1" smtClean="0">
                          <a:effectLst/>
                          <a:latin typeface="+mn-ea"/>
                          <a:ea typeface="+mn-ea"/>
                          <a:cs typeface="Times New Roman" panose="02020603050405020304" pitchFamily="18" charset="0"/>
                        </a:rPr>
                        <a:t>준거지법상</a:t>
                      </a:r>
                      <a:r>
                        <a:rPr lang="ko-KR" altLang="en-US" sz="1000" dirty="0" smtClean="0">
                          <a:effectLst/>
                          <a:latin typeface="+mn-ea"/>
                          <a:ea typeface="+mn-ea"/>
                          <a:cs typeface="Times New Roman" panose="02020603050405020304" pitchFamily="18" charset="0"/>
                        </a:rPr>
                        <a:t> 주주간 계약의 내용 전부 또는 일부가 정관에 규정되었을 때 해당 정관 조항이 무효가 될 수 있는지 여부에 대해서는 </a:t>
                      </a:r>
                      <a:r>
                        <a:rPr lang="ko-KR" altLang="en-US" sz="1000" dirty="0" err="1" smtClean="0">
                          <a:effectLst/>
                          <a:latin typeface="+mn-ea"/>
                          <a:ea typeface="+mn-ea"/>
                          <a:cs typeface="Times New Roman" panose="02020603050405020304" pitchFamily="18" charset="0"/>
                        </a:rPr>
                        <a:t>준거지법의</a:t>
                      </a:r>
                      <a:r>
                        <a:rPr lang="ko-KR" altLang="en-US" sz="1000" dirty="0" smtClean="0">
                          <a:effectLst/>
                          <a:latin typeface="+mn-ea"/>
                          <a:ea typeface="+mn-ea"/>
                          <a:cs typeface="Times New Roman" panose="02020603050405020304" pitchFamily="18" charset="0"/>
                        </a:rPr>
                        <a:t> 법률전문가와 확인하는 것이 필요함</a:t>
                      </a:r>
                      <a:r>
                        <a:rPr lang="en-US" altLang="ko-KR" sz="1000" dirty="0" smtClean="0">
                          <a:effectLst/>
                          <a:latin typeface="+mn-ea"/>
                          <a:ea typeface="+mn-ea"/>
                          <a:cs typeface="Times New Roman" panose="02020603050405020304" pitchFamily="18" charset="0"/>
                        </a:rPr>
                        <a:t>. </a:t>
                      </a:r>
                    </a:p>
                    <a:p>
                      <a:pPr marL="228600" indent="-228600" algn="just" latinLnBrk="1">
                        <a:lnSpc>
                          <a:spcPct val="115000"/>
                        </a:lnSpc>
                        <a:spcAft>
                          <a:spcPts val="600"/>
                        </a:spcAft>
                        <a:buFont typeface="+mj-lt"/>
                        <a:buAutoNum type="arabicPeriod"/>
                      </a:pPr>
                      <a:r>
                        <a:rPr lang="ko-KR" altLang="en-US" sz="1000" dirty="0" err="1" smtClean="0">
                          <a:effectLst/>
                          <a:latin typeface="+mn-ea"/>
                          <a:ea typeface="+mn-ea"/>
                          <a:cs typeface="Times New Roman" panose="02020603050405020304" pitchFamily="18" charset="0"/>
                        </a:rPr>
                        <a:t>준거지법에</a:t>
                      </a:r>
                      <a:r>
                        <a:rPr lang="ko-KR" altLang="en-US" sz="1000" dirty="0" smtClean="0">
                          <a:effectLst/>
                          <a:latin typeface="+mn-ea"/>
                          <a:ea typeface="+mn-ea"/>
                          <a:cs typeface="Times New Roman" panose="02020603050405020304" pitchFamily="18" charset="0"/>
                        </a:rPr>
                        <a:t> 따라 무효가 될 수 있는 경우에는</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해당 내용은 주주간 계약상의 계약적 의무</a:t>
                      </a:r>
                      <a:r>
                        <a:rPr lang="en-US" altLang="ko-KR" sz="1000" dirty="0" smtClean="0">
                          <a:effectLst/>
                          <a:latin typeface="+mn-ea"/>
                          <a:ea typeface="+mn-ea"/>
                          <a:cs typeface="Times New Roman" panose="02020603050405020304" pitchFamily="18" charset="0"/>
                        </a:rPr>
                        <a:t>(contractual obligation)</a:t>
                      </a:r>
                      <a:r>
                        <a:rPr lang="ko-KR" altLang="en-US" sz="1000" dirty="0" smtClean="0">
                          <a:effectLst/>
                          <a:latin typeface="+mn-ea"/>
                          <a:ea typeface="+mn-ea"/>
                          <a:cs typeface="Times New Roman" panose="02020603050405020304" pitchFamily="18" charset="0"/>
                        </a:rPr>
                        <a:t>로 두고</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이러한 계약적 의무의 이행을 강제하기 위한 조치</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예를 들어</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의무 위반의 경우의 </a:t>
                      </a:r>
                      <a:r>
                        <a:rPr lang="en-US" altLang="ko-KR" sz="1000" dirty="0" smtClean="0">
                          <a:effectLst/>
                          <a:latin typeface="+mn-ea"/>
                          <a:ea typeface="+mn-ea"/>
                          <a:cs typeface="Times New Roman" panose="02020603050405020304" pitchFamily="18" charset="0"/>
                        </a:rPr>
                        <a:t>penalty put option</a:t>
                      </a:r>
                      <a:r>
                        <a:rPr lang="ko-KR" altLang="en-US" sz="1000" dirty="0" smtClean="0">
                          <a:effectLst/>
                          <a:latin typeface="+mn-ea"/>
                          <a:ea typeface="+mn-ea"/>
                          <a:cs typeface="Times New Roman" panose="02020603050405020304" pitchFamily="18" charset="0"/>
                        </a:rPr>
                        <a:t>이나 </a:t>
                      </a:r>
                      <a:r>
                        <a:rPr lang="ko-KR" altLang="en-US" sz="1000" dirty="0" err="1" smtClean="0">
                          <a:effectLst/>
                          <a:latin typeface="+mn-ea"/>
                          <a:ea typeface="+mn-ea"/>
                          <a:cs typeface="Times New Roman" panose="02020603050405020304" pitchFamily="18" charset="0"/>
                        </a:rPr>
                        <a:t>위약벌</a:t>
                      </a:r>
                      <a:r>
                        <a:rPr lang="ko-KR" altLang="en-US" sz="1000" dirty="0" smtClean="0">
                          <a:effectLst/>
                          <a:latin typeface="+mn-ea"/>
                          <a:ea typeface="+mn-ea"/>
                          <a:cs typeface="Times New Roman" panose="02020603050405020304" pitchFamily="18" charset="0"/>
                        </a:rPr>
                        <a:t> 등</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를 주주간 계약에 추가하는 것이 필요함</a:t>
                      </a:r>
                      <a:r>
                        <a:rPr lang="en-US" altLang="ko-KR" sz="1000" dirty="0" smtClean="0">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1066800">
                <a:tc>
                  <a:txBody>
                    <a:bodyPr/>
                    <a:lstStyle/>
                    <a:p>
                      <a:pPr algn="ctr" latinLnBrk="1">
                        <a:lnSpc>
                          <a:spcPct val="110000"/>
                        </a:lnSpc>
                        <a:spcAft>
                          <a:spcPts val="60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SHA </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600"/>
                        </a:spcAft>
                      </a:pPr>
                      <a:r>
                        <a:rPr lang="en-US" altLang="ko-KR" sz="1000" dirty="0" smtClean="0">
                          <a:effectLst/>
                          <a:latin typeface="+mn-ea"/>
                          <a:ea typeface="+mn-ea"/>
                          <a:cs typeface="Times New Roman" panose="02020603050405020304" pitchFamily="18" charset="0"/>
                        </a:rPr>
                        <a:t>2.4  </a:t>
                      </a:r>
                      <a:r>
                        <a:rPr lang="en-US" altLang="ko-KR" sz="1000" u="sng" dirty="0" smtClean="0">
                          <a:effectLst/>
                          <a:latin typeface="+mn-ea"/>
                          <a:ea typeface="+mn-ea"/>
                          <a:cs typeface="Times New Roman" panose="02020603050405020304" pitchFamily="18" charset="0"/>
                        </a:rPr>
                        <a:t>Articles of Incorporation</a:t>
                      </a:r>
                      <a:r>
                        <a:rPr lang="en-US" altLang="ko-KR" sz="1000" dirty="0" smtClean="0">
                          <a:effectLst/>
                          <a:latin typeface="+mn-ea"/>
                          <a:ea typeface="+mn-ea"/>
                          <a:cs typeface="Times New Roman" panose="02020603050405020304" pitchFamily="18" charset="0"/>
                        </a:rPr>
                        <a:t>.  The Shareholders shall cause the articles of incorporation of the Company (the “</a:t>
                      </a:r>
                      <a:r>
                        <a:rPr lang="en-US" altLang="ko-KR" sz="1000" u="sng" dirty="0" smtClean="0">
                          <a:effectLst/>
                          <a:latin typeface="+mn-ea"/>
                          <a:ea typeface="+mn-ea"/>
                          <a:cs typeface="Times New Roman" panose="02020603050405020304" pitchFamily="18" charset="0"/>
                        </a:rPr>
                        <a:t>Articles of Incorporation</a:t>
                      </a:r>
                      <a:r>
                        <a:rPr lang="en-US" altLang="ko-KR" sz="1000" dirty="0" smtClean="0">
                          <a:effectLst/>
                          <a:latin typeface="+mn-ea"/>
                          <a:ea typeface="+mn-ea"/>
                          <a:cs typeface="Times New Roman" panose="02020603050405020304" pitchFamily="18" charset="0"/>
                        </a:rPr>
                        <a:t>”) to be amended in the form attached hereto as </a:t>
                      </a:r>
                      <a:r>
                        <a:rPr lang="en-US" altLang="ko-KR" sz="1000" u="sng" dirty="0" smtClean="0">
                          <a:effectLst/>
                          <a:latin typeface="+mn-ea"/>
                          <a:ea typeface="+mn-ea"/>
                          <a:cs typeface="Times New Roman" panose="02020603050405020304" pitchFamily="18" charset="0"/>
                        </a:rPr>
                        <a:t>Exhibit A</a:t>
                      </a:r>
                      <a:r>
                        <a:rPr lang="en-US" altLang="ko-KR" sz="1000" dirty="0" smtClean="0">
                          <a:effectLst/>
                          <a:latin typeface="+mn-ea"/>
                          <a:ea typeface="+mn-ea"/>
                          <a:cs typeface="Times New Roman" panose="02020603050405020304" pitchFamily="18" charset="0"/>
                        </a:rPr>
                        <a:t> and the Shareholders shall cause the Articles of Incorporation to be amended from time to time, as may be required, to ensure that it at all times shall conform with the terms and conditions of this Agreement and any amendments to this Agreement, subject at all times to applicable Law.</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971617847"/>
                  </a:ext>
                </a:extLst>
              </a:tr>
            </a:tbl>
          </a:graphicData>
        </a:graphic>
      </p:graphicFrame>
    </p:spTree>
    <p:extLst>
      <p:ext uri="{BB962C8B-B14F-4D97-AF65-F5344CB8AC3E}">
        <p14:creationId xmlns:p14="http://schemas.microsoft.com/office/powerpoint/2010/main" val="30607047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III. </a:t>
            </a:r>
            <a:r>
              <a:rPr lang="en-US" altLang="ko-KR" dirty="0"/>
              <a:t>Operation and Management of the Company </a:t>
            </a:r>
            <a:endParaRPr lang="ko-KR" altLang="en-US" sz="1000" dirty="0">
              <a:latin typeface="+mn-ea"/>
              <a:cs typeface="Times New Roman" panose="02020603050405020304" pitchFamily="18" charset="0"/>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3550"/>
            <a:ext cx="9163776" cy="461665"/>
          </a:xfrm>
          <a:prstGeom prst="rect">
            <a:avLst/>
          </a:prstGeom>
          <a:noFill/>
        </p:spPr>
        <p:txBody>
          <a:bodyPr wrap="square" rtlCol="0">
            <a:spAutoFit/>
          </a:bodyPr>
          <a:lstStyle/>
          <a:p>
            <a:r>
              <a:rPr lang="en-US" altLang="ko-KR" dirty="0" smtClean="0">
                <a:latin typeface="+mn-ea"/>
                <a:ea typeface="+mn-ea"/>
              </a:rPr>
              <a:t>4. </a:t>
            </a:r>
            <a:r>
              <a:rPr lang="en-US" altLang="ko-KR" dirty="0"/>
              <a:t>Issuance of Additional Shares; </a:t>
            </a:r>
            <a:r>
              <a:rPr lang="en-US" altLang="ko-KR"/>
              <a:t>Preemptive </a:t>
            </a:r>
            <a:r>
              <a:rPr lang="en-US" altLang="ko-KR" smtClean="0"/>
              <a:t>Rights (1)</a:t>
            </a:r>
            <a:endParaRPr lang="ko-KR" altLang="ko-KR" dirty="0"/>
          </a:p>
          <a:p>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2013365684"/>
              </p:ext>
            </p:extLst>
          </p:nvPr>
        </p:nvGraphicFramePr>
        <p:xfrm>
          <a:off x="439738" y="1038740"/>
          <a:ext cx="9188450" cy="4074572"/>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422507">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원칙</a:t>
                      </a:r>
                      <a:r>
                        <a:rPr lang="en-US" sz="1000" b="1" dirty="0">
                          <a:solidFill>
                            <a:schemeClr val="tx1"/>
                          </a:solidFill>
                          <a:effectLst/>
                          <a:latin typeface="+mn-ea"/>
                          <a:ea typeface="+mn-ea"/>
                          <a:cs typeface="Times New Roman" panose="02020603050405020304" pitchFamily="18" charset="0"/>
                        </a:rPr>
                        <a:t>/</a:t>
                      </a:r>
                      <a:r>
                        <a:rPr lang="ko-KR" sz="1000" b="1"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smtClean="0">
                          <a:effectLst/>
                          <a:latin typeface="+mn-ea"/>
                          <a:ea typeface="+mn-ea"/>
                          <a:cs typeface="Times New Roman" panose="02020603050405020304" pitchFamily="18" charset="0"/>
                        </a:rPr>
                        <a:t>대상회사의 신주 발행 및 신주인수권에 관한 사항을 정함</a:t>
                      </a:r>
                      <a:r>
                        <a:rPr lang="en-US" altLang="ko-KR" sz="1000" smtClean="0">
                          <a:effectLst/>
                          <a:latin typeface="+mn-ea"/>
                          <a:ea typeface="+mn-ea"/>
                          <a:cs typeface="Times New Roman" panose="02020603050405020304" pitchFamily="18" charset="0"/>
                        </a:rPr>
                        <a:t>.</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r h="1595718">
                <a:tc>
                  <a:txBody>
                    <a:bodyPr/>
                    <a:lstStyle/>
                    <a:p>
                      <a:pPr algn="ctr" latinLnBrk="1">
                        <a:lnSpc>
                          <a:spcPct val="110000"/>
                        </a:lnSpc>
                        <a:spcAft>
                          <a:spcPts val="0"/>
                        </a:spcAft>
                      </a:pPr>
                      <a:r>
                        <a:rPr lang="en-US" sz="1000" b="1" dirty="0">
                          <a:solidFill>
                            <a:schemeClr val="tx1"/>
                          </a:solidFill>
                          <a:effectLst/>
                          <a:latin typeface="+mn-ea"/>
                          <a:ea typeface="+mn-ea"/>
                          <a:cs typeface="Times New Roman" panose="02020603050405020304" pitchFamily="18" charset="0"/>
                        </a:rPr>
                        <a:t>Checklist</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just" latinLnBrk="1">
                        <a:lnSpc>
                          <a:spcPct val="115000"/>
                        </a:lnSpc>
                        <a:spcAft>
                          <a:spcPts val="600"/>
                        </a:spcAft>
                        <a:buFont typeface="+mj-lt"/>
                        <a:buAutoNum type="arabicPeriod"/>
                      </a:pPr>
                      <a:r>
                        <a:rPr lang="ko-KR" altLang="en-US" sz="1000" dirty="0" smtClean="0">
                          <a:effectLst/>
                          <a:latin typeface="+mn-ea"/>
                          <a:ea typeface="+mn-ea"/>
                          <a:cs typeface="Times New Roman" panose="02020603050405020304" pitchFamily="18" charset="0"/>
                        </a:rPr>
                        <a:t>표준 </a:t>
                      </a:r>
                      <a:r>
                        <a:rPr lang="en-US" altLang="ko-KR" sz="1000" dirty="0" smtClean="0">
                          <a:effectLst/>
                          <a:latin typeface="+mn-ea"/>
                          <a:ea typeface="+mn-ea"/>
                          <a:cs typeface="Times New Roman" panose="02020603050405020304" pitchFamily="18" charset="0"/>
                        </a:rPr>
                        <a:t>SHA</a:t>
                      </a:r>
                      <a:r>
                        <a:rPr lang="ko-KR" altLang="en-US" sz="1000" dirty="0" smtClean="0">
                          <a:effectLst/>
                          <a:latin typeface="+mn-ea"/>
                          <a:ea typeface="+mn-ea"/>
                          <a:cs typeface="Times New Roman" panose="02020603050405020304" pitchFamily="18" charset="0"/>
                        </a:rPr>
                        <a:t>의 경우</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이사회에서 신주발행결의가 있는 경우</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실권하는 주식에 대하여 상대방이 인수할 수 있으며</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이에 대하여 </a:t>
                      </a:r>
                      <a:r>
                        <a:rPr lang="ko-KR" altLang="en-US" sz="1000" dirty="0" err="1" smtClean="0">
                          <a:effectLst/>
                          <a:latin typeface="+mn-ea"/>
                          <a:ea typeface="+mn-ea"/>
                          <a:cs typeface="Times New Roman" panose="02020603050405020304" pitchFamily="18" charset="0"/>
                        </a:rPr>
                        <a:t>지분율</a:t>
                      </a:r>
                      <a:r>
                        <a:rPr lang="ko-KR" altLang="en-US" sz="1000" dirty="0" smtClean="0">
                          <a:effectLst/>
                          <a:latin typeface="+mn-ea"/>
                          <a:ea typeface="+mn-ea"/>
                          <a:cs typeface="Times New Roman" panose="02020603050405020304" pitchFamily="18" charset="0"/>
                        </a:rPr>
                        <a:t> 희석 가능함을 전제로 규정하고 있음</a:t>
                      </a:r>
                      <a:r>
                        <a:rPr lang="en-US" altLang="ko-KR" sz="1000" dirty="0" smtClean="0">
                          <a:effectLst/>
                          <a:latin typeface="+mn-ea"/>
                          <a:ea typeface="+mn-ea"/>
                          <a:cs typeface="Times New Roman" panose="02020603050405020304" pitchFamily="18" charset="0"/>
                        </a:rPr>
                        <a:t>.</a:t>
                      </a:r>
                    </a:p>
                    <a:p>
                      <a:pPr marL="228600" indent="-228600" algn="just" latinLnBrk="1">
                        <a:lnSpc>
                          <a:spcPct val="115000"/>
                        </a:lnSpc>
                        <a:spcAft>
                          <a:spcPts val="600"/>
                        </a:spcAft>
                        <a:buFont typeface="+mj-lt"/>
                        <a:buAutoNum type="arabicPeriod"/>
                      </a:pPr>
                      <a:r>
                        <a:rPr lang="ko-KR" altLang="en-US" sz="1000" dirty="0" smtClean="0">
                          <a:effectLst/>
                          <a:latin typeface="+mn-ea"/>
                          <a:ea typeface="+mn-ea"/>
                          <a:cs typeface="Times New Roman" panose="02020603050405020304" pitchFamily="18" charset="0"/>
                        </a:rPr>
                        <a:t>다만</a:t>
                      </a:r>
                      <a:r>
                        <a:rPr lang="en-US" altLang="ko-KR" sz="1000" dirty="0" smtClean="0">
                          <a:effectLst/>
                          <a:latin typeface="+mn-ea"/>
                          <a:ea typeface="+mn-ea"/>
                          <a:cs typeface="Times New Roman" panose="02020603050405020304" pitchFamily="18" charset="0"/>
                        </a:rPr>
                        <a:t>, </a:t>
                      </a:r>
                      <a:r>
                        <a:rPr lang="ko-KR" altLang="en-US" sz="1000" dirty="0" err="1" smtClean="0">
                          <a:effectLst/>
                          <a:latin typeface="+mn-ea"/>
                          <a:ea typeface="+mn-ea"/>
                          <a:cs typeface="Times New Roman" panose="02020603050405020304" pitchFamily="18" charset="0"/>
                        </a:rPr>
                        <a:t>지분율</a:t>
                      </a:r>
                      <a:r>
                        <a:rPr lang="ko-KR" altLang="en-US" sz="1000" dirty="0" smtClean="0">
                          <a:effectLst/>
                          <a:latin typeface="+mn-ea"/>
                          <a:ea typeface="+mn-ea"/>
                          <a:cs typeface="Times New Roman" panose="02020603050405020304" pitchFamily="18" charset="0"/>
                        </a:rPr>
                        <a:t> 희석과 관련하여서는 대상회사의 </a:t>
                      </a:r>
                      <a:r>
                        <a:rPr lang="ko-KR" altLang="en-US" sz="1000" dirty="0" err="1" smtClean="0">
                          <a:effectLst/>
                          <a:latin typeface="+mn-ea"/>
                          <a:ea typeface="+mn-ea"/>
                          <a:cs typeface="Times New Roman" panose="02020603050405020304" pitchFamily="18" charset="0"/>
                        </a:rPr>
                        <a:t>재무상황상</a:t>
                      </a:r>
                      <a:r>
                        <a:rPr lang="ko-KR" altLang="en-US" sz="1000" dirty="0" smtClean="0">
                          <a:effectLst/>
                          <a:latin typeface="+mn-ea"/>
                          <a:ea typeface="+mn-ea"/>
                          <a:cs typeface="Times New Roman" panose="02020603050405020304" pitchFamily="18" charset="0"/>
                        </a:rPr>
                        <a:t> 유상증자가 반드시 필요한 경우에만 유상증자가 가능하도록 하는 등 안전장치를 두는 것도 고려할 수 있음</a:t>
                      </a:r>
                      <a:r>
                        <a:rPr lang="en-US" altLang="ko-KR" sz="1000" dirty="0" smtClean="0">
                          <a:effectLst/>
                          <a:latin typeface="+mn-ea"/>
                          <a:ea typeface="+mn-ea"/>
                          <a:cs typeface="Times New Roman" panose="02020603050405020304" pitchFamily="18" charset="0"/>
                        </a:rPr>
                        <a:t>. </a:t>
                      </a:r>
                    </a:p>
                    <a:p>
                      <a:pPr marL="228600" indent="-228600" algn="just" latinLnBrk="1">
                        <a:lnSpc>
                          <a:spcPct val="115000"/>
                        </a:lnSpc>
                        <a:spcAft>
                          <a:spcPts val="600"/>
                        </a:spcAft>
                        <a:buFont typeface="+mj-lt"/>
                        <a:buAutoNum type="arabicPeriod"/>
                      </a:pPr>
                      <a:r>
                        <a:rPr lang="en-US" altLang="ko-KR" sz="1000" dirty="0" smtClean="0">
                          <a:effectLst/>
                          <a:latin typeface="+mn-ea"/>
                          <a:ea typeface="+mn-ea"/>
                          <a:cs typeface="Times New Roman" panose="02020603050405020304" pitchFamily="18" charset="0"/>
                        </a:rPr>
                        <a:t>LG H&amp;H</a:t>
                      </a:r>
                      <a:r>
                        <a:rPr lang="ko-KR" altLang="en-US" sz="1000" dirty="0" smtClean="0">
                          <a:effectLst/>
                          <a:latin typeface="+mn-ea"/>
                          <a:ea typeface="+mn-ea"/>
                          <a:cs typeface="Times New Roman" panose="02020603050405020304" pitchFamily="18" charset="0"/>
                        </a:rPr>
                        <a:t>가 </a:t>
                      </a:r>
                      <a:r>
                        <a:rPr lang="ko-KR" altLang="en-US" sz="1000" dirty="0" err="1" smtClean="0">
                          <a:effectLst/>
                          <a:latin typeface="+mn-ea"/>
                          <a:ea typeface="+mn-ea"/>
                          <a:cs typeface="Times New Roman" panose="02020603050405020304" pitchFamily="18" charset="0"/>
                        </a:rPr>
                        <a:t>소수주주인</a:t>
                      </a:r>
                      <a:r>
                        <a:rPr lang="ko-KR" altLang="en-US" sz="1000" dirty="0" smtClean="0">
                          <a:effectLst/>
                          <a:latin typeface="+mn-ea"/>
                          <a:ea typeface="+mn-ea"/>
                          <a:cs typeface="Times New Roman" panose="02020603050405020304" pitchFamily="18" charset="0"/>
                        </a:rPr>
                        <a:t> 경우</a:t>
                      </a:r>
                      <a:r>
                        <a:rPr lang="en-US" altLang="ko-KR" sz="1000" dirty="0" smtClean="0">
                          <a:effectLst/>
                          <a:latin typeface="+mn-ea"/>
                          <a:ea typeface="+mn-ea"/>
                          <a:cs typeface="Times New Roman" panose="02020603050405020304" pitchFamily="18" charset="0"/>
                        </a:rPr>
                        <a:t>, </a:t>
                      </a:r>
                      <a:r>
                        <a:rPr lang="ko-KR" altLang="en-US" sz="1000" dirty="0" err="1" smtClean="0">
                          <a:effectLst/>
                          <a:latin typeface="+mn-ea"/>
                          <a:ea typeface="+mn-ea"/>
                          <a:cs typeface="Times New Roman" panose="02020603050405020304" pitchFamily="18" charset="0"/>
                        </a:rPr>
                        <a:t>지분율</a:t>
                      </a:r>
                      <a:r>
                        <a:rPr lang="ko-KR" altLang="en-US" sz="1000" dirty="0" smtClean="0">
                          <a:effectLst/>
                          <a:latin typeface="+mn-ea"/>
                          <a:ea typeface="+mn-ea"/>
                          <a:cs typeface="Times New Roman" panose="02020603050405020304" pitchFamily="18" charset="0"/>
                        </a:rPr>
                        <a:t> 희석을 막기 위해</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제</a:t>
                      </a:r>
                      <a:r>
                        <a:rPr lang="en-US" altLang="ko-KR" sz="1000" dirty="0" smtClean="0">
                          <a:effectLst/>
                          <a:latin typeface="+mn-ea"/>
                          <a:ea typeface="+mn-ea"/>
                          <a:cs typeface="Times New Roman" panose="02020603050405020304" pitchFamily="18" charset="0"/>
                        </a:rPr>
                        <a:t>3</a:t>
                      </a:r>
                      <a:r>
                        <a:rPr lang="ko-KR" altLang="en-US" sz="1000" dirty="0" smtClean="0">
                          <a:effectLst/>
                          <a:latin typeface="+mn-ea"/>
                          <a:ea typeface="+mn-ea"/>
                          <a:cs typeface="Times New Roman" panose="02020603050405020304" pitchFamily="18" charset="0"/>
                        </a:rPr>
                        <a:t>자에 대한 신주발행의 경우에는 주주간 계약에서 명확하게 이사회 </a:t>
                      </a:r>
                      <a:r>
                        <a:rPr lang="ko-KR" altLang="en-US" sz="1000" dirty="0" err="1" smtClean="0">
                          <a:effectLst/>
                          <a:latin typeface="+mn-ea"/>
                          <a:ea typeface="+mn-ea"/>
                          <a:cs typeface="Times New Roman" panose="02020603050405020304" pitchFamily="18" charset="0"/>
                        </a:rPr>
                        <a:t>결의뿐만</a:t>
                      </a:r>
                      <a:r>
                        <a:rPr lang="ko-KR" altLang="en-US" sz="1000" dirty="0" smtClean="0">
                          <a:effectLst/>
                          <a:latin typeface="+mn-ea"/>
                          <a:ea typeface="+mn-ea"/>
                          <a:cs typeface="Times New Roman" panose="02020603050405020304" pitchFamily="18" charset="0"/>
                        </a:rPr>
                        <a:t> 아니라 당사자들의 개별 동의도 받도록 하는 것도 고려할 수 있으며</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필요한 경우 제</a:t>
                      </a:r>
                      <a:r>
                        <a:rPr lang="en-US" altLang="ko-KR" sz="1000" dirty="0" smtClean="0">
                          <a:effectLst/>
                          <a:latin typeface="+mn-ea"/>
                          <a:ea typeface="+mn-ea"/>
                          <a:cs typeface="Times New Roman" panose="02020603050405020304" pitchFamily="18" charset="0"/>
                        </a:rPr>
                        <a:t>3</a:t>
                      </a:r>
                      <a:r>
                        <a:rPr lang="ko-KR" altLang="en-US" sz="1000" dirty="0" smtClean="0">
                          <a:effectLst/>
                          <a:latin typeface="+mn-ea"/>
                          <a:ea typeface="+mn-ea"/>
                          <a:cs typeface="Times New Roman" panose="02020603050405020304" pitchFamily="18" charset="0"/>
                        </a:rPr>
                        <a:t>자에 대한 신주발행에 있어 </a:t>
                      </a:r>
                      <a:r>
                        <a:rPr lang="en-US" altLang="ko-KR" sz="1000" dirty="0" smtClean="0">
                          <a:effectLst/>
                          <a:latin typeface="+mn-ea"/>
                          <a:ea typeface="+mn-ea"/>
                          <a:cs typeface="Times New Roman" panose="02020603050405020304" pitchFamily="18" charset="0"/>
                        </a:rPr>
                        <a:t>anti-dilution </a:t>
                      </a:r>
                      <a:r>
                        <a:rPr lang="ko-KR" altLang="en-US" sz="1000" dirty="0" smtClean="0">
                          <a:effectLst/>
                          <a:latin typeface="+mn-ea"/>
                          <a:ea typeface="+mn-ea"/>
                          <a:cs typeface="Times New Roman" panose="02020603050405020304" pitchFamily="18" charset="0"/>
                        </a:rPr>
                        <a:t>조항을 추가하는 것도 고려할 수 있음</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아래 추가 </a:t>
                      </a:r>
                      <a:r>
                        <a:rPr lang="en-US" altLang="ko-KR" sz="1000" dirty="0" smtClean="0">
                          <a:effectLst/>
                          <a:latin typeface="+mn-ea"/>
                          <a:ea typeface="+mn-ea"/>
                          <a:cs typeface="Times New Roman" panose="02020603050405020304" pitchFamily="18" charset="0"/>
                        </a:rPr>
                        <a:t>SHA</a:t>
                      </a:r>
                      <a:r>
                        <a:rPr lang="ko-KR" altLang="en-US" sz="1000" dirty="0" smtClean="0">
                          <a:effectLst/>
                          <a:latin typeface="+mn-ea"/>
                          <a:ea typeface="+mn-ea"/>
                          <a:cs typeface="Times New Roman" panose="02020603050405020304" pitchFamily="18" charset="0"/>
                        </a:rPr>
                        <a:t>문구 참조</a:t>
                      </a:r>
                      <a:r>
                        <a:rPr lang="en-US" altLang="ko-KR" sz="1000" dirty="0" smtClean="0">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829165038"/>
                  </a:ext>
                </a:extLst>
              </a:tr>
              <a:tr h="2056347">
                <a:tc>
                  <a:txBody>
                    <a:bodyPr/>
                    <a:lstStyle/>
                    <a:p>
                      <a:pPr algn="ctr" latinLnBrk="1">
                        <a:lnSpc>
                          <a:spcPct val="110000"/>
                        </a:lnSpc>
                        <a:spcAft>
                          <a:spcPts val="0"/>
                        </a:spcAft>
                      </a:pPr>
                      <a:r>
                        <a:rPr lang="ko-KR" sz="1000" b="1" dirty="0">
                          <a:solidFill>
                            <a:schemeClr val="tx1"/>
                          </a:solidFill>
                          <a:effectLst/>
                          <a:latin typeface="+mn-ea"/>
                          <a:ea typeface="+mn-ea"/>
                          <a:cs typeface="Times New Roman" panose="02020603050405020304" pitchFamily="18" charset="0"/>
                        </a:rPr>
                        <a:t>표준</a:t>
                      </a:r>
                      <a:r>
                        <a:rPr lang="en-US" sz="1000" b="1" dirty="0">
                          <a:solidFill>
                            <a:schemeClr val="tx1"/>
                          </a:solidFill>
                          <a:effectLst/>
                          <a:latin typeface="+mn-ea"/>
                          <a:ea typeface="+mn-ea"/>
                          <a:cs typeface="Times New Roman" panose="02020603050405020304" pitchFamily="18" charset="0"/>
                        </a:rPr>
                        <a:t> </a:t>
                      </a:r>
                      <a:r>
                        <a:rPr lang="en-US" sz="1000" b="1" dirty="0" smtClean="0">
                          <a:solidFill>
                            <a:schemeClr val="tx1"/>
                          </a:solidFill>
                          <a:effectLst/>
                          <a:latin typeface="+mn-ea"/>
                          <a:ea typeface="+mn-ea"/>
                          <a:cs typeface="Times New Roman" panose="02020603050405020304" pitchFamily="18" charset="0"/>
                        </a:rPr>
                        <a:t>SHA </a:t>
                      </a:r>
                      <a:br>
                        <a:rPr lang="en-US" sz="1000" b="1" dirty="0" smtClean="0">
                          <a:solidFill>
                            <a:schemeClr val="tx1"/>
                          </a:solidFill>
                          <a:effectLst/>
                          <a:latin typeface="+mn-ea"/>
                          <a:ea typeface="+mn-ea"/>
                          <a:cs typeface="Times New Roman" panose="02020603050405020304" pitchFamily="18" charset="0"/>
                        </a:rPr>
                      </a:br>
                      <a:r>
                        <a:rPr lang="ko-KR" sz="1000" b="1" dirty="0" smtClean="0">
                          <a:solidFill>
                            <a:schemeClr val="tx1"/>
                          </a:solidFill>
                          <a:effectLst/>
                          <a:latin typeface="+mn-ea"/>
                          <a:ea typeface="+mn-ea"/>
                          <a:cs typeface="Times New Roman" panose="02020603050405020304" pitchFamily="18" charset="0"/>
                        </a:rPr>
                        <a:t>문구</a:t>
                      </a:r>
                      <a:endParaRPr 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5000"/>
                        </a:lnSpc>
                        <a:spcAft>
                          <a:spcPts val="0"/>
                        </a:spcAft>
                        <a:buFont typeface="+mj-lt"/>
                        <a:buNone/>
                      </a:pPr>
                      <a:r>
                        <a:rPr lang="en-US" altLang="ko-KR" sz="1000" u="none" strike="noStrike" dirty="0" smtClean="0">
                          <a:effectLst/>
                          <a:latin typeface="+mn-ea"/>
                          <a:ea typeface="+mn-ea"/>
                          <a:cs typeface="Times New Roman" panose="02020603050405020304" pitchFamily="18" charset="0"/>
                        </a:rPr>
                        <a:t>2.5</a:t>
                      </a:r>
                      <a:r>
                        <a:rPr lang="en-US" altLang="ko-KR" sz="1000" u="none" strike="noStrike" baseline="0" dirty="0" smtClean="0">
                          <a:effectLst/>
                          <a:latin typeface="+mn-ea"/>
                          <a:ea typeface="+mn-ea"/>
                          <a:cs typeface="Times New Roman" panose="02020603050405020304" pitchFamily="18" charset="0"/>
                        </a:rPr>
                        <a:t> </a:t>
                      </a:r>
                      <a:r>
                        <a:rPr lang="en-US" altLang="ko-KR" sz="1000" u="sng" strike="noStrike" dirty="0" smtClean="0">
                          <a:effectLst/>
                          <a:latin typeface="+mn-ea"/>
                          <a:ea typeface="+mn-ea"/>
                          <a:cs typeface="Times New Roman" panose="02020603050405020304" pitchFamily="18" charset="0"/>
                        </a:rPr>
                        <a:t>Issuance of Additional Shares; Preemptive Rights</a:t>
                      </a:r>
                      <a:r>
                        <a:rPr lang="en-US" altLang="ko-KR" sz="1000" u="none" strike="noStrike" dirty="0" smtClean="0">
                          <a:effectLst/>
                          <a:latin typeface="+mn-ea"/>
                          <a:ea typeface="+mn-ea"/>
                          <a:cs typeface="Times New Roman" panose="02020603050405020304" pitchFamily="18" charset="0"/>
                        </a:rPr>
                        <a:t>.	</a:t>
                      </a:r>
                      <a:endParaRPr lang="ko-KR" altLang="ko-KR" sz="1000" u="none" strike="noStrike" dirty="0" smtClean="0">
                        <a:effectLst/>
                        <a:latin typeface="+mn-ea"/>
                        <a:ea typeface="+mn-ea"/>
                        <a:cs typeface="Times New Roman" panose="02020603050405020304" pitchFamily="18" charset="0"/>
                      </a:endParaRPr>
                    </a:p>
                    <a:p>
                      <a:pPr algn="just">
                        <a:lnSpc>
                          <a:spcPct val="115000"/>
                        </a:lnSpc>
                        <a:spcAft>
                          <a:spcPts val="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a:lnSpc>
                          <a:spcPct val="115000"/>
                        </a:lnSpc>
                        <a:spcAft>
                          <a:spcPts val="0"/>
                        </a:spcAft>
                        <a:buFont typeface="+mj-lt"/>
                        <a:buAutoNum type="alphaLcParenBoth"/>
                      </a:pPr>
                      <a:r>
                        <a:rPr lang="en-US" altLang="ko-KR" sz="1000" dirty="0" smtClean="0">
                          <a:effectLst/>
                          <a:latin typeface="+mn-ea"/>
                          <a:ea typeface="+mn-ea"/>
                          <a:cs typeface="Times New Roman" panose="02020603050405020304" pitchFamily="18" charset="0"/>
                        </a:rPr>
                        <a:t>Subject to </a:t>
                      </a:r>
                      <a:r>
                        <a:rPr lang="en-US" altLang="ko-KR" sz="1000" u="sng" dirty="0" smtClean="0">
                          <a:effectLst/>
                          <a:latin typeface="+mn-ea"/>
                          <a:ea typeface="+mn-ea"/>
                          <a:cs typeface="Times New Roman" panose="02020603050405020304" pitchFamily="18" charset="0"/>
                        </a:rPr>
                        <a:t>Section 2.6(d)(v)</a:t>
                      </a:r>
                      <a:r>
                        <a:rPr lang="en-US" altLang="ko-KR" sz="1000" dirty="0" smtClean="0">
                          <a:effectLst/>
                          <a:latin typeface="+mn-ea"/>
                          <a:ea typeface="+mn-ea"/>
                          <a:cs typeface="Times New Roman" panose="02020603050405020304" pitchFamily="18" charset="0"/>
                        </a:rPr>
                        <a:t>, no additional Shares may be issued except upon approval by resolution of the Board of Directors.</a:t>
                      </a:r>
                    </a:p>
                    <a:p>
                      <a:pPr marL="342900" lvl="0" indent="-342900" algn="just">
                        <a:lnSpc>
                          <a:spcPct val="115000"/>
                        </a:lnSpc>
                        <a:spcAft>
                          <a:spcPts val="0"/>
                        </a:spcAft>
                        <a:buFont typeface="+mj-lt"/>
                        <a:buAutoNum type="alphaLcParenBoth"/>
                      </a:pPr>
                      <a:endParaRPr lang="en-US" altLang="ko-KR" sz="1000" dirty="0" smtClean="0">
                        <a:effectLst/>
                        <a:latin typeface="+mn-ea"/>
                        <a:ea typeface="+mn-ea"/>
                        <a:cs typeface="Times New Roman" panose="02020603050405020304" pitchFamily="18" charset="0"/>
                      </a:endParaRPr>
                    </a:p>
                    <a:p>
                      <a:pPr marL="342900" lvl="0" indent="-342900" algn="just">
                        <a:lnSpc>
                          <a:spcPct val="115000"/>
                        </a:lnSpc>
                        <a:spcAft>
                          <a:spcPts val="0"/>
                        </a:spcAft>
                        <a:buFont typeface="+mj-lt"/>
                        <a:buAutoNum type="alphaLcParenBoth"/>
                      </a:pPr>
                      <a:r>
                        <a:rPr lang="en-US" altLang="ko-KR" sz="1000" dirty="0" smtClean="0">
                          <a:effectLst/>
                          <a:latin typeface="+mn-ea"/>
                          <a:ea typeface="+mn-ea"/>
                          <a:cs typeface="Times New Roman" panose="02020603050405020304" pitchFamily="18" charset="0"/>
                        </a:rPr>
                        <a:t>Each Shareholder shall have preemptive right with respect to any new issuance of Shares to subscribe for and purchase up to the number of Shares equal to the product of (x) the total number of Shares issued in such new issuance, and (y) such Shareholder’s Percentage Interest;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if a Shareholder elects not to subscribe for such new Shares, the other Shareholder may subscribe for and purchase all or part of such unsubscribed Shares as it deems appropriate.  Each of the Shareholders shall vote all of its Shares at a meeting of shareholders of the Company to approve the amendment of the Articles of Incorporation to effect the changes required in order to reflect subscription by the Shareholders in accordance with this </a:t>
                      </a:r>
                      <a:r>
                        <a:rPr lang="en-US" altLang="ko-KR" sz="1000" u="sng" dirty="0" smtClean="0">
                          <a:effectLst/>
                          <a:latin typeface="+mn-ea"/>
                          <a:ea typeface="+mn-ea"/>
                          <a:cs typeface="Times New Roman" panose="02020603050405020304" pitchFamily="18" charset="0"/>
                        </a:rPr>
                        <a:t>Section 2.5(b)</a:t>
                      </a:r>
                      <a:r>
                        <a:rPr lang="en-US" altLang="ko-KR" sz="1000" dirty="0" smtClean="0">
                          <a:effectLst/>
                          <a:latin typeface="+mn-ea"/>
                          <a:ea typeface="+mn-ea"/>
                          <a:cs typeface="Times New Roman" panose="02020603050405020304" pitchFamily="18" charset="0"/>
                        </a:rPr>
                        <a:t>. </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971617847"/>
                  </a:ext>
                </a:extLst>
              </a:tr>
            </a:tbl>
          </a:graphicData>
        </a:graphic>
      </p:graphicFrame>
    </p:spTree>
    <p:extLst>
      <p:ext uri="{BB962C8B-B14F-4D97-AF65-F5344CB8AC3E}">
        <p14:creationId xmlns:p14="http://schemas.microsoft.com/office/powerpoint/2010/main" val="5770750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III. </a:t>
            </a:r>
            <a:r>
              <a:rPr lang="en-US" altLang="ko-KR" dirty="0"/>
              <a:t>Operation and Management of the Company </a:t>
            </a:r>
            <a:endParaRPr lang="ko-KR" altLang="en-US" sz="1000" dirty="0">
              <a:latin typeface="+mn-ea"/>
              <a:cs typeface="Times New Roman" panose="02020603050405020304" pitchFamily="18" charset="0"/>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73550"/>
            <a:ext cx="9163776" cy="461665"/>
          </a:xfrm>
          <a:prstGeom prst="rect">
            <a:avLst/>
          </a:prstGeom>
          <a:noFill/>
        </p:spPr>
        <p:txBody>
          <a:bodyPr wrap="square" rtlCol="0">
            <a:spAutoFit/>
          </a:bodyPr>
          <a:lstStyle/>
          <a:p>
            <a:r>
              <a:rPr lang="en-US" altLang="ko-KR" dirty="0" smtClean="0">
                <a:latin typeface="+mn-ea"/>
                <a:ea typeface="+mn-ea"/>
              </a:rPr>
              <a:t>4. </a:t>
            </a:r>
            <a:r>
              <a:rPr lang="en-US" altLang="ko-KR" dirty="0"/>
              <a:t>Issuance of Additional Shares; Preemptive </a:t>
            </a:r>
            <a:r>
              <a:rPr lang="en-US" altLang="ko-KR" dirty="0" smtClean="0"/>
              <a:t>Rights (2)</a:t>
            </a:r>
            <a:endParaRPr lang="ko-KR" altLang="ko-KR" dirty="0"/>
          </a:p>
          <a:p>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140490034"/>
              </p:ext>
            </p:extLst>
          </p:nvPr>
        </p:nvGraphicFramePr>
        <p:xfrm>
          <a:off x="439738" y="1038740"/>
          <a:ext cx="9188450" cy="2869840"/>
        </p:xfrm>
        <a:graphic>
          <a:graphicData uri="http://schemas.openxmlformats.org/drawingml/2006/table">
            <a:tbl>
              <a:tblPr firstRow="1" firstCol="1" bandRow="1"/>
              <a:tblGrid>
                <a:gridCol w="853257">
                  <a:extLst>
                    <a:ext uri="{9D8B030D-6E8A-4147-A177-3AD203B41FA5}">
                      <a16:colId xmlns:a16="http://schemas.microsoft.com/office/drawing/2014/main" val="2132502965"/>
                    </a:ext>
                  </a:extLst>
                </a:gridCol>
                <a:gridCol w="8335193">
                  <a:extLst>
                    <a:ext uri="{9D8B030D-6E8A-4147-A177-3AD203B41FA5}">
                      <a16:colId xmlns:a16="http://schemas.microsoft.com/office/drawing/2014/main" val="1121733556"/>
                    </a:ext>
                  </a:extLst>
                </a:gridCol>
              </a:tblGrid>
              <a:tr h="2869840">
                <a:tc>
                  <a:txBody>
                    <a:bodyPr/>
                    <a:lstStyle/>
                    <a:p>
                      <a:pPr algn="ctr" latinLnBrk="1">
                        <a:lnSpc>
                          <a:spcPct val="110000"/>
                        </a:lnSpc>
                        <a:spcAft>
                          <a:spcPts val="600"/>
                        </a:spcAft>
                      </a:pPr>
                      <a:r>
                        <a:rPr lang="ko-KR" altLang="en-US" sz="1000" b="1" dirty="0" smtClean="0">
                          <a:solidFill>
                            <a:schemeClr val="tx1"/>
                          </a:solidFill>
                          <a:effectLst/>
                          <a:latin typeface="+mn-ea"/>
                          <a:ea typeface="+mn-ea"/>
                          <a:cs typeface="Times New Roman" panose="02020603050405020304" pitchFamily="18" charset="0"/>
                        </a:rPr>
                        <a:t>추가</a:t>
                      </a:r>
                      <a:r>
                        <a:rPr lang="en-US" altLang="ko-KR" sz="1000" b="1" dirty="0" smtClean="0">
                          <a:solidFill>
                            <a:schemeClr val="tx1"/>
                          </a:solidFill>
                          <a:effectLst/>
                          <a:latin typeface="+mn-ea"/>
                          <a:ea typeface="+mn-ea"/>
                          <a:cs typeface="Times New Roman" panose="02020603050405020304" pitchFamily="18" charset="0"/>
                        </a:rPr>
                        <a:t> SHA </a:t>
                      </a:r>
                      <a:br>
                        <a:rPr lang="en-US" altLang="ko-KR" sz="1000" b="1" dirty="0" smtClean="0">
                          <a:solidFill>
                            <a:schemeClr val="tx1"/>
                          </a:solidFill>
                          <a:effectLst/>
                          <a:latin typeface="+mn-ea"/>
                          <a:ea typeface="+mn-ea"/>
                          <a:cs typeface="Times New Roman" panose="02020603050405020304" pitchFamily="18" charset="0"/>
                        </a:rPr>
                      </a:br>
                      <a:r>
                        <a:rPr lang="ko-KR" altLang="ko-KR" sz="1000" b="1" dirty="0" smtClean="0">
                          <a:solidFill>
                            <a:schemeClr val="tx1"/>
                          </a:solidFill>
                          <a:effectLst/>
                          <a:latin typeface="+mn-ea"/>
                          <a:ea typeface="+mn-ea"/>
                          <a:cs typeface="Times New Roman" panose="02020603050405020304" pitchFamily="18" charset="0"/>
                        </a:rPr>
                        <a:t>문구</a:t>
                      </a:r>
                      <a:endParaRPr lang="ko-KR" altLang="ko-KR" sz="1000" b="1"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10000"/>
                        </a:lnSpc>
                        <a:spcAft>
                          <a:spcPts val="0"/>
                        </a:spcAft>
                        <a:buSzPts val="1100"/>
                        <a:buFont typeface="Times New Roman" panose="02020603050405020304" pitchFamily="18" charset="0"/>
                        <a:buAutoNum type="alphaLcParenBoth"/>
                      </a:pPr>
                      <a:r>
                        <a:rPr lang="en-US" altLang="ko-KR" sz="1000" dirty="0" smtClean="0">
                          <a:effectLst/>
                          <a:latin typeface="+mn-ea"/>
                          <a:ea typeface="+mn-ea"/>
                          <a:cs typeface="Times New Roman" panose="02020603050405020304" pitchFamily="18" charset="0"/>
                        </a:rPr>
                        <a:t>The Parties agree that in case of the issue and allotment of new Shares (including issuance of options, warrants or any other rights to acquire units, whether directly or indirectly) (together an “</a:t>
                      </a:r>
                      <a:r>
                        <a:rPr lang="en-US" altLang="ko-KR" sz="1000" u="sng" dirty="0" smtClean="0">
                          <a:effectLst/>
                          <a:latin typeface="+mn-ea"/>
                          <a:ea typeface="+mn-ea"/>
                          <a:cs typeface="Times New Roman" panose="02020603050405020304" pitchFamily="18" charset="0"/>
                        </a:rPr>
                        <a:t>Issue</a:t>
                      </a:r>
                      <a:r>
                        <a:rPr lang="en-US" altLang="ko-KR" sz="1000" dirty="0" smtClean="0">
                          <a:effectLst/>
                          <a:latin typeface="+mn-ea"/>
                          <a:ea typeface="+mn-ea"/>
                          <a:cs typeface="Times New Roman" panose="02020603050405020304" pitchFamily="18" charset="0"/>
                        </a:rPr>
                        <a:t>”) by the Company, the following shall apply:</a:t>
                      </a:r>
                      <a:endParaRPr lang="ko-KR" altLang="ko-KR" sz="1000" dirty="0" smtClean="0">
                        <a:effectLst/>
                        <a:latin typeface="+mn-ea"/>
                        <a:ea typeface="+mn-ea"/>
                        <a:cs typeface="Times New Roman" panose="02020603050405020304" pitchFamily="18" charset="0"/>
                      </a:endParaRPr>
                    </a:p>
                    <a:p>
                      <a:pPr marL="627063" lvl="1" indent="-268288" algn="just" latinLnBrk="1">
                        <a:lnSpc>
                          <a:spcPct val="110000"/>
                        </a:lnSpc>
                        <a:spcAft>
                          <a:spcPts val="0"/>
                        </a:spcAft>
                        <a:buSzPts val="1100"/>
                        <a:buFont typeface="+mj-lt"/>
                        <a:buAutoNum type="romanLcParenBoth"/>
                      </a:pPr>
                      <a:r>
                        <a:rPr lang="en-US" altLang="ko-KR" sz="1000" dirty="0" smtClean="0">
                          <a:effectLst/>
                          <a:latin typeface="+mn-ea"/>
                          <a:ea typeface="+mn-ea"/>
                          <a:cs typeface="Times New Roman" panose="02020603050405020304" pitchFamily="18" charset="0"/>
                        </a:rPr>
                        <a:t>the Company shall notify LG H&amp;H of the proposed Issue in advance (the “</a:t>
                      </a:r>
                      <a:r>
                        <a:rPr lang="en-US" altLang="ko-KR" sz="1000" u="sng" dirty="0" smtClean="0">
                          <a:effectLst/>
                          <a:latin typeface="+mn-ea"/>
                          <a:ea typeface="+mn-ea"/>
                          <a:cs typeface="Times New Roman" panose="02020603050405020304" pitchFamily="18" charset="0"/>
                        </a:rPr>
                        <a:t>Issue Notice</a:t>
                      </a:r>
                      <a:r>
                        <a:rPr lang="en-US" altLang="ko-KR" sz="1000" dirty="0" smtClean="0">
                          <a:effectLst/>
                          <a:latin typeface="+mn-ea"/>
                          <a:ea typeface="+mn-ea"/>
                          <a:cs typeface="Times New Roman" panose="02020603050405020304" pitchFamily="18" charset="0"/>
                        </a:rPr>
                        <a:t>”); and</a:t>
                      </a:r>
                      <a:endParaRPr lang="ko-KR" altLang="ko-KR" sz="1000" dirty="0" smtClean="0">
                        <a:effectLst/>
                        <a:latin typeface="+mn-ea"/>
                        <a:ea typeface="+mn-ea"/>
                        <a:cs typeface="Times New Roman" panose="02020603050405020304" pitchFamily="18" charset="0"/>
                      </a:endParaRPr>
                    </a:p>
                    <a:p>
                      <a:pPr marL="627063" lvl="1" indent="-268288" algn="just" latinLnBrk="1">
                        <a:lnSpc>
                          <a:spcPct val="110000"/>
                        </a:lnSpc>
                        <a:spcAft>
                          <a:spcPts val="600"/>
                        </a:spcAft>
                        <a:buSzPts val="1100"/>
                        <a:buFont typeface="+mj-lt"/>
                        <a:buAutoNum type="romanLcParenBoth"/>
                      </a:pPr>
                      <a:r>
                        <a:rPr lang="en-US" altLang="ko-KR" sz="1000" dirty="0" smtClean="0">
                          <a:effectLst/>
                          <a:latin typeface="+mn-ea"/>
                          <a:ea typeface="+mn-ea"/>
                          <a:cs typeface="Times New Roman" panose="02020603050405020304" pitchFamily="18" charset="0"/>
                        </a:rPr>
                        <a:t>LG H&amp;H shall have a right of first refusal to preserve their percentage shareholding in the Company by subscribing for and purchasing new Shares in accordance with [Paragraph (b)] below within [20 Business Days] of receipt of the Issue Notice.</a:t>
                      </a:r>
                    </a:p>
                    <a:p>
                      <a:pPr marL="342900" lvl="0" indent="-342900" algn="just" defTabSz="914400" rtl="0" eaLnBrk="1" latinLnBrk="1" hangingPunct="1">
                        <a:lnSpc>
                          <a:spcPct val="110000"/>
                        </a:lnSpc>
                        <a:spcAft>
                          <a:spcPts val="600"/>
                        </a:spcAft>
                        <a:buSzPts val="1100"/>
                        <a:buFont typeface="Times New Roman" panose="02020603050405020304" pitchFamily="18" charset="0"/>
                        <a:buAutoNum type="alphaLcParenBoth"/>
                      </a:pPr>
                      <a:r>
                        <a:rPr lang="en-US" altLang="ko-KR" sz="1000" kern="1200" dirty="0" smtClean="0">
                          <a:solidFill>
                            <a:schemeClr val="tx1"/>
                          </a:solidFill>
                          <a:effectLst/>
                          <a:latin typeface="+mn-ea"/>
                          <a:ea typeface="+mn-ea"/>
                          <a:cs typeface="Times New Roman" panose="02020603050405020304" pitchFamily="18" charset="0"/>
                        </a:rPr>
                        <a:t>Upon receipt of the Issue Notice, LG H&amp;H shall have the option but not the obligation to subscribe for and purchase the number of Shares, as nearly as may be, in proportion to the number of the existing issued Shares held by LG H&amp;H at the date of issue of the Issue Notice at the price stated in the Issue Notice. LG H&amp;H may exercise the right of first refusal by responding in writing to the Issue Notice.</a:t>
                      </a:r>
                      <a:endParaRPr lang="ko-KR" altLang="ko-KR" sz="1000" kern="1200" dirty="0" smtClean="0">
                        <a:solidFill>
                          <a:schemeClr val="tx1"/>
                        </a:solidFill>
                        <a:effectLst/>
                        <a:latin typeface="+mn-ea"/>
                        <a:ea typeface="+mn-ea"/>
                        <a:cs typeface="Times New Roman" panose="02020603050405020304" pitchFamily="18" charset="0"/>
                      </a:endParaRPr>
                    </a:p>
                    <a:p>
                      <a:pPr marL="342900" lvl="0" indent="-342900" algn="just" defTabSz="914400" rtl="0" eaLnBrk="1" latinLnBrk="1" hangingPunct="1">
                        <a:lnSpc>
                          <a:spcPct val="110000"/>
                        </a:lnSpc>
                        <a:spcAft>
                          <a:spcPts val="600"/>
                        </a:spcAft>
                        <a:buSzPts val="1100"/>
                        <a:buFont typeface="Times New Roman" panose="02020603050405020304" pitchFamily="18" charset="0"/>
                        <a:buAutoNum type="alphaLcParenBoth"/>
                      </a:pPr>
                      <a:r>
                        <a:rPr lang="en-US" altLang="ko-KR" sz="1000" kern="1200" dirty="0" smtClean="0">
                          <a:solidFill>
                            <a:schemeClr val="tx1"/>
                          </a:solidFill>
                          <a:effectLst/>
                          <a:latin typeface="+mn-ea"/>
                          <a:ea typeface="+mn-ea"/>
                          <a:cs typeface="Times New Roman" panose="02020603050405020304" pitchFamily="18" charset="0"/>
                        </a:rPr>
                        <a:t>Any Share referred to in the Issue Notice which shall not be taken up by LG H&amp;H in accordance with [Paragraph (b)] above may be issued by the Company to a third party; provided that any such issue is completed within [40 Business Days] of the issue of the Issue Notice by the Company.</a:t>
                      </a:r>
                      <a:endParaRPr lang="ko-KR" altLang="ko-KR" sz="1000" kern="1200" dirty="0" smtClean="0">
                        <a:solidFill>
                          <a:schemeClr val="tx1"/>
                        </a:solidFill>
                        <a:effectLst/>
                        <a:latin typeface="+mn-ea"/>
                        <a:ea typeface="+mn-ea"/>
                        <a:cs typeface="Times New Roman" panose="02020603050405020304" pitchFamily="18" charset="0"/>
                      </a:endParaRPr>
                    </a:p>
                    <a:p>
                      <a:pPr marL="342900" lvl="0" indent="-342900" algn="just" defTabSz="914400" rtl="0" eaLnBrk="1" latinLnBrk="1" hangingPunct="1">
                        <a:lnSpc>
                          <a:spcPct val="110000"/>
                        </a:lnSpc>
                        <a:spcAft>
                          <a:spcPts val="600"/>
                        </a:spcAft>
                        <a:buSzPts val="1100"/>
                        <a:buFont typeface="Times New Roman" panose="02020603050405020304" pitchFamily="18" charset="0"/>
                        <a:buAutoNum type="alphaLcParenBoth"/>
                      </a:pPr>
                      <a:r>
                        <a:rPr lang="en-US" altLang="ko-KR" sz="1000" kern="1200" dirty="0" smtClean="0">
                          <a:solidFill>
                            <a:schemeClr val="tx1"/>
                          </a:solidFill>
                          <a:effectLst/>
                          <a:latin typeface="+mn-ea"/>
                          <a:ea typeface="+mn-ea"/>
                          <a:cs typeface="Times New Roman" panose="02020603050405020304" pitchFamily="18" charset="0"/>
                        </a:rPr>
                        <a:t>This clause shall not apply to an Issue that results from the conversion of a convertible security, convertible loan, warrant or option that was granted prior to the date of this Agreement.</a:t>
                      </a:r>
                      <a:endParaRPr lang="ko-KR" altLang="ko-KR" sz="1000"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85420728"/>
                  </a:ext>
                </a:extLst>
              </a:tr>
            </a:tbl>
          </a:graphicData>
        </a:graphic>
      </p:graphicFrame>
    </p:spTree>
    <p:extLst>
      <p:ext uri="{BB962C8B-B14F-4D97-AF65-F5344CB8AC3E}">
        <p14:creationId xmlns:p14="http://schemas.microsoft.com/office/powerpoint/2010/main" val="17209307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1. </a:t>
            </a:r>
            <a:r>
              <a:rPr lang="en-US" altLang="ko-KR" dirty="0">
                <a:solidFill>
                  <a:schemeClr val="tx1"/>
                </a:solidFill>
                <a:latin typeface="+mn-ea"/>
                <a:ea typeface="+mn-ea"/>
              </a:rPr>
              <a:t>Shareholders Meeting; </a:t>
            </a:r>
            <a:r>
              <a:rPr lang="en-US" altLang="ko-KR" dirty="0" smtClean="0">
                <a:solidFill>
                  <a:schemeClr val="tx1"/>
                </a:solidFill>
                <a:latin typeface="+mn-ea"/>
                <a:ea typeface="+mn-ea"/>
              </a:rPr>
              <a:t>Resolution (1)</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317501529"/>
              </p:ext>
            </p:extLst>
          </p:nvPr>
        </p:nvGraphicFramePr>
        <p:xfrm>
          <a:off x="439738" y="1043677"/>
          <a:ext cx="9188450" cy="370416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Wingdings" panose="05000000000000000000" pitchFamily="2" charset="2"/>
                        <a:buNone/>
                      </a:pPr>
                      <a:r>
                        <a:rPr lang="ko-KR" altLang="en-US" sz="1000" dirty="0" smtClean="0">
                          <a:solidFill>
                            <a:schemeClr val="tx1"/>
                          </a:solidFill>
                          <a:effectLst/>
                          <a:latin typeface="+mn-ea"/>
                          <a:ea typeface="+mn-ea"/>
                          <a:cs typeface="Times New Roman" panose="02020603050405020304" pitchFamily="18" charset="0"/>
                        </a:rPr>
                        <a:t>대상회사의 주주총회 및 결의에 대한 사항을 정함</a:t>
                      </a:r>
                      <a:r>
                        <a:rPr lang="en-US" altLang="ko-KR" sz="1000" dirty="0" smtClean="0">
                          <a:solidFill>
                            <a:schemeClr val="tx1"/>
                          </a:solidFill>
                          <a:effectLst/>
                          <a:latin typeface="+mn-ea"/>
                          <a:ea typeface="+mn-ea"/>
                          <a:cs typeface="Times New Roman" panose="02020603050405020304" pitchFamily="18" charset="0"/>
                        </a:rPr>
                        <a:t>.</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23716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95275" lvl="0" indent="-295275" algn="just" latinLnBrk="1">
                        <a:lnSpc>
                          <a:spcPct val="110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주주총회 소집 관련 절차는 </a:t>
                      </a:r>
                      <a:r>
                        <a:rPr lang="ko-KR" altLang="ko-KR" sz="1000" dirty="0" err="1" smtClean="0">
                          <a:effectLst/>
                          <a:latin typeface="+mn-ea"/>
                          <a:ea typeface="+mn-ea"/>
                          <a:cs typeface="Times New Roman" panose="02020603050405020304" pitchFamily="18" charset="0"/>
                        </a:rPr>
                        <a:t>준거지법의</a:t>
                      </a:r>
                      <a:r>
                        <a:rPr lang="ko-KR" altLang="ko-KR" sz="1000" dirty="0" smtClean="0">
                          <a:effectLst/>
                          <a:latin typeface="+mn-ea"/>
                          <a:ea typeface="+mn-ea"/>
                          <a:cs typeface="Times New Roman" panose="02020603050405020304" pitchFamily="18" charset="0"/>
                        </a:rPr>
                        <a:t> 검토에 따라 달라질 수 있음</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295275" lvl="0" indent="-295275" algn="just" latinLnBrk="1">
                        <a:lnSpc>
                          <a:spcPct val="110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주주총회의 방법 또한 서면결의 가능 여부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화상회의를 통한 주주총회 가능 여부 등이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달라질 수 있으므로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이에 따라 규정하는 것이 필요함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295275" lvl="0" indent="-295275" algn="just" latinLnBrk="1">
                        <a:lnSpc>
                          <a:spcPct val="110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나아가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의사정족수 및 의결정족수에 대한 주주간 계약에서의 합의가 </a:t>
                      </a:r>
                      <a:r>
                        <a:rPr lang="ko-KR" altLang="ko-KR" sz="1000" dirty="0" err="1" smtClean="0">
                          <a:effectLst/>
                          <a:latin typeface="+mn-ea"/>
                          <a:ea typeface="+mn-ea"/>
                          <a:cs typeface="Times New Roman" panose="02020603050405020304" pitchFamily="18" charset="0"/>
                        </a:rPr>
                        <a:t>준거지법상</a:t>
                      </a:r>
                      <a:r>
                        <a:rPr lang="ko-KR" altLang="ko-KR" sz="1000" dirty="0" smtClean="0">
                          <a:effectLst/>
                          <a:latin typeface="+mn-ea"/>
                          <a:ea typeface="+mn-ea"/>
                          <a:cs typeface="Times New Roman" panose="02020603050405020304" pitchFamily="18" charset="0"/>
                        </a:rPr>
                        <a:t> 구현 가능한지도 확인 필요함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295275" lvl="0" indent="-295275" algn="just" latinLnBrk="1">
                        <a:lnSpc>
                          <a:spcPct val="110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표준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 제</a:t>
                      </a:r>
                      <a:r>
                        <a:rPr lang="en-US" altLang="ko-KR" sz="1000" dirty="0" smtClean="0">
                          <a:effectLst/>
                          <a:latin typeface="+mn-ea"/>
                          <a:ea typeface="+mn-ea"/>
                          <a:cs typeface="Times New Roman" panose="02020603050405020304" pitchFamily="18" charset="0"/>
                        </a:rPr>
                        <a:t>2.6</a:t>
                      </a:r>
                      <a:r>
                        <a:rPr lang="ko-KR" altLang="ko-KR" sz="1000" dirty="0" smtClean="0">
                          <a:effectLst/>
                          <a:latin typeface="+mn-ea"/>
                          <a:ea typeface="+mn-ea"/>
                          <a:cs typeface="Times New Roman" panose="02020603050405020304" pitchFamily="18" charset="0"/>
                        </a:rPr>
                        <a:t>조</a:t>
                      </a:r>
                      <a:r>
                        <a:rPr lang="en-US" altLang="ko-KR" sz="1000" dirty="0" smtClean="0">
                          <a:effectLst/>
                          <a:latin typeface="+mn-ea"/>
                          <a:ea typeface="+mn-ea"/>
                          <a:cs typeface="Times New Roman" panose="02020603050405020304" pitchFamily="18" charset="0"/>
                        </a:rPr>
                        <a:t> (c)</a:t>
                      </a:r>
                      <a:r>
                        <a:rPr lang="ko-KR" altLang="ko-KR" sz="1000" dirty="0" smtClean="0">
                          <a:effectLst/>
                          <a:latin typeface="+mn-ea"/>
                          <a:ea typeface="+mn-ea"/>
                          <a:cs typeface="Times New Roman" panose="02020603050405020304" pitchFamily="18" charset="0"/>
                        </a:rPr>
                        <a:t>항에는 원칙적으로 과반수 출석</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과반수 결의로 되어 있으나</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지분 구성이 </a:t>
                      </a:r>
                      <a:r>
                        <a:rPr lang="en-US" altLang="ko-KR" sz="1000" dirty="0" smtClean="0">
                          <a:effectLst/>
                          <a:latin typeface="+mn-ea"/>
                          <a:ea typeface="+mn-ea"/>
                          <a:cs typeface="Times New Roman" panose="02020603050405020304" pitchFamily="18" charset="0"/>
                        </a:rPr>
                        <a:t>50:50</a:t>
                      </a:r>
                      <a:r>
                        <a:rPr lang="ko-KR" altLang="ko-KR" sz="1000" dirty="0" smtClean="0">
                          <a:effectLst/>
                          <a:latin typeface="+mn-ea"/>
                          <a:ea typeface="+mn-ea"/>
                          <a:cs typeface="Times New Roman" panose="02020603050405020304" pitchFamily="18" charset="0"/>
                        </a:rPr>
                        <a:t>인 경우 이는 결국 만장일치를 의미하는 것이며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 중 </a:t>
                      </a:r>
                      <a:r>
                        <a:rPr lang="en-US" altLang="ko-KR" sz="1000" dirty="0" smtClean="0">
                          <a:effectLst/>
                          <a:latin typeface="+mn-ea"/>
                          <a:ea typeface="+mn-ea"/>
                          <a:cs typeface="Times New Roman" panose="02020603050405020304" pitchFamily="18" charset="0"/>
                        </a:rPr>
                        <a:t>1</a:t>
                      </a:r>
                      <a:r>
                        <a:rPr lang="ko-KR" altLang="ko-KR" sz="1000" dirty="0" smtClean="0">
                          <a:effectLst/>
                          <a:latin typeface="+mn-ea"/>
                          <a:ea typeface="+mn-ea"/>
                          <a:cs typeface="Times New Roman" panose="02020603050405020304" pitchFamily="18" charset="0"/>
                        </a:rPr>
                        <a:t>인이 주총 안건에 반대하여 부결되는 경우 </a:t>
                      </a:r>
                      <a:r>
                        <a:rPr lang="en-US" altLang="ko-KR" sz="1000" dirty="0" smtClean="0">
                          <a:effectLst/>
                          <a:latin typeface="+mn-ea"/>
                          <a:ea typeface="+mn-ea"/>
                          <a:cs typeface="Times New Roman" panose="02020603050405020304" pitchFamily="18" charset="0"/>
                        </a:rPr>
                        <a:t>Deadlock</a:t>
                      </a:r>
                      <a:r>
                        <a:rPr lang="ko-KR" altLang="ko-KR" sz="1000" dirty="0" smtClean="0">
                          <a:effectLst/>
                          <a:latin typeface="+mn-ea"/>
                          <a:ea typeface="+mn-ea"/>
                          <a:cs typeface="Times New Roman" panose="02020603050405020304" pitchFamily="18" charset="0"/>
                        </a:rPr>
                        <a:t>을 구성할 수 있음</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295275" lvl="0" indent="-295275" algn="just" latinLnBrk="1">
                        <a:lnSpc>
                          <a:spcPct val="110000"/>
                        </a:lnSpc>
                        <a:spcAft>
                          <a:spcPts val="200"/>
                        </a:spcAft>
                        <a:buFont typeface="+mj-lt"/>
                        <a:buAutoNum type="arabicPeriod"/>
                      </a:pPr>
                      <a:r>
                        <a:rPr lang="ko-KR" altLang="ko-KR" sz="1000" dirty="0" smtClean="0">
                          <a:effectLst/>
                          <a:latin typeface="+mn-ea"/>
                          <a:ea typeface="+mn-ea"/>
                          <a:cs typeface="Times New Roman" panose="02020603050405020304" pitchFamily="18" charset="0"/>
                        </a:rPr>
                        <a:t>대한민국 상법상 특별결의를 포함하여</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주주총회 결의가 반드시 필요한 사항에 대해서도 </a:t>
                      </a:r>
                      <a:r>
                        <a:rPr lang="ko-KR" altLang="ko-KR" sz="1000" dirty="0" err="1" smtClean="0">
                          <a:effectLst/>
                          <a:latin typeface="+mn-ea"/>
                          <a:ea typeface="+mn-ea"/>
                          <a:cs typeface="Times New Roman" panose="02020603050405020304" pitchFamily="18" charset="0"/>
                        </a:rPr>
                        <a:t>준거지법상</a:t>
                      </a:r>
                      <a:r>
                        <a:rPr lang="ko-KR" altLang="ko-KR" sz="1000" dirty="0" smtClean="0">
                          <a:effectLst/>
                          <a:latin typeface="+mn-ea"/>
                          <a:ea typeface="+mn-ea"/>
                          <a:cs typeface="Times New Roman" panose="02020603050405020304" pitchFamily="18" charset="0"/>
                        </a:rPr>
                        <a:t> 검토가 필요함</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 경우</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a:t>
                      </a:r>
                      <a:r>
                        <a:rPr lang="ko-KR" altLang="ko-KR" sz="1000" dirty="0" err="1" smtClean="0">
                          <a:effectLst/>
                          <a:latin typeface="+mn-ea"/>
                          <a:ea typeface="+mn-ea"/>
                          <a:cs typeface="Times New Roman" panose="02020603050405020304" pitchFamily="18" charset="0"/>
                        </a:rPr>
                        <a:t>대상회사에</a:t>
                      </a:r>
                      <a:r>
                        <a:rPr lang="ko-KR" altLang="ko-KR" sz="1000" dirty="0" smtClean="0">
                          <a:effectLst/>
                          <a:latin typeface="+mn-ea"/>
                          <a:ea typeface="+mn-ea"/>
                          <a:cs typeface="Times New Roman" panose="02020603050405020304" pitchFamily="18" charset="0"/>
                        </a:rPr>
                        <a:t> 대한 지분비율에 따라 주주총회 결의 사항을 넓게 규정할지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좁게 </a:t>
                      </a:r>
                      <a:r>
                        <a:rPr lang="ko-KR" altLang="ko-KR" sz="1000" dirty="0" err="1" smtClean="0">
                          <a:effectLst/>
                          <a:latin typeface="+mn-ea"/>
                          <a:ea typeface="+mn-ea"/>
                          <a:cs typeface="Times New Roman" panose="02020603050405020304" pitchFamily="18" charset="0"/>
                        </a:rPr>
                        <a:t>규정할지에</a:t>
                      </a:r>
                      <a:r>
                        <a:rPr lang="ko-KR" altLang="ko-KR" sz="1000" dirty="0" smtClean="0">
                          <a:effectLst/>
                          <a:latin typeface="+mn-ea"/>
                          <a:ea typeface="+mn-ea"/>
                          <a:cs typeface="Times New Roman" panose="02020603050405020304" pitchFamily="18" charset="0"/>
                        </a:rPr>
                        <a:t> 대한 전략적 판단이 필요함</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627063" lvl="1" indent="-268288" algn="just" latinLnBrk="1">
                        <a:lnSpc>
                          <a:spcPct val="110000"/>
                        </a:lnSpc>
                        <a:spcAft>
                          <a:spcPts val="200"/>
                        </a:spcAft>
                        <a:buFont typeface="Wingdings" panose="05000000000000000000" pitchFamily="2" charset="2"/>
                        <a:buChar char="Ø"/>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a:t>
                      </a:r>
                      <a:r>
                        <a:rPr lang="ko-KR" altLang="ko-KR" sz="1000" dirty="0" err="1" smtClean="0">
                          <a:effectLst/>
                          <a:latin typeface="+mn-ea"/>
                          <a:ea typeface="+mn-ea"/>
                          <a:cs typeface="Times New Roman" panose="02020603050405020304" pitchFamily="18" charset="0"/>
                        </a:rPr>
                        <a:t>대상회사에</a:t>
                      </a:r>
                      <a:r>
                        <a:rPr lang="ko-KR" altLang="ko-KR" sz="1000" dirty="0" smtClean="0">
                          <a:effectLst/>
                          <a:latin typeface="+mn-ea"/>
                          <a:ea typeface="+mn-ea"/>
                          <a:cs typeface="Times New Roman" panose="02020603050405020304" pitchFamily="18" charset="0"/>
                        </a:rPr>
                        <a:t> 대한</a:t>
                      </a:r>
                      <a:r>
                        <a:rPr lang="en-US" altLang="ko-KR" sz="1000" dirty="0" smtClean="0">
                          <a:effectLst/>
                          <a:latin typeface="+mn-ea"/>
                          <a:ea typeface="+mn-ea"/>
                          <a:cs typeface="Times New Roman" panose="02020603050405020304" pitchFamily="18" charset="0"/>
                        </a:rPr>
                        <a:t> control (</a:t>
                      </a:r>
                      <a:r>
                        <a:rPr lang="ko-KR" altLang="ko-KR" sz="1000" dirty="0" smtClean="0">
                          <a:effectLst/>
                          <a:latin typeface="+mn-ea"/>
                          <a:ea typeface="+mn-ea"/>
                          <a:cs typeface="Times New Roman" panose="02020603050405020304" pitchFamily="18" charset="0"/>
                        </a:rPr>
                        <a:t>예를 들어 </a:t>
                      </a:r>
                      <a:r>
                        <a:rPr lang="ko-KR" altLang="ko-KR" sz="1000" dirty="0" err="1" smtClean="0">
                          <a:effectLst/>
                          <a:latin typeface="+mn-ea"/>
                          <a:ea typeface="+mn-ea"/>
                          <a:cs typeface="Times New Roman" panose="02020603050405020304" pitchFamily="18" charset="0"/>
                        </a:rPr>
                        <a:t>준거지법상</a:t>
                      </a:r>
                      <a:r>
                        <a:rPr lang="ko-KR" altLang="ko-KR" sz="1000" dirty="0" smtClean="0">
                          <a:effectLst/>
                          <a:latin typeface="+mn-ea"/>
                          <a:ea typeface="+mn-ea"/>
                          <a:cs typeface="Times New Roman" panose="02020603050405020304" pitchFamily="18" charset="0"/>
                        </a:rPr>
                        <a:t> 특별결의 사항을 결의할 수 있을 정도의 </a:t>
                      </a:r>
                      <a:r>
                        <a:rPr lang="ko-KR" altLang="ko-KR" sz="1000" dirty="0" err="1" smtClean="0">
                          <a:effectLst/>
                          <a:latin typeface="+mn-ea"/>
                          <a:ea typeface="+mn-ea"/>
                          <a:cs typeface="Times New Roman" panose="02020603050405020304" pitchFamily="18" charset="0"/>
                        </a:rPr>
                        <a:t>지분율</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을 가지고 있다면</a:t>
                      </a:r>
                      <a:r>
                        <a:rPr lang="en-US" altLang="ko-KR" sz="1000" dirty="0" smtClean="0">
                          <a:effectLst/>
                          <a:latin typeface="+mn-ea"/>
                          <a:ea typeface="+mn-ea"/>
                          <a:cs typeface="Times New Roman" panose="02020603050405020304" pitchFamily="18" charset="0"/>
                        </a:rPr>
                        <a:t>(“</a:t>
                      </a:r>
                      <a:r>
                        <a:rPr lang="en-US" altLang="ko-KR" sz="1000" u="sng" dirty="0" smtClean="0">
                          <a:effectLst/>
                          <a:latin typeface="+mn-ea"/>
                          <a:ea typeface="+mn-ea"/>
                          <a:cs typeface="Times New Roman" panose="02020603050405020304" pitchFamily="18" charset="0"/>
                        </a:rPr>
                        <a:t>Controlling Shareholder</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가능한 그 범위를 줄이는 것을 고려할 수 있을 것임</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627063" lvl="1" indent="-268288" algn="just" latinLnBrk="1">
                        <a:lnSpc>
                          <a:spcPct val="110000"/>
                        </a:lnSpc>
                        <a:spcAft>
                          <a:spcPts val="200"/>
                        </a:spcAft>
                        <a:buFont typeface="Wingdings" panose="05000000000000000000" pitchFamily="2" charset="2"/>
                        <a:buChar char="Ø"/>
                      </a:pPr>
                      <a:r>
                        <a:rPr lang="ko-KR" altLang="ko-KR" sz="1000" dirty="0" err="1" smtClean="0">
                          <a:effectLst/>
                          <a:latin typeface="+mn-ea"/>
                          <a:ea typeface="+mn-ea"/>
                          <a:cs typeface="Times New Roman" panose="02020603050405020304" pitchFamily="18" charset="0"/>
                        </a:rPr>
                        <a:t>대상회사를</a:t>
                      </a:r>
                      <a:r>
                        <a:rPr lang="ko-KR"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종속회사로</a:t>
                      </a:r>
                      <a:r>
                        <a:rPr lang="ko-KR" altLang="ko-KR" sz="1000" dirty="0" smtClean="0">
                          <a:effectLst/>
                          <a:latin typeface="+mn-ea"/>
                          <a:ea typeface="+mn-ea"/>
                          <a:cs typeface="Times New Roman" panose="02020603050405020304" pitchFamily="18" charset="0"/>
                        </a:rPr>
                        <a:t> 연결하여야 하는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소수 주주에게 부여하는 </a:t>
                      </a:r>
                      <a:r>
                        <a:rPr lang="ko-KR" altLang="ko-KR" sz="1000" dirty="0" err="1" smtClean="0">
                          <a:effectLst/>
                          <a:latin typeface="+mn-ea"/>
                          <a:ea typeface="+mn-ea"/>
                          <a:cs typeface="Times New Roman" panose="02020603050405020304" pitchFamily="18" charset="0"/>
                        </a:rPr>
                        <a:t>동의권의</a:t>
                      </a:r>
                      <a:r>
                        <a:rPr lang="ko-KR" altLang="ko-KR" sz="1000" dirty="0" smtClean="0">
                          <a:effectLst/>
                          <a:latin typeface="+mn-ea"/>
                          <a:ea typeface="+mn-ea"/>
                          <a:cs typeface="Times New Roman" panose="02020603050405020304" pitchFamily="18" charset="0"/>
                        </a:rPr>
                        <a:t> 범위에 대하여는 이른바 소수 주주의 소극적 지배권</a:t>
                      </a:r>
                      <a:r>
                        <a:rPr lang="en-US" altLang="ko-KR" sz="1000" dirty="0" smtClean="0">
                          <a:effectLst/>
                          <a:latin typeface="+mn-ea"/>
                          <a:ea typeface="+mn-ea"/>
                          <a:cs typeface="Times New Roman" panose="02020603050405020304" pitchFamily="18" charset="0"/>
                        </a:rPr>
                        <a:t>(negative control) </a:t>
                      </a:r>
                      <a:r>
                        <a:rPr lang="ko-KR" altLang="ko-KR" sz="1000" dirty="0" smtClean="0">
                          <a:effectLst/>
                          <a:latin typeface="+mn-ea"/>
                          <a:ea typeface="+mn-ea"/>
                          <a:cs typeface="Times New Roman" panose="02020603050405020304" pitchFamily="18" charset="0"/>
                        </a:rPr>
                        <a:t>문제가 발생할 수 있으므로 회계 </a:t>
                      </a:r>
                      <a:r>
                        <a:rPr lang="ko-KR" altLang="ko-KR" sz="1000" dirty="0" err="1" smtClean="0">
                          <a:effectLst/>
                          <a:latin typeface="+mn-ea"/>
                          <a:ea typeface="+mn-ea"/>
                          <a:cs typeface="Times New Roman" panose="02020603050405020304" pitchFamily="18" charset="0"/>
                        </a:rPr>
                        <a:t>자문사와</a:t>
                      </a:r>
                      <a:r>
                        <a:rPr lang="ko-KR" altLang="ko-KR" sz="1000" dirty="0" smtClean="0">
                          <a:effectLst/>
                          <a:latin typeface="+mn-ea"/>
                          <a:ea typeface="+mn-ea"/>
                          <a:cs typeface="Times New Roman" panose="02020603050405020304" pitchFamily="18" charset="0"/>
                        </a:rPr>
                        <a:t> 검토 필요함</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627063" lvl="1" indent="-268288" algn="just" latinLnBrk="1">
                        <a:lnSpc>
                          <a:spcPct val="110000"/>
                        </a:lnSpc>
                        <a:spcAft>
                          <a:spcPts val="200"/>
                        </a:spcAft>
                        <a:buFont typeface="Wingdings" panose="05000000000000000000" pitchFamily="2" charset="2"/>
                        <a:buChar char="Ø"/>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소수 주주인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주주총회 의결정족수</a:t>
                      </a:r>
                      <a:r>
                        <a:rPr lang="en-US" altLang="ko-KR" sz="1000" dirty="0" smtClean="0">
                          <a:effectLst/>
                          <a:latin typeface="+mn-ea"/>
                          <a:ea typeface="+mn-ea"/>
                          <a:cs typeface="Times New Roman" panose="02020603050405020304" pitchFamily="18" charset="0"/>
                        </a:rPr>
                        <a:t>(voting threshold)</a:t>
                      </a:r>
                      <a:r>
                        <a:rPr lang="ko-KR" altLang="ko-KR" sz="1000" dirty="0" smtClean="0">
                          <a:effectLst/>
                          <a:latin typeface="+mn-ea"/>
                          <a:ea typeface="+mn-ea"/>
                          <a:cs typeface="Times New Roman" panose="02020603050405020304" pitchFamily="18" charset="0"/>
                        </a:rPr>
                        <a:t>를 아래와 같이 높이고</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주주총회 결의사항을 넓게 규정하여</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의사에 반하여 대상회사의 주요 경영 사항에 대한 결의가 되는 것을 방지하는 조치를 취하는 것을 고려할 수 있음</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추가</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 참조</a:t>
                      </a:r>
                      <a:r>
                        <a:rPr lang="en-US" altLang="ko-KR" sz="1000" dirty="0" smtClean="0">
                          <a:effectLst/>
                          <a:latin typeface="+mn-ea"/>
                          <a:ea typeface="+mn-ea"/>
                          <a:cs typeface="Times New Roman" panose="02020603050405020304" pitchFamily="18" charset="0"/>
                        </a:rPr>
                        <a:t>). </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20218115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1. </a:t>
            </a:r>
            <a:r>
              <a:rPr lang="en-US" altLang="ko-KR" dirty="0">
                <a:solidFill>
                  <a:schemeClr val="tx1"/>
                </a:solidFill>
                <a:latin typeface="+mn-ea"/>
                <a:ea typeface="+mn-ea"/>
              </a:rPr>
              <a:t>Shareholders Meeting; </a:t>
            </a:r>
            <a:r>
              <a:rPr lang="en-US" altLang="ko-KR" dirty="0" smtClean="0">
                <a:solidFill>
                  <a:schemeClr val="tx1"/>
                </a:solidFill>
                <a:latin typeface="+mn-ea"/>
                <a:ea typeface="+mn-ea"/>
              </a:rPr>
              <a:t>Resolution </a:t>
            </a:r>
            <a:r>
              <a:rPr lang="en-US" altLang="ko-KR" dirty="0" smtClean="0">
                <a:solidFill>
                  <a:schemeClr val="tx1"/>
                </a:solidFill>
                <a:latin typeface="+mn-ea"/>
              </a:rPr>
              <a:t>(2)</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604843506"/>
              </p:ext>
            </p:extLst>
          </p:nvPr>
        </p:nvGraphicFramePr>
        <p:xfrm>
          <a:off x="439738" y="1043677"/>
          <a:ext cx="9188450" cy="454343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543433">
                <a:tc>
                  <a:txBody>
                    <a:bodyPr/>
                    <a:lstStyle/>
                    <a:p>
                      <a:pPr marL="0" algn="ctr" defTabSz="914400" rtl="0" eaLnBrk="1" latinLnBrk="1" hangingPunct="1">
                        <a:lnSpc>
                          <a:spcPct val="110000"/>
                        </a:lnSpc>
                        <a:spcAft>
                          <a:spcPts val="60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600"/>
                        </a:spcAft>
                        <a:buFont typeface="+mj-lt"/>
                        <a:buNone/>
                      </a:pPr>
                      <a:r>
                        <a:rPr lang="en-US" altLang="ko-KR" sz="1000" u="none" strike="noStrike" dirty="0" smtClean="0">
                          <a:effectLst/>
                          <a:latin typeface="+mn-ea"/>
                          <a:ea typeface="+mn-ea"/>
                          <a:cs typeface="Times New Roman" panose="02020603050405020304" pitchFamily="18" charset="0"/>
                        </a:rPr>
                        <a:t>2.6 </a:t>
                      </a:r>
                      <a:r>
                        <a:rPr lang="en-US" altLang="ko-KR" sz="1000" u="sng" strike="noStrike" dirty="0" smtClean="0">
                          <a:effectLst/>
                          <a:latin typeface="+mn-ea"/>
                          <a:ea typeface="+mn-ea"/>
                          <a:cs typeface="Times New Roman" panose="02020603050405020304" pitchFamily="18" charset="0"/>
                        </a:rPr>
                        <a:t>Shareholders Meeting; Resolution</a:t>
                      </a:r>
                      <a:r>
                        <a:rPr lang="en-US" altLang="ko-KR" sz="1000" u="none" strike="noStrike"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a:lnSpc>
                          <a:spcPct val="110000"/>
                        </a:lnSpc>
                        <a:spcAft>
                          <a:spcPts val="600"/>
                        </a:spcAft>
                        <a:buFont typeface="+mj-lt"/>
                        <a:buAutoNum type="alphaLcParenBoth"/>
                      </a:pPr>
                      <a:r>
                        <a:rPr lang="en-US" altLang="ko-KR" sz="1000" dirty="0" smtClean="0">
                          <a:effectLst/>
                          <a:latin typeface="+mn-ea"/>
                          <a:ea typeface="+mn-ea"/>
                          <a:cs typeface="Times New Roman" panose="02020603050405020304" pitchFamily="18" charset="0"/>
                        </a:rPr>
                        <a:t>The Company shall hold an ordinary general meeting of shareholders of the Company within three (3) months after the end of each fiscal year.  An extraordinary meeting of shareholders of the Company may be called at any time by the resolution of the Board of Directors.  To convene a meeting of shareholders of the Company, a written notice thereof, which shall include the agenda of the meeting, shall be given to the Shareholders in English by the Company at least two (2) weeks prior to the date set for such meeting.  The Chairperson of the Board of Directors shall preside over every meeting of the shareholders of the Company as the chairperson of such meeting;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in the event he or she cannot do so, the Board of Directors shall nominate, from among the remaining Directors, a Director to preside over the shareholders meeting. </a:t>
                      </a:r>
                    </a:p>
                    <a:p>
                      <a:pPr marL="342900" lvl="0" indent="-342900" algn="just">
                        <a:lnSpc>
                          <a:spcPct val="110000"/>
                        </a:lnSpc>
                        <a:spcAft>
                          <a:spcPts val="600"/>
                        </a:spcAft>
                        <a:buFont typeface="+mj-lt"/>
                        <a:buAutoNum type="alphaLcParenBoth"/>
                      </a:pPr>
                      <a:r>
                        <a:rPr lang="en-US" altLang="ko-KR" sz="1000" kern="1200" dirty="0" smtClean="0">
                          <a:solidFill>
                            <a:schemeClr val="tx1"/>
                          </a:solidFill>
                          <a:effectLst/>
                          <a:latin typeface="+mn-ea"/>
                          <a:ea typeface="+mn-ea"/>
                          <a:cs typeface="Times New Roman" panose="02020603050405020304" pitchFamily="18" charset="0"/>
                        </a:rPr>
                        <a:t>All meetings of the shareholders of the Company shall be conducted in the English language.  All minutes of the meetings of the shareholders of the Company shall be prepared in both the English and Korean languages.  In the event of any conflict between the English and Korean versions of the minutes, the English version shall prevail.</a:t>
                      </a:r>
                    </a:p>
                    <a:p>
                      <a:pPr marL="342900" lvl="0" indent="-342900" algn="just">
                        <a:lnSpc>
                          <a:spcPct val="110000"/>
                        </a:lnSpc>
                        <a:spcAft>
                          <a:spcPts val="600"/>
                        </a:spcAft>
                        <a:buFont typeface="+mj-lt"/>
                        <a:buAutoNum type="alphaLcParenBoth"/>
                      </a:pPr>
                      <a:r>
                        <a:rPr lang="en-US" altLang="ko-KR" sz="1000" kern="1200" dirty="0" smtClean="0">
                          <a:solidFill>
                            <a:schemeClr val="tx1"/>
                          </a:solidFill>
                          <a:effectLst/>
                          <a:latin typeface="+mn-ea"/>
                          <a:ea typeface="+mn-ea"/>
                          <a:cs typeface="Times New Roman" panose="02020603050405020304" pitchFamily="18" charset="0"/>
                        </a:rPr>
                        <a:t>Except where a greater majority is required under applicable Law or Section 2.6(d), all actions and resolutions of the shareholders of the Company shall be adopted by the affirmative vote of the shareholders of the Company holding a majority of voting Shares at any meeting of the shareholders of the Company where shareholders holding more than 50% of the total number of voting Shares issued and outstanding are present.</a:t>
                      </a:r>
                    </a:p>
                    <a:p>
                      <a:pPr marL="342900" lvl="0" indent="-342900" algn="just">
                        <a:lnSpc>
                          <a:spcPct val="110000"/>
                        </a:lnSpc>
                        <a:spcAft>
                          <a:spcPts val="200"/>
                        </a:spcAft>
                        <a:buFont typeface="+mj-lt"/>
                        <a:buAutoNum type="alphaLcParenBoth"/>
                      </a:pPr>
                      <a:r>
                        <a:rPr lang="en-US" altLang="ko-KR" sz="1000" dirty="0" smtClean="0">
                          <a:effectLst/>
                          <a:latin typeface="+mn-ea"/>
                          <a:ea typeface="+mn-ea"/>
                          <a:cs typeface="Times New Roman" panose="02020603050405020304" pitchFamily="18" charset="0"/>
                        </a:rPr>
                        <a:t>The Shareholders agree, and shall take all necessary measures to procure, that for so long as this Agreement is in effect, no resolution or action may be adopted or taken by the general meeting of the shareholders of the Company with respect to (</a:t>
                      </a:r>
                      <a:r>
                        <a:rPr lang="en-US" altLang="ko-KR" sz="1000" dirty="0" err="1" smtClean="0">
                          <a:effectLst/>
                          <a:latin typeface="+mn-ea"/>
                          <a:ea typeface="+mn-ea"/>
                          <a:cs typeface="Times New Roman" panose="02020603050405020304" pitchFamily="18" charset="0"/>
                        </a:rPr>
                        <a:t>i</a:t>
                      </a:r>
                      <a:r>
                        <a:rPr lang="en-US" altLang="ko-KR" sz="1000" dirty="0" smtClean="0">
                          <a:effectLst/>
                          <a:latin typeface="+mn-ea"/>
                          <a:ea typeface="+mn-ea"/>
                          <a:cs typeface="Times New Roman" panose="02020603050405020304" pitchFamily="18" charset="0"/>
                        </a:rPr>
                        <a:t>) any of the matters listed below or </a:t>
                      </a:r>
                      <a:r>
                        <a:rPr lang="en-US" altLang="ko-KR" sz="1000" u="sng" dirty="0" smtClean="0">
                          <a:effectLst/>
                          <a:latin typeface="+mn-ea"/>
                          <a:ea typeface="+mn-ea"/>
                          <a:cs typeface="Times New Roman" panose="02020603050405020304" pitchFamily="18" charset="0"/>
                        </a:rPr>
                        <a:t>Section 2.11(c)</a:t>
                      </a:r>
                      <a:r>
                        <a:rPr lang="en-US" altLang="ko-KR" sz="1000" dirty="0" smtClean="0">
                          <a:effectLst/>
                          <a:latin typeface="+mn-ea"/>
                          <a:ea typeface="+mn-ea"/>
                          <a:cs typeface="Times New Roman" panose="02020603050405020304" pitchFamily="18" charset="0"/>
                        </a:rPr>
                        <a:t> or (ii) any other matters requiring a special resolution of the general meeting of the shareholders of the Company under the [Korean Commercial Code], unless such resolution or action has been first approved by the Board of Directors in accordance with </a:t>
                      </a:r>
                      <a:r>
                        <a:rPr lang="en-US" altLang="ko-KR" sz="1000" u="sng" dirty="0" smtClean="0">
                          <a:effectLst/>
                          <a:latin typeface="+mn-ea"/>
                          <a:ea typeface="+mn-ea"/>
                          <a:cs typeface="Times New Roman" panose="02020603050405020304" pitchFamily="18" charset="0"/>
                        </a:rPr>
                        <a:t>Section 2.11(c)</a:t>
                      </a:r>
                      <a:r>
                        <a:rPr lang="en-US" altLang="ko-KR" sz="1000" dirty="0" smtClean="0">
                          <a:effectLst/>
                          <a:latin typeface="+mn-ea"/>
                          <a:ea typeface="+mn-ea"/>
                          <a:cs typeface="Times New Roman" panose="02020603050405020304" pitchFamily="18" charset="0"/>
                        </a:rPr>
                        <a:t>.  </a:t>
                      </a:r>
                    </a:p>
                    <a:p>
                      <a:pPr marL="627063" lvl="0" indent="-285750" algn="just">
                        <a:lnSpc>
                          <a:spcPct val="110000"/>
                        </a:lnSpc>
                        <a:spcAft>
                          <a:spcPts val="200"/>
                        </a:spcAft>
                        <a:buFont typeface="+mj-lt"/>
                        <a:buAutoNum type="romanLcParenBoth"/>
                      </a:pPr>
                      <a:r>
                        <a:rPr lang="en-US" altLang="ko-KR" sz="1000" dirty="0" smtClean="0">
                          <a:effectLst/>
                          <a:latin typeface="+mn-ea"/>
                          <a:ea typeface="+mn-ea"/>
                          <a:cs typeface="Times New Roman" panose="02020603050405020304" pitchFamily="18" charset="0"/>
                        </a:rPr>
                        <a:t>amendment of the Articles of Incorporation;</a:t>
                      </a:r>
                    </a:p>
                    <a:p>
                      <a:pPr marL="627063" lvl="0" indent="-285750" algn="just">
                        <a:lnSpc>
                          <a:spcPct val="110000"/>
                        </a:lnSpc>
                        <a:spcAft>
                          <a:spcPts val="200"/>
                        </a:spcAft>
                        <a:buFont typeface="+mj-lt"/>
                        <a:buAutoNum type="romanLcParenBoth"/>
                      </a:pPr>
                      <a:r>
                        <a:rPr lang="en-US" altLang="ko-KR" sz="1000" dirty="0" smtClean="0">
                          <a:effectLst/>
                          <a:latin typeface="+mn-ea"/>
                          <a:ea typeface="+mn-ea"/>
                          <a:cs typeface="Times New Roman" panose="02020603050405020304" pitchFamily="18" charset="0"/>
                        </a:rPr>
                        <a:t>transfer of the whole or an important part of the business of the Company;</a:t>
                      </a:r>
                    </a:p>
                    <a:p>
                      <a:pPr marL="627063" lvl="0" indent="-285750" algn="just">
                        <a:lnSpc>
                          <a:spcPct val="110000"/>
                        </a:lnSpc>
                        <a:spcAft>
                          <a:spcPts val="200"/>
                        </a:spcAft>
                        <a:buFont typeface="+mj-lt"/>
                        <a:buAutoNum type="romanLcParenBoth"/>
                      </a:pPr>
                      <a:r>
                        <a:rPr lang="en-US" altLang="ko-KR" sz="1000" dirty="0" smtClean="0">
                          <a:effectLst/>
                          <a:latin typeface="+mn-ea"/>
                          <a:ea typeface="+mn-ea"/>
                          <a:cs typeface="Times New Roman" panose="02020603050405020304" pitchFamily="18" charset="0"/>
                        </a:rPr>
                        <a:t>dissolution of the Company;</a:t>
                      </a:r>
                      <a:endParaRPr lang="ko-KR" altLang="ko-KR" sz="1000" dirty="0" smtClean="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bl>
          </a:graphicData>
        </a:graphic>
      </p:graphicFrame>
    </p:spTree>
    <p:extLst>
      <p:ext uri="{BB962C8B-B14F-4D97-AF65-F5344CB8AC3E}">
        <p14:creationId xmlns:p14="http://schemas.microsoft.com/office/powerpoint/2010/main" val="348136749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1. </a:t>
            </a:r>
            <a:r>
              <a:rPr lang="en-US" altLang="ko-KR" dirty="0">
                <a:solidFill>
                  <a:schemeClr val="tx1"/>
                </a:solidFill>
                <a:latin typeface="+mn-ea"/>
                <a:ea typeface="+mn-ea"/>
              </a:rPr>
              <a:t>Shareholders Meeting; </a:t>
            </a:r>
            <a:r>
              <a:rPr lang="en-US" altLang="ko-KR" dirty="0" smtClean="0">
                <a:solidFill>
                  <a:schemeClr val="tx1"/>
                </a:solidFill>
                <a:latin typeface="+mn-ea"/>
                <a:ea typeface="+mn-ea"/>
              </a:rPr>
              <a:t>Resolution (3)</a:t>
            </a:r>
            <a:endParaRPr lang="ko-KR" altLang="en-US" dirty="0">
              <a:solidFill>
                <a:schemeClr val="tx1"/>
              </a:solidFill>
              <a:latin typeface="+mn-ea"/>
              <a:ea typeface="+mn-ea"/>
            </a:endParaRPr>
          </a:p>
        </p:txBody>
      </p:sp>
      <p:graphicFrame>
        <p:nvGraphicFramePr>
          <p:cNvPr id="7" name="표 6"/>
          <p:cNvGraphicFramePr>
            <a:graphicFrameLocks noGrp="1"/>
          </p:cNvGraphicFramePr>
          <p:nvPr>
            <p:extLst>
              <p:ext uri="{D42A27DB-BD31-4B8C-83A1-F6EECF244321}">
                <p14:modId xmlns:p14="http://schemas.microsoft.com/office/powerpoint/2010/main" val="867005062"/>
              </p:ext>
            </p:extLst>
          </p:nvPr>
        </p:nvGraphicFramePr>
        <p:xfrm>
          <a:off x="439738" y="1043677"/>
          <a:ext cx="9188450" cy="245023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251288">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644525" lvl="0" indent="-285750" algn="just" defTabSz="914400" rtl="0" eaLnBrk="1" latinLnBrk="1" hangingPunct="1">
                        <a:lnSpc>
                          <a:spcPct val="110000"/>
                        </a:lnSpc>
                        <a:spcAft>
                          <a:spcPts val="300"/>
                        </a:spcAft>
                        <a:buFont typeface="+mj-lt"/>
                        <a:buAutoNum type="romanLcParenBoth" startAt="4"/>
                      </a:pPr>
                      <a:r>
                        <a:rPr lang="en-US" altLang="ko-KR" sz="1000" kern="1200" dirty="0" smtClean="0">
                          <a:solidFill>
                            <a:schemeClr val="tx1"/>
                          </a:solidFill>
                          <a:effectLst/>
                          <a:latin typeface="+mn-ea"/>
                          <a:ea typeface="+mn-ea"/>
                          <a:cs typeface="Times New Roman" panose="02020603050405020304" pitchFamily="18" charset="0"/>
                        </a:rPr>
                        <a:t>merger of the Company;</a:t>
                      </a:r>
                      <a:endParaRPr lang="en-US" altLang="ko-KR" sz="1000" kern="1200" baseline="0" dirty="0" smtClean="0">
                        <a:solidFill>
                          <a:schemeClr val="tx1"/>
                        </a:solidFill>
                        <a:effectLst/>
                        <a:latin typeface="+mn-ea"/>
                        <a:ea typeface="+mn-ea"/>
                        <a:cs typeface="Times New Roman" panose="02020603050405020304" pitchFamily="18" charset="0"/>
                      </a:endParaRPr>
                    </a:p>
                    <a:p>
                      <a:pPr marL="644525" lvl="0" indent="-285750" algn="just" defTabSz="914400" rtl="0" eaLnBrk="1" latinLnBrk="1" hangingPunct="1">
                        <a:lnSpc>
                          <a:spcPct val="110000"/>
                        </a:lnSpc>
                        <a:spcAft>
                          <a:spcPts val="300"/>
                        </a:spcAft>
                        <a:buFont typeface="+mj-lt"/>
                        <a:buAutoNum type="romanLcParenBoth" startAt="4"/>
                      </a:pPr>
                      <a:r>
                        <a:rPr lang="en-US" altLang="ko-KR" sz="1000" kern="1200" dirty="0" smtClean="0">
                          <a:solidFill>
                            <a:schemeClr val="tx1"/>
                          </a:solidFill>
                          <a:effectLst/>
                          <a:latin typeface="+mn-ea"/>
                          <a:ea typeface="+mn-ea"/>
                          <a:cs typeface="Times New Roman" panose="02020603050405020304" pitchFamily="18" charset="0"/>
                        </a:rPr>
                        <a:t>agreement by the Company relating to the issuance (contingent or otherwise) of any Shares;</a:t>
                      </a:r>
                    </a:p>
                    <a:p>
                      <a:pPr marL="644525" lvl="0" indent="-285750" algn="just" defTabSz="914400" rtl="0" eaLnBrk="1" latinLnBrk="1" hangingPunct="1">
                        <a:lnSpc>
                          <a:spcPct val="110000"/>
                        </a:lnSpc>
                        <a:spcAft>
                          <a:spcPts val="300"/>
                        </a:spcAft>
                        <a:buFont typeface="+mj-lt"/>
                        <a:buAutoNum type="romanLcParenBoth" startAt="4"/>
                      </a:pPr>
                      <a:r>
                        <a:rPr lang="en-US" altLang="ko-KR" sz="1000" kern="1200" dirty="0" smtClean="0">
                          <a:solidFill>
                            <a:schemeClr val="tx1"/>
                          </a:solidFill>
                          <a:effectLst/>
                          <a:latin typeface="+mn-ea"/>
                          <a:ea typeface="+mn-ea"/>
                          <a:cs typeface="Times New Roman" panose="02020603050405020304" pitchFamily="18" charset="0"/>
                        </a:rPr>
                        <a:t>appointment of, and determination of compensations to, any Director;</a:t>
                      </a:r>
                    </a:p>
                    <a:p>
                      <a:pPr marL="644525" lvl="0" indent="-285750" algn="just" defTabSz="914400" rtl="0" eaLnBrk="1" latinLnBrk="1" hangingPunct="1">
                        <a:lnSpc>
                          <a:spcPct val="110000"/>
                        </a:lnSpc>
                        <a:spcAft>
                          <a:spcPts val="300"/>
                        </a:spcAft>
                        <a:buFont typeface="+mj-lt"/>
                        <a:buAutoNum type="romanLcParenBoth" startAt="4"/>
                      </a:pPr>
                      <a:r>
                        <a:rPr lang="en-US" altLang="ko-KR" sz="1000" kern="1200" dirty="0" smtClean="0">
                          <a:solidFill>
                            <a:schemeClr val="tx1"/>
                          </a:solidFill>
                          <a:effectLst/>
                          <a:latin typeface="+mn-ea"/>
                          <a:ea typeface="+mn-ea"/>
                          <a:cs typeface="Times New Roman" panose="02020603050405020304" pitchFamily="18" charset="0"/>
                        </a:rPr>
                        <a:t>approval of financial statements (including any decision on dividends) of the Company; and</a:t>
                      </a:r>
                    </a:p>
                    <a:p>
                      <a:pPr marL="644525" lvl="0" indent="-285750" algn="just" defTabSz="914400" rtl="0" eaLnBrk="1" latinLnBrk="1" hangingPunct="1">
                        <a:lnSpc>
                          <a:spcPct val="110000"/>
                        </a:lnSpc>
                        <a:spcAft>
                          <a:spcPts val="300"/>
                        </a:spcAft>
                        <a:buFont typeface="+mj-lt"/>
                        <a:buAutoNum type="romanLcParenBoth" startAt="4"/>
                      </a:pPr>
                      <a:r>
                        <a:rPr lang="en-US" altLang="ko-KR" sz="1000" kern="1200" dirty="0" smtClean="0">
                          <a:solidFill>
                            <a:schemeClr val="tx1"/>
                          </a:solidFill>
                          <a:effectLst/>
                          <a:latin typeface="+mn-ea"/>
                          <a:ea typeface="+mn-ea"/>
                          <a:cs typeface="Times New Roman" panose="02020603050405020304" pitchFamily="18" charset="0"/>
                        </a:rPr>
                        <a:t>any other matter requiring supermajority approval of the shareholders of the Company under applicable Law.</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98950">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추가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just" latinLnBrk="1">
                        <a:lnSpc>
                          <a:spcPts val="1500"/>
                        </a:lnSpc>
                        <a:spcAft>
                          <a:spcPts val="0"/>
                        </a:spcAft>
                        <a:buFont typeface="+mj-lt"/>
                        <a:buNone/>
                      </a:pPr>
                      <a:r>
                        <a:rPr lang="en-US" altLang="ko-KR" sz="1000" dirty="0" smtClean="0">
                          <a:effectLst/>
                          <a:latin typeface="+mn-ea"/>
                          <a:ea typeface="+mn-ea"/>
                          <a:cs typeface="Times New Roman" panose="02020603050405020304" pitchFamily="18" charset="0"/>
                        </a:rPr>
                        <a:t>The Shareholders agree, and shall take all necessary measures to procure, that for so long as this Agreement is in effect, no resolution or action may be adopted or taken by the general meeting of shareholders of the Company with respect to (</a:t>
                      </a:r>
                      <a:r>
                        <a:rPr lang="en-US" altLang="ko-KR" sz="1000" dirty="0" err="1" smtClean="0">
                          <a:effectLst/>
                          <a:latin typeface="+mn-ea"/>
                          <a:ea typeface="+mn-ea"/>
                          <a:cs typeface="Times New Roman" panose="02020603050405020304" pitchFamily="18" charset="0"/>
                        </a:rPr>
                        <a:t>i</a:t>
                      </a:r>
                      <a:r>
                        <a:rPr lang="en-US" altLang="ko-KR" sz="1000" dirty="0" smtClean="0">
                          <a:effectLst/>
                          <a:latin typeface="+mn-ea"/>
                          <a:ea typeface="+mn-ea"/>
                          <a:cs typeface="Times New Roman" panose="02020603050405020304" pitchFamily="18" charset="0"/>
                        </a:rPr>
                        <a:t>) any of the matters listed below or (ii) any other matters requiring a [special] resolution of the general meeting of shareholders of the Company under the [Korean Commercial Code], unless such resolution or action is approved by affirmative vote of at least [75]% of all of the issued and outstanding voting Shares.</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41435652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2. </a:t>
            </a:r>
            <a:r>
              <a:rPr lang="en-US" altLang="ko-KR" dirty="0">
                <a:solidFill>
                  <a:schemeClr val="tx1"/>
                </a:solidFill>
                <a:latin typeface="+mn-ea"/>
                <a:ea typeface="+mn-ea"/>
              </a:rPr>
              <a:t>Board </a:t>
            </a:r>
            <a:r>
              <a:rPr lang="en-US" altLang="ko-KR" dirty="0" smtClean="0">
                <a:solidFill>
                  <a:schemeClr val="tx1"/>
                </a:solidFill>
                <a:latin typeface="+mn-ea"/>
                <a:ea typeface="+mn-ea"/>
              </a:rPr>
              <a:t>Composition </a:t>
            </a:r>
            <a:r>
              <a:rPr lang="en-US" altLang="ko-KR" dirty="0">
                <a:solidFill>
                  <a:schemeClr val="tx1"/>
                </a:solidFill>
                <a:latin typeface="+mn-ea"/>
              </a:rPr>
              <a:t>(1)</a:t>
            </a:r>
            <a:r>
              <a:rPr lang="en-US" altLang="ko-KR" dirty="0" smtClean="0">
                <a:solidFill>
                  <a:schemeClr val="tx1"/>
                </a:solidFill>
                <a:latin typeface="+mn-ea"/>
                <a:ea typeface="+mn-ea"/>
              </a:rPr>
              <a:t> </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732648890"/>
              </p:ext>
            </p:extLst>
          </p:nvPr>
        </p:nvGraphicFramePr>
        <p:xfrm>
          <a:off x="439738" y="1043676"/>
          <a:ext cx="9188450" cy="533919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26536">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l" latinLnBrk="1">
                        <a:lnSpc>
                          <a:spcPct val="110000"/>
                        </a:lnSpc>
                        <a:spcAft>
                          <a:spcPts val="0"/>
                        </a:spcAft>
                        <a:buFont typeface="Wingdings" panose="05000000000000000000" pitchFamily="2" charset="2"/>
                        <a:buNone/>
                      </a:pPr>
                      <a:r>
                        <a:rPr lang="ko-KR" altLang="en-US" sz="1000" dirty="0" smtClean="0">
                          <a:solidFill>
                            <a:schemeClr val="tx1"/>
                          </a:solidFill>
                          <a:effectLst/>
                          <a:latin typeface="+mn-ea"/>
                          <a:ea typeface="+mn-ea"/>
                          <a:cs typeface="Times New Roman" panose="02020603050405020304" pitchFamily="18" charset="0"/>
                        </a:rPr>
                        <a:t>대상회사의 이사회의 구성 관련 사항을 정함</a:t>
                      </a:r>
                      <a:r>
                        <a:rPr lang="en-US" altLang="ko-KR" sz="1000" dirty="0" smtClean="0">
                          <a:solidFill>
                            <a:schemeClr val="tx1"/>
                          </a:solidFill>
                          <a:effectLst/>
                          <a:latin typeface="+mn-ea"/>
                          <a:ea typeface="+mn-ea"/>
                          <a:cs typeface="Times New Roman" panose="02020603050405020304" pitchFamily="18" charset="0"/>
                        </a:rPr>
                        <a:t>.</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832847">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10000"/>
                        </a:lnSpc>
                        <a:spcAft>
                          <a:spcPts val="200"/>
                        </a:spcAft>
                      </a:pPr>
                      <a:r>
                        <a:rPr lang="en-US" altLang="ko-KR" sz="1000" b="1" dirty="0" smtClean="0">
                          <a:effectLst/>
                          <a:latin typeface="+mn-ea"/>
                          <a:ea typeface="+mn-ea"/>
                          <a:cs typeface="Times New Roman" panose="02020603050405020304" pitchFamily="18" charset="0"/>
                        </a:rPr>
                        <a:t>1. </a:t>
                      </a:r>
                      <a:r>
                        <a:rPr lang="ko-KR" altLang="ko-KR" sz="1000" b="1" dirty="0" smtClean="0">
                          <a:effectLst/>
                          <a:latin typeface="+mn-ea"/>
                          <a:ea typeface="+mn-ea"/>
                          <a:cs typeface="Times New Roman" panose="02020603050405020304" pitchFamily="18" charset="0"/>
                        </a:rPr>
                        <a:t>이사회 구성</a:t>
                      </a:r>
                      <a:endParaRPr lang="ko-KR" altLang="ko-KR" sz="1000" dirty="0" smtClean="0">
                        <a:effectLst/>
                        <a:latin typeface="+mn-ea"/>
                        <a:ea typeface="+mn-ea"/>
                        <a:cs typeface="Times New Roman" panose="02020603050405020304" pitchFamily="18" charset="0"/>
                      </a:endParaRPr>
                    </a:p>
                    <a:p>
                      <a:pPr algn="just" latinLnBrk="1">
                        <a:lnSpc>
                          <a:spcPct val="110000"/>
                        </a:lnSpc>
                        <a:spcAft>
                          <a:spcPts val="200"/>
                        </a:spcAft>
                      </a:pPr>
                      <a:r>
                        <a:rPr lang="ko-KR" altLang="ko-KR" sz="1000" dirty="0" smtClean="0">
                          <a:effectLst/>
                          <a:latin typeface="+mn-ea"/>
                          <a:ea typeface="+mn-ea"/>
                          <a:cs typeface="Times New Roman" panose="02020603050405020304" pitchFamily="18" charset="0"/>
                        </a:rPr>
                        <a:t>이사회 구성은 </a:t>
                      </a:r>
                      <a:r>
                        <a:rPr lang="ko-KR" altLang="ko-KR" sz="1000" dirty="0" err="1" smtClean="0">
                          <a:effectLst/>
                          <a:latin typeface="+mn-ea"/>
                          <a:ea typeface="+mn-ea"/>
                          <a:cs typeface="Times New Roman" panose="02020603050405020304" pitchFamily="18" charset="0"/>
                        </a:rPr>
                        <a:t>대상회사</a:t>
                      </a:r>
                      <a:r>
                        <a:rPr lang="ko-KR"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지분구조에</a:t>
                      </a:r>
                      <a:r>
                        <a:rPr lang="ko-KR" altLang="ko-KR" sz="1000" dirty="0" smtClean="0">
                          <a:effectLst/>
                          <a:latin typeface="+mn-ea"/>
                          <a:ea typeface="+mn-ea"/>
                          <a:cs typeface="Times New Roman" panose="02020603050405020304" pitchFamily="18" charset="0"/>
                        </a:rPr>
                        <a:t> 기초하여 당사자간 협상에 따라 달라짐</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소수 주주인 경우</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207963" algn="just" latinLnBrk="1">
                        <a:lnSpc>
                          <a:spcPct val="110000"/>
                        </a:lnSpc>
                        <a:spcAft>
                          <a:spcPts val="200"/>
                        </a:spcAft>
                        <a:buSzPts val="1000"/>
                        <a:buFont typeface="Times New Roman" panose="02020603050405020304" pitchFamily="18" charset="0"/>
                        <a:buChar char="-"/>
                      </a:pPr>
                      <a:r>
                        <a:rPr lang="ko-KR" altLang="ko-KR" sz="1000" dirty="0" err="1" smtClean="0">
                          <a:effectLst/>
                          <a:latin typeface="+mn-ea"/>
                          <a:ea typeface="+mn-ea"/>
                          <a:cs typeface="Times New Roman" panose="02020603050405020304" pitchFamily="18" charset="0"/>
                        </a:rPr>
                        <a:t>대상회사</a:t>
                      </a:r>
                      <a:r>
                        <a:rPr lang="ko-KR" altLang="ko-KR" sz="1000" dirty="0" smtClean="0">
                          <a:effectLst/>
                          <a:latin typeface="+mn-ea"/>
                          <a:ea typeface="+mn-ea"/>
                          <a:cs typeface="Times New Roman" panose="02020603050405020304" pitchFamily="18" charset="0"/>
                        </a:rPr>
                        <a:t> 이사회 구성원으로 선임되는</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임직원 보호를 위해 </a:t>
                      </a:r>
                      <a:r>
                        <a:rPr lang="ko-KR" altLang="ko-KR" sz="1000" dirty="0" err="1" smtClean="0">
                          <a:effectLst/>
                          <a:latin typeface="+mn-ea"/>
                          <a:ea typeface="+mn-ea"/>
                          <a:cs typeface="Times New Roman" panose="02020603050405020304" pitchFamily="18" charset="0"/>
                        </a:rPr>
                        <a:t>대상회사로</a:t>
                      </a:r>
                      <a:r>
                        <a:rPr lang="ko-KR" altLang="ko-KR" sz="1000" dirty="0" smtClean="0">
                          <a:effectLst/>
                          <a:latin typeface="+mn-ea"/>
                          <a:ea typeface="+mn-ea"/>
                          <a:cs typeface="Times New Roman" panose="02020603050405020304" pitchFamily="18" charset="0"/>
                        </a:rPr>
                        <a:t> 하여금</a:t>
                      </a:r>
                      <a:r>
                        <a:rPr lang="en-US" altLang="ko-KR" sz="1000" dirty="0" smtClean="0">
                          <a:effectLst/>
                          <a:latin typeface="+mn-ea"/>
                          <a:ea typeface="+mn-ea"/>
                          <a:cs typeface="Times New Roman" panose="02020603050405020304" pitchFamily="18" charset="0"/>
                        </a:rPr>
                        <a:t> D&amp;O (Directors and Officers) Insurance</a:t>
                      </a:r>
                      <a:r>
                        <a:rPr lang="ko-KR" altLang="ko-KR" sz="1000" dirty="0" smtClean="0">
                          <a:effectLst/>
                          <a:latin typeface="+mn-ea"/>
                          <a:ea typeface="+mn-ea"/>
                          <a:cs typeface="Times New Roman" panose="02020603050405020304" pitchFamily="18" charset="0"/>
                        </a:rPr>
                        <a:t>를 가입하게 하는 것을 고려할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a:t>
                      </a:r>
                      <a:r>
                        <a:rPr lang="en-US" altLang="ko-KR" sz="1000" dirty="0" smtClean="0">
                          <a:effectLst/>
                          <a:latin typeface="+mn-ea"/>
                          <a:ea typeface="+mn-ea"/>
                          <a:cs typeface="Times New Roman" panose="02020603050405020304" pitchFamily="18" charset="0"/>
                        </a:rPr>
                        <a:t>(1) </a:t>
                      </a:r>
                      <a:r>
                        <a:rPr lang="ko-KR" altLang="ko-KR" sz="1000" dirty="0" smtClean="0">
                          <a:effectLst/>
                          <a:latin typeface="+mn-ea"/>
                          <a:ea typeface="+mn-ea"/>
                          <a:cs typeface="Times New Roman" panose="02020603050405020304" pitchFamily="18" charset="0"/>
                        </a:rPr>
                        <a:t>참조</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207963" algn="just" latinLnBrk="1">
                        <a:lnSpc>
                          <a:spcPct val="110000"/>
                        </a:lnSpc>
                        <a:spcAft>
                          <a:spcPts val="6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의 지분이 매우 작아서 이사 선임권을 요구하는 것이 현실적으로 어렵거나</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선임하는 </a:t>
                      </a:r>
                      <a:r>
                        <a:rPr lang="ko-KR" altLang="ko-KR" sz="1000" dirty="0" err="1" smtClean="0">
                          <a:effectLst/>
                          <a:latin typeface="+mn-ea"/>
                          <a:ea typeface="+mn-ea"/>
                          <a:cs typeface="Times New Roman" panose="02020603050405020304" pitchFamily="18" charset="0"/>
                        </a:rPr>
                        <a:t>등기이사가</a:t>
                      </a:r>
                      <a:r>
                        <a:rPr lang="ko-KR" altLang="ko-KR" sz="1000" dirty="0" smtClean="0">
                          <a:effectLst/>
                          <a:latin typeface="+mn-ea"/>
                          <a:ea typeface="+mn-ea"/>
                          <a:cs typeface="Times New Roman" panose="02020603050405020304" pitchFamily="18" charset="0"/>
                        </a:rPr>
                        <a:t> 고위 임원급이어서 실제 대상회사의 의사결정 내지 업무 내용에 관여하기 어렵다면</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실무 임직원의 이사회 참석을 위해</a:t>
                      </a:r>
                      <a:r>
                        <a:rPr lang="en-US" altLang="ko-KR" sz="1000" dirty="0" smtClean="0">
                          <a:effectLst/>
                          <a:latin typeface="+mn-ea"/>
                          <a:ea typeface="+mn-ea"/>
                          <a:cs typeface="Times New Roman" panose="02020603050405020304" pitchFamily="18" charset="0"/>
                        </a:rPr>
                        <a:t> Observer </a:t>
                      </a:r>
                      <a:r>
                        <a:rPr lang="ko-KR" altLang="ko-KR" sz="1000" dirty="0" smtClean="0">
                          <a:effectLst/>
                          <a:latin typeface="+mn-ea"/>
                          <a:ea typeface="+mn-ea"/>
                          <a:cs typeface="Times New Roman" panose="02020603050405020304" pitchFamily="18" charset="0"/>
                        </a:rPr>
                        <a:t>선임권을 요청하는 것을 고려할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a:t>
                      </a:r>
                      <a:r>
                        <a:rPr lang="en-US" altLang="ko-KR" sz="1000" dirty="0" smtClean="0">
                          <a:effectLst/>
                          <a:latin typeface="+mn-ea"/>
                          <a:ea typeface="+mn-ea"/>
                          <a:cs typeface="Times New Roman" panose="02020603050405020304" pitchFamily="18" charset="0"/>
                        </a:rPr>
                        <a:t>(2) </a:t>
                      </a:r>
                      <a:r>
                        <a:rPr lang="ko-KR" altLang="ko-KR" sz="1000" dirty="0" smtClean="0">
                          <a:effectLst/>
                          <a:latin typeface="+mn-ea"/>
                          <a:ea typeface="+mn-ea"/>
                          <a:cs typeface="Times New Roman" panose="02020603050405020304" pitchFamily="18" charset="0"/>
                        </a:rPr>
                        <a:t>참조</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200"/>
                        </a:spcAft>
                        <a:buFont typeface="+mj-lt"/>
                        <a:buAutoNum type="arabicPeriod" startAt="2"/>
                        <a:tabLst>
                          <a:tab pos="180340" algn="l"/>
                        </a:tabLst>
                      </a:pPr>
                      <a:r>
                        <a:rPr lang="ko-KR" altLang="ko-KR" sz="1000" b="1" dirty="0" smtClean="0">
                          <a:effectLst/>
                          <a:latin typeface="+mn-ea"/>
                          <a:ea typeface="+mn-ea"/>
                          <a:cs typeface="Times New Roman" panose="02020603050405020304" pitchFamily="18" charset="0"/>
                        </a:rPr>
                        <a:t>이사회 의장</a:t>
                      </a:r>
                      <a:endParaRPr lang="ko-KR" altLang="ko-KR" sz="1000" dirty="0" smtClean="0">
                        <a:effectLst/>
                        <a:latin typeface="+mn-ea"/>
                        <a:ea typeface="+mn-ea"/>
                        <a:cs typeface="Times New Roman" panose="02020603050405020304" pitchFamily="18" charset="0"/>
                      </a:endParaRPr>
                    </a:p>
                    <a:p>
                      <a:pPr algn="just" latinLnBrk="1">
                        <a:lnSpc>
                          <a:spcPct val="110000"/>
                        </a:lnSpc>
                        <a:spcAft>
                          <a:spcPts val="200"/>
                        </a:spcAft>
                      </a:pPr>
                      <a:r>
                        <a:rPr lang="ko-KR" altLang="ko-KR" sz="1000" dirty="0" smtClean="0">
                          <a:effectLst/>
                          <a:latin typeface="+mn-ea"/>
                          <a:ea typeface="+mn-ea"/>
                          <a:cs typeface="Times New Roman" panose="02020603050405020304" pitchFamily="18" charset="0"/>
                        </a:rPr>
                        <a:t>이사회 구성원 중 이사회 의장</a:t>
                      </a:r>
                      <a:r>
                        <a:rPr lang="en-US" altLang="ko-KR" sz="1000" dirty="0" smtClean="0">
                          <a:effectLst/>
                          <a:latin typeface="+mn-ea"/>
                          <a:ea typeface="+mn-ea"/>
                          <a:cs typeface="Times New Roman" panose="02020603050405020304" pitchFamily="18" charset="0"/>
                        </a:rPr>
                        <a:t>(Chairperson)/</a:t>
                      </a:r>
                      <a:r>
                        <a:rPr lang="ko-KR" altLang="ko-KR" sz="1000" dirty="0" smtClean="0">
                          <a:effectLst/>
                          <a:latin typeface="+mn-ea"/>
                          <a:ea typeface="+mn-ea"/>
                          <a:cs typeface="Times New Roman" panose="02020603050405020304" pitchFamily="18" charset="0"/>
                        </a:rPr>
                        <a:t>부의장</a:t>
                      </a:r>
                      <a:r>
                        <a:rPr lang="en-US" altLang="ko-KR" sz="1000" dirty="0" smtClean="0">
                          <a:effectLst/>
                          <a:latin typeface="+mn-ea"/>
                          <a:ea typeface="+mn-ea"/>
                          <a:cs typeface="Times New Roman" panose="02020603050405020304" pitchFamily="18" charset="0"/>
                        </a:rPr>
                        <a:t>(Vice-Chairperson)</a:t>
                      </a:r>
                      <a:r>
                        <a:rPr lang="ko-KR" altLang="ko-KR" sz="1000" dirty="0" smtClean="0">
                          <a:effectLst/>
                          <a:latin typeface="+mn-ea"/>
                          <a:ea typeface="+mn-ea"/>
                          <a:cs typeface="Times New Roman" panose="02020603050405020304" pitchFamily="18" charset="0"/>
                        </a:rPr>
                        <a:t>을 선임하는 조항을 두는 것이 </a:t>
                      </a:r>
                      <a:r>
                        <a:rPr lang="ko-KR" altLang="ko-KR" sz="1000" dirty="0" err="1" smtClean="0">
                          <a:effectLst/>
                          <a:latin typeface="+mn-ea"/>
                          <a:ea typeface="+mn-ea"/>
                          <a:cs typeface="Times New Roman" panose="02020603050405020304" pitchFamily="18" charset="0"/>
                        </a:rPr>
                        <a:t>통상적임</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207963" algn="just" latinLnBrk="1">
                        <a:lnSpc>
                          <a:spcPct val="110000"/>
                        </a:lnSpc>
                        <a:spcAft>
                          <a:spcPts val="2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50:50 </a:t>
                      </a:r>
                      <a:r>
                        <a:rPr lang="ko-KR" altLang="ko-KR" sz="1000" dirty="0" smtClean="0">
                          <a:effectLst/>
                          <a:latin typeface="+mn-ea"/>
                          <a:ea typeface="+mn-ea"/>
                          <a:cs typeface="Times New Roman" panose="02020603050405020304" pitchFamily="18" charset="0"/>
                        </a:rPr>
                        <a:t>합작법인에서는 일방 주주가</a:t>
                      </a:r>
                      <a:r>
                        <a:rPr lang="en-US" altLang="ko-KR" sz="1000" dirty="0" smtClean="0">
                          <a:effectLst/>
                          <a:latin typeface="+mn-ea"/>
                          <a:ea typeface="+mn-ea"/>
                          <a:cs typeface="Times New Roman" panose="02020603050405020304" pitchFamily="18" charset="0"/>
                        </a:rPr>
                        <a:t> CEO </a:t>
                      </a:r>
                      <a:r>
                        <a:rPr lang="ko-KR" altLang="ko-KR" sz="1000" dirty="0" smtClean="0">
                          <a:effectLst/>
                          <a:latin typeface="+mn-ea"/>
                          <a:ea typeface="+mn-ea"/>
                          <a:cs typeface="Times New Roman" panose="02020603050405020304" pitchFamily="18" charset="0"/>
                        </a:rPr>
                        <a:t>선임권을 가지는 경우</a:t>
                      </a:r>
                      <a:r>
                        <a:rPr lang="en-US" altLang="ko-KR" sz="1000" dirty="0" smtClean="0">
                          <a:effectLst/>
                          <a:latin typeface="+mn-ea"/>
                          <a:ea typeface="+mn-ea"/>
                          <a:cs typeface="Times New Roman" panose="02020603050405020304" pitchFamily="18" charset="0"/>
                        </a:rPr>
                        <a:t> Chairperson </a:t>
                      </a:r>
                      <a:r>
                        <a:rPr lang="ko-KR" altLang="ko-KR" sz="1000" dirty="0" smtClean="0">
                          <a:effectLst/>
                          <a:latin typeface="+mn-ea"/>
                          <a:ea typeface="+mn-ea"/>
                          <a:cs typeface="Times New Roman" panose="02020603050405020304" pitchFamily="18" charset="0"/>
                        </a:rPr>
                        <a:t>선임권은 상대방 주주에게 주는 것으로 합의하는 것이 일반적이나</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공동</a:t>
                      </a:r>
                      <a:r>
                        <a:rPr lang="en-US" altLang="ko-KR" sz="1000" dirty="0" smtClean="0">
                          <a:effectLst/>
                          <a:latin typeface="+mn-ea"/>
                          <a:ea typeface="+mn-ea"/>
                          <a:cs typeface="Times New Roman" panose="02020603050405020304" pitchFamily="18" charset="0"/>
                        </a:rPr>
                        <a:t> CEO</a:t>
                      </a:r>
                      <a:r>
                        <a:rPr lang="ko-KR" altLang="ko-KR" sz="1000" dirty="0" smtClean="0">
                          <a:effectLst/>
                          <a:latin typeface="+mn-ea"/>
                          <a:ea typeface="+mn-ea"/>
                          <a:cs typeface="Times New Roman" panose="02020603050405020304" pitchFamily="18" charset="0"/>
                        </a:rPr>
                        <a:t>를 선임하게 되는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누가</a:t>
                      </a:r>
                      <a:r>
                        <a:rPr lang="en-US" altLang="ko-KR" sz="1000" dirty="0" smtClean="0">
                          <a:effectLst/>
                          <a:latin typeface="+mn-ea"/>
                          <a:ea typeface="+mn-ea"/>
                          <a:cs typeface="Times New Roman" panose="02020603050405020304" pitchFamily="18" charset="0"/>
                        </a:rPr>
                        <a:t> Chairperson</a:t>
                      </a:r>
                      <a:r>
                        <a:rPr lang="ko-KR" altLang="ko-KR" sz="1000" dirty="0" smtClean="0">
                          <a:effectLst/>
                          <a:latin typeface="+mn-ea"/>
                          <a:ea typeface="+mn-ea"/>
                          <a:cs typeface="Times New Roman" panose="02020603050405020304" pitchFamily="18" charset="0"/>
                        </a:rPr>
                        <a:t>이 될지 여부는 당사자들 사이의 협상이 필요한 사항임</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207963" algn="just" latinLnBrk="1">
                        <a:lnSpc>
                          <a:spcPct val="110000"/>
                        </a:lnSpc>
                        <a:spcAft>
                          <a:spcPts val="2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대주주인 경우</a:t>
                      </a:r>
                      <a:r>
                        <a:rPr lang="en-US" altLang="ko-KR" sz="1000" dirty="0" smtClean="0">
                          <a:effectLst/>
                          <a:latin typeface="+mn-ea"/>
                          <a:ea typeface="+mn-ea"/>
                          <a:cs typeface="Times New Roman" panose="02020603050405020304" pitchFamily="18" charset="0"/>
                        </a:rPr>
                        <a:t>, CEO </a:t>
                      </a:r>
                      <a:r>
                        <a:rPr lang="ko-KR" altLang="ko-KR" sz="1000" dirty="0" smtClean="0">
                          <a:effectLst/>
                          <a:latin typeface="+mn-ea"/>
                          <a:ea typeface="+mn-ea"/>
                          <a:cs typeface="Times New Roman" panose="02020603050405020304" pitchFamily="18" charset="0"/>
                        </a:rPr>
                        <a:t>선임권과</a:t>
                      </a:r>
                      <a:r>
                        <a:rPr lang="en-US" altLang="ko-KR" sz="1000" dirty="0" smtClean="0">
                          <a:effectLst/>
                          <a:latin typeface="+mn-ea"/>
                          <a:ea typeface="+mn-ea"/>
                          <a:cs typeface="Times New Roman" panose="02020603050405020304" pitchFamily="18" charset="0"/>
                        </a:rPr>
                        <a:t> Chairperson </a:t>
                      </a:r>
                      <a:r>
                        <a:rPr lang="ko-KR" altLang="ko-KR" sz="1000" dirty="0" smtClean="0">
                          <a:effectLst/>
                          <a:latin typeface="+mn-ea"/>
                          <a:ea typeface="+mn-ea"/>
                          <a:cs typeface="Times New Roman" panose="02020603050405020304" pitchFamily="18" charset="0"/>
                        </a:rPr>
                        <a:t>선임권을 모두 갖거나</a:t>
                      </a:r>
                      <a:r>
                        <a:rPr lang="en-US" altLang="ko-KR" sz="1000" dirty="0" smtClean="0">
                          <a:effectLst/>
                          <a:latin typeface="+mn-ea"/>
                          <a:ea typeface="+mn-ea"/>
                          <a:cs typeface="Times New Roman" panose="02020603050405020304" pitchFamily="18" charset="0"/>
                        </a:rPr>
                        <a:t>, CEO</a:t>
                      </a:r>
                      <a:r>
                        <a:rPr lang="ko-KR" altLang="ko-KR" sz="1000" dirty="0" smtClean="0">
                          <a:effectLst/>
                          <a:latin typeface="+mn-ea"/>
                          <a:ea typeface="+mn-ea"/>
                          <a:cs typeface="Times New Roman" panose="02020603050405020304" pitchFamily="18" charset="0"/>
                        </a:rPr>
                        <a:t>가</a:t>
                      </a:r>
                      <a:r>
                        <a:rPr lang="en-US" altLang="ko-KR" sz="1000" dirty="0" smtClean="0">
                          <a:effectLst/>
                          <a:latin typeface="+mn-ea"/>
                          <a:ea typeface="+mn-ea"/>
                          <a:cs typeface="Times New Roman" panose="02020603050405020304" pitchFamily="18" charset="0"/>
                        </a:rPr>
                        <a:t> Chairperson</a:t>
                      </a:r>
                      <a:r>
                        <a:rPr lang="ko-KR" altLang="ko-KR" sz="1000" dirty="0" smtClean="0">
                          <a:effectLst/>
                          <a:latin typeface="+mn-ea"/>
                          <a:ea typeface="+mn-ea"/>
                          <a:cs typeface="Times New Roman" panose="02020603050405020304" pitchFamily="18" charset="0"/>
                        </a:rPr>
                        <a:t>을 겸하도록 할 수도 있음</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 경우 상대방 주주에게</a:t>
                      </a:r>
                      <a:r>
                        <a:rPr lang="en-US" altLang="ko-KR" sz="1000" dirty="0" smtClean="0">
                          <a:effectLst/>
                          <a:latin typeface="+mn-ea"/>
                          <a:ea typeface="+mn-ea"/>
                          <a:cs typeface="Times New Roman" panose="02020603050405020304" pitchFamily="18" charset="0"/>
                        </a:rPr>
                        <a:t> Vice-Chairperson </a:t>
                      </a:r>
                      <a:r>
                        <a:rPr lang="ko-KR" altLang="ko-KR" sz="1000" dirty="0" smtClean="0">
                          <a:effectLst/>
                          <a:latin typeface="+mn-ea"/>
                          <a:ea typeface="+mn-ea"/>
                          <a:cs typeface="Times New Roman" panose="02020603050405020304" pitchFamily="18" charset="0"/>
                        </a:rPr>
                        <a:t>선임권을 주어</a:t>
                      </a:r>
                      <a:r>
                        <a:rPr lang="en-US" altLang="ko-KR" sz="1000" dirty="0" smtClean="0">
                          <a:effectLst/>
                          <a:latin typeface="+mn-ea"/>
                          <a:ea typeface="+mn-ea"/>
                          <a:cs typeface="Times New Roman" panose="02020603050405020304" pitchFamily="18" charset="0"/>
                        </a:rPr>
                        <a:t> Chairperson </a:t>
                      </a:r>
                      <a:r>
                        <a:rPr lang="ko-KR" altLang="ko-KR" sz="1000" dirty="0" smtClean="0">
                          <a:effectLst/>
                          <a:latin typeface="+mn-ea"/>
                          <a:ea typeface="+mn-ea"/>
                          <a:cs typeface="Times New Roman" panose="02020603050405020304" pitchFamily="18" charset="0"/>
                        </a:rPr>
                        <a:t>유고 또는 불참 시 대행하도록 할 수 있을 것임</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207963" algn="just" latinLnBrk="1">
                        <a:lnSpc>
                          <a:spcPct val="110000"/>
                        </a:lnSpc>
                        <a:spcAft>
                          <a:spcPts val="2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a:t>
                      </a:r>
                      <a:r>
                        <a:rPr lang="ko-KR" altLang="ko-KR" sz="1000" dirty="0" err="1" smtClean="0">
                          <a:effectLst/>
                          <a:latin typeface="+mn-ea"/>
                          <a:ea typeface="+mn-ea"/>
                          <a:cs typeface="Times New Roman" panose="02020603050405020304" pitchFamily="18" charset="0"/>
                        </a:rPr>
                        <a:t>소수주주인</a:t>
                      </a:r>
                      <a:r>
                        <a:rPr lang="ko-KR" altLang="ko-KR" sz="1000" dirty="0" smtClean="0">
                          <a:effectLst/>
                          <a:latin typeface="+mn-ea"/>
                          <a:ea typeface="+mn-ea"/>
                          <a:cs typeface="Times New Roman" panose="02020603050405020304" pitchFamily="18" charset="0"/>
                        </a:rPr>
                        <a:t> 경우</a:t>
                      </a:r>
                      <a:r>
                        <a:rPr lang="en-US"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대상회사가</a:t>
                      </a:r>
                      <a:r>
                        <a:rPr lang="ko-KR" altLang="ko-KR" sz="1000" dirty="0" smtClean="0">
                          <a:effectLst/>
                          <a:latin typeface="+mn-ea"/>
                          <a:ea typeface="+mn-ea"/>
                          <a:cs typeface="Times New Roman" panose="02020603050405020304" pitchFamily="18" charset="0"/>
                        </a:rPr>
                        <a:t> 한국법인이라면 감사</a:t>
                      </a:r>
                      <a:r>
                        <a:rPr lang="en-US" altLang="ko-KR" sz="1000" dirty="0" smtClean="0">
                          <a:effectLst/>
                          <a:latin typeface="+mn-ea"/>
                          <a:ea typeface="+mn-ea"/>
                          <a:cs typeface="Times New Roman" panose="02020603050405020304" pitchFamily="18" charset="0"/>
                        </a:rPr>
                        <a:t>(statutory auditor)</a:t>
                      </a:r>
                      <a:r>
                        <a:rPr lang="ko-KR" altLang="ko-KR" sz="1000" dirty="0" smtClean="0">
                          <a:effectLst/>
                          <a:latin typeface="+mn-ea"/>
                          <a:ea typeface="+mn-ea"/>
                          <a:cs typeface="Times New Roman" panose="02020603050405020304" pitchFamily="18" charset="0"/>
                        </a:rPr>
                        <a:t>의 선임권을 갖는 것을 고려해볼 수 있음</a:t>
                      </a:r>
                      <a:r>
                        <a:rPr lang="en-US" altLang="ko-KR" sz="1000" dirty="0" smtClean="0">
                          <a:effectLst/>
                          <a:latin typeface="+mn-ea"/>
                          <a:ea typeface="+mn-ea"/>
                          <a:cs typeface="Times New Roman" panose="02020603050405020304" pitchFamily="18" charset="0"/>
                        </a:rPr>
                        <a:t>.</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2079812">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1" indent="0" algn="l" defTabSz="914400" rtl="0" eaLnBrk="1" fontAlgn="base" latinLnBrk="1" hangingPunct="1">
                        <a:lnSpc>
                          <a:spcPct val="110000"/>
                        </a:lnSpc>
                        <a:spcBef>
                          <a:spcPct val="0"/>
                        </a:spcBef>
                        <a:spcAft>
                          <a:spcPct val="0"/>
                        </a:spcAft>
                        <a:buClrTx/>
                        <a:buSzTx/>
                        <a:buFont typeface="Wingdings" panose="05000000000000000000" pitchFamily="2" charset="2"/>
                        <a:buNone/>
                        <a:tabLst/>
                        <a:defRPr/>
                      </a:pPr>
                      <a:r>
                        <a:rPr kumimoji="1" lang="en-US" altLang="ko-KR" sz="1000" b="0" i="0" u="none" strike="noStrike" kern="1200" cap="none" normalizeH="0" baseline="0" dirty="0" smtClean="0">
                          <a:ln>
                            <a:noFill/>
                          </a:ln>
                          <a:solidFill>
                            <a:schemeClr val="tx1"/>
                          </a:solidFill>
                          <a:effectLst/>
                          <a:latin typeface="+mn-ea"/>
                          <a:ea typeface="+mn-ea"/>
                          <a:cs typeface="+mn-cs"/>
                        </a:rPr>
                        <a:t>2.7 </a:t>
                      </a:r>
                      <a:r>
                        <a:rPr kumimoji="1" lang="en-US" altLang="ko-KR" sz="1000" b="0" i="0" u="sng" strike="noStrike" kern="1200" cap="none" normalizeH="0" baseline="0" dirty="0" smtClean="0">
                          <a:ln>
                            <a:noFill/>
                          </a:ln>
                          <a:solidFill>
                            <a:schemeClr val="tx1"/>
                          </a:solidFill>
                          <a:effectLst/>
                          <a:latin typeface="+mn-ea"/>
                          <a:ea typeface="+mn-ea"/>
                          <a:cs typeface="+mn-cs"/>
                        </a:rPr>
                        <a:t>Board of Directors</a:t>
                      </a:r>
                    </a:p>
                    <a:p>
                      <a:pPr marL="342900" marR="0" lvl="0" indent="-342900" algn="just" defTabSz="914400" rtl="0" eaLnBrk="1" fontAlgn="auto" latinLnBrk="1" hangingPunct="1">
                        <a:lnSpc>
                          <a:spcPct val="115000"/>
                        </a:lnSpc>
                        <a:spcBef>
                          <a:spcPts val="0"/>
                        </a:spcBef>
                        <a:spcAft>
                          <a:spcPts val="0"/>
                        </a:spcAft>
                        <a:buClrTx/>
                        <a:buSzTx/>
                        <a:buFont typeface="+mj-lt"/>
                        <a:buAutoNum type="alphaLcParenBoth"/>
                        <a:tabLst/>
                        <a:defRPr/>
                      </a:pP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Each of the Shareholders agree that the Board of Directors shall consist of [six (6)] Directors, (x) [three (3)] of whom shall be nominated by LG H&amp;H (each, a “</a:t>
                      </a:r>
                      <a:r>
                        <a:rPr kumimoji="0" lang="en-US" altLang="ko-KR" sz="1000" b="0" i="0" u="sng"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LG H&amp;H Nominee</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and (y) [three (3)] shall be nominated by Other Shareholder (each, a “</a:t>
                      </a:r>
                      <a:r>
                        <a:rPr kumimoji="0" lang="en-US" altLang="ko-KR" sz="1000" b="0" i="0" u="sng"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Other Shareholder Nominee</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a:t>
                      </a:r>
                      <a:r>
                        <a:rPr kumimoji="0" lang="en-US" altLang="ko-KR" sz="1000" b="0" i="0" u="sng"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provided</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a:t>
                      </a:r>
                      <a:r>
                        <a:rPr kumimoji="0" lang="en-US" altLang="ko-KR" sz="1000" b="0" i="0" u="sng"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however</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that if there is a substantial change in the Percentage Interests of the Shareholders, the Shareholders shall mutually agree on a reasonable alternatives to the composition of the Board of Directors taking into consideration the changes to the Percentage Interests and amend this Agreement to reflect such agreement. Each Shareholder agrees (</a:t>
                      </a:r>
                      <a:r>
                        <a:rPr kumimoji="0" lang="en-US" altLang="ko-KR" sz="1000" b="0" i="0" u="none" strike="noStrike" kern="1200" cap="none" spc="0" normalizeH="0" baseline="0" noProof="0" dirty="0" err="1" smtClean="0">
                          <a:ln>
                            <a:noFill/>
                          </a:ln>
                          <a:solidFill>
                            <a:prstClr val="black"/>
                          </a:solidFill>
                          <a:effectLst/>
                          <a:uLnTx/>
                          <a:uFillTx/>
                          <a:latin typeface="+mn-ea"/>
                          <a:ea typeface="+mn-ea"/>
                          <a:cs typeface="Times New Roman" panose="02020603050405020304" pitchFamily="18" charset="0"/>
                        </a:rPr>
                        <a:t>i</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to vote all voting Shares registered in such Shareholder’s name or beneficially owned by such Shareholder and take all other action in its power and authority as a shareholder of the Company and (ii) without prejudice to any fiduciary duty of Directors under applicable Law, encourage its representatives, nominees or designees, as the case may be, at the governing body, or any committee thereof, of the Company to exercise their voting rights on each such body, in a manner consistent with the rights and obligations under the Agreement, including the provisions of this </a:t>
                      </a:r>
                      <a:r>
                        <a:rPr kumimoji="0" lang="en-US" altLang="ko-KR" sz="1000" b="0" i="0" u="sng"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Section 2.7(a)</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so as to effectuate and preserve the intent of the Parties as set out herein.</a:t>
                      </a:r>
                      <a:endParaRPr kumimoji="0" lang="ko-KR"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244028264"/>
                  </a:ext>
                </a:extLst>
              </a:tr>
            </a:tbl>
          </a:graphicData>
        </a:graphic>
      </p:graphicFrame>
    </p:spTree>
    <p:extLst>
      <p:ext uri="{BB962C8B-B14F-4D97-AF65-F5344CB8AC3E}">
        <p14:creationId xmlns:p14="http://schemas.microsoft.com/office/powerpoint/2010/main" val="23160166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2. </a:t>
            </a:r>
            <a:r>
              <a:rPr lang="en-US" altLang="ko-KR" dirty="0">
                <a:solidFill>
                  <a:schemeClr val="tx1"/>
                </a:solidFill>
                <a:latin typeface="+mn-ea"/>
                <a:ea typeface="+mn-ea"/>
              </a:rPr>
              <a:t>Board </a:t>
            </a:r>
            <a:r>
              <a:rPr lang="en-US" altLang="ko-KR" dirty="0" smtClean="0">
                <a:solidFill>
                  <a:schemeClr val="tx1"/>
                </a:solidFill>
                <a:latin typeface="+mn-ea"/>
                <a:ea typeface="+mn-ea"/>
              </a:rPr>
              <a:t>Composition </a:t>
            </a:r>
            <a:r>
              <a:rPr lang="en-US" altLang="ko-KR" dirty="0" smtClean="0">
                <a:solidFill>
                  <a:schemeClr val="tx1"/>
                </a:solidFill>
                <a:latin typeface="+mn-ea"/>
              </a:rPr>
              <a:t>(2)</a:t>
            </a:r>
            <a:r>
              <a:rPr lang="en-US" altLang="ko-KR" dirty="0" smtClean="0">
                <a:solidFill>
                  <a:schemeClr val="tx1"/>
                </a:solidFill>
                <a:latin typeface="+mn-ea"/>
                <a:ea typeface="+mn-ea"/>
              </a:rPr>
              <a:t> </a:t>
            </a:r>
            <a:endParaRPr lang="ko-KR" altLang="en-US" dirty="0">
              <a:solidFill>
                <a:schemeClr val="tx1"/>
              </a:solidFill>
              <a:latin typeface="+mn-ea"/>
              <a:ea typeface="+mn-ea"/>
            </a:endParaRPr>
          </a:p>
        </p:txBody>
      </p:sp>
      <p:graphicFrame>
        <p:nvGraphicFramePr>
          <p:cNvPr id="8" name="표 7"/>
          <p:cNvGraphicFramePr>
            <a:graphicFrameLocks noGrp="1"/>
          </p:cNvGraphicFramePr>
          <p:nvPr>
            <p:extLst>
              <p:ext uri="{D42A27DB-BD31-4B8C-83A1-F6EECF244321}">
                <p14:modId xmlns:p14="http://schemas.microsoft.com/office/powerpoint/2010/main" val="1583594064"/>
              </p:ext>
            </p:extLst>
          </p:nvPr>
        </p:nvGraphicFramePr>
        <p:xfrm>
          <a:off x="439738" y="1043677"/>
          <a:ext cx="9188450" cy="442353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905743">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0" indent="0" algn="just" defTabSz="914400" rtl="0" eaLnBrk="1" fontAlgn="auto" latinLnBrk="1" hangingPunct="1">
                        <a:lnSpc>
                          <a:spcPct val="114000"/>
                        </a:lnSpc>
                        <a:spcBef>
                          <a:spcPts val="0"/>
                        </a:spcBef>
                        <a:spcAft>
                          <a:spcPts val="300"/>
                        </a:spcAft>
                        <a:buClrTx/>
                        <a:buSzTx/>
                        <a:buFont typeface="+mj-lt"/>
                        <a:buNone/>
                        <a:tabLst/>
                        <a:defRPr/>
                      </a:pP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(b)  The term of office of a Director shall be three (3) years.</a:t>
                      </a:r>
                    </a:p>
                    <a:p>
                      <a:pPr marL="0" marR="0" lvl="0" indent="0" algn="just" defTabSz="914400" rtl="0" eaLnBrk="1" fontAlgn="auto" latinLnBrk="1" hangingPunct="1">
                        <a:lnSpc>
                          <a:spcPct val="114000"/>
                        </a:lnSpc>
                        <a:spcBef>
                          <a:spcPts val="0"/>
                        </a:spcBef>
                        <a:spcAft>
                          <a:spcPts val="300"/>
                        </a:spcAft>
                        <a:buClrTx/>
                        <a:buSzTx/>
                        <a:buFont typeface="+mj-lt"/>
                        <a:buNone/>
                        <a:tabLst/>
                        <a:defRPr/>
                      </a:pP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(c)  If either Shareholder wishes to change its nominated Director with or without cause, the other Shareholder shall vote all of its Shares at a meeting of Shareholders to effect such change; provided, however, that if such dismissal is without cause, the Shareholder proposing the dismissal shall indemnify and hold the Company and Other Shareholder and its nominated Directors harmless from and against any and all damages and any other expenses that may be incurred or suffered from such action.</a:t>
                      </a:r>
                    </a:p>
                    <a:p>
                      <a:pPr marL="0" marR="0" lvl="0" indent="0" algn="just" defTabSz="914400" rtl="0" eaLnBrk="1" fontAlgn="auto" latinLnBrk="1" hangingPunct="1">
                        <a:lnSpc>
                          <a:spcPct val="114000"/>
                        </a:lnSpc>
                        <a:spcBef>
                          <a:spcPts val="0"/>
                        </a:spcBef>
                        <a:spcAft>
                          <a:spcPts val="300"/>
                        </a:spcAft>
                        <a:buClrTx/>
                        <a:buSzTx/>
                        <a:buFont typeface="+mj-lt"/>
                        <a:buNone/>
                        <a:tabLst/>
                        <a:defRPr/>
                      </a:pP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(d)  The Chairperson of the Board of Directors (the “Chairperson”) shall be appointed by LG H&amp;H among the LG H&amp;H Nominees[, and Other Shareholder may appoint the Vice-Chairperson of the Board of the Directors (the “Vice-Chairperson”).</a:t>
                      </a:r>
                    </a:p>
                    <a:p>
                      <a:pPr marL="0" marR="0" lvl="0" indent="0" algn="just" defTabSz="914400" rtl="0" eaLnBrk="1" fontAlgn="auto" latinLnBrk="1" hangingPunct="1">
                        <a:lnSpc>
                          <a:spcPct val="114000"/>
                        </a:lnSpc>
                        <a:spcBef>
                          <a:spcPts val="0"/>
                        </a:spcBef>
                        <a:spcAft>
                          <a:spcPts val="300"/>
                        </a:spcAft>
                        <a:buClrTx/>
                        <a:buSzTx/>
                        <a:buFont typeface="+mj-lt"/>
                        <a:buNone/>
                        <a:tabLst/>
                        <a:defRPr/>
                      </a:pPr>
                      <a:r>
                        <a:rPr kumimoji="0" lang="en-GB"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(e)  Each Director shall be entitled to reimbursement by the Company for reasonable, documented out-of-pocket travel, lodging and subsistence expenses incurred in connection with attendance at meetings of the Board.</a:t>
                      </a:r>
                      <a:endParaRPr kumimoji="0" lang="ko-KR" altLang="ko-KR" sz="1000" b="0" i="0" u="none" strike="noStrike" kern="1200" cap="none" spc="0" normalizeH="0" baseline="0" noProof="0" dirty="0">
                        <a:ln>
                          <a:noFill/>
                        </a:ln>
                        <a:solidFill>
                          <a:prstClr val="black"/>
                        </a:solidFill>
                        <a:effectLst/>
                        <a:uLnTx/>
                        <a:uFillTx/>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959160">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추가</a:t>
                      </a:r>
                      <a:r>
                        <a:rPr lang="en-US" altLang="ko-KR" sz="1000" b="1" kern="1200" dirty="0" smtClean="0">
                          <a:solidFill>
                            <a:schemeClr val="tx1"/>
                          </a:solidFill>
                          <a:effectLst/>
                          <a:latin typeface="+mn-ea"/>
                          <a:ea typeface="+mn-ea"/>
                          <a:cs typeface="Times New Roman" panose="02020603050405020304" pitchFamily="18" charset="0"/>
                        </a:rPr>
                        <a:t> </a:t>
                      </a:r>
                      <a:r>
                        <a:rPr lang="ko-KR" altLang="en-US" sz="1000" b="1" kern="1200" dirty="0" smtClean="0">
                          <a:solidFill>
                            <a:schemeClr val="tx1"/>
                          </a:solidFill>
                          <a:effectLst/>
                          <a:latin typeface="+mn-ea"/>
                          <a:ea typeface="+mn-ea"/>
                          <a:cs typeface="Times New Roman" panose="02020603050405020304" pitchFamily="18" charset="0"/>
                        </a:rPr>
                        <a:t>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 </a:t>
                      </a:r>
                      <a:r>
                        <a:rPr lang="en-US" altLang="ko-KR" sz="1000" b="1" kern="1200" dirty="0" smtClean="0">
                          <a:solidFill>
                            <a:schemeClr val="tx1"/>
                          </a:solidFill>
                          <a:effectLst/>
                          <a:latin typeface="+mn-ea"/>
                          <a:ea typeface="+mn-ea"/>
                          <a:cs typeface="Times New Roman" panose="02020603050405020304" pitchFamily="18" charset="0"/>
                        </a:rPr>
                        <a:t>(1)</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1" indent="0" algn="l" defTabSz="914400" rtl="0" eaLnBrk="1" fontAlgn="base" latinLnBrk="1" hangingPunct="1">
                        <a:lnSpc>
                          <a:spcPct val="114000"/>
                        </a:lnSpc>
                        <a:spcBef>
                          <a:spcPts val="0"/>
                        </a:spcBef>
                        <a:spcAft>
                          <a:spcPts val="600"/>
                        </a:spcAft>
                        <a:buClrTx/>
                        <a:buSzTx/>
                        <a:buFont typeface="+mj-lt"/>
                        <a:buNone/>
                        <a:tabLst/>
                        <a:defRPr/>
                      </a:pPr>
                      <a:r>
                        <a:rPr lang="en-US" altLang="ko-KR" sz="1000" b="0" kern="1200" dirty="0" smtClean="0">
                          <a:solidFill>
                            <a:schemeClr val="tx1"/>
                          </a:solidFill>
                          <a:effectLst/>
                          <a:latin typeface="+mn-ea"/>
                          <a:ea typeface="+mn-ea"/>
                          <a:cs typeface="Times New Roman" panose="02020603050405020304" pitchFamily="18" charset="0"/>
                        </a:rPr>
                        <a:t>From and after the Closing, the Company shall purchase and maintain at all times director and officer insurance (“D&amp;O Insurance”) in favor of the Company’s directors and officers with benefits and levels of coverage as determined by the Board that are reasonable and customary with respect to any losses, claims, damages, liabilities, costs, and expenses in connection with any actual or threatened claim or proceeding that is based on, or arises out of, any action or failure to take action as a director or officer of the Company.</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558635">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추가</a:t>
                      </a:r>
                      <a:r>
                        <a:rPr lang="en-US" altLang="ko-KR" sz="1000" b="1" kern="1200" dirty="0" smtClean="0">
                          <a:solidFill>
                            <a:schemeClr val="tx1"/>
                          </a:solidFill>
                          <a:effectLst/>
                          <a:latin typeface="+mn-ea"/>
                          <a:ea typeface="+mn-ea"/>
                          <a:cs typeface="Times New Roman" panose="02020603050405020304" pitchFamily="18" charset="0"/>
                        </a:rPr>
                        <a:t> </a:t>
                      </a:r>
                      <a:r>
                        <a:rPr lang="ko-KR" altLang="en-US" sz="1000" b="1" kern="1200" dirty="0" smtClean="0">
                          <a:solidFill>
                            <a:schemeClr val="tx1"/>
                          </a:solidFill>
                          <a:effectLst/>
                          <a:latin typeface="+mn-ea"/>
                          <a:ea typeface="+mn-ea"/>
                          <a:cs typeface="Times New Roman" panose="02020603050405020304" pitchFamily="18" charset="0"/>
                        </a:rPr>
                        <a:t>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 </a:t>
                      </a:r>
                      <a:r>
                        <a:rPr lang="en-US" altLang="ko-KR" sz="1000" b="1" kern="1200" dirty="0" smtClean="0">
                          <a:solidFill>
                            <a:schemeClr val="tx1"/>
                          </a:solidFill>
                          <a:effectLst/>
                          <a:latin typeface="+mn-ea"/>
                          <a:ea typeface="+mn-ea"/>
                          <a:cs typeface="Times New Roman" panose="02020603050405020304" pitchFamily="18" charset="0"/>
                        </a:rPr>
                        <a:t>(2)</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33363" lvl="0" indent="-233363" algn="l" latinLnBrk="1">
                        <a:lnSpc>
                          <a:spcPct val="114000"/>
                        </a:lnSpc>
                        <a:spcBef>
                          <a:spcPts val="0"/>
                        </a:spcBef>
                        <a:spcAft>
                          <a:spcPts val="600"/>
                        </a:spcAft>
                        <a:buSzPts val="1100"/>
                        <a:buFont typeface="+mj-lt"/>
                        <a:buAutoNum type="alphaLcPeriod"/>
                      </a:pPr>
                      <a:r>
                        <a:rPr lang="en-US" sz="1000" dirty="0">
                          <a:effectLst/>
                          <a:latin typeface="+mn-ea"/>
                          <a:ea typeface="+mn-ea"/>
                          <a:cs typeface="Times New Roman" panose="02020603050405020304" pitchFamily="18" charset="0"/>
                        </a:rPr>
                        <a:t>LG H&amp;H may, by written notice to the Board of Directors, nominate one (1) observer to the Board of Directors (“</a:t>
                      </a:r>
                      <a:r>
                        <a:rPr lang="en-US" sz="1000" u="sng" dirty="0">
                          <a:effectLst/>
                          <a:latin typeface="+mn-ea"/>
                          <a:ea typeface="+mn-ea"/>
                          <a:cs typeface="Times New Roman" panose="02020603050405020304" pitchFamily="18" charset="0"/>
                        </a:rPr>
                        <a:t>Observer</a:t>
                      </a:r>
                      <a:r>
                        <a:rPr lang="en-US" sz="1000" dirty="0">
                          <a:effectLst/>
                          <a:latin typeface="+mn-ea"/>
                          <a:ea typeface="+mn-ea"/>
                          <a:cs typeface="Times New Roman" panose="02020603050405020304" pitchFamily="18" charset="0"/>
                        </a:rPr>
                        <a:t>”) to attend each meeting of the Board of Directors and receive notice of such meeting and relevant materials in advance of such meeting at the same time as such notice and materials are given to the Directors.  LG H&amp;H may change an Observer by written notice to the Board of Directors.</a:t>
                      </a:r>
                      <a:endParaRPr lang="ko-KR" sz="1000" dirty="0">
                        <a:effectLst/>
                        <a:latin typeface="+mn-ea"/>
                        <a:ea typeface="+mn-ea"/>
                        <a:cs typeface="Times New Roman" panose="02020603050405020304" pitchFamily="18" charset="0"/>
                      </a:endParaRPr>
                    </a:p>
                    <a:p>
                      <a:pPr marL="233363" lvl="0" indent="-233363" algn="l" latinLnBrk="1">
                        <a:lnSpc>
                          <a:spcPct val="114000"/>
                        </a:lnSpc>
                        <a:spcBef>
                          <a:spcPts val="0"/>
                        </a:spcBef>
                        <a:spcAft>
                          <a:spcPts val="600"/>
                        </a:spcAft>
                        <a:buSzPts val="1100"/>
                        <a:buFont typeface="+mj-lt"/>
                        <a:buAutoNum type="alphaLcPeriod"/>
                      </a:pPr>
                      <a:r>
                        <a:rPr lang="en-US" sz="1000" dirty="0">
                          <a:effectLst/>
                          <a:latin typeface="+mn-ea"/>
                          <a:ea typeface="+mn-ea"/>
                          <a:cs typeface="Times New Roman" panose="02020603050405020304" pitchFamily="18" charset="0"/>
                        </a:rPr>
                        <a:t>The Observer does not have any right to vote at any meeting of the Board of Directors and the presence of the Observer is not required for any quorum.  The Observer shall be given a reasonable opportunity to speak at a meeting of the Board of Directors by the Chairperson</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244028264"/>
                  </a:ext>
                </a:extLst>
              </a:tr>
            </a:tbl>
          </a:graphicData>
        </a:graphic>
      </p:graphicFrame>
    </p:spTree>
    <p:extLst>
      <p:ext uri="{BB962C8B-B14F-4D97-AF65-F5344CB8AC3E}">
        <p14:creationId xmlns:p14="http://schemas.microsoft.com/office/powerpoint/2010/main" val="7327080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3. </a:t>
            </a:r>
            <a:r>
              <a:rPr lang="en-US" altLang="ko-KR" dirty="0"/>
              <a:t>Board of Director Meetings </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846621240"/>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30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300"/>
                        </a:spcAft>
                      </a:pPr>
                      <a:r>
                        <a:rPr lang="ko-KR" altLang="en-US" sz="1000" smtClean="0">
                          <a:solidFill>
                            <a:schemeClr val="tx1"/>
                          </a:solidFill>
                          <a:effectLst/>
                          <a:latin typeface="+mn-ea"/>
                          <a:ea typeface="+mn-ea"/>
                          <a:cs typeface="Times New Roman" panose="02020603050405020304" pitchFamily="18" charset="0"/>
                        </a:rPr>
                        <a:t>대상회사의 이사회 결의 관련 사항을 정함</a:t>
                      </a:r>
                      <a:r>
                        <a:rPr lang="en-US" altLang="ko-KR" sz="1000" smtClean="0">
                          <a:solidFill>
                            <a:schemeClr val="tx1"/>
                          </a:solidFill>
                          <a:effectLst/>
                          <a:latin typeface="+mn-ea"/>
                          <a:ea typeface="+mn-ea"/>
                          <a:cs typeface="Times New Roman" panose="02020603050405020304" pitchFamily="18" charset="0"/>
                        </a:rPr>
                        <a:t>.</a:t>
                      </a:r>
                      <a:endParaRPr kumimoji="1" lang="en-US" altLang="ko-KR"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558635">
                <a:tc>
                  <a:txBody>
                    <a:bodyPr/>
                    <a:lstStyle/>
                    <a:p>
                      <a:pPr marL="0" algn="ctr" defTabSz="914400" rtl="0" eaLnBrk="1" latinLnBrk="1" hangingPunct="1">
                        <a:lnSpc>
                          <a:spcPct val="110000"/>
                        </a:lnSpc>
                        <a:spcAft>
                          <a:spcPts val="30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10000"/>
                        </a:lnSpc>
                        <a:spcAft>
                          <a:spcPts val="300"/>
                        </a:spcAft>
                        <a:buFont typeface="+mj-lt"/>
                        <a:buAutoNum type="arabicPeriod"/>
                      </a:pPr>
                      <a:r>
                        <a:rPr lang="ko-KR" altLang="ko-KR" sz="1000" dirty="0" smtClean="0">
                          <a:effectLst/>
                          <a:latin typeface="+mn-ea"/>
                          <a:ea typeface="+mn-ea"/>
                          <a:cs typeface="Times New Roman" panose="02020603050405020304" pitchFamily="18" charset="0"/>
                        </a:rPr>
                        <a:t>이사회 소집 관련 절차는 </a:t>
                      </a:r>
                      <a:r>
                        <a:rPr lang="ko-KR" altLang="ko-KR" sz="1000" dirty="0" err="1" smtClean="0">
                          <a:effectLst/>
                          <a:latin typeface="+mn-ea"/>
                          <a:ea typeface="+mn-ea"/>
                          <a:cs typeface="Times New Roman" panose="02020603050405020304" pitchFamily="18" charset="0"/>
                        </a:rPr>
                        <a:t>준거지법의</a:t>
                      </a:r>
                      <a:r>
                        <a:rPr lang="ko-KR" altLang="ko-KR" sz="1000" dirty="0" smtClean="0">
                          <a:effectLst/>
                          <a:latin typeface="+mn-ea"/>
                          <a:ea typeface="+mn-ea"/>
                          <a:cs typeface="Times New Roman" panose="02020603050405020304" pitchFamily="18" charset="0"/>
                        </a:rPr>
                        <a:t> 검토에 따라 달라질 수 있음</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ko-KR" altLang="ko-KR" sz="1000" dirty="0" smtClean="0">
                          <a:effectLst/>
                          <a:latin typeface="+mn-ea"/>
                          <a:ea typeface="+mn-ea"/>
                          <a:cs typeface="Times New Roman" panose="02020603050405020304" pitchFamily="18" charset="0"/>
                        </a:rPr>
                        <a:t>이사회의 방법 또한 서면결의 가능 여부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화상회의 또는 전화회의를 통한 이사회 가능 여부 등이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달라질 수 있으므로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이에 따라 규정하는 것이 필요함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ko-KR" altLang="ko-KR" sz="1000" dirty="0" smtClean="0">
                          <a:effectLst/>
                          <a:latin typeface="+mn-ea"/>
                          <a:ea typeface="+mn-ea"/>
                          <a:cs typeface="Times New Roman" panose="02020603050405020304" pitchFamily="18" charset="0"/>
                        </a:rPr>
                        <a:t>나아가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의사정족수 및 의결정족수에 대한 주주간 계약에서의 합의가 </a:t>
                      </a:r>
                      <a:r>
                        <a:rPr lang="ko-KR" altLang="ko-KR" sz="1000" dirty="0" err="1" smtClean="0">
                          <a:effectLst/>
                          <a:latin typeface="+mn-ea"/>
                          <a:ea typeface="+mn-ea"/>
                          <a:cs typeface="Times New Roman" panose="02020603050405020304" pitchFamily="18" charset="0"/>
                        </a:rPr>
                        <a:t>준거지법상</a:t>
                      </a:r>
                      <a:r>
                        <a:rPr lang="ko-KR" altLang="ko-KR" sz="1000" dirty="0" smtClean="0">
                          <a:effectLst/>
                          <a:latin typeface="+mn-ea"/>
                          <a:ea typeface="+mn-ea"/>
                          <a:cs typeface="Times New Roman" panose="02020603050405020304" pitchFamily="18" charset="0"/>
                        </a:rPr>
                        <a:t> 구현 가능한지도 확인 필요함</a:t>
                      </a:r>
                      <a:r>
                        <a:rPr lang="en-US" altLang="ko-KR" sz="1000" dirty="0" smtClean="0">
                          <a:effectLst/>
                          <a:latin typeface="+mn-ea"/>
                          <a:ea typeface="+mn-ea"/>
                          <a:cs typeface="Times New Roman" panose="02020603050405020304" pitchFamily="18" charset="0"/>
                        </a:rPr>
                        <a:t>. </a:t>
                      </a:r>
                    </a:p>
                    <a:p>
                      <a:pPr marL="342900" lvl="0" indent="-342900" algn="just" latinLnBrk="1">
                        <a:lnSpc>
                          <a:spcPct val="110000"/>
                        </a:lnSpc>
                        <a:spcAft>
                          <a:spcPts val="300"/>
                        </a:spcAft>
                        <a:buFont typeface="+mj-lt"/>
                        <a:buAutoNum type="arabicPeriod"/>
                      </a:pPr>
                      <a:r>
                        <a:rPr lang="ko-KR" altLang="ko-KR" sz="1000" dirty="0" smtClean="0">
                          <a:effectLst/>
                          <a:latin typeface="+mn-ea"/>
                          <a:ea typeface="+mn-ea"/>
                          <a:cs typeface="Times New Roman" panose="02020603050405020304" pitchFamily="18" charset="0"/>
                        </a:rPr>
                        <a:t>주주간 계약 또는 정관상 합의된 의사정족수가 수차례 충족되지 아니하여 이사회가 개최되지 않는 경우에는 그 다음 이사회에서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따른 기본적인 정족수에 따라 결의가 되도록 규정하는 경우를 고려할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단</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 경우 그러한 보충적 의사정족수 또는 의결정족수에 대한 정관상 근거는 있어야 할 것임</a:t>
                      </a:r>
                      <a:r>
                        <a:rPr lang="en-US" altLang="ko-KR" sz="1000" dirty="0" smtClean="0">
                          <a:effectLst/>
                          <a:latin typeface="+mn-ea"/>
                          <a:ea typeface="+mn-ea"/>
                          <a:cs typeface="Times New Roman" panose="02020603050405020304" pitchFamily="18" charset="0"/>
                        </a:rPr>
                        <a:t>).</a:t>
                      </a:r>
                      <a:r>
                        <a:rPr lang="en-US" altLang="ko-KR" sz="1000" b="1" dirty="0" smtClean="0">
                          <a:effectLst/>
                          <a:latin typeface="+mn-ea"/>
                          <a:ea typeface="+mn-ea"/>
                          <a:cs typeface="Times New Roman" panose="02020603050405020304" pitchFamily="18" charset="0"/>
                        </a:rPr>
                        <a:t> </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3237165">
                <a:tc>
                  <a:txBody>
                    <a:bodyPr/>
                    <a:lstStyle/>
                    <a:p>
                      <a:pPr marL="0" algn="ctr" defTabSz="914400" rtl="0" eaLnBrk="1" latinLnBrk="1" hangingPunct="1">
                        <a:lnSpc>
                          <a:spcPct val="110000"/>
                        </a:lnSpc>
                        <a:spcAft>
                          <a:spcPts val="30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300"/>
                        </a:spcAft>
                        <a:buFont typeface="바탕" panose="02030600000101010101" pitchFamily="18" charset="-127"/>
                        <a:buNone/>
                      </a:pPr>
                      <a:r>
                        <a:rPr lang="en-US" altLang="ko-KR" sz="1000" dirty="0" smtClean="0">
                          <a:effectLst/>
                          <a:latin typeface="+mn-ea"/>
                          <a:ea typeface="+mn-ea"/>
                          <a:cs typeface="Times New Roman" panose="02020603050405020304" pitchFamily="18" charset="0"/>
                        </a:rPr>
                        <a:t>2.12</a:t>
                      </a:r>
                      <a:r>
                        <a:rPr lang="ko-KR" altLang="ko-KR" sz="1000"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Meeting of the Board of Directors</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algn="just">
                        <a:lnSpc>
                          <a:spcPct val="110000"/>
                        </a:lnSpc>
                        <a:spcAft>
                          <a:spcPts val="30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Meetings of the Board of Directors may be called by the Chairperson of the Board of Directors when he or she deems the same to be necessary or advisable;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any Director may request the Chairperson of the Board of Directors to convene a meeting of the Board of Directors and, if the Chairperson of the Board of Directors refuses to convene the meeting, then the requesting Director may convene the meeting.</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The quorum for the meetings of the Board of Directors shall be not less than [four (4)] of the directors in office. </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There shall be at least two (2) meetings of the Board of Directors per year once every six (6) months;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until the third anniversary of the Closing Date, there shall be at least four (4) meetings of the Board of Directors per year (i.e., one (1) meeting each quarter).</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The Chairperson of the Board of Directors shall serve as Chairperson of any meeting of the Board of Directors.  In the event that the Chairperson of the Board of Directors is absent or fails to serve as Chairperson of any meeting of the Board of Directors, the Vice-Chairperson shall act as Chairperson of such meeting.</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All meetings of the Board of Directors shall be conducted in the English language, and shall be held in [Korea].  All minutes of the meetings of the Board of Directors shall be prepared in both the English and Korean languages.  In the event of any conflict between the English and Korean versions of the minutes, the English version shall prevail.</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244028264"/>
                  </a:ext>
                </a:extLst>
              </a:tr>
            </a:tbl>
          </a:graphicData>
        </a:graphic>
      </p:graphicFrame>
    </p:spTree>
    <p:extLst>
      <p:ext uri="{BB962C8B-B14F-4D97-AF65-F5344CB8AC3E}">
        <p14:creationId xmlns:p14="http://schemas.microsoft.com/office/powerpoint/2010/main" val="4562283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4. </a:t>
            </a:r>
            <a:r>
              <a:rPr lang="en-US" altLang="ko-KR" dirty="0"/>
              <a:t>Board of Director </a:t>
            </a:r>
            <a:r>
              <a:rPr lang="en-US" altLang="ko-KR" dirty="0" smtClean="0"/>
              <a:t>Resolutions </a:t>
            </a:r>
            <a:r>
              <a:rPr lang="en-US" altLang="ko-KR" dirty="0">
                <a:solidFill>
                  <a:schemeClr val="tx1"/>
                </a:solidFill>
                <a:latin typeface="+mn-ea"/>
              </a:rPr>
              <a:t>(1)</a:t>
            </a:r>
            <a:r>
              <a:rPr lang="en-US" altLang="ko-KR" dirty="0" smtClean="0"/>
              <a:t> </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619004170"/>
              </p:ext>
            </p:extLst>
          </p:nvPr>
        </p:nvGraphicFramePr>
        <p:xfrm>
          <a:off x="439738" y="1043677"/>
          <a:ext cx="9188450" cy="460408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07217">
                <a:tc>
                  <a:txBody>
                    <a:bodyPr/>
                    <a:lstStyle/>
                    <a:p>
                      <a:pPr marL="0" algn="ctr" defTabSz="914400" rtl="0" eaLnBrk="1" latinLnBrk="1" hangingPunct="1">
                        <a:lnSpc>
                          <a:spcPct val="110000"/>
                        </a:lnSpc>
                        <a:spcAft>
                          <a:spcPts val="30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300"/>
                        </a:spcAft>
                      </a:pPr>
                      <a:r>
                        <a:rPr lang="ko-KR" altLang="en-US" sz="1000" dirty="0" smtClean="0">
                          <a:solidFill>
                            <a:schemeClr val="tx1"/>
                          </a:solidFill>
                          <a:effectLst/>
                          <a:latin typeface="+mn-ea"/>
                          <a:ea typeface="+mn-ea"/>
                          <a:cs typeface="Times New Roman" panose="02020603050405020304" pitchFamily="18" charset="0"/>
                        </a:rPr>
                        <a:t>대상회사의 이사회 결의 관련 사항을 정함</a:t>
                      </a:r>
                      <a:r>
                        <a:rPr lang="en-US" altLang="ko-KR" sz="1000" dirty="0" smtClean="0">
                          <a:solidFill>
                            <a:schemeClr val="tx1"/>
                          </a:solidFill>
                          <a:effectLst/>
                          <a:latin typeface="+mn-ea"/>
                          <a:ea typeface="+mn-ea"/>
                          <a:cs typeface="Times New Roman" panose="02020603050405020304" pitchFamily="18" charset="0"/>
                        </a:rPr>
                        <a:t>.</a:t>
                      </a:r>
                      <a:endParaRPr kumimoji="1" lang="en-US" altLang="ko-KR"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232212">
                <a:tc>
                  <a:txBody>
                    <a:bodyPr/>
                    <a:lstStyle/>
                    <a:p>
                      <a:pPr marL="0" algn="ctr" defTabSz="914400" rtl="0" eaLnBrk="1" latinLnBrk="1" hangingPunct="1">
                        <a:lnSpc>
                          <a:spcPct val="110000"/>
                        </a:lnSpc>
                        <a:spcAft>
                          <a:spcPts val="30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just" latinLnBrk="1">
                        <a:lnSpc>
                          <a:spcPct val="110000"/>
                        </a:lnSpc>
                        <a:spcAft>
                          <a:spcPts val="300"/>
                        </a:spcAft>
                        <a:buFont typeface="+mj-lt"/>
                        <a:buAutoNum type="arabicPeriod"/>
                      </a:pPr>
                      <a:r>
                        <a:rPr lang="ko-KR" altLang="ko-KR" sz="1000" dirty="0" smtClean="0">
                          <a:effectLst/>
                          <a:latin typeface="+mn-ea"/>
                          <a:ea typeface="+mn-ea"/>
                          <a:cs typeface="Times New Roman" panose="02020603050405020304" pitchFamily="18" charset="0"/>
                        </a:rPr>
                        <a:t>이사회 결의사항 중 필수적으로 이사회 결의를 요하는 단순 과반수 결의사항을 열거하여 정하는 것이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가능한지 여부에 대하여는 검토가 필요함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447675" lvl="0" indent="-179388" algn="just" latinLnBrk="1">
                        <a:lnSpc>
                          <a:spcPct val="110000"/>
                        </a:lnSpc>
                        <a:spcAft>
                          <a:spcPts val="6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소수 주주인 경우에는</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소수 주주가 지명한 이사가 반드시 참여하여 찬성을 하여야 결의가 되는 것으로 본다는 문구를 추가하는 것도 고려하여 볼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a:t>
                      </a:r>
                      <a:r>
                        <a:rPr lang="ko-KR" altLang="ko-KR" sz="1000" dirty="0" smtClean="0">
                          <a:effectLst/>
                          <a:latin typeface="+mn-ea"/>
                          <a:ea typeface="+mn-ea"/>
                          <a:cs typeface="Times New Roman" panose="02020603050405020304" pitchFamily="18" charset="0"/>
                        </a:rPr>
                        <a:t>문구 참조</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228600" indent="-228600" algn="just" latinLnBrk="1">
                        <a:lnSpc>
                          <a:spcPct val="110000"/>
                        </a:lnSpc>
                        <a:spcAft>
                          <a:spcPts val="300"/>
                        </a:spcAft>
                        <a:buFont typeface="+mj-lt"/>
                        <a:buAutoNum type="arabicPeriod" startAt="2"/>
                      </a:pPr>
                      <a:r>
                        <a:rPr lang="ko-KR" altLang="ko-KR" sz="1000" dirty="0" smtClean="0">
                          <a:effectLst/>
                          <a:latin typeface="+mn-ea"/>
                          <a:ea typeface="+mn-ea"/>
                          <a:cs typeface="Times New Roman" panose="02020603050405020304" pitchFamily="18" charset="0"/>
                        </a:rPr>
                        <a:t>이사회 결의사항 중 이사 전원 또는</a:t>
                      </a:r>
                      <a:r>
                        <a:rPr lang="en-US" altLang="ko-KR" sz="1000" dirty="0" smtClean="0">
                          <a:effectLst/>
                          <a:latin typeface="+mn-ea"/>
                          <a:ea typeface="+mn-ea"/>
                          <a:cs typeface="Times New Roman" panose="02020603050405020304" pitchFamily="18" charset="0"/>
                        </a:rPr>
                        <a:t> 2/3, 3/4 </a:t>
                      </a:r>
                      <a:r>
                        <a:rPr lang="ko-KR" altLang="ko-KR" sz="1000" dirty="0" smtClean="0">
                          <a:effectLst/>
                          <a:latin typeface="+mn-ea"/>
                          <a:ea typeface="+mn-ea"/>
                          <a:cs typeface="Times New Roman" panose="02020603050405020304" pitchFamily="18" charset="0"/>
                        </a:rPr>
                        <a:t>등 가중된 정족수 이상의 찬성을 요하는 가중 결의사항을 열거하여 정하는 것이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가능한지 여부에 대하여는 검토가 필요함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447675" lvl="0" indent="-179388" algn="just" latinLnBrk="1">
                        <a:lnSpc>
                          <a:spcPct val="110000"/>
                        </a:lnSpc>
                        <a:spcAft>
                          <a:spcPts val="3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과반수 이상 지배주주인 경우에는</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해당 사유를 최소한으로 하는 것을 고려하는 것이 바람직함</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특히</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결의가 안 되는 경우</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발생 사유가 되는 것들로 한정하는 것도 고려해볼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447675" lvl="0" indent="-179388" algn="just" latinLnBrk="1">
                        <a:lnSpc>
                          <a:spcPct val="110000"/>
                        </a:lnSpc>
                        <a:spcAft>
                          <a:spcPts val="300"/>
                        </a:spcAft>
                        <a:buSzPts val="1000"/>
                        <a:buFont typeface="Times New Roman" panose="02020603050405020304" pitchFamily="18" charset="0"/>
                        <a:buChar char="-"/>
                      </a:pPr>
                      <a:r>
                        <a:rPr lang="ko-KR" altLang="ko-KR" sz="1000" dirty="0" smtClean="0">
                          <a:effectLst/>
                          <a:latin typeface="+mn-ea"/>
                          <a:ea typeface="+mn-ea"/>
                          <a:cs typeface="Times New Roman" panose="02020603050405020304" pitchFamily="18" charset="0"/>
                        </a:rPr>
                        <a:t>이와 반대로</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소수 주주인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이사 전원 또는 가중된 의결정족수를 요하는 결의사항을 가능한 넓게 규정하는 것을 고려하여 볼 수 있음</a:t>
                      </a:r>
                      <a:r>
                        <a:rPr lang="en-US" altLang="ko-KR" sz="1000" dirty="0" smtClean="0">
                          <a:effectLst/>
                          <a:latin typeface="+mn-ea"/>
                          <a:ea typeface="+mn-ea"/>
                          <a:cs typeface="Times New Roman" panose="02020603050405020304" pitchFamily="18" charset="0"/>
                        </a:rPr>
                        <a:t>.</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864659">
                <a:tc>
                  <a:txBody>
                    <a:bodyPr/>
                    <a:lstStyle/>
                    <a:p>
                      <a:pPr marL="0" algn="ctr" defTabSz="914400" rtl="0" eaLnBrk="1" latinLnBrk="1" hangingPunct="1">
                        <a:lnSpc>
                          <a:spcPct val="110000"/>
                        </a:lnSpc>
                        <a:spcAft>
                          <a:spcPts val="30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300"/>
                        </a:spcAft>
                        <a:buFont typeface="바탕" panose="02030600000101010101" pitchFamily="18" charset="-127"/>
                        <a:buNone/>
                      </a:pPr>
                      <a:r>
                        <a:rPr lang="en-US" altLang="ko-KR" sz="1000" u="none" dirty="0" smtClean="0">
                          <a:effectLst/>
                          <a:latin typeface="+mn-ea"/>
                          <a:ea typeface="+mn-ea"/>
                          <a:cs typeface="Times New Roman" panose="02020603050405020304" pitchFamily="18" charset="0"/>
                        </a:rPr>
                        <a:t>2.11 </a:t>
                      </a:r>
                      <a:r>
                        <a:rPr lang="en-US" altLang="ko-KR" sz="1000" u="sng" dirty="0" smtClean="0">
                          <a:effectLst/>
                          <a:latin typeface="+mn-ea"/>
                          <a:ea typeface="+mn-ea"/>
                          <a:cs typeface="Times New Roman" panose="02020603050405020304" pitchFamily="18" charset="0"/>
                        </a:rPr>
                        <a:t>Resolution of the Board of Directors</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algn="just">
                        <a:lnSpc>
                          <a:spcPct val="110000"/>
                        </a:lnSpc>
                        <a:spcAft>
                          <a:spcPts val="30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The Board of Directors shall have the power and authority to make all policy decisions in respect of all material business or management matters other than those matters which must be approved by a resolution of the shareholders of the Company in accordance with this Agreement, the Articles of Incorporation or applicable Korean laws.</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Subject to </a:t>
                      </a:r>
                      <a:r>
                        <a:rPr lang="en-US" altLang="ko-KR" sz="1000" u="sng" dirty="0" smtClean="0">
                          <a:effectLst/>
                          <a:latin typeface="+mn-ea"/>
                          <a:ea typeface="+mn-ea"/>
                          <a:cs typeface="Times New Roman" panose="02020603050405020304" pitchFamily="18" charset="0"/>
                        </a:rPr>
                        <a:t>Section 2.11(c)</a:t>
                      </a:r>
                      <a:r>
                        <a:rPr lang="en-US" altLang="ko-KR" sz="1000" dirty="0" smtClean="0">
                          <a:effectLst/>
                          <a:latin typeface="+mn-ea"/>
                          <a:ea typeface="+mn-ea"/>
                          <a:cs typeface="Times New Roman" panose="02020603050405020304" pitchFamily="18" charset="0"/>
                        </a:rPr>
                        <a:t>, resolutions of the Board of Directors shall be adopted by the affirmative vote of the majority of the Directors present at the relevant meeting of the Board of Directors, including, without limitation, the following actions and certain other actions requiring the approval of the Board of Directors as set forth herein;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certain of the following actions may be subject to the approval of the shareholders of the Company under the applicable Laws:</a:t>
                      </a:r>
                      <a:endParaRPr kumimoji="1" lang="ko-KR" altLang="en-US" sz="1000" b="0" i="0" u="none" strike="noStrike" kern="1200" cap="none" normalizeH="0" baseline="0" dirty="0" smtClean="0">
                        <a:ln>
                          <a:noFill/>
                        </a:ln>
                        <a:solidFill>
                          <a:schemeClr val="tx1"/>
                        </a:solidFill>
                        <a:effectLst/>
                        <a:latin typeface="+mn-ea"/>
                        <a:ea typeface="+mn-ea"/>
                        <a:cs typeface="+mn-cs"/>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4244028264"/>
                  </a:ext>
                </a:extLst>
              </a:tr>
            </a:tbl>
          </a:graphicData>
        </a:graphic>
      </p:graphicFrame>
    </p:spTree>
    <p:extLst>
      <p:ext uri="{BB962C8B-B14F-4D97-AF65-F5344CB8AC3E}">
        <p14:creationId xmlns:p14="http://schemas.microsoft.com/office/powerpoint/2010/main" val="1520605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smtClean="0">
                <a:latin typeface="+mn-ea"/>
              </a:rPr>
              <a:t>IV. </a:t>
            </a:r>
            <a:r>
              <a:rPr lang="en-US" altLang="ko-KR" dirty="0">
                <a:latin typeface="+mn-ea"/>
              </a:rPr>
              <a:t>Governance</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smtClean="0">
                <a:solidFill>
                  <a:schemeClr val="tx1"/>
                </a:solidFill>
                <a:latin typeface="+mn-ea"/>
                <a:ea typeface="+mn-ea"/>
              </a:rPr>
              <a:t>4. </a:t>
            </a:r>
            <a:r>
              <a:rPr lang="en-US" altLang="ko-KR" dirty="0"/>
              <a:t>Board of Director </a:t>
            </a:r>
            <a:r>
              <a:rPr lang="en-US" altLang="ko-KR" dirty="0" smtClean="0"/>
              <a:t>Resolutions </a:t>
            </a:r>
            <a:r>
              <a:rPr lang="en-US" altLang="ko-KR" dirty="0" smtClean="0">
                <a:solidFill>
                  <a:schemeClr val="tx1"/>
                </a:solidFill>
                <a:latin typeface="+mn-ea"/>
              </a:rPr>
              <a:t>(2)</a:t>
            </a:r>
            <a:r>
              <a:rPr lang="en-US" altLang="ko-KR" dirty="0" smtClean="0"/>
              <a:t> </a:t>
            </a:r>
            <a:endParaRPr lang="ko-KR" altLang="en-US" dirty="0">
              <a:solidFill>
                <a:schemeClr val="tx1"/>
              </a:solidFill>
              <a:latin typeface="+mn-ea"/>
              <a:ea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4044644049"/>
              </p:ext>
            </p:extLst>
          </p:nvPr>
        </p:nvGraphicFramePr>
        <p:xfrm>
          <a:off x="439738" y="1043677"/>
          <a:ext cx="9188450" cy="406385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344483">
                <a:tc>
                  <a:txBody>
                    <a:bodyPr/>
                    <a:lstStyle/>
                    <a:p>
                      <a:pPr marL="0" algn="ctr" defTabSz="914400" rtl="0" eaLnBrk="1" latinLnBrk="1" hangingPunct="1">
                        <a:lnSpc>
                          <a:spcPct val="110000"/>
                        </a:lnSpc>
                        <a:spcAft>
                          <a:spcPts val="30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adoption by the Company of the Annual Business Plan and Budget and the Initial Strategic Plan and agreements by the Company to any updates, changes or modifications thereto, including adoption of any Strategic Plan;</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subject to </a:t>
                      </a:r>
                      <a:r>
                        <a:rPr lang="en-US" altLang="ko-KR" sz="1000" u="sng" dirty="0" smtClean="0">
                          <a:effectLst/>
                          <a:latin typeface="+mn-ea"/>
                          <a:ea typeface="+mn-ea"/>
                          <a:cs typeface="Times New Roman" panose="02020603050405020304" pitchFamily="18" charset="0"/>
                        </a:rPr>
                        <a:t>Section 2.8</a:t>
                      </a:r>
                      <a:r>
                        <a:rPr lang="en-US" altLang="ko-KR" sz="1000" dirty="0" smtClean="0">
                          <a:effectLst/>
                          <a:latin typeface="+mn-ea"/>
                          <a:ea typeface="+mn-ea"/>
                          <a:cs typeface="Times New Roman" panose="02020603050405020304" pitchFamily="18" charset="0"/>
                        </a:rPr>
                        <a:t>, termination or appointment of any executive officer of the Company, including the CEO;</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subject to </a:t>
                      </a:r>
                      <a:r>
                        <a:rPr lang="en-US" altLang="ko-KR" sz="1000" u="sng" dirty="0" smtClean="0">
                          <a:effectLst/>
                          <a:latin typeface="+mn-ea"/>
                          <a:ea typeface="+mn-ea"/>
                          <a:cs typeface="Times New Roman" panose="02020603050405020304" pitchFamily="18" charset="0"/>
                        </a:rPr>
                        <a:t>Section 2.8</a:t>
                      </a:r>
                      <a:r>
                        <a:rPr lang="en-US" altLang="ko-KR" sz="1000" dirty="0" smtClean="0">
                          <a:effectLst/>
                          <a:latin typeface="+mn-ea"/>
                          <a:ea typeface="+mn-ea"/>
                          <a:cs typeface="Times New Roman" panose="02020603050405020304" pitchFamily="18" charset="0"/>
                        </a:rPr>
                        <a:t>, agreement or commitment by the Company for the employment of any officer, employee or consultant or any other type of contract or understanding with any officer, employee or consultant, in each case involving payments in excess of the projections in the applicable Annual Business Plan and Budget;</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incurrence of financial indebtedness (including any short-term borrowing, long-term borrowing, lending or guarantees) by the Company in excess of, on a cumulative balance basis, KRW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a:t>
                      </a:r>
                    </a:p>
                    <a:p>
                      <a:pPr marL="342900" lvl="0" indent="-342900" algn="just">
                        <a:lnSpc>
                          <a:spcPct val="110000"/>
                        </a:lnSpc>
                        <a:spcAft>
                          <a:spcPts val="300"/>
                        </a:spcAft>
                        <a:buFont typeface="+mj-lt"/>
                        <a:buAutoNum type="romanLcParenBoth"/>
                      </a:pPr>
                      <a:r>
                        <a:rPr lang="en-US" altLang="ko-KR" sz="1000" kern="1200" dirty="0" smtClean="0">
                          <a:solidFill>
                            <a:schemeClr val="tx1"/>
                          </a:solidFill>
                          <a:effectLst/>
                          <a:latin typeface="+mn-ea"/>
                          <a:ea typeface="+mn-ea"/>
                          <a:cs typeface="Times New Roman" panose="02020603050405020304" pitchFamily="18" charset="0"/>
                        </a:rPr>
                        <a:t>capital expenditures by the Company in excess of the projections therefor set forth in the relevant Annual Business Plan and Budget; </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agreement or commitment by the Company for a leasing transaction of a type required to be capitalized in accordance with applicable accounting principles which involves aggregate payments of KRW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or more in a year;</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any other agreement by the Company which is not terminable upon not more than thirty (30) days’ notice without cost or other liability and which requires payments thereunder of KRW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or more;</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acquisition, including by purchase, in-license, lease, exchange, transfer or license, by the Company of any material assets from any other Person, other than in the ordinary course of the Company’s business; and</a:t>
                      </a:r>
                    </a:p>
                    <a:p>
                      <a:pPr marL="342900" lvl="0" indent="-34290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write-offs relating by the Company with respect to bad debt or inventory.</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719370">
                <a:tc>
                  <a:txBody>
                    <a:bodyPr/>
                    <a:lstStyle/>
                    <a:p>
                      <a:pPr marL="0" marR="0" lvl="0" indent="0" algn="ctr" defTabSz="914400" rtl="0" eaLnBrk="1" fontAlgn="auto" latinLnBrk="1" hangingPunct="1">
                        <a:lnSpc>
                          <a:spcPct val="110000"/>
                        </a:lnSpc>
                        <a:spcBef>
                          <a:spcPts val="0"/>
                        </a:spcBef>
                        <a:spcAft>
                          <a:spcPts val="300"/>
                        </a:spcAft>
                        <a:buClrTx/>
                        <a:buSzTx/>
                        <a:buFontTx/>
                        <a:buNone/>
                        <a:tabLst/>
                        <a:defRPr/>
                      </a:pPr>
                      <a:r>
                        <a:rPr lang="ko-KR" altLang="en-US" sz="1000" b="1" kern="1200" dirty="0" smtClean="0">
                          <a:solidFill>
                            <a:schemeClr val="tx1"/>
                          </a:solidFill>
                          <a:effectLst/>
                          <a:latin typeface="+mn-ea"/>
                          <a:ea typeface="+mn-ea"/>
                          <a:cs typeface="Times New Roman" panose="02020603050405020304" pitchFamily="18" charset="0"/>
                        </a:rPr>
                        <a:t>추가 </a:t>
                      </a:r>
                      <a:r>
                        <a:rPr lang="en-US" altLang="ko-KR" sz="1000" b="1" kern="1200" dirty="0" smtClean="0">
                          <a:solidFill>
                            <a:schemeClr val="tx1"/>
                          </a:solidFill>
                          <a:effectLst/>
                          <a:latin typeface="+mn-ea"/>
                          <a:ea typeface="+mn-ea"/>
                          <a:cs typeface="Times New Roman" panose="02020603050405020304" pitchFamily="18" charset="0"/>
                        </a:rPr>
                        <a:t>SHA </a:t>
                      </a:r>
                      <a:br>
                        <a:rPr lang="en-US" altLang="ko-KR"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smtClean="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300"/>
                        </a:spcAft>
                      </a:pPr>
                      <a:r>
                        <a:rPr lang="en-US" altLang="ko-KR" sz="1000" dirty="0" smtClean="0">
                          <a:effectLst/>
                          <a:latin typeface="+mn-ea"/>
                          <a:ea typeface="+mn-ea"/>
                          <a:cs typeface="Times New Roman" panose="02020603050405020304" pitchFamily="18" charset="0"/>
                        </a:rPr>
                        <a:t>Subject to </a:t>
                      </a:r>
                      <a:r>
                        <a:rPr lang="en-US" altLang="ko-KR" sz="1000" u="sng" dirty="0" smtClean="0">
                          <a:effectLst/>
                          <a:latin typeface="+mn-ea"/>
                          <a:ea typeface="+mn-ea"/>
                          <a:cs typeface="Times New Roman" panose="02020603050405020304" pitchFamily="18" charset="0"/>
                        </a:rPr>
                        <a:t>Section 2.12(c)</a:t>
                      </a:r>
                      <a:r>
                        <a:rPr lang="en-US" altLang="ko-KR" sz="1000" dirty="0" smtClean="0">
                          <a:effectLst/>
                          <a:latin typeface="+mn-ea"/>
                          <a:ea typeface="+mn-ea"/>
                          <a:cs typeface="Times New Roman" panose="02020603050405020304" pitchFamily="18" charset="0"/>
                        </a:rPr>
                        <a:t>, resolutions of the Board of Directors shall be adopted by the affirmative vote of the majority of the Directors present at the relevant meeting of the Board of Directors, at least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of whom are Directors who have been appointed by LG H&amp;H.</a:t>
                      </a:r>
                      <a:endParaRPr lang="ko-KR" altLang="ko-KR" sz="1000" dirty="0" smtClean="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37861636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5. Chief Executive </a:t>
            </a:r>
            <a:r>
              <a:rPr lang="en-US" altLang="ko-KR" dirty="0" smtClean="0"/>
              <a:t>Officer </a:t>
            </a:r>
            <a:r>
              <a:rPr lang="en-US" altLang="ko-KR" dirty="0">
                <a:solidFill>
                  <a:schemeClr val="tx1"/>
                </a:solidFill>
                <a:latin typeface="+mn-ea"/>
              </a:rPr>
              <a:t>(1)</a:t>
            </a:r>
            <a:r>
              <a:rPr lang="en-US" altLang="ko-KR" dirty="0" smtClean="0"/>
              <a:t> </a:t>
            </a:r>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3898772888"/>
              </p:ext>
            </p:extLst>
          </p:nvPr>
        </p:nvGraphicFramePr>
        <p:xfrm>
          <a:off x="439738" y="1043677"/>
          <a:ext cx="9188450" cy="382406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b="0" kern="1200" dirty="0" smtClean="0">
                          <a:solidFill>
                            <a:schemeClr val="tx1"/>
                          </a:solidFill>
                          <a:effectLst/>
                          <a:latin typeface="+mn-ea"/>
                          <a:ea typeface="+mn-ea"/>
                          <a:cs typeface="Times New Roman" panose="02020603050405020304" pitchFamily="18" charset="0"/>
                        </a:rPr>
                        <a:t>대상회사의 </a:t>
                      </a:r>
                      <a:r>
                        <a:rPr lang="en-US" altLang="ko-KR" sz="1000" b="0" kern="1200" dirty="0" smtClean="0">
                          <a:solidFill>
                            <a:schemeClr val="tx1"/>
                          </a:solidFill>
                          <a:effectLst/>
                          <a:latin typeface="+mn-ea"/>
                          <a:ea typeface="+mn-ea"/>
                          <a:cs typeface="Times New Roman" panose="02020603050405020304" pitchFamily="18" charset="0"/>
                        </a:rPr>
                        <a:t>CEO </a:t>
                      </a:r>
                      <a:r>
                        <a:rPr lang="ko-KR" altLang="en-US" sz="1000" b="0" kern="1200" dirty="0" smtClean="0">
                          <a:solidFill>
                            <a:schemeClr val="tx1"/>
                          </a:solidFill>
                          <a:effectLst/>
                          <a:latin typeface="+mn-ea"/>
                          <a:ea typeface="+mn-ea"/>
                          <a:cs typeface="Times New Roman" panose="02020603050405020304" pitchFamily="18" charset="0"/>
                        </a:rPr>
                        <a:t>관련 사항을 정함</a:t>
                      </a:r>
                      <a:r>
                        <a:rPr lang="en-US" altLang="ko-KR" sz="1000" b="0" kern="1200" dirty="0" smtClean="0">
                          <a:solidFill>
                            <a:schemeClr val="tx1"/>
                          </a:solidFill>
                          <a:effectLst/>
                          <a:latin typeface="+mn-ea"/>
                          <a:ea typeface="+mn-ea"/>
                          <a:cs typeface="Times New Roman" panose="02020603050405020304" pitchFamily="18" charset="0"/>
                        </a:rPr>
                        <a:t>.</a:t>
                      </a:r>
                      <a:endParaRPr lang="ko-KR" sz="1000" b="0"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357060">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10000"/>
                        </a:lnSpc>
                        <a:spcAft>
                          <a:spcPts val="300"/>
                        </a:spcAft>
                      </a:pPr>
                      <a:r>
                        <a:rPr lang="en-US" altLang="ko-KR" sz="1000" b="1" dirty="0" smtClean="0">
                          <a:effectLst/>
                          <a:latin typeface="+mn-ea"/>
                          <a:ea typeface="+mn-ea"/>
                          <a:cs typeface="Times New Roman" panose="02020603050405020304" pitchFamily="18" charset="0"/>
                        </a:rPr>
                        <a:t>CEO </a:t>
                      </a:r>
                      <a:r>
                        <a:rPr lang="ko-KR" altLang="ko-KR" sz="1000" b="1" dirty="0" smtClean="0">
                          <a:effectLst/>
                          <a:latin typeface="+mn-ea"/>
                          <a:ea typeface="+mn-ea"/>
                          <a:cs typeface="Times New Roman" panose="02020603050405020304" pitchFamily="18" charset="0"/>
                        </a:rPr>
                        <a:t>지명권 및 권한</a:t>
                      </a:r>
                      <a:r>
                        <a:rPr lang="en-US" altLang="ko-KR" sz="1000" b="1"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CEO</a:t>
                      </a:r>
                      <a:r>
                        <a:rPr lang="ko-KR" altLang="ko-KR" sz="1000" dirty="0" smtClean="0">
                          <a:effectLst/>
                          <a:latin typeface="+mn-ea"/>
                          <a:ea typeface="+mn-ea"/>
                          <a:cs typeface="Times New Roman" panose="02020603050405020304" pitchFamily="18" charset="0"/>
                        </a:rPr>
                        <a:t>의 지명권은 당사자간 협상에 따라 결정되나</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어느 당사자의 사업과 </a:t>
                      </a:r>
                      <a:r>
                        <a:rPr lang="ko-KR" altLang="ko-KR" sz="1000" dirty="0" err="1" smtClean="0">
                          <a:effectLst/>
                          <a:latin typeface="+mn-ea"/>
                          <a:ea typeface="+mn-ea"/>
                          <a:cs typeface="Times New Roman" panose="02020603050405020304" pitchFamily="18" charset="0"/>
                        </a:rPr>
                        <a:t>대상회사</a:t>
                      </a:r>
                      <a:r>
                        <a:rPr lang="ko-KR" altLang="ko-KR" sz="1000" dirty="0" smtClean="0">
                          <a:effectLst/>
                          <a:latin typeface="+mn-ea"/>
                          <a:ea typeface="+mn-ea"/>
                          <a:cs typeface="Times New Roman" panose="02020603050405020304" pitchFamily="18" charset="0"/>
                        </a:rPr>
                        <a:t> 사업 사이의 관련성</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대상회사의 사업 지역 내에서 어느 당사자가 사업을 하고 있어 해당 사업 지역을 잘 알고 있는지 여부 등도 고려하여 결정됨</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CEO</a:t>
                      </a:r>
                      <a:r>
                        <a:rPr lang="ko-KR" altLang="ko-KR" sz="1000" dirty="0" smtClean="0">
                          <a:effectLst/>
                          <a:latin typeface="+mn-ea"/>
                          <a:ea typeface="+mn-ea"/>
                          <a:cs typeface="Times New Roman" panose="02020603050405020304" pitchFamily="18" charset="0"/>
                        </a:rPr>
                        <a:t>의 권한에 대해서는 이를 명확하게 나열하는 방법도 고려할 수 있으나</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과반수 지분을 보유하고 있고</a:t>
                      </a:r>
                      <a:r>
                        <a:rPr lang="en-US" altLang="ko-KR" sz="1000" dirty="0" smtClean="0">
                          <a:effectLst/>
                          <a:latin typeface="+mn-ea"/>
                          <a:ea typeface="+mn-ea"/>
                          <a:cs typeface="Times New Roman" panose="02020603050405020304" pitchFamily="18" charset="0"/>
                        </a:rPr>
                        <a:t> CEO</a:t>
                      </a:r>
                      <a:r>
                        <a:rPr lang="ko-KR" altLang="ko-KR" sz="1000" dirty="0" smtClean="0">
                          <a:effectLst/>
                          <a:latin typeface="+mn-ea"/>
                          <a:ea typeface="+mn-ea"/>
                          <a:cs typeface="Times New Roman" panose="02020603050405020304" pitchFamily="18" charset="0"/>
                        </a:rPr>
                        <a:t>를 지명할 수 있는 경우 열거의 방법 보다는 포괄적인 규정을 하는 것을 고려할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433705" algn="just" latinLnBrk="1">
                        <a:lnSpc>
                          <a:spcPct val="110000"/>
                        </a:lnSpc>
                        <a:spcAft>
                          <a:spcPts val="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algn="just" latinLnBrk="1">
                        <a:lnSpc>
                          <a:spcPct val="110000"/>
                        </a:lnSpc>
                        <a:spcAft>
                          <a:spcPts val="300"/>
                        </a:spcAft>
                      </a:pPr>
                      <a:r>
                        <a:rPr lang="ko-KR" altLang="ko-KR" sz="1000" b="1" dirty="0" smtClean="0">
                          <a:effectLst/>
                          <a:latin typeface="+mn-ea"/>
                          <a:ea typeface="+mn-ea"/>
                          <a:cs typeface="Times New Roman" panose="02020603050405020304" pitchFamily="18" charset="0"/>
                        </a:rPr>
                        <a:t>공동대표 </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a:t>
                      </a:r>
                      <a:r>
                        <a:rPr lang="en-US" altLang="ko-KR" sz="1000" dirty="0" smtClean="0">
                          <a:effectLst/>
                          <a:latin typeface="+mn-ea"/>
                          <a:ea typeface="+mn-ea"/>
                          <a:cs typeface="Times New Roman" panose="02020603050405020304" pitchFamily="18" charset="0"/>
                        </a:rPr>
                        <a:t>(1) </a:t>
                      </a:r>
                      <a:r>
                        <a:rPr lang="ko-KR" altLang="ko-KR" sz="1000" dirty="0" smtClean="0">
                          <a:effectLst/>
                          <a:latin typeface="+mn-ea"/>
                          <a:ea typeface="+mn-ea"/>
                          <a:cs typeface="Times New Roman" panose="02020603050405020304" pitchFamily="18" charset="0"/>
                        </a:rPr>
                        <a:t>참조</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en-US" altLang="ko-KR" sz="1000" dirty="0" smtClean="0">
                          <a:effectLst/>
                          <a:latin typeface="+mn-ea"/>
                          <a:ea typeface="+mn-ea"/>
                          <a:cs typeface="Times New Roman" panose="02020603050405020304" pitchFamily="18" charset="0"/>
                        </a:rPr>
                        <a:t>50:50 </a:t>
                      </a:r>
                      <a:r>
                        <a:rPr lang="ko-KR" altLang="ko-KR" sz="1000" dirty="0" smtClean="0">
                          <a:effectLst/>
                          <a:latin typeface="+mn-ea"/>
                          <a:ea typeface="+mn-ea"/>
                          <a:cs typeface="Times New Roman" panose="02020603050405020304" pitchFamily="18" charset="0"/>
                        </a:rPr>
                        <a:t>합작법인에서는 각 주주가 대표이사</a:t>
                      </a:r>
                      <a:r>
                        <a:rPr lang="en-US" altLang="ko-KR" sz="1000" dirty="0" smtClean="0">
                          <a:effectLst/>
                          <a:latin typeface="+mn-ea"/>
                          <a:ea typeface="+mn-ea"/>
                          <a:cs typeface="Times New Roman" panose="02020603050405020304" pitchFamily="18" charset="0"/>
                        </a:rPr>
                        <a:t> 1</a:t>
                      </a:r>
                      <a:r>
                        <a:rPr lang="ko-KR" altLang="ko-KR" sz="1000" dirty="0" smtClean="0">
                          <a:effectLst/>
                          <a:latin typeface="+mn-ea"/>
                          <a:ea typeface="+mn-ea"/>
                          <a:cs typeface="Times New Roman" panose="02020603050405020304" pitchFamily="18" charset="0"/>
                        </a:rPr>
                        <a:t>인씩을 선임하여 각자대표 또는 공동대표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또는</a:t>
                      </a:r>
                      <a:r>
                        <a:rPr lang="en-US" altLang="ko-KR" sz="1000" dirty="0" smtClean="0">
                          <a:effectLst/>
                          <a:latin typeface="+mn-ea"/>
                          <a:ea typeface="+mn-ea"/>
                          <a:cs typeface="Times New Roman" panose="02020603050405020304" pitchFamily="18" charset="0"/>
                        </a:rPr>
                        <a:t> Co-CEO</a:t>
                      </a:r>
                      <a:r>
                        <a:rPr lang="ko-KR" altLang="ko-KR" sz="1000" dirty="0" smtClean="0">
                          <a:effectLst/>
                          <a:latin typeface="+mn-ea"/>
                          <a:ea typeface="+mn-ea"/>
                          <a:cs typeface="Times New Roman" panose="02020603050405020304" pitchFamily="18" charset="0"/>
                        </a:rPr>
                        <a:t>를 두는 방법도 고려할 수 있음</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ko-KR" altLang="ko-KR" sz="1000" dirty="0" smtClean="0">
                          <a:effectLst/>
                          <a:latin typeface="+mn-ea"/>
                          <a:ea typeface="+mn-ea"/>
                          <a:cs typeface="Times New Roman" panose="02020603050405020304" pitchFamily="18" charset="0"/>
                        </a:rPr>
                        <a:t>한국 상법에 따를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공동대표</a:t>
                      </a:r>
                      <a:r>
                        <a:rPr lang="en-US" altLang="ko-KR" sz="1000" dirty="0" smtClean="0">
                          <a:effectLst/>
                          <a:latin typeface="+mn-ea"/>
                          <a:ea typeface="+mn-ea"/>
                          <a:cs typeface="Times New Roman" panose="02020603050405020304" pitchFamily="18" charset="0"/>
                        </a:rPr>
                        <a:t>(joint representative directors)</a:t>
                      </a:r>
                      <a:r>
                        <a:rPr lang="ko-KR" altLang="ko-KR" sz="1000" dirty="0" smtClean="0">
                          <a:effectLst/>
                          <a:latin typeface="+mn-ea"/>
                          <a:ea typeface="+mn-ea"/>
                          <a:cs typeface="Times New Roman" panose="02020603050405020304" pitchFamily="18" charset="0"/>
                        </a:rPr>
                        <a:t>의 경우 </a:t>
                      </a:r>
                      <a:r>
                        <a:rPr lang="ko-KR" altLang="ko-KR" sz="1000" dirty="0" err="1" smtClean="0">
                          <a:effectLst/>
                          <a:latin typeface="+mn-ea"/>
                          <a:ea typeface="+mn-ea"/>
                          <a:cs typeface="Times New Roman" panose="02020603050405020304" pitchFamily="18" charset="0"/>
                        </a:rPr>
                        <a:t>각자대표와</a:t>
                      </a:r>
                      <a:r>
                        <a:rPr lang="ko-KR" altLang="ko-KR" sz="1000" dirty="0" smtClean="0">
                          <a:effectLst/>
                          <a:latin typeface="+mn-ea"/>
                          <a:ea typeface="+mn-ea"/>
                          <a:cs typeface="Times New Roman" panose="02020603050405020304" pitchFamily="18" charset="0"/>
                        </a:rPr>
                        <a:t> 달리 공동대표 중 어느 대표가 단독으로 회사를 대표할 수 없으며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이에 대하여 등기를 하여야 함</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공동대표 중 어느 대표가 독단적으로 행위를 하는 경우에는 원칙적으로 그 효력이 없으나</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선의의 제</a:t>
                      </a:r>
                      <a:r>
                        <a:rPr lang="en-US" altLang="ko-KR" sz="1000" dirty="0" smtClean="0">
                          <a:effectLst/>
                          <a:latin typeface="+mn-ea"/>
                          <a:ea typeface="+mn-ea"/>
                          <a:cs typeface="Times New Roman" panose="02020603050405020304" pitchFamily="18" charset="0"/>
                        </a:rPr>
                        <a:t>3</a:t>
                      </a:r>
                      <a:r>
                        <a:rPr lang="ko-KR" altLang="ko-KR" sz="1000" dirty="0" smtClean="0">
                          <a:effectLst/>
                          <a:latin typeface="+mn-ea"/>
                          <a:ea typeface="+mn-ea"/>
                          <a:cs typeface="Times New Roman" panose="02020603050405020304" pitchFamily="18" charset="0"/>
                        </a:rPr>
                        <a:t>자에 대하여는 책임을 지게 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Font typeface="+mj-lt"/>
                        <a:buAutoNum type="arabicPeriod"/>
                      </a:pPr>
                      <a:r>
                        <a:rPr lang="ko-KR" altLang="ko-KR" sz="1000" dirty="0" smtClean="0">
                          <a:effectLst/>
                          <a:latin typeface="+mn-ea"/>
                          <a:ea typeface="+mn-ea"/>
                          <a:cs typeface="Times New Roman" panose="02020603050405020304" pitchFamily="18" charset="0"/>
                        </a:rPr>
                        <a:t>공동대표와 관련하여 등기 내지 등록 필요 여부 및 공동대표 중 어느 대표가 독단적으로 행한 행위에 대한 법률적인 취급은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달라질 수 있으므로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공동대표 여부에 대한 결정 전 </a:t>
                      </a:r>
                      <a:r>
                        <a:rPr lang="ko-KR" altLang="ko-KR" sz="1000" dirty="0" err="1" smtClean="0">
                          <a:effectLst/>
                          <a:latin typeface="+mn-ea"/>
                          <a:ea typeface="+mn-ea"/>
                          <a:cs typeface="Times New Roman" panose="02020603050405020304" pitchFamily="18" charset="0"/>
                        </a:rPr>
                        <a:t>준거지법</a:t>
                      </a:r>
                      <a:r>
                        <a:rPr lang="ko-KR" altLang="ko-KR" sz="1000" dirty="0" smtClean="0">
                          <a:effectLst/>
                          <a:latin typeface="+mn-ea"/>
                          <a:ea typeface="+mn-ea"/>
                          <a:cs typeface="Times New Roman" panose="02020603050405020304" pitchFamily="18" charset="0"/>
                        </a:rPr>
                        <a:t> 전문가의 의견을 받는 것이 필요함 </a:t>
                      </a:r>
                      <a:endParaRPr lang="en-US"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Font typeface="+mj-lt"/>
                        <a:buAutoNum type="arabicPeriod"/>
                      </a:pPr>
                      <a:endParaRPr lang="ko-KR" altLang="ko-KR" sz="1000" dirty="0" smtClean="0">
                        <a:effectLst/>
                        <a:latin typeface="+mn-ea"/>
                        <a:ea typeface="+mn-ea"/>
                        <a:cs typeface="Times New Roman" panose="02020603050405020304" pitchFamily="18" charset="0"/>
                      </a:endParaRPr>
                    </a:p>
                    <a:p>
                      <a:pPr algn="just" latinLnBrk="1">
                        <a:lnSpc>
                          <a:spcPct val="110000"/>
                        </a:lnSpc>
                        <a:spcAft>
                          <a:spcPts val="300"/>
                        </a:spcAft>
                      </a:pPr>
                      <a:r>
                        <a:rPr lang="ko-KR" altLang="ko-KR" sz="1000" b="1" dirty="0" smtClean="0">
                          <a:effectLst/>
                          <a:latin typeface="+mn-ea"/>
                          <a:ea typeface="+mn-ea"/>
                          <a:cs typeface="Times New Roman" panose="02020603050405020304" pitchFamily="18" charset="0"/>
                        </a:rPr>
                        <a:t>기타 </a:t>
                      </a:r>
                      <a:r>
                        <a:rPr lang="en-US" altLang="ko-KR" sz="1000" b="1" dirty="0" smtClean="0">
                          <a:effectLst/>
                          <a:latin typeface="+mn-ea"/>
                          <a:ea typeface="+mn-ea"/>
                          <a:cs typeface="Times New Roman" panose="02020603050405020304" pitchFamily="18" charset="0"/>
                        </a:rPr>
                        <a:t>C-level </a:t>
                      </a:r>
                      <a:r>
                        <a:rPr lang="ko-KR" altLang="ko-KR" sz="1000" b="1" dirty="0" smtClean="0">
                          <a:effectLst/>
                          <a:latin typeface="+mn-ea"/>
                          <a:ea typeface="+mn-ea"/>
                          <a:cs typeface="Times New Roman" panose="02020603050405020304" pitchFamily="18" charset="0"/>
                        </a:rPr>
                        <a:t>지명권 </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a:t>
                      </a:r>
                      <a:r>
                        <a:rPr lang="en-US" altLang="ko-KR" sz="1000" dirty="0" smtClean="0">
                          <a:effectLst/>
                          <a:latin typeface="+mn-ea"/>
                          <a:ea typeface="+mn-ea"/>
                          <a:cs typeface="Times New Roman" panose="02020603050405020304" pitchFamily="18" charset="0"/>
                        </a:rPr>
                        <a:t>(2) </a:t>
                      </a:r>
                      <a:r>
                        <a:rPr lang="ko-KR" altLang="ko-KR" sz="1000" dirty="0" smtClean="0">
                          <a:effectLst/>
                          <a:latin typeface="+mn-ea"/>
                          <a:ea typeface="+mn-ea"/>
                          <a:cs typeface="Times New Roman" panose="02020603050405020304" pitchFamily="18" charset="0"/>
                        </a:rPr>
                        <a:t>참조</a:t>
                      </a:r>
                      <a:r>
                        <a:rPr lang="en-US" altLang="ko-KR" sz="1000" dirty="0" smtClean="0">
                          <a:effectLst/>
                          <a:latin typeface="+mn-ea"/>
                          <a:ea typeface="+mn-ea"/>
                          <a:cs typeface="Times New Roman" panose="02020603050405020304" pitchFamily="18" charset="0"/>
                        </a:rPr>
                        <a:t>)</a:t>
                      </a:r>
                      <a:r>
                        <a:rPr lang="en-US" altLang="ko-KR" sz="1000" b="1"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a:lnSpc>
                          <a:spcPct val="110000"/>
                        </a:lnSpc>
                        <a:spcAft>
                          <a:spcPts val="0"/>
                        </a:spcAft>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소수 주주인 경우</a:t>
                      </a:r>
                      <a:r>
                        <a:rPr lang="en-US" altLang="ko-KR" sz="1000" dirty="0" smtClean="0">
                          <a:effectLst/>
                          <a:latin typeface="+mn-ea"/>
                          <a:ea typeface="+mn-ea"/>
                          <a:cs typeface="Times New Roman" panose="02020603050405020304" pitchFamily="18" charset="0"/>
                        </a:rPr>
                        <a:t>, CEO</a:t>
                      </a:r>
                      <a:r>
                        <a:rPr lang="ko-KR" altLang="ko-KR" sz="1000" dirty="0" smtClean="0">
                          <a:effectLst/>
                          <a:latin typeface="+mn-ea"/>
                          <a:ea typeface="+mn-ea"/>
                          <a:cs typeface="Times New Roman" panose="02020603050405020304" pitchFamily="18" charset="0"/>
                        </a:rPr>
                        <a:t>에 대한 지명권은 대주주에게 주더라도</a:t>
                      </a:r>
                      <a:r>
                        <a:rPr lang="en-US" altLang="ko-KR" sz="1000" dirty="0" smtClean="0">
                          <a:effectLst/>
                          <a:latin typeface="+mn-ea"/>
                          <a:ea typeface="+mn-ea"/>
                          <a:cs typeface="Times New Roman" panose="02020603050405020304" pitchFamily="18" charset="0"/>
                        </a:rPr>
                        <a:t> CFO </a:t>
                      </a:r>
                      <a:r>
                        <a:rPr lang="ko-KR" altLang="ko-KR" sz="1000" dirty="0" smtClean="0">
                          <a:effectLst/>
                          <a:latin typeface="+mn-ea"/>
                          <a:ea typeface="+mn-ea"/>
                          <a:cs typeface="Times New Roman" panose="02020603050405020304" pitchFamily="18" charset="0"/>
                        </a:rPr>
                        <a:t>또는</a:t>
                      </a:r>
                      <a:r>
                        <a:rPr lang="en-US" altLang="ko-KR" sz="1000" dirty="0" smtClean="0">
                          <a:effectLst/>
                          <a:latin typeface="+mn-ea"/>
                          <a:ea typeface="+mn-ea"/>
                          <a:cs typeface="Times New Roman" panose="02020603050405020304" pitchFamily="18" charset="0"/>
                        </a:rPr>
                        <a:t> COO</a:t>
                      </a:r>
                      <a:r>
                        <a:rPr lang="ko-KR" altLang="ko-KR" sz="1000" dirty="0" smtClean="0">
                          <a:effectLst/>
                          <a:latin typeface="+mn-ea"/>
                          <a:ea typeface="+mn-ea"/>
                          <a:cs typeface="Times New Roman" panose="02020603050405020304" pitchFamily="18" charset="0"/>
                        </a:rPr>
                        <a:t>에 대한 지명권을 갖는 것을 고려해볼 수 있음 </a:t>
                      </a:r>
                      <a:endParaRPr lang="ko-KR" altLang="en-US" sz="1000" b="0" kern="12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1414352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5. Chief Executive </a:t>
            </a:r>
            <a:r>
              <a:rPr lang="en-US" altLang="ko-KR" dirty="0" smtClean="0"/>
              <a:t>Officer </a:t>
            </a:r>
            <a:r>
              <a:rPr lang="en-US" altLang="ko-KR" dirty="0" smtClean="0">
                <a:solidFill>
                  <a:schemeClr val="tx1"/>
                </a:solidFill>
                <a:latin typeface="+mn-ea"/>
              </a:rPr>
              <a:t>(2)</a:t>
            </a:r>
            <a:r>
              <a:rPr lang="en-US" altLang="ko-KR" dirty="0" smtClean="0"/>
              <a:t> </a:t>
            </a:r>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2838040875"/>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262803">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표준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0"/>
                        </a:spcAft>
                        <a:buFont typeface="+mj-lt"/>
                        <a:buNone/>
                      </a:pPr>
                      <a:r>
                        <a:rPr lang="en-US" altLang="ko-KR" sz="1000" b="0" kern="1200" dirty="0" smtClean="0">
                          <a:solidFill>
                            <a:schemeClr val="tx1"/>
                          </a:solidFill>
                          <a:effectLst/>
                          <a:latin typeface="+mn-ea"/>
                          <a:ea typeface="+mn-ea"/>
                          <a:cs typeface="Times New Roman" panose="02020603050405020304" pitchFamily="18" charset="0"/>
                        </a:rPr>
                        <a:t>2.8</a:t>
                      </a:r>
                      <a:r>
                        <a:rPr lang="en-US" altLang="ko-KR" sz="1000" b="0" kern="1200" baseline="0" dirty="0" smtClean="0">
                          <a:solidFill>
                            <a:schemeClr val="tx1"/>
                          </a:solidFill>
                          <a:effectLst/>
                          <a:latin typeface="+mn-ea"/>
                          <a:ea typeface="+mn-ea"/>
                          <a:cs typeface="Times New Roman" panose="02020603050405020304" pitchFamily="18" charset="0"/>
                        </a:rPr>
                        <a:t> </a:t>
                      </a:r>
                      <a:r>
                        <a:rPr lang="en-US" altLang="ko-KR" sz="1000" b="0" kern="1200" dirty="0" smtClean="0">
                          <a:solidFill>
                            <a:schemeClr val="tx1"/>
                          </a:solidFill>
                          <a:effectLst/>
                          <a:latin typeface="+mn-ea"/>
                          <a:ea typeface="+mn-ea"/>
                          <a:cs typeface="Times New Roman" panose="02020603050405020304" pitchFamily="18" charset="0"/>
                        </a:rPr>
                        <a:t>.</a:t>
                      </a:r>
                      <a:r>
                        <a:rPr lang="en-US" altLang="ko-KR" sz="1000" u="none" strike="noStrike" dirty="0" smtClean="0">
                          <a:effectLst/>
                          <a:latin typeface="+mn-ea"/>
                          <a:ea typeface="+mn-ea"/>
                          <a:cs typeface="Times New Roman" panose="02020603050405020304" pitchFamily="18" charset="0"/>
                        </a:rPr>
                        <a:t> </a:t>
                      </a:r>
                      <a:r>
                        <a:rPr lang="en-US" altLang="ko-KR" sz="1000" u="sng" strike="noStrike" dirty="0" smtClean="0">
                          <a:effectLst/>
                          <a:latin typeface="+mn-ea"/>
                          <a:ea typeface="+mn-ea"/>
                          <a:cs typeface="Times New Roman" panose="02020603050405020304" pitchFamily="18" charset="0"/>
                        </a:rPr>
                        <a:t>Chief Executive Officer</a:t>
                      </a:r>
                      <a:r>
                        <a:rPr lang="en-US" altLang="ko-KR" sz="1000" u="none" strike="noStrike" dirty="0" smtClean="0">
                          <a:effectLst/>
                          <a:latin typeface="+mn-ea"/>
                          <a:ea typeface="+mn-ea"/>
                          <a:cs typeface="Times New Roman" panose="02020603050405020304" pitchFamily="18" charset="0"/>
                        </a:rPr>
                        <a:t>.</a:t>
                      </a:r>
                      <a:endParaRPr lang="ko-KR" altLang="ko-KR" sz="1000" u="none" strike="noStrike" dirty="0" smtClean="0">
                        <a:effectLst/>
                        <a:latin typeface="+mn-ea"/>
                        <a:ea typeface="+mn-ea"/>
                        <a:cs typeface="Times New Roman" panose="02020603050405020304" pitchFamily="18" charset="0"/>
                      </a:endParaRPr>
                    </a:p>
                    <a:p>
                      <a:pPr algn="just">
                        <a:lnSpc>
                          <a:spcPct val="110000"/>
                        </a:lnSpc>
                        <a:spcAft>
                          <a:spcPts val="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a:lnSpc>
                          <a:spcPct val="110000"/>
                        </a:lnSpc>
                        <a:spcAft>
                          <a:spcPts val="600"/>
                        </a:spcAft>
                        <a:buFont typeface="+mj-lt"/>
                        <a:buAutoNum type="alphaLcParenBoth"/>
                      </a:pPr>
                      <a:r>
                        <a:rPr lang="en-US" altLang="ko-KR" sz="1000" dirty="0" smtClean="0">
                          <a:effectLst/>
                          <a:latin typeface="+mn-ea"/>
                          <a:ea typeface="+mn-ea"/>
                          <a:cs typeface="Times New Roman" panose="02020603050405020304" pitchFamily="18" charset="0"/>
                        </a:rPr>
                        <a:t>The Company shall have a Chief Executive Officer (the “</a:t>
                      </a:r>
                      <a:r>
                        <a:rPr lang="en-US" altLang="ko-KR" sz="1000" u="sng" dirty="0" smtClean="0">
                          <a:effectLst/>
                          <a:latin typeface="+mn-ea"/>
                          <a:ea typeface="+mn-ea"/>
                          <a:cs typeface="Times New Roman" panose="02020603050405020304" pitchFamily="18" charset="0"/>
                        </a:rPr>
                        <a:t>CEO</a:t>
                      </a:r>
                      <a:r>
                        <a:rPr lang="en-US" altLang="ko-KR" sz="1000" dirty="0" smtClean="0">
                          <a:effectLst/>
                          <a:latin typeface="+mn-ea"/>
                          <a:ea typeface="+mn-ea"/>
                          <a:cs typeface="Times New Roman" panose="02020603050405020304" pitchFamily="18" charset="0"/>
                        </a:rPr>
                        <a:t>”) elected from its Board of Directors, who shall be nominated by LG H&amp;H, after prior consultation with Other Shareholder.  Other Shareholder shall cause the Other Shareholder Nominees to vote at the meeting of the Board of Directors in favor of the appointment of the Person nominated by LG H&amp;H as the CEO.  If LG H&amp;H wishes to change the Person, which it has nominated as the CEO, with or without cause, Other Shareholder shall cause the Other Shareholder Nominees to vote to effect such change;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LG H&amp;H shall consult with Other Shareholder prior to any such dismissal and, if such dismissal is without cause, LG H&amp;H shall indemnify and hold the Company and Other Shareholder and its nominated Directors harmless from and against any and all damages and any other expenses that may be incurred or suffered from such action. </a:t>
                      </a:r>
                    </a:p>
                    <a:p>
                      <a:pPr marL="342900" lvl="0" indent="-342900" algn="just">
                        <a:lnSpc>
                          <a:spcPct val="110000"/>
                        </a:lnSpc>
                        <a:spcAft>
                          <a:spcPts val="600"/>
                        </a:spcAft>
                        <a:buFont typeface="+mj-lt"/>
                        <a:buAutoNum type="alphaLcParenBoth"/>
                      </a:pPr>
                      <a:r>
                        <a:rPr lang="en-US" altLang="ko-KR" sz="1000" dirty="0" smtClean="0">
                          <a:effectLst/>
                          <a:latin typeface="+mn-ea"/>
                          <a:ea typeface="+mn-ea"/>
                          <a:cs typeface="Times New Roman" panose="02020603050405020304" pitchFamily="18" charset="0"/>
                        </a:rPr>
                        <a:t>The CEO shall report to the Board of Directors.</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Subject to the approval of the Board of Directors, the CEO shall have the authority to take actions on behalf of the Company, in each case only as long as such actions taken are within the scope and limits of (</a:t>
                      </a:r>
                      <a:r>
                        <a:rPr lang="en-US" altLang="ko-KR" sz="1000" dirty="0" err="1" smtClean="0">
                          <a:effectLst/>
                          <a:latin typeface="+mn-ea"/>
                          <a:ea typeface="+mn-ea"/>
                          <a:cs typeface="Times New Roman" panose="02020603050405020304" pitchFamily="18" charset="0"/>
                        </a:rPr>
                        <a:t>i</a:t>
                      </a:r>
                      <a:r>
                        <a:rPr lang="en-US" altLang="ko-KR" sz="1000" dirty="0" smtClean="0">
                          <a:effectLst/>
                          <a:latin typeface="+mn-ea"/>
                          <a:ea typeface="+mn-ea"/>
                          <a:cs typeface="Times New Roman" panose="02020603050405020304" pitchFamily="18" charset="0"/>
                        </a:rPr>
                        <a:t>) the Company’s business scope, (ii) the scope and authority granted to him or her by the Board of Directors, and (iii) the then Strategic Plan approved by the Board of Directors, subject to any restrictions set forth in the Articles of Incorporation and applicable Law; and shall be responsible for, and shall have the power and authority to do, the following: </a:t>
                      </a:r>
                      <a:endParaRPr lang="ko-KR" altLang="ko-KR" sz="1000" dirty="0" smtClean="0">
                        <a:effectLst/>
                        <a:latin typeface="+mn-ea"/>
                        <a:ea typeface="+mn-ea"/>
                        <a:cs typeface="Times New Roman" panose="02020603050405020304" pitchFamily="18" charset="0"/>
                      </a:endParaRP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implement decisions by the Board of Directors as requested by the Board of Directors;</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manage the day-to-day business and affairs of the Company in the ordinary course of the Company’s business;</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take actions on behalf of the Company in the ordinary course of the Company’s day-to-day business and for proper purposes of the Company;</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make management decisions of the Company other than those matters which must be approved by the shareholders of the Company or the Board of Directors in accordance with this Agreement, the Articles of Incorporation or applicable Law; </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implement key operational and capital decisions of the Company within the scope of its ordinary business or within pre-determined thresholds approved by the Board of Directors;</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update and/or prepare the Annual Business Plan and Budget for approval by the Board of Directors;</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prepare the Strategic Plan for approval by the Board of Directors; and</a:t>
                      </a:r>
                    </a:p>
                    <a:p>
                      <a:pPr marL="627063" lvl="0" indent="-285750"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undertake any other matters determined by the Board of Directors.</a:t>
                      </a:r>
                      <a:endParaRPr lang="ko-KR" sz="1000" b="0"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bl>
          </a:graphicData>
        </a:graphic>
      </p:graphicFrame>
    </p:spTree>
    <p:extLst>
      <p:ext uri="{BB962C8B-B14F-4D97-AF65-F5344CB8AC3E}">
        <p14:creationId xmlns:p14="http://schemas.microsoft.com/office/powerpoint/2010/main" val="11590328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5. Chief Executive </a:t>
            </a:r>
            <a:r>
              <a:rPr lang="en-US" altLang="ko-KR" dirty="0" smtClean="0"/>
              <a:t>Officer (3) </a:t>
            </a:r>
            <a:endParaRPr lang="ko-KR" altLang="ko-KR" dirty="0"/>
          </a:p>
        </p:txBody>
      </p:sp>
      <p:graphicFrame>
        <p:nvGraphicFramePr>
          <p:cNvPr id="7" name="표 6"/>
          <p:cNvGraphicFramePr>
            <a:graphicFrameLocks noGrp="1"/>
          </p:cNvGraphicFramePr>
          <p:nvPr>
            <p:extLst>
              <p:ext uri="{D42A27DB-BD31-4B8C-83A1-F6EECF244321}">
                <p14:modId xmlns:p14="http://schemas.microsoft.com/office/powerpoint/2010/main" val="2909947886"/>
              </p:ext>
            </p:extLst>
          </p:nvPr>
        </p:nvGraphicFramePr>
        <p:xfrm>
          <a:off x="439738" y="1043676"/>
          <a:ext cx="9188450" cy="1665954"/>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832977">
                <a:tc>
                  <a:txBody>
                    <a:bodyPr/>
                    <a:lstStyle/>
                    <a:p>
                      <a:pPr algn="ctr" latinLnBrk="1">
                        <a:lnSpc>
                          <a:spcPct val="110000"/>
                        </a:lnSpc>
                        <a:spcAft>
                          <a:spcPts val="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r>
                        <a:rPr lang="en-US" sz="1000" b="1" dirty="0">
                          <a:effectLst/>
                          <a:latin typeface="+mn-ea"/>
                          <a:ea typeface="+mn-ea"/>
                          <a:cs typeface="Times New Roman" panose="02020603050405020304" pitchFamily="18" charset="0"/>
                        </a:rPr>
                        <a:t>(1)</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0"/>
                        </a:spcAft>
                      </a:pPr>
                      <a:r>
                        <a:rPr lang="en-US" altLang="ko-KR" sz="1000" dirty="0" smtClean="0">
                          <a:effectLst/>
                          <a:latin typeface="+mn-ea"/>
                          <a:ea typeface="+mn-ea"/>
                          <a:cs typeface="Times New Roman" panose="02020603050405020304" pitchFamily="18" charset="0"/>
                        </a:rPr>
                        <a:t>The Company shall have two (2) chief executive officers (the “</a:t>
                      </a:r>
                      <a:r>
                        <a:rPr lang="en-US" altLang="ko-KR" sz="1000" u="sng" dirty="0" smtClean="0">
                          <a:effectLst/>
                          <a:latin typeface="+mn-ea"/>
                          <a:ea typeface="+mn-ea"/>
                          <a:cs typeface="Times New Roman" panose="02020603050405020304" pitchFamily="18" charset="0"/>
                        </a:rPr>
                        <a:t>Co-CEOs</a:t>
                      </a:r>
                      <a:r>
                        <a:rPr lang="en-US" altLang="ko-KR" sz="1000" dirty="0" smtClean="0">
                          <a:effectLst/>
                          <a:latin typeface="+mn-ea"/>
                          <a:ea typeface="+mn-ea"/>
                          <a:cs typeface="Times New Roman" panose="02020603050405020304" pitchFamily="18" charset="0"/>
                        </a:rPr>
                        <a:t>”), each of whom shall be the representative director of the Company and have the authority to act [independently / jointly with the other Co-CEO]. Each Shareholder shall be entitled to nominate one (1) individual to be appointed as a Co-CEO.</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832977">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추가 </a:t>
                      </a:r>
                      <a:r>
                        <a:rPr lang="en-US" sz="1000" b="1" kern="1200" dirty="0" smtClean="0">
                          <a:solidFill>
                            <a:schemeClr val="tx1"/>
                          </a:solidFill>
                          <a:effectLst/>
                          <a:latin typeface="+mn-ea"/>
                          <a:ea typeface="+mn-ea"/>
                          <a:cs typeface="Times New Roman" panose="02020603050405020304" pitchFamily="18" charset="0"/>
                        </a:rPr>
                        <a:t>SHA </a:t>
                      </a:r>
                      <a:br>
                        <a:rPr lang="en-US" sz="1000" b="1" kern="1200" dirty="0" smtClean="0">
                          <a:solidFill>
                            <a:schemeClr val="tx1"/>
                          </a:solidFill>
                          <a:effectLst/>
                          <a:latin typeface="+mn-ea"/>
                          <a:ea typeface="+mn-ea"/>
                          <a:cs typeface="Times New Roman" panose="02020603050405020304" pitchFamily="18" charset="0"/>
                        </a:rPr>
                      </a:br>
                      <a:r>
                        <a:rPr lang="ko-KR" altLang="en-US" sz="1000" b="1" kern="1200" dirty="0" smtClean="0">
                          <a:solidFill>
                            <a:schemeClr val="tx1"/>
                          </a:solidFill>
                          <a:effectLst/>
                          <a:latin typeface="+mn-ea"/>
                          <a:ea typeface="+mn-ea"/>
                          <a:cs typeface="Times New Roman" panose="02020603050405020304" pitchFamily="18" charset="0"/>
                        </a:rPr>
                        <a:t>문구</a:t>
                      </a:r>
                      <a:r>
                        <a:rPr lang="en-US" altLang="ko-KR" sz="1000" b="1" kern="1200" dirty="0" smtClean="0">
                          <a:solidFill>
                            <a:schemeClr val="tx1"/>
                          </a:solidFill>
                          <a:effectLst/>
                          <a:latin typeface="+mn-ea"/>
                          <a:ea typeface="+mn-ea"/>
                          <a:cs typeface="Times New Roman" panose="02020603050405020304" pitchFamily="18" charset="0"/>
                        </a:rPr>
                        <a:t>(2)</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0"/>
                        </a:spcAft>
                      </a:pPr>
                      <a:r>
                        <a:rPr lang="en-US" altLang="ko-KR" sz="1000" dirty="0" smtClean="0">
                          <a:effectLst/>
                          <a:latin typeface="+mn-ea"/>
                          <a:ea typeface="+mn-ea"/>
                          <a:cs typeface="Times New Roman" panose="02020603050405020304" pitchFamily="18" charset="0"/>
                        </a:rPr>
                        <a:t>LG H&amp;H shall have the right to appoint and remove from time to time the Chief Financial Officer of the Company (the “</a:t>
                      </a:r>
                      <a:r>
                        <a:rPr lang="en-US" altLang="ko-KR" sz="1000" u="sng" dirty="0" smtClean="0">
                          <a:effectLst/>
                          <a:latin typeface="+mn-ea"/>
                          <a:ea typeface="+mn-ea"/>
                          <a:cs typeface="Times New Roman" panose="02020603050405020304" pitchFamily="18" charset="0"/>
                        </a:rPr>
                        <a:t>CFO</a:t>
                      </a:r>
                      <a:r>
                        <a:rPr lang="en-US" altLang="ko-KR" sz="1000" dirty="0" smtClean="0">
                          <a:effectLst/>
                          <a:latin typeface="+mn-ea"/>
                          <a:ea typeface="+mn-ea"/>
                          <a:cs typeface="Times New Roman" panose="02020603050405020304" pitchFamily="18" charset="0"/>
                        </a:rPr>
                        <a:t>”), who shall have the authority and responsibility to, among others, oversee and manage the financial, accounting, audit and fiscal aspects of the operation of the Company.</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7420709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6.  Deadlock </a:t>
            </a:r>
            <a:r>
              <a:rPr lang="en-US" altLang="ko-KR" dirty="0" smtClean="0"/>
              <a:t>Matters </a:t>
            </a:r>
            <a:r>
              <a:rPr lang="en-US" altLang="ko-KR" dirty="0">
                <a:solidFill>
                  <a:schemeClr val="tx1"/>
                </a:solidFill>
                <a:latin typeface="+mn-ea"/>
              </a:rPr>
              <a:t>(1)</a:t>
            </a:r>
            <a:endParaRPr lang="ko-KR" altLang="ko-KR" dirty="0"/>
          </a:p>
        </p:txBody>
      </p:sp>
      <p:graphicFrame>
        <p:nvGraphicFramePr>
          <p:cNvPr id="10" name="표 9"/>
          <p:cNvGraphicFramePr>
            <a:graphicFrameLocks noGrp="1"/>
          </p:cNvGraphicFramePr>
          <p:nvPr>
            <p:extLst>
              <p:ext uri="{D42A27DB-BD31-4B8C-83A1-F6EECF244321}">
                <p14:modId xmlns:p14="http://schemas.microsoft.com/office/powerpoint/2010/main" val="3798023406"/>
              </p:ext>
            </p:extLst>
          </p:nvPr>
        </p:nvGraphicFramePr>
        <p:xfrm>
          <a:off x="439738" y="1043677"/>
          <a:ext cx="9188450" cy="406385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826688">
                <a:tc>
                  <a:txBody>
                    <a:bodyPr/>
                    <a:lstStyle/>
                    <a:p>
                      <a:pPr marL="0" algn="ctr" defTabSz="914400" rtl="0" eaLnBrk="1" latinLnBrk="1" hangingPunct="1">
                        <a:lnSpc>
                          <a:spcPct val="110000"/>
                        </a:lnSpc>
                        <a:spcAft>
                          <a:spcPts val="30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300"/>
                        </a:spcAft>
                      </a:pPr>
                      <a:r>
                        <a:rPr lang="en-US" sz="1000" dirty="0">
                          <a:effectLst/>
                          <a:latin typeface="+mn-ea"/>
                          <a:ea typeface="+mn-ea"/>
                          <a:cs typeface="Times New Roman" panose="02020603050405020304" pitchFamily="18" charset="0"/>
                        </a:rPr>
                        <a:t>Deadlock (</a:t>
                      </a:r>
                      <a:r>
                        <a:rPr lang="ko-KR" sz="1000" dirty="0">
                          <a:effectLst/>
                          <a:latin typeface="+mn-ea"/>
                          <a:ea typeface="+mn-ea"/>
                          <a:cs typeface="Times New Roman" panose="02020603050405020304" pitchFamily="18" charset="0"/>
                        </a:rPr>
                        <a:t>교착상태</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은 주주간 계약에 따라 정한 이사회 또는 주주총회 결의 사항이 주주간 계약 당사자 간 이견으로 승인되지 아니하고</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이러한 상태가 계속적으로 유지될 때 </a:t>
                      </a:r>
                      <a:r>
                        <a:rPr lang="ko-KR" sz="1000" dirty="0" smtClean="0">
                          <a:effectLst/>
                          <a:latin typeface="+mn-ea"/>
                          <a:ea typeface="+mn-ea"/>
                          <a:cs typeface="Times New Roman" panose="02020603050405020304" pitchFamily="18" charset="0"/>
                        </a:rPr>
                        <a:t>발생함</a:t>
                      </a:r>
                      <a:r>
                        <a:rPr lang="en-US" altLang="ko-KR" sz="1000" dirty="0" smtClean="0">
                          <a:effectLst/>
                          <a:latin typeface="+mn-ea"/>
                          <a:ea typeface="+mn-ea"/>
                          <a:cs typeface="Times New Roman" panose="02020603050405020304" pitchFamily="18" charset="0"/>
                        </a:rPr>
                        <a:t>. Deadlock</a:t>
                      </a:r>
                      <a:r>
                        <a:rPr lang="ko-KR" altLang="en-US" sz="1000" dirty="0" smtClean="0">
                          <a:effectLst/>
                          <a:latin typeface="+mn-ea"/>
                          <a:ea typeface="+mn-ea"/>
                          <a:cs typeface="Times New Roman" panose="02020603050405020304" pitchFamily="18" charset="0"/>
                        </a:rPr>
                        <a:t>이 발생하는 경우 대상회사의 경영이나 가치에 영향을 줄 수 있으므로 해결 메커니즘을 계약서로 정하게 되며</a:t>
                      </a:r>
                      <a:r>
                        <a:rPr lang="en-US" altLang="ko-KR" sz="1000" dirty="0" smtClean="0">
                          <a:effectLst/>
                          <a:latin typeface="+mn-ea"/>
                          <a:ea typeface="+mn-ea"/>
                          <a:cs typeface="Times New Roman" panose="02020603050405020304" pitchFamily="18" charset="0"/>
                        </a:rPr>
                        <a:t>, Deadlock </a:t>
                      </a:r>
                      <a:r>
                        <a:rPr lang="ko-KR" altLang="en-US" sz="1000" dirty="0" err="1" smtClean="0">
                          <a:effectLst/>
                          <a:latin typeface="+mn-ea"/>
                          <a:ea typeface="+mn-ea"/>
                          <a:cs typeface="Times New Roman" panose="02020603050405020304" pitchFamily="18" charset="0"/>
                        </a:rPr>
                        <a:t>발생사유도</a:t>
                      </a:r>
                      <a:r>
                        <a:rPr lang="ko-KR" altLang="en-US" sz="1000" dirty="0" smtClean="0">
                          <a:effectLst/>
                          <a:latin typeface="+mn-ea"/>
                          <a:ea typeface="+mn-ea"/>
                          <a:cs typeface="Times New Roman" panose="02020603050405020304" pitchFamily="18" charset="0"/>
                        </a:rPr>
                        <a:t> </a:t>
                      </a:r>
                      <a:r>
                        <a:rPr lang="ko-KR" altLang="en-US" sz="1000" dirty="0" err="1" smtClean="0">
                          <a:effectLst/>
                          <a:latin typeface="+mn-ea"/>
                          <a:ea typeface="+mn-ea"/>
                          <a:cs typeface="Times New Roman" panose="02020603050405020304" pitchFamily="18" charset="0"/>
                        </a:rPr>
                        <a:t>계약상으로</a:t>
                      </a:r>
                      <a:r>
                        <a:rPr lang="ko-KR" altLang="en-US" sz="1000" dirty="0" smtClean="0">
                          <a:effectLst/>
                          <a:latin typeface="+mn-ea"/>
                          <a:ea typeface="+mn-ea"/>
                          <a:cs typeface="Times New Roman" panose="02020603050405020304" pitchFamily="18" charset="0"/>
                        </a:rPr>
                        <a:t> 사전에 </a:t>
                      </a:r>
                      <a:r>
                        <a:rPr lang="ko-KR" altLang="en-US" sz="1000" dirty="0" err="1" smtClean="0">
                          <a:effectLst/>
                          <a:latin typeface="+mn-ea"/>
                          <a:ea typeface="+mn-ea"/>
                          <a:cs typeface="Times New Roman" panose="02020603050405020304" pitchFamily="18" charset="0"/>
                        </a:rPr>
                        <a:t>정해놓을</a:t>
                      </a:r>
                      <a:r>
                        <a:rPr lang="ko-KR" altLang="en-US" sz="1000" dirty="0" smtClean="0">
                          <a:effectLst/>
                          <a:latin typeface="+mn-ea"/>
                          <a:ea typeface="+mn-ea"/>
                          <a:cs typeface="Times New Roman" panose="02020603050405020304" pitchFamily="18" charset="0"/>
                        </a:rPr>
                        <a:t> 수 있음</a:t>
                      </a:r>
                      <a:r>
                        <a:rPr lang="en-US" altLang="ko-KR" sz="1000" dirty="0" smtClean="0">
                          <a:effectLst/>
                          <a:latin typeface="+mn-ea"/>
                          <a:ea typeface="+mn-ea"/>
                          <a:cs typeface="Times New Roman" panose="02020603050405020304" pitchFamily="18" charset="0"/>
                        </a:rPr>
                        <a:t>.</a:t>
                      </a:r>
                      <a:r>
                        <a:rPr lang="en-US" sz="1000" dirty="0" smtClean="0">
                          <a:effectLst/>
                          <a:highlight>
                            <a:srgbClr val="FFFF00"/>
                          </a:highlight>
                          <a:latin typeface="+mn-ea"/>
                          <a:ea typeface="+mn-ea"/>
                          <a:cs typeface="Times New Roman" panose="02020603050405020304" pitchFamily="18" charset="0"/>
                        </a:rPr>
                        <a:t> </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038215">
                <a:tc>
                  <a:txBody>
                    <a:bodyPr/>
                    <a:lstStyle/>
                    <a:p>
                      <a:pPr marL="0" algn="ctr" defTabSz="914400" rtl="0" eaLnBrk="1" latinLnBrk="1" hangingPunct="1">
                        <a:lnSpc>
                          <a:spcPct val="110000"/>
                        </a:lnSpc>
                        <a:spcAft>
                          <a:spcPts val="30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300"/>
                        </a:spcAft>
                      </a:pPr>
                      <a:r>
                        <a:rPr lang="en-US" altLang="ko-KR" sz="1000" dirty="0" smtClean="0">
                          <a:effectLst/>
                          <a:latin typeface="+mn-ea"/>
                          <a:ea typeface="+mn-ea"/>
                          <a:cs typeface="Times New Roman" panose="02020603050405020304" pitchFamily="18" charset="0"/>
                        </a:rPr>
                        <a:t>Deadlock</a:t>
                      </a:r>
                      <a:r>
                        <a:rPr lang="ko-KR" altLang="ko-KR" sz="1000" dirty="0" smtClean="0">
                          <a:effectLst/>
                          <a:latin typeface="+mn-ea"/>
                          <a:ea typeface="+mn-ea"/>
                          <a:cs typeface="Times New Roman" panose="02020603050405020304" pitchFamily="18" charset="0"/>
                        </a:rPr>
                        <a:t>의 발동 요건은 당사자 사이의 협상으로 정해지나</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대체적으로 이사회 또는 주주총회에서</a:t>
                      </a:r>
                      <a:r>
                        <a:rPr lang="en-US" altLang="ko-KR" sz="1000" dirty="0" smtClean="0">
                          <a:effectLst/>
                          <a:latin typeface="+mn-ea"/>
                          <a:ea typeface="+mn-ea"/>
                          <a:cs typeface="Times New Roman" panose="02020603050405020304" pitchFamily="18" charset="0"/>
                        </a:rPr>
                        <a:t> 2</a:t>
                      </a:r>
                      <a:r>
                        <a:rPr lang="ko-KR" altLang="ko-KR" sz="1000" dirty="0" smtClean="0">
                          <a:effectLst/>
                          <a:latin typeface="+mn-ea"/>
                          <a:ea typeface="+mn-ea"/>
                          <a:cs typeface="Times New Roman" panose="02020603050405020304" pitchFamily="18" charset="0"/>
                        </a:rPr>
                        <a:t>회 이상</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대상 안건이 부결되는 경우에 발동되는 것으로 규정됨</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과반수 이상의 지분으로 대상회사의 지배력</a:t>
                      </a:r>
                      <a:r>
                        <a:rPr lang="en-US" altLang="ko-KR" sz="1000" dirty="0" smtClean="0">
                          <a:effectLst/>
                          <a:latin typeface="+mn-ea"/>
                          <a:ea typeface="+mn-ea"/>
                          <a:cs typeface="Times New Roman" panose="02020603050405020304" pitchFamily="18" charset="0"/>
                        </a:rPr>
                        <a:t>(control)</a:t>
                      </a:r>
                      <a:r>
                        <a:rPr lang="ko-KR" altLang="ko-KR" sz="1000" dirty="0" smtClean="0">
                          <a:effectLst/>
                          <a:latin typeface="+mn-ea"/>
                          <a:ea typeface="+mn-ea"/>
                          <a:cs typeface="Times New Roman" panose="02020603050405020304" pitchFamily="18" charset="0"/>
                        </a:rPr>
                        <a:t>을 보유하고 있다면</a:t>
                      </a:r>
                      <a:r>
                        <a:rPr lang="en-US" altLang="ko-KR" sz="1000" dirty="0" smtClean="0">
                          <a:effectLst/>
                          <a:latin typeface="+mn-ea"/>
                          <a:ea typeface="+mn-ea"/>
                          <a:cs typeface="Times New Roman" panose="02020603050405020304" pitchFamily="18" charset="0"/>
                        </a:rPr>
                        <a:t>, Deadlock</a:t>
                      </a:r>
                      <a:r>
                        <a:rPr lang="ko-KR" altLang="ko-KR" sz="1000" dirty="0" smtClean="0">
                          <a:effectLst/>
                          <a:latin typeface="+mn-ea"/>
                          <a:ea typeface="+mn-ea"/>
                          <a:cs typeface="Times New Roman" panose="02020603050405020304" pitchFamily="18" charset="0"/>
                        </a:rPr>
                        <a:t>이 발생할 수 있는 사유는 최소한으로 한정하여 규정하는 것이 바람직함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en-US" altLang="ko-KR" sz="1000" dirty="0" smtClean="0">
                          <a:effectLst/>
                          <a:latin typeface="+mn-ea"/>
                          <a:ea typeface="+mn-ea"/>
                          <a:cs typeface="Times New Roman" panose="02020603050405020304" pitchFamily="18" charset="0"/>
                        </a:rPr>
                        <a:t>Deadlock</a:t>
                      </a:r>
                      <a:r>
                        <a:rPr lang="ko-KR" altLang="ko-KR" sz="1000" dirty="0" smtClean="0">
                          <a:effectLst/>
                          <a:latin typeface="+mn-ea"/>
                          <a:ea typeface="+mn-ea"/>
                          <a:cs typeface="Times New Roman" panose="02020603050405020304" pitchFamily="18" charset="0"/>
                        </a:rPr>
                        <a:t>이 발생할 수 있는 사유로는 대상회사의 연간 예산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경영 전략</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또는 주주총회 또는 이사회 결의사항 중 결의가 되지 아니하는 경우 </a:t>
                      </a:r>
                      <a:r>
                        <a:rPr lang="ko-KR" altLang="ko-KR" sz="1000" dirty="0" err="1" smtClean="0">
                          <a:effectLst/>
                          <a:latin typeface="+mn-ea"/>
                          <a:ea typeface="+mn-ea"/>
                          <a:cs typeface="Times New Roman" panose="02020603050405020304" pitchFamily="18" charset="0"/>
                        </a:rPr>
                        <a:t>대상회사에</a:t>
                      </a:r>
                      <a:r>
                        <a:rPr lang="ko-KR" altLang="ko-KR" sz="1000" dirty="0" smtClean="0">
                          <a:effectLst/>
                          <a:latin typeface="+mn-ea"/>
                          <a:ea typeface="+mn-ea"/>
                          <a:cs typeface="Times New Roman" panose="02020603050405020304" pitchFamily="18" charset="0"/>
                        </a:rPr>
                        <a:t> 부정적인 영향이 발생하는 안건 등이 있을 수 있으며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실제 대상회사의 지분구조 내지 사업 특성상 필요한 사항도 포함될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300"/>
                        </a:spcAft>
                        <a:buFont typeface="+mj-lt"/>
                        <a:buAutoNum type="arabicPeriod"/>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소수 주주로 참여하는 경우에는</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위의 예시와 같이</a:t>
                      </a:r>
                      <a:r>
                        <a:rPr lang="en-US" altLang="ko-KR" sz="1000" dirty="0" smtClean="0">
                          <a:effectLst/>
                          <a:latin typeface="+mn-ea"/>
                          <a:ea typeface="+mn-ea"/>
                          <a:cs typeface="Times New Roman" panose="02020603050405020304" pitchFamily="18" charset="0"/>
                        </a:rPr>
                        <a:t> Deadlock Matter</a:t>
                      </a:r>
                      <a:r>
                        <a:rPr lang="ko-KR" altLang="ko-KR" sz="1000" dirty="0" smtClean="0">
                          <a:effectLst/>
                          <a:latin typeface="+mn-ea"/>
                          <a:ea typeface="+mn-ea"/>
                          <a:cs typeface="Times New Roman" panose="02020603050405020304" pitchFamily="18" charset="0"/>
                        </a:rPr>
                        <a:t>를 구체적으로 규정하기보다</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지배주주의 견제 목적상 특정 안건이 특정 횟수 이상 결의가 되지 않거나 부결되는 경우 등을 폭넓게</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발생 사유로 규정하는 것도 고려하여 볼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아래 추가 </a:t>
                      </a:r>
                      <a:r>
                        <a:rPr lang="en-US" altLang="ko-KR" sz="1000" dirty="0" smtClean="0">
                          <a:effectLst/>
                          <a:latin typeface="+mn-ea"/>
                          <a:ea typeface="+mn-ea"/>
                          <a:cs typeface="Times New Roman" panose="02020603050405020304" pitchFamily="18" charset="0"/>
                        </a:rPr>
                        <a:t>SHA</a:t>
                      </a:r>
                      <a:r>
                        <a:rPr lang="ko-KR" altLang="ko-KR" sz="1000" dirty="0" smtClean="0">
                          <a:effectLst/>
                          <a:latin typeface="+mn-ea"/>
                          <a:ea typeface="+mn-ea"/>
                          <a:cs typeface="Times New Roman" panose="02020603050405020304" pitchFamily="18" charset="0"/>
                        </a:rPr>
                        <a:t>문구 참조</a:t>
                      </a:r>
                      <a:r>
                        <a:rPr lang="en-US" altLang="ko-KR" sz="1000" dirty="0" smtClean="0">
                          <a:effectLst/>
                          <a:latin typeface="+mn-ea"/>
                          <a:ea typeface="+mn-ea"/>
                          <a:cs typeface="Times New Roman" panose="02020603050405020304" pitchFamily="18" charset="0"/>
                        </a:rPr>
                        <a:t>).</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198950">
                <a:tc>
                  <a:txBody>
                    <a:bodyPr/>
                    <a:lstStyle/>
                    <a:p>
                      <a:pPr algn="ctr" latinLnBrk="1">
                        <a:lnSpc>
                          <a:spcPct val="110000"/>
                        </a:lnSpc>
                        <a:spcAft>
                          <a:spcPts val="300"/>
                        </a:spcAft>
                      </a:pPr>
                      <a:r>
                        <a:rPr lang="ko-KR" sz="1000" b="1" dirty="0">
                          <a:effectLst/>
                          <a:latin typeface="+mn-ea"/>
                          <a:ea typeface="+mn-ea"/>
                          <a:cs typeface="Times New Roman" panose="02020603050405020304" pitchFamily="18" charset="0"/>
                        </a:rPr>
                        <a:t>표준 </a:t>
                      </a:r>
                      <a:r>
                        <a:rPr lang="en-US" sz="1000" b="1" dirty="0">
                          <a:effectLst/>
                          <a:latin typeface="+mn-ea"/>
                          <a:ea typeface="+mn-ea"/>
                          <a:cs typeface="Times New Roman" panose="02020603050405020304" pitchFamily="18" charset="0"/>
                        </a:rPr>
                        <a:t>SHA </a:t>
                      </a:r>
                      <a:r>
                        <a:rPr lang="ko-KR" sz="1000" b="1" dirty="0">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300"/>
                        </a:spcAft>
                        <a:buFont typeface="바탕" panose="02030600000101010101" pitchFamily="18" charset="-127"/>
                        <a:buNone/>
                        <a:tabLst/>
                      </a:pPr>
                      <a:r>
                        <a:rPr lang="en-US" altLang="ko-KR" sz="1000" dirty="0" smtClean="0">
                          <a:effectLst/>
                          <a:latin typeface="+mn-ea"/>
                          <a:ea typeface="+mn-ea"/>
                          <a:cs typeface="Times New Roman" panose="02020603050405020304" pitchFamily="18" charset="0"/>
                        </a:rPr>
                        <a:t>1.20</a:t>
                      </a:r>
                      <a:r>
                        <a:rPr lang="en-US" altLang="ko-KR" sz="1000" baseline="0"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a:t>
                      </a:r>
                      <a:r>
                        <a:rPr lang="en-US" altLang="ko-KR" sz="1000" u="sng" dirty="0" smtClean="0">
                          <a:effectLst/>
                          <a:latin typeface="+mn-ea"/>
                          <a:ea typeface="+mn-ea"/>
                          <a:cs typeface="Times New Roman" panose="02020603050405020304" pitchFamily="18" charset="0"/>
                        </a:rPr>
                        <a:t>Deadlock Matter</a:t>
                      </a:r>
                      <a:r>
                        <a:rPr lang="en-US" altLang="ko-KR" sz="1000" dirty="0" smtClean="0">
                          <a:effectLst/>
                          <a:latin typeface="+mn-ea"/>
                          <a:ea typeface="+mn-ea"/>
                          <a:cs typeface="Times New Roman" panose="02020603050405020304" pitchFamily="18" charset="0"/>
                        </a:rPr>
                        <a:t>” shall mean any of the following: </a:t>
                      </a:r>
                      <a:endParaRPr lang="ko-KR" altLang="ko-KR" sz="1000" dirty="0" smtClean="0">
                        <a:effectLst/>
                        <a:latin typeface="+mn-ea"/>
                        <a:ea typeface="+mn-ea"/>
                        <a:cs typeface="Times New Roman" panose="02020603050405020304" pitchFamily="18" charset="0"/>
                      </a:endParaRPr>
                    </a:p>
                    <a:p>
                      <a:pPr marL="268288" lvl="0" indent="-268288"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approval of the Annual Business Plan and Budget, including the implementation thereof;</a:t>
                      </a:r>
                    </a:p>
                    <a:p>
                      <a:pPr marL="268288" lvl="0" indent="-268288"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approval of material changes to the Strategic Plan; or</a:t>
                      </a:r>
                    </a:p>
                    <a:p>
                      <a:pPr marL="268288" lvl="0" indent="-268288"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approval of any other matter of which the non-resolution thereof has or will have a material impact on the viability of the Company.</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0449159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6.  Deadlock </a:t>
            </a:r>
            <a:r>
              <a:rPr lang="en-US" altLang="ko-KR" dirty="0" smtClean="0"/>
              <a:t>Matters </a:t>
            </a:r>
            <a:r>
              <a:rPr lang="en-US" altLang="ko-KR" dirty="0" smtClean="0">
                <a:solidFill>
                  <a:schemeClr val="tx1"/>
                </a:solidFill>
                <a:latin typeface="+mn-ea"/>
              </a:rPr>
              <a:t>(2)</a:t>
            </a:r>
            <a:endParaRPr lang="ko-KR" altLang="ko-KR" dirty="0"/>
          </a:p>
        </p:txBody>
      </p:sp>
      <p:graphicFrame>
        <p:nvGraphicFramePr>
          <p:cNvPr id="10" name="표 9"/>
          <p:cNvGraphicFramePr>
            <a:graphicFrameLocks noGrp="1"/>
          </p:cNvGraphicFramePr>
          <p:nvPr>
            <p:extLst>
              <p:ext uri="{D42A27DB-BD31-4B8C-83A1-F6EECF244321}">
                <p14:modId xmlns:p14="http://schemas.microsoft.com/office/powerpoint/2010/main" val="1956087996"/>
              </p:ext>
            </p:extLst>
          </p:nvPr>
        </p:nvGraphicFramePr>
        <p:xfrm>
          <a:off x="439738" y="1043677"/>
          <a:ext cx="9188450" cy="406385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2984798">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0"/>
                        </a:spcAft>
                        <a:buFont typeface="바탕" panose="02030600000101010101" pitchFamily="18" charset="-127"/>
                        <a:buNone/>
                        <a:tabLst/>
                      </a:pPr>
                      <a:r>
                        <a:rPr lang="en-US" altLang="ko-KR" sz="1000" u="none" dirty="0" smtClean="0">
                          <a:effectLst/>
                          <a:latin typeface="+mn-ea"/>
                          <a:ea typeface="+mn-ea"/>
                          <a:cs typeface="Times New Roman" panose="02020603050405020304" pitchFamily="18" charset="0"/>
                        </a:rPr>
                        <a:t>2.14 </a:t>
                      </a:r>
                      <a:r>
                        <a:rPr lang="en-US" altLang="ko-KR" sz="1000" u="sng" dirty="0" smtClean="0">
                          <a:effectLst/>
                          <a:latin typeface="+mn-ea"/>
                          <a:ea typeface="+mn-ea"/>
                          <a:cs typeface="Times New Roman" panose="02020603050405020304" pitchFamily="18" charset="0"/>
                        </a:rPr>
                        <a:t>Deadlock</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algn="just">
                        <a:lnSpc>
                          <a:spcPct val="110000"/>
                        </a:lnSpc>
                        <a:spcAft>
                          <a:spcPts val="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268288" lvl="0" indent="-268288"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Upon the occurrence of any of the following:   </a:t>
                      </a:r>
                      <a:endParaRPr lang="ko-KR" altLang="ko-KR" sz="1000" dirty="0" smtClean="0">
                        <a:effectLst/>
                        <a:latin typeface="+mn-ea"/>
                        <a:ea typeface="+mn-ea"/>
                        <a:cs typeface="Times New Roman" panose="02020603050405020304" pitchFamily="18" charset="0"/>
                      </a:endParaRPr>
                    </a:p>
                    <a:p>
                      <a:pPr marL="538163" lvl="1" indent="-269875" algn="just">
                        <a:lnSpc>
                          <a:spcPct val="110000"/>
                        </a:lnSpc>
                        <a:spcAft>
                          <a:spcPts val="300"/>
                        </a:spcAft>
                        <a:buFont typeface="+mj-lt"/>
                        <a:buAutoNum type="romanLcParenBoth"/>
                      </a:pPr>
                      <a:r>
                        <a:rPr lang="en-US" altLang="ko-KR" sz="1000" dirty="0" smtClean="0">
                          <a:effectLst/>
                          <a:latin typeface="+mn-ea"/>
                          <a:ea typeface="+mn-ea"/>
                          <a:cs typeface="Times New Roman" panose="02020603050405020304" pitchFamily="18" charset="0"/>
                        </a:rPr>
                        <a:t>(A) the Board of Directors fails to approve a Deadlock Matter at a meeting of the Board of Directors (the “</a:t>
                      </a:r>
                      <a:r>
                        <a:rPr lang="en-US" altLang="ko-KR" sz="1000" u="sng" dirty="0" smtClean="0">
                          <a:effectLst/>
                          <a:latin typeface="+mn-ea"/>
                          <a:ea typeface="+mn-ea"/>
                          <a:cs typeface="Times New Roman" panose="02020603050405020304" pitchFamily="18" charset="0"/>
                        </a:rPr>
                        <a:t>Deadlocked Board Meeting</a:t>
                      </a:r>
                      <a:r>
                        <a:rPr lang="en-US" altLang="ko-KR" sz="1000" dirty="0" smtClean="0">
                          <a:effectLst/>
                          <a:latin typeface="+mn-ea"/>
                          <a:ea typeface="+mn-ea"/>
                          <a:cs typeface="Times New Roman" panose="02020603050405020304" pitchFamily="18" charset="0"/>
                        </a:rPr>
                        <a:t>”), and (B) such  matter is not resolved upon the earlier of (x) within thirty (30) days</a:t>
                      </a:r>
                      <a:r>
                        <a:rPr lang="en-US" altLang="ko-KR" sz="1000" baseline="30000"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after the Deadlocked Board Meeting, or (y) after two (2) consecutive meetings of the Board of Directors, including the Deadlocked Board Meeting; or </a:t>
                      </a:r>
                    </a:p>
                    <a:p>
                      <a:pPr marL="538163" lvl="1" indent="-269875" algn="just">
                        <a:lnSpc>
                          <a:spcPct val="110000"/>
                        </a:lnSpc>
                        <a:spcAft>
                          <a:spcPts val="0"/>
                        </a:spcAft>
                        <a:buFont typeface="+mj-lt"/>
                        <a:buAutoNum type="romanLcParenBoth"/>
                      </a:pPr>
                      <a:r>
                        <a:rPr lang="en-US" altLang="ko-KR" sz="1000" dirty="0" smtClean="0">
                          <a:effectLst/>
                          <a:latin typeface="+mn-ea"/>
                          <a:ea typeface="+mn-ea"/>
                          <a:cs typeface="Times New Roman" panose="02020603050405020304" pitchFamily="18" charset="0"/>
                        </a:rPr>
                        <a:t>the Shareholders fails to approve a matter at a meeting of the shareholders of the Company (the “</a:t>
                      </a:r>
                      <a:r>
                        <a:rPr lang="en-US" altLang="ko-KR" sz="1000" u="sng" dirty="0" smtClean="0">
                          <a:effectLst/>
                          <a:latin typeface="+mn-ea"/>
                          <a:ea typeface="+mn-ea"/>
                          <a:cs typeface="Times New Roman" panose="02020603050405020304" pitchFamily="18" charset="0"/>
                        </a:rPr>
                        <a:t>Deadlocked Shareholders Meeting</a:t>
                      </a:r>
                      <a:r>
                        <a:rPr lang="en-US" altLang="ko-KR" sz="1000" dirty="0" smtClean="0">
                          <a:effectLst/>
                          <a:latin typeface="+mn-ea"/>
                          <a:ea typeface="+mn-ea"/>
                          <a:cs typeface="Times New Roman" panose="02020603050405020304" pitchFamily="18" charset="0"/>
                        </a:rPr>
                        <a:t>”), and such matter is not resolved upon the earlier of (1) within thirty (30) days after the Deadlocked Shareholders Meeting, or (2) after two (2) consecutive meetings of the shareholders of the Company, including the Deadlocked Shareholders Meeting, </a:t>
                      </a:r>
                      <a:endParaRPr lang="ko-KR" altLang="ko-KR" sz="1000" dirty="0" smtClean="0">
                        <a:effectLst/>
                        <a:latin typeface="+mn-ea"/>
                        <a:ea typeface="+mn-ea"/>
                        <a:cs typeface="Times New Roman" panose="02020603050405020304" pitchFamily="18" charset="0"/>
                      </a:endParaRPr>
                    </a:p>
                    <a:p>
                      <a:pPr algn="just">
                        <a:lnSpc>
                          <a:spcPct val="110000"/>
                        </a:lnSpc>
                        <a:spcAft>
                          <a:spcPts val="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algn="just">
                        <a:lnSpc>
                          <a:spcPct val="110000"/>
                        </a:lnSpc>
                        <a:spcAft>
                          <a:spcPts val="0"/>
                        </a:spcAft>
                      </a:pPr>
                      <a:r>
                        <a:rPr lang="en-US" altLang="ko-KR" sz="1000" dirty="0" smtClean="0">
                          <a:effectLst/>
                          <a:latin typeface="+mn-ea"/>
                          <a:ea typeface="+mn-ea"/>
                          <a:cs typeface="Times New Roman" panose="02020603050405020304" pitchFamily="18" charset="0"/>
                        </a:rPr>
                        <a:t>the Shareholder (the “</a:t>
                      </a:r>
                      <a:r>
                        <a:rPr lang="en-US" altLang="ko-KR" sz="1000" u="sng" dirty="0" smtClean="0">
                          <a:effectLst/>
                          <a:latin typeface="+mn-ea"/>
                          <a:ea typeface="+mn-ea"/>
                          <a:cs typeface="Times New Roman" panose="02020603050405020304" pitchFamily="18" charset="0"/>
                        </a:rPr>
                        <a:t>Proposing Shareholder</a:t>
                      </a:r>
                      <a:r>
                        <a:rPr lang="en-US" altLang="ko-KR" sz="1000" dirty="0" smtClean="0">
                          <a:effectLst/>
                          <a:latin typeface="+mn-ea"/>
                          <a:ea typeface="+mn-ea"/>
                          <a:cs typeface="Times New Roman" panose="02020603050405020304" pitchFamily="18" charset="0"/>
                        </a:rPr>
                        <a:t>”), who originally proposed, or had nominated the Director who originally proposed, the relevant Deadlock Matter (the “</a:t>
                      </a:r>
                      <a:r>
                        <a:rPr lang="en-US" altLang="ko-KR" sz="1000" u="sng" dirty="0" smtClean="0">
                          <a:effectLst/>
                          <a:latin typeface="+mn-ea"/>
                          <a:ea typeface="+mn-ea"/>
                          <a:cs typeface="Times New Roman" panose="02020603050405020304" pitchFamily="18" charset="0"/>
                        </a:rPr>
                        <a:t>Subject Deadlock Matter</a:t>
                      </a:r>
                      <a:r>
                        <a:rPr lang="en-US" altLang="ko-KR" sz="1000" dirty="0" smtClean="0">
                          <a:effectLst/>
                          <a:latin typeface="+mn-ea"/>
                          <a:ea typeface="+mn-ea"/>
                          <a:cs typeface="Times New Roman" panose="02020603050405020304" pitchFamily="18" charset="0"/>
                        </a:rPr>
                        <a:t>”), may notify the other Shareholder in writing, within fifteen (15) days after the occurrence of any event described in </a:t>
                      </a:r>
                      <a:r>
                        <a:rPr lang="en-US" altLang="ko-KR" sz="1000" u="sng" dirty="0" smtClean="0">
                          <a:effectLst/>
                          <a:latin typeface="+mn-ea"/>
                          <a:ea typeface="+mn-ea"/>
                          <a:cs typeface="Times New Roman" panose="02020603050405020304" pitchFamily="18" charset="0"/>
                        </a:rPr>
                        <a:t>Sections 2.12(a)(</a:t>
                      </a:r>
                      <a:r>
                        <a:rPr lang="en-US" altLang="ko-KR" sz="1000" u="sng" dirty="0" err="1" smtClean="0">
                          <a:effectLst/>
                          <a:latin typeface="+mn-ea"/>
                          <a:ea typeface="+mn-ea"/>
                          <a:cs typeface="Times New Roman" panose="02020603050405020304" pitchFamily="18" charset="0"/>
                        </a:rPr>
                        <a:t>i</a:t>
                      </a:r>
                      <a:r>
                        <a:rPr lang="en-US" altLang="ko-KR" sz="1000" u="sng"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or </a:t>
                      </a:r>
                      <a:r>
                        <a:rPr lang="en-US" altLang="ko-KR" sz="1000" u="sng" dirty="0" smtClean="0">
                          <a:effectLst/>
                          <a:latin typeface="+mn-ea"/>
                          <a:ea typeface="+mn-ea"/>
                          <a:cs typeface="Times New Roman" panose="02020603050405020304" pitchFamily="18" charset="0"/>
                        </a:rPr>
                        <a:t>2.12(a)(ii)</a:t>
                      </a:r>
                      <a:r>
                        <a:rPr lang="en-US" altLang="ko-KR" sz="1000" dirty="0" smtClean="0">
                          <a:effectLst/>
                          <a:latin typeface="+mn-ea"/>
                          <a:ea typeface="+mn-ea"/>
                          <a:cs typeface="Times New Roman" panose="02020603050405020304" pitchFamily="18" charset="0"/>
                        </a:rPr>
                        <a:t>, that (x) a deadlock (“</a:t>
                      </a:r>
                      <a:r>
                        <a:rPr lang="en-US" altLang="ko-KR" sz="1000" u="sng" dirty="0" smtClean="0">
                          <a:effectLst/>
                          <a:latin typeface="+mn-ea"/>
                          <a:ea typeface="+mn-ea"/>
                          <a:cs typeface="Times New Roman" panose="02020603050405020304" pitchFamily="18" charset="0"/>
                        </a:rPr>
                        <a:t>Deadlock</a:t>
                      </a:r>
                      <a:r>
                        <a:rPr lang="en-US" altLang="ko-KR" sz="1000" dirty="0" smtClean="0">
                          <a:effectLst/>
                          <a:latin typeface="+mn-ea"/>
                          <a:ea typeface="+mn-ea"/>
                          <a:cs typeface="Times New Roman" panose="02020603050405020304" pitchFamily="18" charset="0"/>
                        </a:rPr>
                        <a:t>”) has occurred, and (y) the Proposing Shareholder reasonably believes that the failure to approve the Subject Deadlock Matter has or will have a material impact to the viability of the Company (the “</a:t>
                      </a:r>
                      <a:r>
                        <a:rPr lang="en-US" altLang="ko-KR" sz="1000" u="sng" dirty="0" smtClean="0">
                          <a:effectLst/>
                          <a:latin typeface="+mn-ea"/>
                          <a:ea typeface="+mn-ea"/>
                          <a:cs typeface="Times New Roman" panose="02020603050405020304" pitchFamily="18" charset="0"/>
                        </a:rPr>
                        <a:t>Deadlock Notice</a:t>
                      </a:r>
                      <a:r>
                        <a:rPr lang="en-US" altLang="ko-KR" sz="1000" dirty="0" smtClean="0">
                          <a:effectLst/>
                          <a:latin typeface="+mn-ea"/>
                          <a:ea typeface="+mn-ea"/>
                          <a:cs typeface="Times New Roman" panose="02020603050405020304" pitchFamily="18" charset="0"/>
                        </a:rPr>
                        <a:t>”). </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079055">
                <a:tc>
                  <a:txBody>
                    <a:bodyPr/>
                    <a:lstStyle/>
                    <a:p>
                      <a:pPr algn="ctr" latinLnBrk="1">
                        <a:lnSpc>
                          <a:spcPct val="115000"/>
                        </a:lnSpc>
                        <a:spcAft>
                          <a:spcPts val="0"/>
                        </a:spcAft>
                      </a:pPr>
                      <a:r>
                        <a:rPr lang="ko-KR" altLang="en-US" sz="1000" b="1" dirty="0" smtClean="0">
                          <a:effectLst/>
                          <a:latin typeface="+mn-ea"/>
                          <a:ea typeface="+mn-ea"/>
                          <a:cs typeface="Times New Roman" panose="02020603050405020304" pitchFamily="18" charset="0"/>
                        </a:rPr>
                        <a:t>추가</a:t>
                      </a:r>
                      <a:r>
                        <a:rPr lang="ko-KR" sz="1000" b="1" dirty="0" smtClean="0">
                          <a:effectLst/>
                          <a:latin typeface="+mn-ea"/>
                          <a:ea typeface="+mn-ea"/>
                          <a:cs typeface="Times New Roman" panose="02020603050405020304" pitchFamily="18" charset="0"/>
                        </a:rPr>
                        <a:t> </a:t>
                      </a:r>
                      <a:r>
                        <a:rPr lang="en-US" sz="1000" b="1" dirty="0">
                          <a:effectLst/>
                          <a:latin typeface="+mn-ea"/>
                          <a:ea typeface="+mn-ea"/>
                          <a:cs typeface="Times New Roman" panose="02020603050405020304" pitchFamily="18" charset="0"/>
                        </a:rPr>
                        <a:t>SHA </a:t>
                      </a:r>
                      <a:r>
                        <a:rPr lang="ko-KR" sz="1000" b="1" dirty="0">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0"/>
                        </a:spcAft>
                      </a:pPr>
                      <a:r>
                        <a:rPr lang="en-US" altLang="ko-KR" sz="1000" dirty="0" smtClean="0">
                          <a:effectLst/>
                          <a:latin typeface="+mn-ea"/>
                          <a:ea typeface="+mn-ea"/>
                          <a:cs typeface="Times New Roman" panose="02020603050405020304" pitchFamily="18" charset="0"/>
                        </a:rPr>
                        <a:t>For purposes of this Agreement, a deadlock (“</a:t>
                      </a:r>
                      <a:r>
                        <a:rPr lang="en-US" altLang="ko-KR" sz="1000" u="sng" dirty="0" smtClean="0">
                          <a:effectLst/>
                          <a:latin typeface="+mn-ea"/>
                          <a:ea typeface="+mn-ea"/>
                          <a:cs typeface="Times New Roman" panose="02020603050405020304" pitchFamily="18" charset="0"/>
                        </a:rPr>
                        <a:t>Deadlock</a:t>
                      </a:r>
                      <a:r>
                        <a:rPr lang="en-US" altLang="ko-KR" sz="1000" dirty="0" smtClean="0">
                          <a:effectLst/>
                          <a:latin typeface="+mn-ea"/>
                          <a:ea typeface="+mn-ea"/>
                          <a:cs typeface="Times New Roman" panose="02020603050405020304" pitchFamily="18" charset="0"/>
                        </a:rPr>
                        <a:t>”) shall be deemed to exist if any matter has been submitted by a Director for resolution by the Board of Directors or the shareholders of the Company, and such resolution has not been resolved at two (2) consecutive meetings of the Board of Directors by reason of an inability to obtain the necessary vote as specifically required under this Agreement or the Articles of Incorporation, and such resolution has not been withdrawn by the Director that proposed such resolution.</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4008593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7.  Deadlock </a:t>
            </a:r>
            <a:r>
              <a:rPr lang="en-US" altLang="ko-KR" dirty="0" smtClean="0"/>
              <a:t>Resolution </a:t>
            </a:r>
            <a:r>
              <a:rPr lang="en-US" altLang="ko-KR" dirty="0">
                <a:solidFill>
                  <a:schemeClr val="tx1"/>
                </a:solidFill>
                <a:latin typeface="+mn-ea"/>
              </a:rPr>
              <a:t>(1)</a:t>
            </a:r>
            <a:endParaRPr lang="ko-KR" altLang="ko-KR" dirty="0"/>
          </a:p>
        </p:txBody>
      </p:sp>
      <p:graphicFrame>
        <p:nvGraphicFramePr>
          <p:cNvPr id="10" name="표 9"/>
          <p:cNvGraphicFramePr>
            <a:graphicFrameLocks noGrp="1"/>
          </p:cNvGraphicFramePr>
          <p:nvPr>
            <p:extLst>
              <p:ext uri="{D42A27DB-BD31-4B8C-83A1-F6EECF244321}">
                <p14:modId xmlns:p14="http://schemas.microsoft.com/office/powerpoint/2010/main" val="2089006197"/>
              </p:ext>
            </p:extLst>
          </p:nvPr>
        </p:nvGraphicFramePr>
        <p:xfrm>
          <a:off x="439738" y="1043676"/>
          <a:ext cx="9188450" cy="5502594"/>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99297">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원칙</a:t>
                      </a:r>
                      <a:r>
                        <a:rPr lang="en-US" sz="1000" b="1" dirty="0">
                          <a:effectLst/>
                          <a:latin typeface="+mn-ea"/>
                          <a:ea typeface="+mn-ea"/>
                          <a:cs typeface="Times New Roman" panose="02020603050405020304" pitchFamily="18" charset="0"/>
                        </a:rPr>
                        <a:t>/</a:t>
                      </a:r>
                      <a:r>
                        <a:rPr lang="ko-KR" sz="1000" b="1" dirty="0">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l">
                        <a:lnSpc>
                          <a:spcPct val="115000"/>
                        </a:lnSpc>
                        <a:spcAft>
                          <a:spcPts val="0"/>
                        </a:spcAft>
                        <a:buFont typeface="바탕" panose="02030600000101010101" pitchFamily="18" charset="-127"/>
                        <a:buNone/>
                        <a:tabLst/>
                      </a:pPr>
                      <a:r>
                        <a:rPr lang="en-US" altLang="ko-KR" sz="1000" dirty="0" smtClean="0">
                          <a:effectLst/>
                          <a:latin typeface="+mn-ea"/>
                          <a:ea typeface="+mn-ea"/>
                          <a:cs typeface="Times New Roman" panose="02020603050405020304" pitchFamily="18" charset="0"/>
                        </a:rPr>
                        <a:t>Deadlock</a:t>
                      </a:r>
                      <a:r>
                        <a:rPr lang="ko-KR" altLang="en-US" sz="1000" dirty="0" smtClean="0">
                          <a:effectLst/>
                          <a:latin typeface="+mn-ea"/>
                          <a:ea typeface="+mn-ea"/>
                          <a:cs typeface="Times New Roman" panose="02020603050405020304" pitchFamily="18" charset="0"/>
                        </a:rPr>
                        <a:t>이 발생하는 경우 대상회사의 경영이나 가치에 영향을 줄 수 있으므로 해결 메커니즘을 계약서로 정하게 됨</a:t>
                      </a:r>
                      <a:r>
                        <a:rPr lang="en-US" altLang="ko-KR" sz="1000" dirty="0" smtClean="0">
                          <a:effectLst/>
                          <a:latin typeface="+mn-ea"/>
                          <a:ea typeface="+mn-ea"/>
                          <a:cs typeface="Times New Roman" panose="02020603050405020304" pitchFamily="18" charset="0"/>
                        </a:rPr>
                        <a:t>. </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5003297">
                <a:tc>
                  <a:txBody>
                    <a:bodyPr/>
                    <a:lstStyle/>
                    <a:p>
                      <a:pPr algn="ctr" latinLnBrk="1">
                        <a:lnSpc>
                          <a:spcPct val="115000"/>
                        </a:lnSpc>
                        <a:spcAft>
                          <a:spcPts val="0"/>
                        </a:spcAft>
                      </a:pPr>
                      <a:r>
                        <a:rPr lang="en-US" sz="1000" b="1" dirty="0">
                          <a:effectLst/>
                          <a:latin typeface="+mn-ea"/>
                          <a:ea typeface="+mn-ea"/>
                          <a:cs typeface="Times New Roman" panose="02020603050405020304" pitchFamily="18" charset="0"/>
                        </a:rPr>
                        <a:t>Checklist</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10000"/>
                        </a:lnSpc>
                        <a:spcAft>
                          <a:spcPts val="0"/>
                        </a:spcAft>
                      </a:pPr>
                      <a:r>
                        <a:rPr lang="en-US" altLang="ko-KR" sz="1000" b="1" dirty="0" smtClean="0">
                          <a:effectLst/>
                          <a:latin typeface="+mn-ea"/>
                          <a:ea typeface="+mn-ea"/>
                          <a:cs typeface="Times New Roman" panose="02020603050405020304" pitchFamily="18" charset="0"/>
                        </a:rPr>
                        <a:t>Deadlock </a:t>
                      </a:r>
                      <a:r>
                        <a:rPr lang="ko-KR" altLang="ko-KR" sz="1000" b="1" dirty="0" smtClean="0">
                          <a:effectLst/>
                          <a:latin typeface="+mn-ea"/>
                          <a:ea typeface="+mn-ea"/>
                          <a:cs typeface="Times New Roman" panose="02020603050405020304" pitchFamily="18" charset="0"/>
                        </a:rPr>
                        <a:t>해소 위원회</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Deadlock</a:t>
                      </a:r>
                      <a:r>
                        <a:rPr lang="ko-KR" altLang="ko-KR" sz="1000" dirty="0" smtClean="0">
                          <a:effectLst/>
                          <a:latin typeface="+mn-ea"/>
                          <a:ea typeface="+mn-ea"/>
                          <a:cs typeface="Times New Roman" panose="02020603050405020304" pitchFamily="18" charset="0"/>
                        </a:rPr>
                        <a:t>이 발동된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그 해소를 위하여</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 단계의 의사결정권자로 구성된</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해소 위원회를 구성하고</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 위원회에서 일정한 기간 동안 관련 사항을 협의 내지 합의하도록 규정하는 것이 </a:t>
                      </a:r>
                      <a:r>
                        <a:rPr lang="ko-KR" altLang="ko-KR" sz="1000" dirty="0" err="1" smtClean="0">
                          <a:effectLst/>
                          <a:latin typeface="+mn-ea"/>
                          <a:ea typeface="+mn-ea"/>
                          <a:cs typeface="Times New Roman" panose="02020603050405020304" pitchFamily="18" charset="0"/>
                        </a:rPr>
                        <a:t>통상적임</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ko-KR" altLang="ko-KR" sz="1000" dirty="0" smtClean="0">
                          <a:effectLst/>
                          <a:latin typeface="+mn-ea"/>
                          <a:ea typeface="+mn-ea"/>
                          <a:cs typeface="Times New Roman" panose="02020603050405020304" pitchFamily="18" charset="0"/>
                        </a:rPr>
                        <a:t>기간이나 구성원 등은 당사자간 협상에 따라 다양하게 구성할 수 있으나 주주 단계에서 의사결정을 할 수 있는 </a:t>
                      </a:r>
                      <a:r>
                        <a:rPr lang="ko-KR" altLang="ko-KR" sz="1000" dirty="0" err="1" smtClean="0">
                          <a:effectLst/>
                          <a:latin typeface="+mn-ea"/>
                          <a:ea typeface="+mn-ea"/>
                          <a:cs typeface="Times New Roman" panose="02020603050405020304" pitchFamily="18" charset="0"/>
                        </a:rPr>
                        <a:t>책임있는</a:t>
                      </a:r>
                      <a:r>
                        <a:rPr lang="ko-KR" altLang="ko-KR" sz="1000" dirty="0" smtClean="0">
                          <a:effectLst/>
                          <a:latin typeface="+mn-ea"/>
                          <a:ea typeface="+mn-ea"/>
                          <a:cs typeface="Times New Roman" panose="02020603050405020304" pitchFamily="18" charset="0"/>
                        </a:rPr>
                        <a:t> 지위에 있는 고위 임원이 위원회에 참여하는 것이</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해소에 효율적일 것으로 사료됨</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algn="just" latinLnBrk="1">
                        <a:lnSpc>
                          <a:spcPct val="110000"/>
                        </a:lnSpc>
                        <a:spcAft>
                          <a:spcPts val="0"/>
                        </a:spcAft>
                      </a:pP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algn="just" latinLnBrk="1">
                        <a:lnSpc>
                          <a:spcPct val="110000"/>
                        </a:lnSpc>
                        <a:spcAft>
                          <a:spcPts val="0"/>
                        </a:spcAft>
                      </a:pPr>
                      <a:r>
                        <a:rPr lang="ko-KR" altLang="ko-KR" sz="1000" b="1" dirty="0" smtClean="0">
                          <a:effectLst/>
                          <a:latin typeface="+mn-ea"/>
                          <a:ea typeface="+mn-ea"/>
                          <a:cs typeface="Times New Roman" panose="02020603050405020304" pitchFamily="18" charset="0"/>
                        </a:rPr>
                        <a:t>기타 </a:t>
                      </a:r>
                      <a:r>
                        <a:rPr lang="en-US" altLang="ko-KR" sz="1000" b="1" dirty="0" smtClean="0">
                          <a:effectLst/>
                          <a:latin typeface="+mn-ea"/>
                          <a:ea typeface="+mn-ea"/>
                          <a:cs typeface="Times New Roman" panose="02020603050405020304" pitchFamily="18" charset="0"/>
                        </a:rPr>
                        <a:t>Deadlock </a:t>
                      </a:r>
                      <a:r>
                        <a:rPr lang="ko-KR" altLang="ko-KR" sz="1000" b="1" dirty="0" smtClean="0">
                          <a:effectLst/>
                          <a:latin typeface="+mn-ea"/>
                          <a:ea typeface="+mn-ea"/>
                          <a:cs typeface="Times New Roman" panose="02020603050405020304" pitchFamily="18" charset="0"/>
                        </a:rPr>
                        <a:t>해소 방안</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Deadlock</a:t>
                      </a:r>
                      <a:r>
                        <a:rPr lang="ko-KR" altLang="ko-KR" sz="1000" dirty="0" smtClean="0">
                          <a:effectLst/>
                          <a:latin typeface="+mn-ea"/>
                          <a:ea typeface="+mn-ea"/>
                          <a:cs typeface="Times New Roman" panose="02020603050405020304" pitchFamily="18" charset="0"/>
                        </a:rPr>
                        <a:t>과 관련하여 설치된 위원회에서 협의 내지 합의가 되지 아니하는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결과적으로는 어느 주주가 대상회사의 주식을 매수하거나 매각하는 방법으로 주주 관계를 해소하는 것이 필요함</a:t>
                      </a:r>
                      <a:r>
                        <a:rPr lang="en-US" altLang="ko-KR" sz="1000" dirty="0" smtClean="0">
                          <a:effectLst/>
                          <a:latin typeface="+mn-ea"/>
                          <a:ea typeface="+mn-ea"/>
                          <a:cs typeface="Times New Roman" panose="02020603050405020304" pitchFamily="18" charset="0"/>
                        </a:rPr>
                        <a:t>.  50:50 </a:t>
                      </a:r>
                      <a:r>
                        <a:rPr lang="ko-KR" altLang="ko-KR" sz="1000" dirty="0" smtClean="0">
                          <a:effectLst/>
                          <a:latin typeface="+mn-ea"/>
                          <a:ea typeface="+mn-ea"/>
                          <a:cs typeface="Times New Roman" panose="02020603050405020304" pitchFamily="18" charset="0"/>
                        </a:rPr>
                        <a:t>합작회사의 경우</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해소 방안으로 주식 양수도 절차를 통해 상대방의 주식을 전부 매수한 주주가 대상회사의 사업을 계속 영위하게 하는 방안이 있고</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 때</a:t>
                      </a:r>
                      <a:r>
                        <a:rPr lang="en-US" altLang="ko-KR" sz="1000" dirty="0" smtClean="0">
                          <a:effectLst/>
                          <a:latin typeface="+mn-ea"/>
                          <a:ea typeface="+mn-ea"/>
                          <a:cs typeface="Times New Roman" panose="02020603050405020304" pitchFamily="18" charset="0"/>
                        </a:rPr>
                        <a:t> M&amp;A </a:t>
                      </a:r>
                      <a:r>
                        <a:rPr lang="ko-KR" altLang="ko-KR" sz="1000" dirty="0" smtClean="0">
                          <a:effectLst/>
                          <a:latin typeface="+mn-ea"/>
                          <a:ea typeface="+mn-ea"/>
                          <a:cs typeface="Times New Roman" panose="02020603050405020304" pitchFamily="18" charset="0"/>
                        </a:rPr>
                        <a:t>실무상 알려진 방법은 러시안 </a:t>
                      </a:r>
                      <a:r>
                        <a:rPr lang="ko-KR" altLang="ko-KR" sz="1000" dirty="0" err="1" smtClean="0">
                          <a:effectLst/>
                          <a:latin typeface="+mn-ea"/>
                          <a:ea typeface="+mn-ea"/>
                          <a:cs typeface="Times New Roman" panose="02020603050405020304" pitchFamily="18" charset="0"/>
                        </a:rPr>
                        <a:t>룰렛</a:t>
                      </a:r>
                      <a:r>
                        <a:rPr lang="en-US" altLang="ko-KR" sz="1000" dirty="0" smtClean="0">
                          <a:effectLst/>
                          <a:latin typeface="+mn-ea"/>
                          <a:ea typeface="+mn-ea"/>
                          <a:cs typeface="Times New Roman" panose="02020603050405020304" pitchFamily="18" charset="0"/>
                        </a:rPr>
                        <a:t>(Russian Roulette) </a:t>
                      </a:r>
                      <a:r>
                        <a:rPr lang="ko-KR" altLang="ko-KR" sz="1000" dirty="0" smtClean="0">
                          <a:effectLst/>
                          <a:latin typeface="+mn-ea"/>
                          <a:ea typeface="+mn-ea"/>
                          <a:cs typeface="Times New Roman" panose="02020603050405020304" pitchFamily="18" charset="0"/>
                        </a:rPr>
                        <a:t>방법과 텍사스 슛 아웃</a:t>
                      </a:r>
                      <a:r>
                        <a:rPr lang="en-US" altLang="ko-KR" sz="1000" dirty="0" smtClean="0">
                          <a:effectLst/>
                          <a:latin typeface="+mn-ea"/>
                          <a:ea typeface="+mn-ea"/>
                          <a:cs typeface="Times New Roman" panose="02020603050405020304" pitchFamily="18" charset="0"/>
                        </a:rPr>
                        <a:t>(Texas Shoot-out) </a:t>
                      </a:r>
                      <a:r>
                        <a:rPr lang="ko-KR" altLang="ko-KR" sz="1000" dirty="0" smtClean="0">
                          <a:effectLst/>
                          <a:latin typeface="+mn-ea"/>
                          <a:ea typeface="+mn-ea"/>
                          <a:cs typeface="Times New Roman" panose="02020603050405020304" pitchFamily="18" charset="0"/>
                        </a:rPr>
                        <a:t>방법이 존재함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609600" lvl="1" indent="-250825" algn="just" latinLnBrk="1">
                        <a:lnSpc>
                          <a:spcPct val="110000"/>
                        </a:lnSpc>
                        <a:spcAft>
                          <a:spcPts val="0"/>
                        </a:spcAft>
                        <a:buFont typeface="Wingdings" panose="05000000000000000000" pitchFamily="2" charset="2"/>
                        <a:buChar char=""/>
                      </a:pPr>
                      <a:r>
                        <a:rPr lang="ko-KR" altLang="ko-KR" sz="1000" b="1" dirty="0" smtClean="0">
                          <a:effectLst/>
                          <a:latin typeface="+mn-ea"/>
                          <a:ea typeface="+mn-ea"/>
                          <a:cs typeface="Times New Roman" panose="02020603050405020304" pitchFamily="18" charset="0"/>
                        </a:rPr>
                        <a:t>러시안 </a:t>
                      </a:r>
                      <a:r>
                        <a:rPr lang="ko-KR" altLang="ko-KR" sz="1000" b="1" dirty="0" err="1" smtClean="0">
                          <a:effectLst/>
                          <a:latin typeface="+mn-ea"/>
                          <a:ea typeface="+mn-ea"/>
                          <a:cs typeface="Times New Roman" panose="02020603050405020304" pitchFamily="18" charset="0"/>
                        </a:rPr>
                        <a:t>룰렛</a:t>
                      </a:r>
                      <a:r>
                        <a:rPr lang="ko-KR" altLang="ko-KR" sz="1000" b="1" dirty="0" smtClean="0">
                          <a:effectLst/>
                          <a:latin typeface="+mn-ea"/>
                          <a:ea typeface="+mn-ea"/>
                          <a:cs typeface="Times New Roman" panose="02020603050405020304" pitchFamily="18" charset="0"/>
                        </a:rPr>
                        <a:t> 방법</a:t>
                      </a:r>
                      <a:r>
                        <a:rPr lang="ko-KR" altLang="ko-KR" sz="1000" dirty="0" smtClean="0">
                          <a:effectLst/>
                          <a:latin typeface="+mn-ea"/>
                          <a:ea typeface="+mn-ea"/>
                          <a:cs typeface="Times New Roman" panose="02020603050405020304" pitchFamily="18" charset="0"/>
                        </a:rPr>
                        <a:t>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일방 주주가 상대방이 보유한 주식을 특정 가격에 매수하겠다고 상대방 주주에게 청약</a:t>
                      </a:r>
                      <a:r>
                        <a:rPr lang="en-US" altLang="ko-KR" sz="1000" dirty="0" smtClean="0">
                          <a:effectLst/>
                          <a:latin typeface="+mn-ea"/>
                          <a:ea typeface="+mn-ea"/>
                          <a:cs typeface="Times New Roman" panose="02020603050405020304" pitchFamily="18" charset="0"/>
                        </a:rPr>
                        <a:t>(offer)</a:t>
                      </a:r>
                      <a:r>
                        <a:rPr lang="ko-KR" altLang="ko-KR" sz="1000" dirty="0" smtClean="0">
                          <a:effectLst/>
                          <a:latin typeface="+mn-ea"/>
                          <a:ea typeface="+mn-ea"/>
                          <a:cs typeface="Times New Roman" panose="02020603050405020304" pitchFamily="18" charset="0"/>
                        </a:rPr>
                        <a:t>하면</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청약을 받은 주주는 그 특정 가격에 자신의 주식을 매각하거나 반대로 그 특정 가격에 청약을 한 주주의 주식을 매수할 수 있는 선택권을 주는 방법으로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청약을 하는 주주는 청약을 받는 주주의 의사에 따라 주식을 매도할 가능성도 존재하기 때문에</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청약을 하는 주주 입장에서는 가장 공평한 가격을 제시할 것이라는 관점에 따라 고안된 방법임</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609600" lvl="1" indent="-250825" algn="just" latinLnBrk="1">
                        <a:lnSpc>
                          <a:spcPct val="110000"/>
                        </a:lnSpc>
                        <a:spcAft>
                          <a:spcPts val="0"/>
                        </a:spcAft>
                        <a:buFont typeface="Wingdings" panose="05000000000000000000" pitchFamily="2" charset="2"/>
                        <a:buChar char=""/>
                      </a:pPr>
                      <a:r>
                        <a:rPr lang="ko-KR" altLang="ko-KR" sz="1000" b="1" dirty="0" smtClean="0">
                          <a:effectLst/>
                          <a:latin typeface="+mn-ea"/>
                          <a:ea typeface="+mn-ea"/>
                          <a:cs typeface="Times New Roman" panose="02020603050405020304" pitchFamily="18" charset="0"/>
                        </a:rPr>
                        <a:t>텍사스 슛 아웃 방법</a:t>
                      </a:r>
                      <a:r>
                        <a:rPr lang="ko-KR" altLang="ko-KR" sz="1000" dirty="0" smtClean="0">
                          <a:effectLst/>
                          <a:latin typeface="+mn-ea"/>
                          <a:ea typeface="+mn-ea"/>
                          <a:cs typeface="Times New Roman" panose="02020603050405020304" pitchFamily="18" charset="0"/>
                        </a:rPr>
                        <a:t>은</a:t>
                      </a:r>
                      <a:r>
                        <a:rPr lang="en-US" altLang="ko-KR" sz="1000" dirty="0" smtClean="0">
                          <a:effectLst/>
                          <a:latin typeface="+mn-ea"/>
                          <a:ea typeface="+mn-ea"/>
                          <a:cs typeface="Times New Roman" panose="02020603050405020304" pitchFamily="18" charset="0"/>
                        </a:rPr>
                        <a:t>,</a:t>
                      </a:r>
                      <a:r>
                        <a:rPr lang="en-US" altLang="ko-KR" sz="1000" spc="-30" baseline="0" dirty="0" smtClean="0">
                          <a:effectLst/>
                          <a:latin typeface="+mn-ea"/>
                          <a:ea typeface="+mn-ea"/>
                          <a:cs typeface="Times New Roman" panose="02020603050405020304" pitchFamily="18" charset="0"/>
                        </a:rPr>
                        <a:t> </a:t>
                      </a:r>
                      <a:r>
                        <a:rPr lang="ko-KR" altLang="ko-KR" sz="1000" spc="-30" baseline="0" dirty="0" smtClean="0">
                          <a:effectLst/>
                          <a:latin typeface="+mn-ea"/>
                          <a:ea typeface="+mn-ea"/>
                          <a:cs typeface="Times New Roman" panose="02020603050405020304" pitchFamily="18" charset="0"/>
                        </a:rPr>
                        <a:t>모든 주주가 각자 비밀 입찰을 하고</a:t>
                      </a:r>
                      <a:r>
                        <a:rPr lang="en-US" altLang="ko-KR" sz="1000" spc="-30" baseline="0" dirty="0" smtClean="0">
                          <a:effectLst/>
                          <a:latin typeface="+mn-ea"/>
                          <a:ea typeface="+mn-ea"/>
                          <a:cs typeface="Times New Roman" panose="02020603050405020304" pitchFamily="18" charset="0"/>
                        </a:rPr>
                        <a:t>, </a:t>
                      </a:r>
                      <a:r>
                        <a:rPr lang="ko-KR" altLang="ko-KR" sz="1000" spc="-30" baseline="0" dirty="0" smtClean="0">
                          <a:effectLst/>
                          <a:latin typeface="+mn-ea"/>
                          <a:ea typeface="+mn-ea"/>
                          <a:cs typeface="Times New Roman" panose="02020603050405020304" pitchFamily="18" charset="0"/>
                        </a:rPr>
                        <a:t>그 입찰 결과 높은 가격을 쓴 주주가 다른 주주의 주식을 매수하는 방법임</a:t>
                      </a:r>
                      <a:r>
                        <a:rPr lang="en-US" altLang="ko-KR" sz="1000" spc="-30" baseline="0" dirty="0" smtClean="0">
                          <a:effectLst/>
                          <a:latin typeface="+mn-ea"/>
                          <a:ea typeface="+mn-ea"/>
                          <a:cs typeface="Times New Roman" panose="02020603050405020304" pitchFamily="18" charset="0"/>
                        </a:rPr>
                        <a:t>. </a:t>
                      </a:r>
                    </a:p>
                    <a:p>
                      <a:pPr marL="806450" lvl="2" indent="-179388" algn="l" latinLnBrk="1">
                        <a:lnSpc>
                          <a:spcPct val="110000"/>
                        </a:lnSpc>
                        <a:spcAft>
                          <a:spcPts val="0"/>
                        </a:spcAft>
                        <a:buFont typeface="Wingdings" panose="05000000000000000000" pitchFamily="2" charset="2"/>
                        <a:buChar char=""/>
                      </a:pPr>
                      <a:r>
                        <a:rPr lang="ko-KR" altLang="ko-KR" sz="1000" dirty="0" smtClean="0">
                          <a:effectLst/>
                          <a:latin typeface="+mn-ea"/>
                          <a:ea typeface="+mn-ea"/>
                          <a:cs typeface="Times New Roman" panose="02020603050405020304" pitchFamily="18" charset="0"/>
                        </a:rPr>
                        <a:t>실무상 위 두 가지 방법을 그대로 사용하는 경우도 있지만</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위 두 가지 방법을 상황에 맞게 조정하여 당사자간 합당한 방법을 고안하여 규정하는 경우도 존재함</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806450" lvl="2" indent="-179388" algn="l" latinLnBrk="1">
                        <a:lnSpc>
                          <a:spcPct val="110000"/>
                        </a:lnSpc>
                        <a:spcAft>
                          <a:spcPts val="0"/>
                        </a:spcAft>
                        <a:buFont typeface="Wingdings" panose="05000000000000000000" pitchFamily="2" charset="2"/>
                        <a:buChar char=""/>
                      </a:pPr>
                      <a:r>
                        <a:rPr lang="ko-KR" altLang="ko-KR" sz="1000" dirty="0" smtClean="0">
                          <a:effectLst/>
                          <a:latin typeface="+mn-ea"/>
                          <a:ea typeface="+mn-ea"/>
                          <a:cs typeface="Times New Roman" panose="02020603050405020304" pitchFamily="18" charset="0"/>
                        </a:rPr>
                        <a:t>표준</a:t>
                      </a:r>
                      <a:r>
                        <a:rPr lang="en-US" altLang="ko-KR" sz="1000" dirty="0" smtClean="0">
                          <a:effectLst/>
                          <a:latin typeface="+mn-ea"/>
                          <a:ea typeface="+mn-ea"/>
                          <a:cs typeface="Times New Roman" panose="02020603050405020304" pitchFamily="18" charset="0"/>
                        </a:rPr>
                        <a:t> SHA</a:t>
                      </a:r>
                      <a:r>
                        <a:rPr lang="ko-KR" altLang="ko-KR" sz="1000" dirty="0" smtClean="0">
                          <a:effectLst/>
                          <a:latin typeface="+mn-ea"/>
                          <a:ea typeface="+mn-ea"/>
                          <a:cs typeface="Times New Roman" panose="02020603050405020304" pitchFamily="18" charset="0"/>
                        </a:rPr>
                        <a:t>에서는 실제 청약을 하는 주주가 어느 특정 주주인지</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전체 주주인지를 기준으로 구분하고</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전체 주주가 청약을 하고자 하는 경우 텍사스 슛 아웃 방법을 변형하여 규정하였음</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806450" lvl="2" indent="-179388" algn="l" latinLnBrk="1">
                        <a:lnSpc>
                          <a:spcPct val="110000"/>
                        </a:lnSpc>
                        <a:spcAft>
                          <a:spcPts val="0"/>
                        </a:spcAft>
                        <a:buFont typeface="Wingdings" panose="05000000000000000000" pitchFamily="2" charset="2"/>
                        <a:buChar char=""/>
                      </a:pPr>
                      <a:r>
                        <a:rPr lang="ko-KR" altLang="ko-KR" sz="1000" dirty="0" smtClean="0">
                          <a:effectLst/>
                          <a:latin typeface="+mn-ea"/>
                          <a:ea typeface="+mn-ea"/>
                          <a:cs typeface="Times New Roman" panose="02020603050405020304" pitchFamily="18" charset="0"/>
                        </a:rPr>
                        <a:t>이외 </a:t>
                      </a:r>
                      <a:r>
                        <a:rPr lang="ko-KR" altLang="ko-KR" sz="1000" dirty="0" err="1" smtClean="0">
                          <a:effectLst/>
                          <a:latin typeface="+mn-ea"/>
                          <a:ea typeface="+mn-ea"/>
                          <a:cs typeface="Times New Roman" panose="02020603050405020304" pitchFamily="18" charset="0"/>
                        </a:rPr>
                        <a:t>대상회사를</a:t>
                      </a:r>
                      <a:r>
                        <a:rPr lang="ko-KR" altLang="ko-KR" sz="1000" dirty="0" smtClean="0">
                          <a:effectLst/>
                          <a:latin typeface="+mn-ea"/>
                          <a:ea typeface="+mn-ea"/>
                          <a:cs typeface="Times New Roman" panose="02020603050405020304" pitchFamily="18" charset="0"/>
                        </a:rPr>
                        <a:t> 청산하여 합작관계를 해소하고 </a:t>
                      </a:r>
                      <a:r>
                        <a:rPr lang="ko-KR" altLang="ko-KR" sz="1000" dirty="0" err="1" smtClean="0">
                          <a:effectLst/>
                          <a:latin typeface="+mn-ea"/>
                          <a:ea typeface="+mn-ea"/>
                          <a:cs typeface="Times New Roman" panose="02020603050405020304" pitchFamily="18" charset="0"/>
                        </a:rPr>
                        <a:t>잔여재산을</a:t>
                      </a:r>
                      <a:r>
                        <a:rPr lang="ko-KR" altLang="ko-KR" sz="1000" dirty="0" smtClean="0">
                          <a:effectLst/>
                          <a:latin typeface="+mn-ea"/>
                          <a:ea typeface="+mn-ea"/>
                          <a:cs typeface="Times New Roman" panose="02020603050405020304" pitchFamily="18" charset="0"/>
                        </a:rPr>
                        <a:t> 분배하는 것도 고려할 수 있는 방안 중의 하나임</a:t>
                      </a:r>
                      <a:r>
                        <a:rPr lang="en-US" altLang="ko-KR" sz="1000" dirty="0" smtClean="0">
                          <a:effectLst/>
                          <a:latin typeface="+mn-ea"/>
                          <a:ea typeface="+mn-ea"/>
                          <a:cs typeface="Times New Roman" panose="02020603050405020304" pitchFamily="18" charset="0"/>
                        </a:rPr>
                        <a:t>.</a:t>
                      </a:r>
                    </a:p>
                    <a:p>
                      <a:pPr marL="914400" lvl="2" indent="0" algn="l" latinLnBrk="1">
                        <a:lnSpc>
                          <a:spcPct val="110000"/>
                        </a:lnSpc>
                        <a:spcAft>
                          <a:spcPts val="0"/>
                        </a:spcAft>
                        <a:buFont typeface="Wingdings" panose="05000000000000000000" pitchFamily="2" charset="2"/>
                        <a:buNone/>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대주주인 경우</a:t>
                      </a:r>
                      <a:r>
                        <a:rPr lang="en-US" altLang="ko-KR" sz="1000" dirty="0" smtClean="0">
                          <a:effectLst/>
                          <a:latin typeface="+mn-ea"/>
                          <a:ea typeface="+mn-ea"/>
                          <a:cs typeface="Times New Roman" panose="02020603050405020304" pitchFamily="18" charset="0"/>
                        </a:rPr>
                        <a:t>, Deadlock </a:t>
                      </a:r>
                      <a:r>
                        <a:rPr lang="ko-KR" altLang="ko-KR" sz="1000" dirty="0" smtClean="0">
                          <a:effectLst/>
                          <a:latin typeface="+mn-ea"/>
                          <a:ea typeface="+mn-ea"/>
                          <a:cs typeface="Times New Roman" panose="02020603050405020304" pitchFamily="18" charset="0"/>
                        </a:rPr>
                        <a:t>해소 방안으로</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특정 가격으로 소수주주의 주식을 매수할 수 있는</a:t>
                      </a:r>
                      <a:r>
                        <a:rPr lang="en-US" altLang="ko-KR" sz="1000" dirty="0" smtClean="0">
                          <a:effectLst/>
                          <a:latin typeface="+mn-ea"/>
                          <a:ea typeface="+mn-ea"/>
                          <a:cs typeface="Times New Roman" panose="02020603050405020304" pitchFamily="18" charset="0"/>
                        </a:rPr>
                        <a:t> Call Option</a:t>
                      </a:r>
                      <a:r>
                        <a:rPr lang="ko-KR" altLang="ko-KR" sz="1000" dirty="0" smtClean="0">
                          <a:effectLst/>
                          <a:latin typeface="+mn-ea"/>
                          <a:ea typeface="+mn-ea"/>
                          <a:cs typeface="Times New Roman" panose="02020603050405020304" pitchFamily="18" charset="0"/>
                        </a:rPr>
                        <a:t>을 갖는 것을 고려해볼 수 있음</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제</a:t>
                      </a:r>
                      <a:r>
                        <a:rPr lang="en-US" altLang="ko-KR" sz="1000" dirty="0" smtClean="0">
                          <a:effectLst/>
                          <a:latin typeface="+mn-ea"/>
                          <a:ea typeface="+mn-ea"/>
                          <a:cs typeface="Times New Roman" panose="02020603050405020304" pitchFamily="18" charset="0"/>
                        </a:rPr>
                        <a:t>3.7</a:t>
                      </a:r>
                      <a:r>
                        <a:rPr lang="ko-KR" altLang="ko-KR" sz="1000" dirty="0" smtClean="0">
                          <a:effectLst/>
                          <a:latin typeface="+mn-ea"/>
                          <a:ea typeface="+mn-ea"/>
                          <a:cs typeface="Times New Roman" panose="02020603050405020304" pitchFamily="18" charset="0"/>
                        </a:rPr>
                        <a:t>조 참고</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이때 행사가격은</a:t>
                      </a:r>
                      <a:r>
                        <a:rPr lang="en-US" altLang="ko-KR" sz="1000" dirty="0" smtClean="0">
                          <a:effectLst/>
                          <a:latin typeface="+mn-ea"/>
                          <a:ea typeface="+mn-ea"/>
                          <a:cs typeface="Times New Roman" panose="02020603050405020304" pitchFamily="18" charset="0"/>
                        </a:rPr>
                        <a:t> Market Value, </a:t>
                      </a:r>
                      <a:r>
                        <a:rPr lang="ko-KR" altLang="ko-KR" sz="1000" dirty="0" smtClean="0">
                          <a:effectLst/>
                          <a:latin typeface="+mn-ea"/>
                          <a:ea typeface="+mn-ea"/>
                          <a:cs typeface="Times New Roman" panose="02020603050405020304" pitchFamily="18" charset="0"/>
                        </a:rPr>
                        <a:t>또는</a:t>
                      </a:r>
                      <a:r>
                        <a:rPr lang="en-US" altLang="ko-KR" sz="1000" dirty="0" smtClean="0">
                          <a:effectLst/>
                          <a:latin typeface="+mn-ea"/>
                          <a:ea typeface="+mn-ea"/>
                          <a:cs typeface="Times New Roman" panose="02020603050405020304" pitchFamily="18" charset="0"/>
                        </a:rPr>
                        <a:t> Market Value</a:t>
                      </a:r>
                      <a:r>
                        <a:rPr lang="ko-KR" altLang="ko-KR" sz="1000" dirty="0" smtClean="0">
                          <a:effectLst/>
                          <a:latin typeface="+mn-ea"/>
                          <a:ea typeface="+mn-ea"/>
                          <a:cs typeface="Times New Roman" panose="02020603050405020304" pitchFamily="18" charset="0"/>
                        </a:rPr>
                        <a:t>에 일정 수익을 더한 금액</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또는 당사자들이 미리 정한</a:t>
                      </a:r>
                      <a:r>
                        <a:rPr lang="en-US" altLang="ko-KR" sz="1000" dirty="0" smtClean="0">
                          <a:effectLst/>
                          <a:latin typeface="+mn-ea"/>
                          <a:ea typeface="+mn-ea"/>
                          <a:cs typeface="Times New Roman" panose="02020603050405020304" pitchFamily="18" charset="0"/>
                        </a:rPr>
                        <a:t> formula</a:t>
                      </a:r>
                      <a:r>
                        <a:rPr lang="ko-KR" altLang="ko-KR" sz="1000" dirty="0" smtClean="0">
                          <a:effectLst/>
                          <a:latin typeface="+mn-ea"/>
                          <a:ea typeface="+mn-ea"/>
                          <a:cs typeface="Times New Roman" panose="02020603050405020304" pitchFamily="18" charset="0"/>
                        </a:rPr>
                        <a:t>에 의해 결정되는 금액 등을 고려할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a:t>
                      </a:r>
                      <a:r>
                        <a:rPr lang="ko-KR" altLang="ko-KR" sz="1000" dirty="0" err="1" smtClean="0">
                          <a:effectLst/>
                          <a:latin typeface="+mn-ea"/>
                          <a:ea typeface="+mn-ea"/>
                          <a:cs typeface="Times New Roman" panose="02020603050405020304" pitchFamily="18" charset="0"/>
                        </a:rPr>
                        <a:t>소수주주인</a:t>
                      </a:r>
                      <a:r>
                        <a:rPr lang="ko-KR" altLang="ko-KR" sz="1000" dirty="0" smtClean="0">
                          <a:effectLst/>
                          <a:latin typeface="+mn-ea"/>
                          <a:ea typeface="+mn-ea"/>
                          <a:cs typeface="Times New Roman" panose="02020603050405020304" pitchFamily="18" charset="0"/>
                        </a:rPr>
                        <a:t>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반대로 대주주에 대한</a:t>
                      </a:r>
                      <a:r>
                        <a:rPr lang="en-US" altLang="ko-KR" sz="1000" dirty="0" smtClean="0">
                          <a:effectLst/>
                          <a:latin typeface="+mn-ea"/>
                          <a:ea typeface="+mn-ea"/>
                          <a:cs typeface="Times New Roman" panose="02020603050405020304" pitchFamily="18" charset="0"/>
                        </a:rPr>
                        <a:t> Put Option</a:t>
                      </a:r>
                      <a:r>
                        <a:rPr lang="ko-KR" altLang="ko-KR" sz="1000" dirty="0" smtClean="0">
                          <a:effectLst/>
                          <a:latin typeface="+mn-ea"/>
                          <a:ea typeface="+mn-ea"/>
                          <a:cs typeface="Times New Roman" panose="02020603050405020304" pitchFamily="18" charset="0"/>
                        </a:rPr>
                        <a:t>을 갖는 것을 고려해볼 수 있음</a:t>
                      </a:r>
                      <a:r>
                        <a:rPr lang="en-US" altLang="ko-KR" sz="1000" dirty="0" smtClean="0">
                          <a:effectLst/>
                          <a:latin typeface="+mn-ea"/>
                          <a:ea typeface="+mn-ea"/>
                          <a:cs typeface="Times New Roman" panose="02020603050405020304" pitchFamily="18" charset="0"/>
                        </a:rPr>
                        <a:t>. Put </a:t>
                      </a:r>
                      <a:r>
                        <a:rPr lang="ko-KR" altLang="ko-KR" sz="1000" dirty="0" smtClean="0">
                          <a:effectLst/>
                          <a:latin typeface="+mn-ea"/>
                          <a:ea typeface="+mn-ea"/>
                          <a:cs typeface="Times New Roman" panose="02020603050405020304" pitchFamily="18" charset="0"/>
                        </a:rPr>
                        <a:t>행사가격을 결정할 때</a:t>
                      </a:r>
                      <a:r>
                        <a:rPr lang="en-US" altLang="ko-KR" sz="1000" dirty="0" smtClean="0">
                          <a:effectLst/>
                          <a:latin typeface="+mn-ea"/>
                          <a:ea typeface="+mn-ea"/>
                          <a:cs typeface="Times New Roman" panose="02020603050405020304" pitchFamily="18" charset="0"/>
                        </a:rPr>
                        <a:t> Market Value</a:t>
                      </a:r>
                      <a:r>
                        <a:rPr lang="ko-KR" altLang="ko-KR" sz="1000" dirty="0" smtClean="0">
                          <a:effectLst/>
                          <a:latin typeface="+mn-ea"/>
                          <a:ea typeface="+mn-ea"/>
                          <a:cs typeface="Times New Roman" panose="02020603050405020304" pitchFamily="18" charset="0"/>
                        </a:rPr>
                        <a:t>가</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투자원금보다 작아지는 경우를 대비하여</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아래 예시와 같이 이런 경우</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투자원금</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또는 이에 일정한 이자를 가산한 금액</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을 행사가격으로 하도록 하는 것을 고려해볼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 참조</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5591422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7.  Deadlock </a:t>
            </a:r>
            <a:r>
              <a:rPr lang="en-US" altLang="ko-KR" dirty="0" smtClean="0"/>
              <a:t>Resolution </a:t>
            </a:r>
            <a:r>
              <a:rPr lang="en-US" altLang="ko-KR" dirty="0" smtClean="0">
                <a:solidFill>
                  <a:schemeClr val="tx1"/>
                </a:solidFill>
                <a:latin typeface="+mn-ea"/>
              </a:rPr>
              <a:t>(2)</a:t>
            </a:r>
            <a:endParaRPr lang="ko-KR" altLang="ko-KR" dirty="0"/>
          </a:p>
        </p:txBody>
      </p:sp>
      <p:graphicFrame>
        <p:nvGraphicFramePr>
          <p:cNvPr id="10" name="표 9"/>
          <p:cNvGraphicFramePr>
            <a:graphicFrameLocks noGrp="1"/>
          </p:cNvGraphicFramePr>
          <p:nvPr>
            <p:extLst>
              <p:ext uri="{D42A27DB-BD31-4B8C-83A1-F6EECF244321}">
                <p14:modId xmlns:p14="http://schemas.microsoft.com/office/powerpoint/2010/main" val="3194855791"/>
              </p:ext>
            </p:extLst>
          </p:nvPr>
        </p:nvGraphicFramePr>
        <p:xfrm>
          <a:off x="439738" y="1043675"/>
          <a:ext cx="9188450" cy="4663330"/>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63330">
                <a:tc>
                  <a:txBody>
                    <a:bodyPr/>
                    <a:lstStyle/>
                    <a:p>
                      <a:pPr algn="ctr" latinLnBrk="1">
                        <a:lnSpc>
                          <a:spcPct val="100000"/>
                        </a:lnSpc>
                        <a:spcAft>
                          <a:spcPts val="200"/>
                        </a:spcAft>
                      </a:pPr>
                      <a:r>
                        <a:rPr lang="ko-KR" sz="1000" b="1" dirty="0">
                          <a:effectLst/>
                          <a:latin typeface="+mn-ea"/>
                          <a:ea typeface="+mn-ea"/>
                          <a:cs typeface="Times New Roman" panose="02020603050405020304" pitchFamily="18" charset="0"/>
                        </a:rPr>
                        <a:t>표준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00000"/>
                        </a:lnSpc>
                        <a:spcAft>
                          <a:spcPts val="200"/>
                        </a:spcAft>
                      </a:pPr>
                      <a:r>
                        <a:rPr lang="en-US" altLang="ko-KR" sz="1000" dirty="0" smtClean="0">
                          <a:effectLst/>
                          <a:latin typeface="+mn-ea"/>
                          <a:ea typeface="+mn-ea"/>
                          <a:cs typeface="Times New Roman" panose="02020603050405020304" pitchFamily="18" charset="0"/>
                        </a:rPr>
                        <a:t>2.12  </a:t>
                      </a:r>
                      <a:r>
                        <a:rPr lang="en-US" altLang="ko-KR" sz="1000" u="sng" dirty="0" smtClean="0">
                          <a:effectLst/>
                          <a:latin typeface="+mn-ea"/>
                          <a:ea typeface="+mn-ea"/>
                          <a:cs typeface="Times New Roman" panose="02020603050405020304" pitchFamily="18" charset="0"/>
                        </a:rPr>
                        <a:t>Deadlock.</a:t>
                      </a:r>
                    </a:p>
                    <a:p>
                      <a:pPr algn="just" latinLnBrk="1">
                        <a:lnSpc>
                          <a:spcPct val="100000"/>
                        </a:lnSpc>
                        <a:spcAft>
                          <a:spcPts val="200"/>
                        </a:spcAft>
                      </a:pPr>
                      <a:endParaRPr lang="en-US" altLang="ko-KR" sz="1000" u="sng" dirty="0" smtClean="0">
                        <a:effectLst/>
                        <a:latin typeface="+mn-ea"/>
                        <a:ea typeface="+mn-ea"/>
                        <a:cs typeface="Times New Roman" panose="02020603050405020304" pitchFamily="18" charset="0"/>
                      </a:endParaRPr>
                    </a:p>
                    <a:p>
                      <a:pPr marL="228600" lvl="0" indent="-228600" algn="just" defTabSz="914400" rtl="0" eaLnBrk="1" latinLnBrk="1" hangingPunct="1">
                        <a:lnSpc>
                          <a:spcPct val="100000"/>
                        </a:lnSpc>
                        <a:spcAft>
                          <a:spcPts val="200"/>
                        </a:spcAft>
                        <a:buFont typeface="+mj-lt"/>
                        <a:buAutoNum type="alphaLcParenBoth" startAt="2"/>
                      </a:pPr>
                      <a:r>
                        <a:rPr lang="en-US" altLang="ko-KR" sz="1000" kern="1200" dirty="0" smtClean="0">
                          <a:solidFill>
                            <a:schemeClr val="tx1"/>
                          </a:solidFill>
                          <a:effectLst/>
                          <a:latin typeface="+mn-ea"/>
                          <a:ea typeface="+mn-ea"/>
                          <a:cs typeface="Times New Roman" panose="02020603050405020304" pitchFamily="18" charset="0"/>
                        </a:rPr>
                        <a:t>The Shareholders will negotiate in good faith to resolve the Deadlock relating to the Subject Deadlock Matter; provided, however, that, if the Deadlock is unresolved, then, within twenty (20) days from the date of the receipt of the Deadlock Notice by the other Shareholder, each of the Shareholder shall submit in writing to the Deadlock Resolution Committee a summary of the differences between the Shareholders with respect to the Subject Deadlock Matter. The Shareholders shall cause its designees on the Deadlock Resolution Committee to use their best efforts to negotiate in good faith to resolve the Deadlock with respect to the Subject Deadlock Matter.</a:t>
                      </a:r>
                    </a:p>
                    <a:p>
                      <a:pPr marL="228600" lvl="0" indent="-228600" algn="just" defTabSz="914400" rtl="0" eaLnBrk="1" latinLnBrk="1" hangingPunct="1">
                        <a:lnSpc>
                          <a:spcPct val="100000"/>
                        </a:lnSpc>
                        <a:spcAft>
                          <a:spcPts val="200"/>
                        </a:spcAft>
                        <a:buFont typeface="+mj-lt"/>
                        <a:buAutoNum type="alphaLcParenBoth" startAt="2"/>
                      </a:pPr>
                      <a:endParaRPr lang="en-US" altLang="ko-KR" sz="1000" kern="1200" dirty="0" smtClean="0">
                        <a:solidFill>
                          <a:schemeClr val="tx1"/>
                        </a:solidFill>
                        <a:effectLst/>
                        <a:latin typeface="+mn-ea"/>
                        <a:ea typeface="+mn-ea"/>
                        <a:cs typeface="Times New Roman" panose="02020603050405020304" pitchFamily="18" charset="0"/>
                      </a:endParaRPr>
                    </a:p>
                    <a:p>
                      <a:pPr marL="447675" lvl="0" indent="-252413" algn="just">
                        <a:lnSpc>
                          <a:spcPct val="100000"/>
                        </a:lnSpc>
                        <a:spcAft>
                          <a:spcPts val="200"/>
                        </a:spcAft>
                        <a:buFont typeface="+mj-lt"/>
                        <a:buAutoNum type="romanLcParenBoth"/>
                      </a:pPr>
                      <a:r>
                        <a:rPr lang="en-US" altLang="ko-KR" sz="1000" dirty="0" smtClean="0">
                          <a:effectLst/>
                          <a:latin typeface="+mn-ea"/>
                          <a:ea typeface="+mn-ea"/>
                          <a:cs typeface="Times New Roman" panose="02020603050405020304" pitchFamily="18" charset="0"/>
                        </a:rPr>
                        <a:t>The Deadlock Resolution Committee shall have two (2) members and shall be initially comprised of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(or his or her successor, as designated by LG H&amp;H, if any, at the time of the relevant Deadlock) and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(or his or her successor, as designated by Other Shareholder, if any, at the time of the relevant Deadlock);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each Shareholder may, at any time, in its sole discretion, designate a different senior executive as its designee on the Deadlock Resolution Committee. </a:t>
                      </a:r>
                      <a:endParaRPr lang="ko-KR" altLang="ko-KR" sz="1000" dirty="0" smtClean="0">
                        <a:effectLst/>
                        <a:latin typeface="+mn-ea"/>
                        <a:ea typeface="+mn-ea"/>
                        <a:cs typeface="Times New Roman" panose="02020603050405020304" pitchFamily="18" charset="0"/>
                      </a:endParaRPr>
                    </a:p>
                    <a:p>
                      <a:pPr marL="447675" lvl="0" indent="-252413" algn="just" defTabSz="914400" rtl="0" eaLnBrk="1" latinLnBrk="1" hangingPunct="1">
                        <a:lnSpc>
                          <a:spcPct val="100000"/>
                        </a:lnSpc>
                        <a:spcAft>
                          <a:spcPts val="200"/>
                        </a:spcAft>
                        <a:buFont typeface="+mj-lt"/>
                        <a:buAutoNum type="romanLcParenBoth"/>
                      </a:pPr>
                      <a:r>
                        <a:rPr lang="en-US" altLang="ko-KR" sz="1000" kern="1200" dirty="0" smtClean="0">
                          <a:solidFill>
                            <a:schemeClr val="tx1"/>
                          </a:solidFill>
                          <a:effectLst/>
                          <a:latin typeface="+mn-ea"/>
                          <a:ea typeface="+mn-ea"/>
                          <a:cs typeface="Times New Roman" panose="02020603050405020304" pitchFamily="18" charset="0"/>
                        </a:rPr>
                        <a:t>Upon resolution of the Deadlock by the Deadlock Resolution Committee with respect to the Subject Deadlock Matter within forty (40) days after receipt of the Deadlock Notice (the “Deadlock Resolution Period”), each Shareholder shall cause the Directors it has nominated to follow and carry out the decision, if any, of the Deadlock Resolution Committee.</a:t>
                      </a:r>
                    </a:p>
                    <a:p>
                      <a:pPr marL="228600" lvl="0" indent="-228600" algn="just" defTabSz="914400" rtl="0" eaLnBrk="1" latinLnBrk="1" hangingPunct="1">
                        <a:lnSpc>
                          <a:spcPct val="100000"/>
                        </a:lnSpc>
                        <a:spcAft>
                          <a:spcPts val="200"/>
                        </a:spcAft>
                        <a:buFont typeface="+mj-lt"/>
                        <a:buAutoNum type="alphaLcParenBoth" startAt="2"/>
                      </a:pPr>
                      <a:endParaRPr lang="en-US" altLang="ko-KR" sz="1000" kern="1200" dirty="0" smtClean="0">
                        <a:solidFill>
                          <a:schemeClr val="tx1"/>
                        </a:solidFill>
                        <a:effectLst/>
                        <a:latin typeface="+mn-ea"/>
                        <a:ea typeface="+mn-ea"/>
                        <a:cs typeface="Times New Roman" panose="02020603050405020304" pitchFamily="18" charset="0"/>
                      </a:endParaRPr>
                    </a:p>
                    <a:p>
                      <a:pPr marL="228600" lvl="0" indent="-228600" algn="just" defTabSz="914400" rtl="0" eaLnBrk="1" latinLnBrk="1" hangingPunct="1">
                        <a:lnSpc>
                          <a:spcPct val="100000"/>
                        </a:lnSpc>
                        <a:spcAft>
                          <a:spcPts val="200"/>
                        </a:spcAft>
                        <a:buFont typeface="+mj-lt"/>
                        <a:buAutoNum type="alphaLcParenBoth" startAt="3"/>
                      </a:pPr>
                      <a:r>
                        <a:rPr lang="en-US" altLang="ko-KR" sz="1000" kern="1200" dirty="0" smtClean="0">
                          <a:solidFill>
                            <a:schemeClr val="tx1"/>
                          </a:solidFill>
                          <a:effectLst/>
                          <a:latin typeface="+mn-ea"/>
                          <a:ea typeface="+mn-ea"/>
                          <a:cs typeface="Times New Roman" panose="02020603050405020304" pitchFamily="18" charset="0"/>
                        </a:rPr>
                        <a:t>In the event the Deadlock Resolution Committee is unable to resolve the Deadlock with respect to the Subject Deadlock Matter within the Deadlock Resolution Period, the Proposing Shareholder may, within fifty-five (55) days after receipt of the Deadlock Notice, by written notice to the other Shareholder (the “Trigger Notice”) invoke the procedure set forth in this </a:t>
                      </a:r>
                      <a:r>
                        <a:rPr lang="en-US" altLang="ko-KR" sz="1000" u="sng" kern="1200" dirty="0" smtClean="0">
                          <a:solidFill>
                            <a:schemeClr val="tx1"/>
                          </a:solidFill>
                          <a:effectLst/>
                          <a:latin typeface="+mn-ea"/>
                          <a:ea typeface="+mn-ea"/>
                          <a:cs typeface="Times New Roman" panose="02020603050405020304" pitchFamily="18" charset="0"/>
                        </a:rPr>
                        <a:t>Section 2.12(c)</a:t>
                      </a:r>
                      <a:r>
                        <a:rPr lang="en-US" altLang="ko-KR" sz="1000" kern="1200" dirty="0" smtClean="0">
                          <a:solidFill>
                            <a:schemeClr val="tx1"/>
                          </a:solidFill>
                          <a:effectLst/>
                          <a:latin typeface="+mn-ea"/>
                          <a:ea typeface="+mn-ea"/>
                          <a:cs typeface="Times New Roman" panose="02020603050405020304" pitchFamily="18" charset="0"/>
                        </a:rPr>
                        <a:t> (the “Deadlock Procedure”); provided, however, that, if the Proposing Shareholder does not send the Trigger Notice within fifty-five (55) days after receipt of the Deadlock Notice, the Proposing Shareholder shall not be entitled to any further rights under this </a:t>
                      </a:r>
                      <a:r>
                        <a:rPr lang="en-US" altLang="ko-KR" sz="1000" u="sng" kern="1200" dirty="0" smtClean="0">
                          <a:solidFill>
                            <a:schemeClr val="tx1"/>
                          </a:solidFill>
                          <a:effectLst/>
                          <a:latin typeface="+mn-ea"/>
                          <a:ea typeface="+mn-ea"/>
                          <a:cs typeface="Times New Roman" panose="02020603050405020304" pitchFamily="18" charset="0"/>
                        </a:rPr>
                        <a:t>Section 2.12</a:t>
                      </a:r>
                      <a:r>
                        <a:rPr lang="en-US" altLang="ko-KR" sz="1000" kern="1200" dirty="0" smtClean="0">
                          <a:solidFill>
                            <a:schemeClr val="tx1"/>
                          </a:solidFill>
                          <a:effectLst/>
                          <a:latin typeface="+mn-ea"/>
                          <a:ea typeface="+mn-ea"/>
                          <a:cs typeface="Times New Roman" panose="02020603050405020304" pitchFamily="18" charset="0"/>
                        </a:rPr>
                        <a:t>, including the right to invoke the Deadlock Procedure, with respect to the Subject Deadlock Matter and, subject to </a:t>
                      </a:r>
                      <a:r>
                        <a:rPr lang="en-US" altLang="ko-KR" sz="1000" u="sng" kern="1200" dirty="0" smtClean="0">
                          <a:solidFill>
                            <a:schemeClr val="tx1"/>
                          </a:solidFill>
                          <a:effectLst/>
                          <a:latin typeface="+mn-ea"/>
                          <a:ea typeface="+mn-ea"/>
                          <a:cs typeface="Times New Roman" panose="02020603050405020304" pitchFamily="18" charset="0"/>
                        </a:rPr>
                        <a:t>Section 2.11</a:t>
                      </a:r>
                      <a:r>
                        <a:rPr lang="en-US" altLang="ko-KR" sz="1000" kern="1200" dirty="0" smtClean="0">
                          <a:solidFill>
                            <a:schemeClr val="tx1"/>
                          </a:solidFill>
                          <a:effectLst/>
                          <a:latin typeface="+mn-ea"/>
                          <a:ea typeface="+mn-ea"/>
                          <a:cs typeface="Times New Roman" panose="02020603050405020304" pitchFamily="18" charset="0"/>
                        </a:rPr>
                        <a:t>, the Subject Deadlock Matter will be deemed to be unapproved by the Board of Directors of the shareholders of the Company, as applicable:</a:t>
                      </a:r>
                    </a:p>
                    <a:p>
                      <a:pPr algn="just" latinLnBrk="1">
                        <a:lnSpc>
                          <a:spcPct val="100000"/>
                        </a:lnSpc>
                        <a:spcAft>
                          <a:spcPts val="200"/>
                        </a:spcAft>
                      </a:pPr>
                      <a:endParaRPr lang="en-US" altLang="ko-KR" sz="1000" kern="1200" dirty="0" smtClean="0">
                        <a:solidFill>
                          <a:schemeClr val="tx1"/>
                        </a:solidFill>
                        <a:effectLst/>
                        <a:latin typeface="+mn-ea"/>
                        <a:ea typeface="+mn-ea"/>
                        <a:cs typeface="Times New Roman" panose="02020603050405020304" pitchFamily="18" charset="0"/>
                      </a:endParaRPr>
                    </a:p>
                    <a:p>
                      <a:pPr marL="447675" lvl="0" indent="-252413" algn="just" defTabSz="914400" rtl="0" eaLnBrk="1" latinLnBrk="1" hangingPunct="1">
                        <a:lnSpc>
                          <a:spcPct val="100000"/>
                        </a:lnSpc>
                        <a:spcAft>
                          <a:spcPts val="200"/>
                        </a:spcAft>
                        <a:buFont typeface="+mj-lt"/>
                        <a:buAutoNum type="romanLcParenBoth"/>
                      </a:pPr>
                      <a:r>
                        <a:rPr lang="en-US" altLang="ko-KR" sz="1000" kern="1200" dirty="0" smtClean="0">
                          <a:solidFill>
                            <a:schemeClr val="tx1"/>
                          </a:solidFill>
                          <a:effectLst/>
                          <a:latin typeface="+mn-ea"/>
                          <a:ea typeface="+mn-ea"/>
                          <a:cs typeface="Times New Roman" panose="02020603050405020304" pitchFamily="18" charset="0"/>
                        </a:rPr>
                        <a:t>On the fifth Business Day after the receipt of the Trigger Notice (the “Declaration Date”), the Shareholders shall meet in person and simultaneously exchange their written proposals in which each Shareholder shall indicate whether it will purchase all, but not less than all, the Shares owned by the other Shareholder or sell all, but not less than all, its Shares to the other Shareholder.</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15554183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7.  Deadlock </a:t>
            </a:r>
            <a:r>
              <a:rPr lang="en-US" altLang="ko-KR" dirty="0" smtClean="0"/>
              <a:t>Resolution </a:t>
            </a:r>
            <a:r>
              <a:rPr lang="en-US" altLang="ko-KR" dirty="0" smtClean="0">
                <a:solidFill>
                  <a:schemeClr val="tx1"/>
                </a:solidFill>
                <a:latin typeface="+mn-ea"/>
              </a:rPr>
              <a:t>(3)</a:t>
            </a:r>
            <a:endParaRPr lang="ko-KR" altLang="ko-KR" dirty="0"/>
          </a:p>
        </p:txBody>
      </p:sp>
      <p:graphicFrame>
        <p:nvGraphicFramePr>
          <p:cNvPr id="10" name="표 9"/>
          <p:cNvGraphicFramePr>
            <a:graphicFrameLocks noGrp="1"/>
          </p:cNvGraphicFramePr>
          <p:nvPr>
            <p:extLst>
              <p:ext uri="{D42A27DB-BD31-4B8C-83A1-F6EECF244321}">
                <p14:modId xmlns:p14="http://schemas.microsoft.com/office/powerpoint/2010/main" val="4086263650"/>
              </p:ext>
            </p:extLst>
          </p:nvPr>
        </p:nvGraphicFramePr>
        <p:xfrm>
          <a:off x="439738" y="1043676"/>
          <a:ext cx="9188450" cy="5142909"/>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142909">
                <a:tc>
                  <a:txBody>
                    <a:bodyPr/>
                    <a:lstStyle/>
                    <a:p>
                      <a:pPr algn="ctr" latinLnBrk="1">
                        <a:lnSpc>
                          <a:spcPct val="115000"/>
                        </a:lnSpc>
                        <a:spcAft>
                          <a:spcPts val="600"/>
                        </a:spcAft>
                      </a:pPr>
                      <a:r>
                        <a:rPr lang="ko-KR" sz="1000" b="1" dirty="0">
                          <a:effectLst/>
                          <a:latin typeface="+mn-ea"/>
                          <a:ea typeface="+mn-ea"/>
                          <a:cs typeface="Times New Roman" panose="02020603050405020304" pitchFamily="18" charset="0"/>
                        </a:rPr>
                        <a:t>표준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58775" lvl="0" indent="-179388" algn="just">
                        <a:lnSpc>
                          <a:spcPct val="115000"/>
                        </a:lnSpc>
                        <a:spcAft>
                          <a:spcPts val="600"/>
                        </a:spcAft>
                        <a:buFont typeface="+mj-lt"/>
                        <a:buAutoNum type="alphaUcPeriod"/>
                      </a:pPr>
                      <a:r>
                        <a:rPr lang="en-US" altLang="ko-KR" sz="1000" dirty="0" smtClean="0">
                          <a:effectLst/>
                          <a:latin typeface="+mn-ea"/>
                          <a:ea typeface="+mn-ea"/>
                          <a:cs typeface="Times New Roman" panose="02020603050405020304" pitchFamily="18" charset="0"/>
                        </a:rPr>
                        <a:t>In the event that one Shareholder indicates that it will purchase all, but not less than all, the Shares owned by the other Shareholder and the other Shareholder indicates that it will sell all, but not less than all, its Shares to the other Shareholder, the Shareholders shall endeavor to reach an agreement on the terms and conditions of such purchase and sale.  If the Shareholders are unable to reach an agreement on such terms and conditions, within thirty (30) days after the Declaration Date, the selling Shareholder shall sell all its Shares to the purchasing Shareholder </a:t>
                      </a:r>
                      <a:r>
                        <a:rPr lang="en-US" altLang="ko-KR" sz="1000" spc="-15" dirty="0" smtClean="0">
                          <a:effectLst/>
                          <a:latin typeface="+mn-ea"/>
                          <a:ea typeface="+mn-ea"/>
                          <a:cs typeface="Times New Roman" panose="02020603050405020304" pitchFamily="18" charset="0"/>
                        </a:rPr>
                        <a:t>for a purchase price equal to the Shareholder’s Market Value of such Shares as determined in accordance with </a:t>
                      </a:r>
                      <a:r>
                        <a:rPr lang="en-US" altLang="ko-KR" sz="1000" u="sng" spc="-15" dirty="0" smtClean="0">
                          <a:effectLst/>
                          <a:latin typeface="+mn-ea"/>
                          <a:ea typeface="+mn-ea"/>
                          <a:cs typeface="Times New Roman" panose="02020603050405020304" pitchFamily="18" charset="0"/>
                        </a:rPr>
                        <a:t>Section 7.3(c)</a:t>
                      </a:r>
                      <a:r>
                        <a:rPr lang="en-US" altLang="ko-KR" sz="1000" dirty="0" smtClean="0">
                          <a:effectLst/>
                          <a:latin typeface="+mn-ea"/>
                          <a:ea typeface="+mn-ea"/>
                          <a:cs typeface="Times New Roman" panose="02020603050405020304" pitchFamily="18" charset="0"/>
                        </a:rPr>
                        <a:t>. </a:t>
                      </a:r>
                    </a:p>
                    <a:p>
                      <a:pPr marL="342900" lvl="0" indent="-163513" algn="just">
                        <a:lnSpc>
                          <a:spcPct val="115000"/>
                        </a:lnSpc>
                        <a:spcAft>
                          <a:spcPts val="600"/>
                        </a:spcAft>
                        <a:buFont typeface="+mj-lt"/>
                        <a:buAutoNum type="alphaUcPeriod"/>
                      </a:pPr>
                      <a:r>
                        <a:rPr lang="en-US" altLang="ko-KR" sz="1000" dirty="0" smtClean="0">
                          <a:effectLst/>
                          <a:latin typeface="+mn-ea"/>
                          <a:ea typeface="+mn-ea"/>
                          <a:cs typeface="Times New Roman" panose="02020603050405020304" pitchFamily="18" charset="0"/>
                        </a:rPr>
                        <a:t>In the event, each Shareholder indicates that it will purchase all, but not less than all, the Shares owned by the other Shareholder, within five (5) Business Day after the receipt of the Declaration Date, the Shareholders shall exchange their written proposals for the price per Share at which such Shareholder is willing to purchase all of the other Shareholder’s Shares (each, a “</a:t>
                      </a:r>
                      <a:r>
                        <a:rPr lang="en-US" altLang="ko-KR" sz="1000" u="sng" dirty="0" smtClean="0">
                          <a:effectLst/>
                          <a:latin typeface="+mn-ea"/>
                          <a:ea typeface="+mn-ea"/>
                          <a:cs typeface="Times New Roman" panose="02020603050405020304" pitchFamily="18" charset="0"/>
                        </a:rPr>
                        <a:t>Bid</a:t>
                      </a:r>
                      <a:r>
                        <a:rPr lang="en-US" altLang="ko-KR" sz="1000" dirty="0" smtClean="0">
                          <a:effectLst/>
                          <a:latin typeface="+mn-ea"/>
                          <a:ea typeface="+mn-ea"/>
                          <a:cs typeface="Times New Roman" panose="02020603050405020304" pitchFamily="18" charset="0"/>
                        </a:rPr>
                        <a:t>”).  The Shareholder, which has proposed the lower price, shall be entitled at any time within the seven (7) days after receipt of such Bid to submit a counter-bid in an amount not less than 105% of the higher price (each a “</a:t>
                      </a:r>
                      <a:r>
                        <a:rPr lang="en-US" altLang="ko-KR" sz="1000" u="sng" dirty="0" smtClean="0">
                          <a:effectLst/>
                          <a:latin typeface="+mn-ea"/>
                          <a:ea typeface="+mn-ea"/>
                          <a:cs typeface="Times New Roman" panose="02020603050405020304" pitchFamily="18" charset="0"/>
                        </a:rPr>
                        <a:t>Counter-Bid</a:t>
                      </a:r>
                      <a:r>
                        <a:rPr lang="en-US" altLang="ko-KR" sz="1000" dirty="0" smtClean="0">
                          <a:effectLst/>
                          <a:latin typeface="+mn-ea"/>
                          <a:ea typeface="+mn-ea"/>
                          <a:cs typeface="Times New Roman" panose="02020603050405020304" pitchFamily="18" charset="0"/>
                        </a:rPr>
                        <a:t>”).  Thereafter, the Shareholder receiving such Counter-Bid may submit its Counter-Bid based on the price set forth in the other Shareholder’s Counter-Bid, and such Counter-Bidding procedure may continue until one Shareholder fails to submit a Counter-Bid against the price set forth in the last Counter-Bid submitted by the other Shareholder within the seven (7) day period following its receipt of such last Counter-Bid, whereupon the price set forth in the last Bid shall be deemed the winning Bid.  The Shareholder, which submitted the winning Bid, shall be obligated to purchase all, but not less than all, the Shares owned by the other Shareholder, and the other Shareholder shall be obligated to sell all, but not less than all, the Shares owned such Shareholder at the price set forth in the winning Bid.  The Shareholders may, pursuant to a mutual agreement, jointly appoint an auditor (or other such person as they may agree) to independently supervise the bidding procedure for the sale of the Shares under </a:t>
                      </a:r>
                      <a:r>
                        <a:rPr lang="en-US" altLang="ko-KR" sz="1000" u="sng" dirty="0" smtClean="0">
                          <a:effectLst/>
                          <a:latin typeface="+mn-ea"/>
                          <a:ea typeface="+mn-ea"/>
                          <a:cs typeface="Times New Roman" panose="02020603050405020304" pitchFamily="18" charset="0"/>
                        </a:rPr>
                        <a:t>Section 2.12(c)(</a:t>
                      </a:r>
                      <a:r>
                        <a:rPr lang="en-US" altLang="ko-KR" sz="1000" u="sng" dirty="0" err="1" smtClean="0">
                          <a:effectLst/>
                          <a:latin typeface="+mn-ea"/>
                          <a:ea typeface="+mn-ea"/>
                          <a:cs typeface="Times New Roman" panose="02020603050405020304" pitchFamily="18" charset="0"/>
                        </a:rPr>
                        <a:t>i</a:t>
                      </a:r>
                      <a:r>
                        <a:rPr lang="en-US" altLang="ko-KR" sz="1000" u="sng" dirty="0" smtClean="0">
                          <a:effectLst/>
                          <a:latin typeface="+mn-ea"/>
                          <a:ea typeface="+mn-ea"/>
                          <a:cs typeface="Times New Roman" panose="02020603050405020304" pitchFamily="18" charset="0"/>
                        </a:rPr>
                        <a:t>)(B)</a:t>
                      </a:r>
                      <a:r>
                        <a:rPr lang="en-US" altLang="ko-KR" sz="1000" dirty="0" smtClean="0">
                          <a:effectLst/>
                          <a:latin typeface="+mn-ea"/>
                          <a:ea typeface="+mn-ea"/>
                          <a:cs typeface="Times New Roman" panose="02020603050405020304" pitchFamily="18" charset="0"/>
                        </a:rPr>
                        <a:t> (the “</a:t>
                      </a:r>
                      <a:r>
                        <a:rPr lang="en-US" altLang="ko-KR" sz="1000" u="sng" dirty="0" smtClean="0">
                          <a:effectLst/>
                          <a:latin typeface="+mn-ea"/>
                          <a:ea typeface="+mn-ea"/>
                          <a:cs typeface="Times New Roman" panose="02020603050405020304" pitchFamily="18" charset="0"/>
                        </a:rPr>
                        <a:t>Bidding Supervisor</a:t>
                      </a:r>
                      <a:r>
                        <a:rPr lang="en-US" altLang="ko-KR" sz="1000" dirty="0" smtClean="0">
                          <a:effectLst/>
                          <a:latin typeface="+mn-ea"/>
                          <a:ea typeface="+mn-ea"/>
                          <a:cs typeface="Times New Roman" panose="02020603050405020304" pitchFamily="18" charset="0"/>
                        </a:rPr>
                        <a:t>”), in which case each Bid shall be delivered to the Bidding Supervisor.  The Bidding Supervisor’s determination of the winning Bid shall (in the absence of fraud or manifest error) be binding on both Shareholders.  The costs of appointing the Bidding Supervisor shall be borne equally by the Shareholders.</a:t>
                      </a:r>
                    </a:p>
                    <a:p>
                      <a:pPr marL="342900" lvl="0" indent="-163513" algn="just">
                        <a:lnSpc>
                          <a:spcPct val="115000"/>
                        </a:lnSpc>
                        <a:spcAft>
                          <a:spcPts val="600"/>
                        </a:spcAft>
                        <a:buFont typeface="+mj-lt"/>
                        <a:buAutoNum type="alphaUcPeriod"/>
                      </a:pPr>
                      <a:r>
                        <a:rPr lang="en-US" altLang="ko-KR" sz="1000" dirty="0" smtClean="0">
                          <a:effectLst/>
                          <a:latin typeface="+mn-ea"/>
                          <a:ea typeface="+mn-ea"/>
                          <a:cs typeface="Times New Roman" panose="02020603050405020304" pitchFamily="18" charset="0"/>
                        </a:rPr>
                        <a:t>In the event that each Shareholder indicates that it will sell all, but not less than all, the Shares owned by such Shareholder, the Shareholders shall endeavor within a period of six (6) months from the date of the Declaration Date to find a buyer or buyers to purchase all the Shares held by each Shareholder in one single transaction upon terms and conditions acceptable to the Shareholders.  To the extent the Shareholders fail to consummate the sale of all their Shares within six (6) months from the date of the Declaration Date, the Shareholders shall promptly initiate procedures to liquidate the Company and to cause the Company to be wound up and liquidated in accordance with the applicable Laws.</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26868508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IV. Governance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t>7.  Deadlock </a:t>
            </a:r>
            <a:r>
              <a:rPr lang="en-US" altLang="ko-KR" dirty="0" smtClean="0"/>
              <a:t>Resolution </a:t>
            </a:r>
            <a:r>
              <a:rPr lang="en-US" altLang="ko-KR" dirty="0" smtClean="0">
                <a:solidFill>
                  <a:schemeClr val="tx1"/>
                </a:solidFill>
                <a:latin typeface="+mn-ea"/>
              </a:rPr>
              <a:t>(4)</a:t>
            </a:r>
            <a:endParaRPr lang="ko-KR" altLang="ko-KR" dirty="0"/>
          </a:p>
        </p:txBody>
      </p:sp>
      <p:graphicFrame>
        <p:nvGraphicFramePr>
          <p:cNvPr id="6" name="표 5"/>
          <p:cNvGraphicFramePr>
            <a:graphicFrameLocks noGrp="1"/>
          </p:cNvGraphicFramePr>
          <p:nvPr>
            <p:extLst>
              <p:ext uri="{D42A27DB-BD31-4B8C-83A1-F6EECF244321}">
                <p14:modId xmlns:p14="http://schemas.microsoft.com/office/powerpoint/2010/main" val="2853613229"/>
              </p:ext>
            </p:extLst>
          </p:nvPr>
        </p:nvGraphicFramePr>
        <p:xfrm>
          <a:off x="439738" y="1043677"/>
          <a:ext cx="9188450" cy="502301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704168">
                <a:tc>
                  <a:txBody>
                    <a:bodyPr/>
                    <a:lstStyle/>
                    <a:p>
                      <a:pPr algn="ctr" latinLnBrk="1">
                        <a:lnSpc>
                          <a:spcPct val="110000"/>
                        </a:lnSpc>
                        <a:spcAft>
                          <a:spcPts val="300"/>
                        </a:spcAft>
                      </a:pPr>
                      <a:r>
                        <a:rPr lang="ko-KR" altLang="en-US" sz="1000" b="1" dirty="0" smtClean="0">
                          <a:effectLst/>
                          <a:latin typeface="+mn-ea"/>
                          <a:ea typeface="+mn-ea"/>
                          <a:cs typeface="Times New Roman" panose="02020603050405020304" pitchFamily="18" charset="0"/>
                        </a:rPr>
                        <a:t>표준 </a:t>
                      </a:r>
                      <a:r>
                        <a:rPr lang="ko-KR" altLang="ko-KR" sz="1000" b="1" dirty="0" smtClean="0">
                          <a:effectLst/>
                          <a:latin typeface="+mn-ea"/>
                          <a:ea typeface="+mn-ea"/>
                          <a:cs typeface="Times New Roman" panose="02020603050405020304" pitchFamily="18" charset="0"/>
                        </a:rPr>
                        <a:t> </a:t>
                      </a:r>
                      <a:r>
                        <a:rPr lang="en-US" altLang="ko-KR" sz="1000" b="1" dirty="0" smtClean="0">
                          <a:effectLst/>
                          <a:latin typeface="+mn-ea"/>
                          <a:ea typeface="+mn-ea"/>
                          <a:cs typeface="Times New Roman" panose="02020603050405020304" pitchFamily="18" charset="0"/>
                        </a:rPr>
                        <a:t>SHA </a:t>
                      </a:r>
                      <a:r>
                        <a:rPr lang="ko-KR" altLang="ko-KR" sz="1000" b="1" dirty="0" smtClean="0">
                          <a:effectLst/>
                          <a:latin typeface="+mn-ea"/>
                          <a:ea typeface="+mn-ea"/>
                          <a:cs typeface="Times New Roman" panose="02020603050405020304" pitchFamily="18" charset="0"/>
                        </a:rPr>
                        <a:t>문구</a:t>
                      </a:r>
                      <a:endParaRPr lang="ko-KR" alt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0" indent="0" algn="just">
                        <a:lnSpc>
                          <a:spcPct val="110000"/>
                        </a:lnSpc>
                        <a:spcAft>
                          <a:spcPts val="300"/>
                        </a:spcAft>
                        <a:buFont typeface="+mj-lt"/>
                        <a:buNone/>
                      </a:pPr>
                      <a:r>
                        <a:rPr lang="en-US" altLang="ko-KR" sz="1000" dirty="0" smtClean="0">
                          <a:effectLst/>
                          <a:latin typeface="+mn-ea"/>
                          <a:ea typeface="+mn-ea"/>
                          <a:cs typeface="Times New Roman" panose="02020603050405020304" pitchFamily="18" charset="0"/>
                        </a:rPr>
                        <a:t>(ii)</a:t>
                      </a:r>
                      <a:r>
                        <a:rPr lang="en-US" altLang="ko-KR" sz="1000" baseline="0" dirty="0" smtClean="0">
                          <a:effectLst/>
                          <a:latin typeface="+mn-ea"/>
                          <a:ea typeface="+mn-ea"/>
                          <a:cs typeface="Times New Roman" panose="02020603050405020304" pitchFamily="18" charset="0"/>
                        </a:rPr>
                        <a:t> </a:t>
                      </a:r>
                      <a:r>
                        <a:rPr lang="en-US" altLang="ko-KR" sz="1000" dirty="0" smtClean="0">
                          <a:effectLst/>
                          <a:latin typeface="+mn-ea"/>
                          <a:ea typeface="+mn-ea"/>
                          <a:cs typeface="Times New Roman" panose="02020603050405020304" pitchFamily="18" charset="0"/>
                        </a:rPr>
                        <a:t>In the event that on the Declaration Date, a Shareholder fails provide its written proposal pursuant to </a:t>
                      </a:r>
                      <a:r>
                        <a:rPr lang="en-US" altLang="ko-KR" sz="1000" u="sng" dirty="0" smtClean="0">
                          <a:effectLst/>
                          <a:latin typeface="+mn-ea"/>
                          <a:ea typeface="+mn-ea"/>
                          <a:cs typeface="Times New Roman" panose="02020603050405020304" pitchFamily="18" charset="0"/>
                        </a:rPr>
                        <a:t>Section 2.12(c)(</a:t>
                      </a:r>
                      <a:r>
                        <a:rPr lang="en-US" altLang="ko-KR" sz="1000" u="sng" dirty="0" err="1" smtClean="0">
                          <a:effectLst/>
                          <a:latin typeface="+mn-ea"/>
                          <a:ea typeface="+mn-ea"/>
                          <a:cs typeface="Times New Roman" panose="02020603050405020304" pitchFamily="18" charset="0"/>
                        </a:rPr>
                        <a:t>i</a:t>
                      </a:r>
                      <a:r>
                        <a:rPr lang="en-US" altLang="ko-KR" sz="1000" u="sng"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such Shareholder </a:t>
                      </a:r>
                      <a:br>
                        <a:rPr lang="en-US" altLang="ko-KR" sz="1000" dirty="0" smtClean="0">
                          <a:effectLst/>
                          <a:latin typeface="+mn-ea"/>
                          <a:ea typeface="+mn-ea"/>
                          <a:cs typeface="Times New Roman" panose="02020603050405020304" pitchFamily="18" charset="0"/>
                        </a:rPr>
                      </a:br>
                      <a:r>
                        <a:rPr lang="en-US" altLang="ko-KR" sz="1000" dirty="0" smtClean="0">
                          <a:effectLst/>
                          <a:latin typeface="+mn-ea"/>
                          <a:ea typeface="+mn-ea"/>
                          <a:cs typeface="Times New Roman" panose="02020603050405020304" pitchFamily="18" charset="0"/>
                        </a:rPr>
                        <a:t>     will be deemed to have indicated that it will sell all of its Shares for purposes of this </a:t>
                      </a:r>
                      <a:r>
                        <a:rPr lang="en-US" altLang="ko-KR" sz="1000" u="sng" dirty="0" smtClean="0">
                          <a:effectLst/>
                          <a:latin typeface="+mn-ea"/>
                          <a:ea typeface="+mn-ea"/>
                          <a:cs typeface="Times New Roman" panose="02020603050405020304" pitchFamily="18" charset="0"/>
                        </a:rPr>
                        <a:t>Section 2.12(c)</a:t>
                      </a:r>
                      <a:r>
                        <a:rPr lang="en-US" altLang="ko-KR" sz="1000" dirty="0" smtClean="0">
                          <a:effectLst/>
                          <a:latin typeface="+mn-ea"/>
                          <a:ea typeface="+mn-ea"/>
                          <a:cs typeface="Times New Roman" panose="02020603050405020304" pitchFamily="18" charset="0"/>
                        </a:rPr>
                        <a:t>. </a:t>
                      </a:r>
                      <a:r>
                        <a:rPr lang="en-US" altLang="ko-KR" sz="1000" spc="-15"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0" lvl="0" indent="0" algn="just">
                        <a:lnSpc>
                          <a:spcPct val="110000"/>
                        </a:lnSpc>
                        <a:spcAft>
                          <a:spcPts val="300"/>
                        </a:spcAft>
                        <a:buFont typeface="+mj-lt"/>
                        <a:buNone/>
                      </a:pPr>
                      <a:r>
                        <a:rPr lang="en-US" altLang="ko-KR" sz="1000" spc="-15" dirty="0" smtClean="0">
                          <a:effectLst/>
                          <a:latin typeface="+mn-ea"/>
                          <a:ea typeface="+mn-ea"/>
                          <a:cs typeface="Times New Roman" panose="02020603050405020304" pitchFamily="18" charset="0"/>
                        </a:rPr>
                        <a:t>(iii) In connection with the sale and purchase of Shares under this </a:t>
                      </a:r>
                      <a:r>
                        <a:rPr lang="en-US" altLang="ko-KR" sz="1000" u="sng" spc="-15" dirty="0" smtClean="0">
                          <a:effectLst/>
                          <a:latin typeface="+mn-ea"/>
                          <a:ea typeface="+mn-ea"/>
                          <a:cs typeface="Times New Roman" panose="02020603050405020304" pitchFamily="18" charset="0"/>
                        </a:rPr>
                        <a:t>Section 2.12(c)</a:t>
                      </a:r>
                      <a:r>
                        <a:rPr lang="en-US" altLang="ko-KR" sz="1000" spc="-15"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algn="just">
                        <a:lnSpc>
                          <a:spcPct val="110000"/>
                        </a:lnSpc>
                        <a:spcAft>
                          <a:spcPts val="300"/>
                        </a:spcAft>
                      </a:pPr>
                      <a:r>
                        <a:rPr lang="en-US" altLang="ko-KR" sz="1000" spc="-15"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179388" lvl="0" indent="179388" algn="just">
                        <a:lnSpc>
                          <a:spcPct val="110000"/>
                        </a:lnSpc>
                        <a:spcAft>
                          <a:spcPts val="300"/>
                        </a:spcAft>
                        <a:buFont typeface="+mj-lt"/>
                        <a:buAutoNum type="alphaUcPeriod"/>
                        <a:tabLst>
                          <a:tab pos="358775" algn="l"/>
                        </a:tabLst>
                      </a:pPr>
                      <a:r>
                        <a:rPr lang="en-US" altLang="ko-KR" sz="1000" spc="-15" dirty="0" smtClean="0">
                          <a:effectLst/>
                          <a:latin typeface="+mn-ea"/>
                          <a:ea typeface="+mn-ea"/>
                          <a:cs typeface="Times New Roman" panose="02020603050405020304" pitchFamily="18" charset="0"/>
                        </a:rPr>
                        <a:t>the selling Shareholder shall be required to sell all, but not less than all, of its Shares and the purchasing Shareholder shall be required to 	purchase all such Shares; and   </a:t>
                      </a:r>
                      <a:endParaRPr lang="ko-KR" altLang="ko-KR" sz="1000" dirty="0" smtClean="0">
                        <a:effectLst/>
                        <a:latin typeface="+mn-ea"/>
                        <a:ea typeface="+mn-ea"/>
                        <a:cs typeface="Times New Roman" panose="02020603050405020304" pitchFamily="18" charset="0"/>
                      </a:endParaRPr>
                    </a:p>
                    <a:p>
                      <a:pPr marL="342900" lvl="0" indent="-163513" algn="just" defTabSz="914400" rtl="0" eaLnBrk="1" latinLnBrk="1" hangingPunct="1">
                        <a:lnSpc>
                          <a:spcPct val="110000"/>
                        </a:lnSpc>
                        <a:spcAft>
                          <a:spcPts val="300"/>
                        </a:spcAft>
                        <a:buFont typeface="+mj-lt"/>
                        <a:buAutoNum type="alphaUcPeriod" startAt="2"/>
                      </a:pPr>
                      <a:r>
                        <a:rPr lang="en-US" altLang="ko-KR" sz="1000" kern="1200" spc="-15" dirty="0" smtClean="0">
                          <a:solidFill>
                            <a:schemeClr val="tx1"/>
                          </a:solidFill>
                          <a:effectLst/>
                          <a:latin typeface="+mn-ea"/>
                          <a:ea typeface="+mn-ea"/>
                          <a:cs typeface="Times New Roman" panose="02020603050405020304" pitchFamily="18" charset="0"/>
                        </a:rPr>
                        <a:t>the consummation of the sale of the Shares by the Shareholders pursuant to this Section 2.12(c) shall occur on the dates set forth below, or such other date as may be agreed to between the Shareholders, at the Company’s principal place of business and at a time reasonably designated by the purchasing Shareholder:  </a:t>
                      </a:r>
                      <a:endParaRPr lang="ko-KR" altLang="ko-KR" sz="1000" kern="1200" spc="-15" dirty="0" smtClean="0">
                        <a:solidFill>
                          <a:schemeClr val="tx1"/>
                        </a:solidFill>
                        <a:effectLst/>
                        <a:latin typeface="+mn-ea"/>
                        <a:ea typeface="+mn-ea"/>
                        <a:cs typeface="Times New Roman" panose="02020603050405020304" pitchFamily="18" charset="0"/>
                      </a:endParaRPr>
                    </a:p>
                    <a:p>
                      <a:pPr marL="538163" lvl="1" indent="-179388" algn="just">
                        <a:lnSpc>
                          <a:spcPct val="110000"/>
                        </a:lnSpc>
                        <a:spcAft>
                          <a:spcPts val="300"/>
                        </a:spcAft>
                        <a:buFont typeface="+mj-lt"/>
                        <a:buAutoNum type="romanLcPeriod"/>
                      </a:pPr>
                      <a:r>
                        <a:rPr lang="en-US" altLang="ko-KR" sz="1000" dirty="0" smtClean="0">
                          <a:effectLst/>
                          <a:latin typeface="+mn-ea"/>
                          <a:ea typeface="+mn-ea"/>
                          <a:cs typeface="Times New Roman" panose="02020603050405020304" pitchFamily="18" charset="0"/>
                        </a:rPr>
                        <a:t>in the case of sale and purchase under </a:t>
                      </a:r>
                      <a:r>
                        <a:rPr lang="en-US" altLang="ko-KR" sz="1000" u="sng" dirty="0" smtClean="0">
                          <a:effectLst/>
                          <a:latin typeface="+mn-ea"/>
                          <a:ea typeface="+mn-ea"/>
                          <a:cs typeface="Times New Roman" panose="02020603050405020304" pitchFamily="18" charset="0"/>
                        </a:rPr>
                        <a:t>Section 2.12(c)(</a:t>
                      </a:r>
                      <a:r>
                        <a:rPr lang="en-US" altLang="ko-KR" sz="1000" u="sng" dirty="0" err="1" smtClean="0">
                          <a:effectLst/>
                          <a:latin typeface="+mn-ea"/>
                          <a:ea typeface="+mn-ea"/>
                          <a:cs typeface="Times New Roman" panose="02020603050405020304" pitchFamily="18" charset="0"/>
                        </a:rPr>
                        <a:t>i</a:t>
                      </a:r>
                      <a:r>
                        <a:rPr lang="en-US" altLang="ko-KR" sz="1000" u="sng" dirty="0" smtClean="0">
                          <a:effectLst/>
                          <a:latin typeface="+mn-ea"/>
                          <a:ea typeface="+mn-ea"/>
                          <a:cs typeface="Times New Roman" panose="02020603050405020304" pitchFamily="18" charset="0"/>
                        </a:rPr>
                        <a:t>)(A)</a:t>
                      </a:r>
                      <a:r>
                        <a:rPr lang="en-US" altLang="ko-KR" sz="1000" dirty="0" smtClean="0">
                          <a:effectLst/>
                          <a:latin typeface="+mn-ea"/>
                          <a:ea typeface="+mn-ea"/>
                          <a:cs typeface="Times New Roman" panose="02020603050405020304" pitchFamily="18" charset="0"/>
                        </a:rPr>
                        <a:t>, (x) if the Shareholders are able to reach an agreement on the terms and conditions of such Transfer, within thirty (30) days after the Declaration Date, or (y) if the Shareholders are unable to reach an agreement on such terms and conditions by the 30th day after the Declaration Date, then within</a:t>
                      </a:r>
                      <a:r>
                        <a:rPr lang="en-US" altLang="ko-KR" sz="1000" spc="-15" dirty="0" smtClean="0">
                          <a:effectLst/>
                          <a:latin typeface="+mn-ea"/>
                          <a:ea typeface="+mn-ea"/>
                          <a:cs typeface="Times New Roman" panose="02020603050405020304" pitchFamily="18" charset="0"/>
                        </a:rPr>
                        <a:t> thirty (30) days from the receipt of the Appraisal Report from the Independent Accountant (or, in the event of a disagreement with respect to the Appraisal Report pursuant to </a:t>
                      </a:r>
                      <a:r>
                        <a:rPr lang="en-US" altLang="ko-KR" sz="1000" u="sng" spc="-15" dirty="0" smtClean="0">
                          <a:effectLst/>
                          <a:latin typeface="+mn-ea"/>
                          <a:ea typeface="+mn-ea"/>
                          <a:cs typeface="Times New Roman" panose="02020603050405020304" pitchFamily="18" charset="0"/>
                        </a:rPr>
                        <a:t>Section 7.3(c)(ii)</a:t>
                      </a:r>
                      <a:r>
                        <a:rPr lang="en-US" altLang="ko-KR" sz="1000" spc="-15" dirty="0" smtClean="0">
                          <a:effectLst/>
                          <a:latin typeface="+mn-ea"/>
                          <a:ea typeface="+mn-ea"/>
                          <a:cs typeface="Times New Roman" panose="02020603050405020304" pitchFamily="18" charset="0"/>
                        </a:rPr>
                        <a:t>, within sixty (60) days of the date when such disagreement is resolved pursuant to </a:t>
                      </a:r>
                      <a:r>
                        <a:rPr lang="en-US" altLang="ko-KR" sz="1000" u="sng" spc="-15" dirty="0" smtClean="0">
                          <a:effectLst/>
                          <a:latin typeface="+mn-ea"/>
                          <a:ea typeface="+mn-ea"/>
                          <a:cs typeface="Times New Roman" panose="02020603050405020304" pitchFamily="18" charset="0"/>
                        </a:rPr>
                        <a:t>Section 7.3(c)(ii)</a:t>
                      </a:r>
                      <a:r>
                        <a:rPr lang="en-US" altLang="ko-KR" sz="1000" spc="-15" dirty="0" smtClean="0">
                          <a:effectLst/>
                          <a:latin typeface="+mn-ea"/>
                          <a:ea typeface="+mn-ea"/>
                          <a:cs typeface="Times New Roman" panose="02020603050405020304" pitchFamily="18" charset="0"/>
                        </a:rPr>
                        <a:t>);</a:t>
                      </a:r>
                    </a:p>
                    <a:p>
                      <a:pPr marL="538163" lvl="1" indent="-179388" algn="just">
                        <a:lnSpc>
                          <a:spcPct val="110000"/>
                        </a:lnSpc>
                        <a:spcAft>
                          <a:spcPts val="300"/>
                        </a:spcAft>
                        <a:buFont typeface="+mj-lt"/>
                        <a:buAutoNum type="romanLcPeriod"/>
                      </a:pPr>
                      <a:r>
                        <a:rPr lang="en-US" altLang="ko-KR" sz="1000" dirty="0" smtClean="0">
                          <a:effectLst/>
                          <a:latin typeface="+mn-ea"/>
                          <a:ea typeface="+mn-ea"/>
                          <a:cs typeface="Times New Roman" panose="02020603050405020304" pitchFamily="18" charset="0"/>
                        </a:rPr>
                        <a:t>in the case of sale and purchase under </a:t>
                      </a:r>
                      <a:r>
                        <a:rPr lang="en-US" altLang="ko-KR" sz="1000" u="sng" dirty="0" smtClean="0">
                          <a:effectLst/>
                          <a:latin typeface="+mn-ea"/>
                          <a:ea typeface="+mn-ea"/>
                          <a:cs typeface="Times New Roman" panose="02020603050405020304" pitchFamily="18" charset="0"/>
                        </a:rPr>
                        <a:t>Section 2.12(c)(</a:t>
                      </a:r>
                      <a:r>
                        <a:rPr lang="en-US" altLang="ko-KR" sz="1000" u="sng" dirty="0" err="1" smtClean="0">
                          <a:effectLst/>
                          <a:latin typeface="+mn-ea"/>
                          <a:ea typeface="+mn-ea"/>
                          <a:cs typeface="Times New Roman" panose="02020603050405020304" pitchFamily="18" charset="0"/>
                        </a:rPr>
                        <a:t>i</a:t>
                      </a:r>
                      <a:r>
                        <a:rPr lang="en-US" altLang="ko-KR" sz="1000" u="sng" dirty="0" smtClean="0">
                          <a:effectLst/>
                          <a:latin typeface="+mn-ea"/>
                          <a:ea typeface="+mn-ea"/>
                          <a:cs typeface="Times New Roman" panose="02020603050405020304" pitchFamily="18" charset="0"/>
                        </a:rPr>
                        <a:t>)(B)</a:t>
                      </a:r>
                      <a:r>
                        <a:rPr lang="en-US" altLang="ko-KR" sz="1000" dirty="0" smtClean="0">
                          <a:effectLst/>
                          <a:latin typeface="+mn-ea"/>
                          <a:ea typeface="+mn-ea"/>
                          <a:cs typeface="Times New Roman" panose="02020603050405020304" pitchFamily="18" charset="0"/>
                        </a:rPr>
                        <a:t>, within thirty (30) days from the date of receipt of the winning Bid; and </a:t>
                      </a:r>
                    </a:p>
                    <a:p>
                      <a:pPr marL="538163" lvl="1" indent="-179388" algn="just">
                        <a:lnSpc>
                          <a:spcPct val="110000"/>
                        </a:lnSpc>
                        <a:spcAft>
                          <a:spcPts val="300"/>
                        </a:spcAft>
                        <a:buFont typeface="+mj-lt"/>
                        <a:buAutoNum type="romanLcPeriod"/>
                      </a:pPr>
                      <a:r>
                        <a:rPr lang="en-US" altLang="ko-KR" sz="1000" dirty="0" smtClean="0">
                          <a:effectLst/>
                          <a:latin typeface="+mn-ea"/>
                          <a:ea typeface="+mn-ea"/>
                          <a:cs typeface="Times New Roman" panose="02020603050405020304" pitchFamily="18" charset="0"/>
                        </a:rPr>
                        <a:t>in the case of sale and purchase under </a:t>
                      </a:r>
                      <a:r>
                        <a:rPr lang="en-US" altLang="ko-KR" sz="1000" u="sng" dirty="0" smtClean="0">
                          <a:effectLst/>
                          <a:latin typeface="+mn-ea"/>
                          <a:ea typeface="+mn-ea"/>
                          <a:cs typeface="Times New Roman" panose="02020603050405020304" pitchFamily="18" charset="0"/>
                        </a:rPr>
                        <a:t>Section 2.12(c)(</a:t>
                      </a:r>
                      <a:r>
                        <a:rPr lang="en-US" altLang="ko-KR" sz="1000" u="sng" dirty="0" err="1" smtClean="0">
                          <a:effectLst/>
                          <a:latin typeface="+mn-ea"/>
                          <a:ea typeface="+mn-ea"/>
                          <a:cs typeface="Times New Roman" panose="02020603050405020304" pitchFamily="18" charset="0"/>
                        </a:rPr>
                        <a:t>i</a:t>
                      </a:r>
                      <a:r>
                        <a:rPr lang="en-US" altLang="ko-KR" sz="1000" u="sng" dirty="0" smtClean="0">
                          <a:effectLst/>
                          <a:latin typeface="+mn-ea"/>
                          <a:ea typeface="+mn-ea"/>
                          <a:cs typeface="Times New Roman" panose="02020603050405020304" pitchFamily="18" charset="0"/>
                        </a:rPr>
                        <a:t>)(C)</a:t>
                      </a:r>
                      <a:r>
                        <a:rPr lang="en-US" altLang="ko-KR" sz="1000" dirty="0" smtClean="0">
                          <a:effectLst/>
                          <a:latin typeface="+mn-ea"/>
                          <a:ea typeface="+mn-ea"/>
                          <a:cs typeface="Times New Roman" panose="02020603050405020304" pitchFamily="18" charset="0"/>
                        </a:rPr>
                        <a:t>, within six (6) months from the date of the Declaration Date.</a:t>
                      </a:r>
                      <a:r>
                        <a:rPr lang="en-US" altLang="ko-KR" sz="1000" spc="-15"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163513" algn="just" defTabSz="914400" rtl="0" eaLnBrk="1" latinLnBrk="1" hangingPunct="1">
                        <a:lnSpc>
                          <a:spcPct val="110000"/>
                        </a:lnSpc>
                        <a:spcAft>
                          <a:spcPts val="300"/>
                        </a:spcAft>
                        <a:buFont typeface="+mj-lt"/>
                        <a:buAutoNum type="alphaUcPeriod" startAt="3"/>
                      </a:pPr>
                      <a:r>
                        <a:rPr lang="en-US" altLang="ko-KR" sz="1000" kern="1200" spc="-15" dirty="0" smtClean="0">
                          <a:solidFill>
                            <a:schemeClr val="tx1"/>
                          </a:solidFill>
                          <a:effectLst/>
                          <a:latin typeface="+mn-ea"/>
                          <a:ea typeface="+mn-ea"/>
                          <a:cs typeface="Times New Roman" panose="02020603050405020304" pitchFamily="18" charset="0"/>
                        </a:rPr>
                        <a:t>At the closing of any sale and purchase of Shares under this Section 2.12(c), the purchasing Shareholder shall deliver the price in cash for such Shares to the selling Shareholder and the selling Shareholder will execute and deliver such documents as may be necessary to effectuate such sale and purchase.</a:t>
                      </a:r>
                      <a:endParaRPr lang="ko-KR" altLang="ko-KR" sz="1000" kern="1200" spc="-15"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318845">
                <a:tc>
                  <a:txBody>
                    <a:bodyPr/>
                    <a:lstStyle/>
                    <a:p>
                      <a:pPr algn="ctr" latinLnBrk="1">
                        <a:lnSpc>
                          <a:spcPct val="110000"/>
                        </a:lnSpc>
                        <a:spcAft>
                          <a:spcPts val="30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300"/>
                        </a:spcAft>
                      </a:pPr>
                      <a:r>
                        <a:rPr lang="en-US" altLang="ko-KR" sz="1000" dirty="0" smtClean="0">
                          <a:effectLst/>
                          <a:latin typeface="+mn-ea"/>
                          <a:ea typeface="+mn-ea"/>
                          <a:cs typeface="Times New Roman" panose="02020603050405020304" pitchFamily="18" charset="0"/>
                        </a:rPr>
                        <a:t>In the event the Deadlock Resolution Committee is unable to resolve the Deadlock with respect to the Subject Deadlock Matter within the Deadlock Resolution Period, LG H&amp;H shall have the right (the “Put Right”), by providing the Controlling Shareholder with a written notice (the “Put Notice”) following the expiration of the Deadlock Resolution Period, to require Other Shareholder to purchase all of the Shares held by LG H&amp;H (the “Put Shares”) at a price per share equal to the higher of (</a:t>
                      </a:r>
                      <a:r>
                        <a:rPr lang="en-US" altLang="ko-KR" sz="1000" dirty="0" err="1" smtClean="0">
                          <a:effectLst/>
                          <a:latin typeface="+mn-ea"/>
                          <a:ea typeface="+mn-ea"/>
                          <a:cs typeface="Times New Roman" panose="02020603050405020304" pitchFamily="18" charset="0"/>
                        </a:rPr>
                        <a:t>i</a:t>
                      </a:r>
                      <a:r>
                        <a:rPr lang="en-US" altLang="ko-KR" sz="1000" dirty="0" smtClean="0">
                          <a:effectLst/>
                          <a:latin typeface="+mn-ea"/>
                          <a:ea typeface="+mn-ea"/>
                          <a:cs typeface="Times New Roman" panose="02020603050405020304" pitchFamily="18" charset="0"/>
                        </a:rPr>
                        <a:t>) the Entry Price of the Put Shares, and (ii) the Market Value of the Put Shares. For the purpose of this Section [], the “Entry Value” of such Put Share (on a per-share basis) shall be the per share price at which LG H&amp;H purchased such Put Share.</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4568899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1. </a:t>
            </a:r>
            <a:r>
              <a:rPr lang="en-US" altLang="ko-KR" dirty="0" smtClean="0">
                <a:solidFill>
                  <a:schemeClr val="tx1"/>
                </a:solidFill>
                <a:latin typeface="+mn-ea"/>
                <a:ea typeface="+mn-ea"/>
              </a:rPr>
              <a:t>Lock-Up (1)</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41505798"/>
              </p:ext>
            </p:extLst>
          </p:nvPr>
        </p:nvGraphicFramePr>
        <p:xfrm>
          <a:off x="439738" y="1043679"/>
          <a:ext cx="9188450" cy="4423536"/>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1">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en-US" altLang="ko-KR" sz="1000" dirty="0" smtClean="0">
                          <a:solidFill>
                            <a:schemeClr val="tx1"/>
                          </a:solidFill>
                          <a:effectLst/>
                          <a:latin typeface="+mn-ea"/>
                          <a:ea typeface="+mn-ea"/>
                          <a:cs typeface="Times New Roman" panose="02020603050405020304" pitchFamily="18" charset="0"/>
                        </a:rPr>
                        <a:t>Lock-Up </a:t>
                      </a:r>
                      <a:r>
                        <a:rPr lang="ko-KR" altLang="en-US" sz="1000" dirty="0" smtClean="0">
                          <a:solidFill>
                            <a:schemeClr val="tx1"/>
                          </a:solidFill>
                          <a:effectLst/>
                          <a:latin typeface="+mn-ea"/>
                          <a:ea typeface="+mn-ea"/>
                          <a:cs typeface="Times New Roman" panose="02020603050405020304" pitchFamily="18" charset="0"/>
                        </a:rPr>
                        <a:t>규정은 </a:t>
                      </a:r>
                      <a:r>
                        <a:rPr lang="en-US" altLang="ko-KR" sz="1000" dirty="0" smtClean="0">
                          <a:solidFill>
                            <a:schemeClr val="tx1"/>
                          </a:solidFill>
                          <a:effectLst/>
                          <a:latin typeface="+mn-ea"/>
                          <a:ea typeface="+mn-ea"/>
                          <a:cs typeface="Times New Roman" panose="02020603050405020304" pitchFamily="18" charset="0"/>
                        </a:rPr>
                        <a:t>LG H&amp;H</a:t>
                      </a:r>
                      <a:r>
                        <a:rPr lang="ko-KR" altLang="en-US" sz="1000" dirty="0" smtClean="0">
                          <a:solidFill>
                            <a:schemeClr val="tx1"/>
                          </a:solidFill>
                          <a:effectLst/>
                          <a:latin typeface="+mn-ea"/>
                          <a:ea typeface="+mn-ea"/>
                          <a:cs typeface="Times New Roman" panose="02020603050405020304" pitchFamily="18" charset="0"/>
                        </a:rPr>
                        <a:t>의 </a:t>
                      </a:r>
                      <a:r>
                        <a:rPr lang="ko-KR" altLang="en-US" sz="1000" dirty="0" err="1" smtClean="0">
                          <a:solidFill>
                            <a:schemeClr val="tx1"/>
                          </a:solidFill>
                          <a:effectLst/>
                          <a:latin typeface="+mn-ea"/>
                          <a:ea typeface="+mn-ea"/>
                          <a:cs typeface="Times New Roman" panose="02020603050405020304" pitchFamily="18" charset="0"/>
                        </a:rPr>
                        <a:t>지분율에</a:t>
                      </a:r>
                      <a:r>
                        <a:rPr lang="ko-KR" altLang="en-US" sz="1000" dirty="0" smtClean="0">
                          <a:solidFill>
                            <a:schemeClr val="tx1"/>
                          </a:solidFill>
                          <a:effectLst/>
                          <a:latin typeface="+mn-ea"/>
                          <a:ea typeface="+mn-ea"/>
                          <a:cs typeface="Times New Roman" panose="02020603050405020304" pitchFamily="18" charset="0"/>
                        </a:rPr>
                        <a:t> 관계없이 대상회사의 주주 관계를 유지하고자 최소한으로 필요한 기간을 정함</a:t>
                      </a:r>
                      <a:r>
                        <a:rPr lang="en-US" altLang="ko-KR" sz="1000" dirty="0" smtClean="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88614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15000"/>
                        </a:lnSpc>
                        <a:spcAft>
                          <a:spcPts val="0"/>
                        </a:spcAft>
                        <a:buFont typeface="+mj-lt"/>
                        <a:buAutoNum type="arabicPeriod"/>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Lock-Up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기간은 대개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5 ~ 10</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년 사이의 기간에서 정해지는 것으로 보임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5000"/>
                        </a:lnSpc>
                        <a:spcAft>
                          <a:spcPts val="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표준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와 같이</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Lock-Up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기간 중 사전에 정해진 허용된 매각</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(permitted disposition)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외에는 상대방의 사전 서면 동의 없이는 아예 양도를 금지하는 경우도 존재하나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상대방 당사자에게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우선매수권</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부여 등의 절차를 거쳐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자에게 양도하는 것을 허용하는 취지로 규정할 수도 있음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이는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대상회사에</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대한 투자 목적 및 당사자간 협상에 따라 달라질 수 있으므로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경우에 맞게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Lock-Up</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어떻게 설정할지 고려가 필요함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5000"/>
                        </a:lnSpc>
                        <a:spcAft>
                          <a:spcPts val="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다만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주주간 계약상</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Lock-Up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규정은 주주간 계약상의 의무이기 때문에 상대방이 이를 위반하는 경우에는 원칙적으로 계약 위반에 대한 손해배상의무가 발생하는 것 외에 주주간 계약의 존재를 알지 못하고 양수한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 대해서는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특히 선의취득 등의 관점에서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대항하기 어려울 수 있음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이를 방지하기 위하여</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다음과 같은 방안을 고려할 수 있음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627063" lvl="0" indent="-252413" algn="just" defTabSz="914400" rtl="0" eaLnBrk="1" latinLnBrk="1" hangingPunct="1">
                        <a:lnSpc>
                          <a:spcPct val="115000"/>
                        </a:lnSpc>
                        <a:spcAft>
                          <a:spcPts val="0"/>
                        </a:spcAft>
                        <a:buFont typeface="Times New Roman" panose="02020603050405020304" pitchFamily="18" charset="0"/>
                        <a:buChar char="-"/>
                      </a:pP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한국 상법의 경우 정관에서 주식 </a:t>
                      </a:r>
                      <a:r>
                        <a:rPr lang="ko-KR" altLang="ko-KR" sz="1000" b="1"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양수도에</a:t>
                      </a: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관하여 이사회 승인을 받도록 규정하고 이를 법인등기부에 등기하면</a:t>
                      </a:r>
                      <a:r>
                        <a:rPr lang="en-US"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이를 위반하여 이루어진 주식 </a:t>
                      </a:r>
                      <a:r>
                        <a:rPr lang="ko-KR" altLang="ko-KR" sz="1000" b="1"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양수도는</a:t>
                      </a: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회사에 대하여 효력이 없으므로</a:t>
                      </a:r>
                      <a:r>
                        <a:rPr lang="en-US"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이와 유사한 절차를 가진 </a:t>
                      </a:r>
                      <a:r>
                        <a:rPr lang="ko-KR" altLang="ko-KR" sz="1000" b="1"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준거지법이</a:t>
                      </a: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적용되는 경우에는 정관에 주식 양도에 대해 이사회 승인을 요하도록 규정하고</a:t>
                      </a:r>
                      <a:r>
                        <a:rPr lang="en-US"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b="1"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관련 등기를 하는 방안</a:t>
                      </a:r>
                    </a:p>
                    <a:p>
                      <a:pPr marL="896938" lvl="0" indent="-254000" algn="just" defTabSz="985838" rtl="0" eaLnBrk="1" latinLnBrk="1" hangingPunct="1">
                        <a:lnSpc>
                          <a:spcPct val="115000"/>
                        </a:lnSpc>
                        <a:spcAft>
                          <a:spcPts val="0"/>
                        </a:spcAft>
                        <a:buFont typeface="Wingdings" panose="05000000000000000000" pitchFamily="2" charset="2"/>
                        <a:buChar char=""/>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Lock-Up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규정 위반의 경우</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이로 인하여 위반 주주가 얻게 되는 양도차익을 상대방 주주에게 </a:t>
                      </a:r>
                      <a:r>
                        <a:rPr lang="ko-KR" altLang="ko-KR" sz="1000"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위약벌로</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지급하도록 주주간 계약에 규정하는 방안</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추가 </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SHA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문구</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(1)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참조</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p>
                    <a:p>
                      <a:pPr marL="342900" lvl="0" indent="-342900" algn="just" defTabSz="914400" rtl="0" eaLnBrk="1" latinLnBrk="1" hangingPunct="1">
                        <a:lnSpc>
                          <a:spcPct val="115000"/>
                        </a:lnSpc>
                        <a:spcAft>
                          <a:spcPts val="0"/>
                        </a:spcAft>
                        <a:buFont typeface="+mj-lt"/>
                        <a:buAutoNum type="arabicPeriod" startAt="4"/>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4. LG H&amp;H</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가 대주주인 경우</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자금 조달 등에 융통성을 가질 수 있도록 </a:t>
                      </a:r>
                      <a:r>
                        <a:rPr lang="ko-KR" altLang="ko-KR" sz="1000"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대상회사에</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경영권 변동</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(Change of Control)</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 발생하지 않는 한도 내에서 상대방 주주의 동의 없이 계열회사 또는 제</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자에게 양도할 수 있도록 하는 방안을 고려해 볼 수 있음</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추가 </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SHA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문구</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(2) </a:t>
                      </a:r>
                      <a:r>
                        <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참조</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000" kern="12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1070390">
                <a:tc>
                  <a:txBody>
                    <a:bodyPr/>
                    <a:lstStyle/>
                    <a:p>
                      <a:pPr algn="ctr" latinLnBrk="1">
                        <a:lnSpc>
                          <a:spcPct val="115000"/>
                        </a:lnSpc>
                        <a:spcAft>
                          <a:spcPts val="0"/>
                        </a:spcAft>
                      </a:pP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en-US" sz="1000" dirty="0" smtClean="0">
                          <a:effectLst/>
                          <a:latin typeface="맑은 고딕" panose="020B0503020000020004" pitchFamily="50" charset="-127"/>
                          <a:ea typeface="Times New Roman" panose="02020603050405020304" pitchFamily="18" charset="0"/>
                          <a:cs typeface="Times New Roman" panose="02020603050405020304" pitchFamily="18" charset="0"/>
                        </a:rPr>
                        <a:t/>
                      </a:r>
                      <a:br>
                        <a:rPr lang="en-US" sz="1000" dirty="0" smtClean="0">
                          <a:effectLst/>
                          <a:latin typeface="맑은 고딕" panose="020B0503020000020004" pitchFamily="50" charset="-127"/>
                          <a:ea typeface="Times New Roman" panose="02020603050405020304" pitchFamily="18" charset="0"/>
                          <a:cs typeface="Times New Roman" panose="02020603050405020304" pitchFamily="18" charset="0"/>
                        </a:rPr>
                      </a:br>
                      <a:r>
                        <a:rPr lang="ko-KR" sz="1000" dirty="0" smtClean="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3.1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Lock-Up</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Unless otherwise permitted under this Agreement, until the [fifth] anniversary date thereof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Lock-Up Period</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no Shareholder may, without the written consent of the other Shareholder, sell, transfer, assign, convey, pledge or otherwise dispose, alienate or encumber, directly or indirectly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Transfer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any of its Shares to any other Person, whether it is an Affiliate or non-Affiliate of such Shareholder. </a:t>
                      </a:r>
                      <a:endParaRPr lang="en-US" altLang="ko-KR" sz="10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5237407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1. </a:t>
            </a:r>
            <a:r>
              <a:rPr lang="en-US" altLang="ko-KR" dirty="0" smtClean="0">
                <a:solidFill>
                  <a:schemeClr val="tx1"/>
                </a:solidFill>
                <a:latin typeface="+mn-ea"/>
                <a:ea typeface="+mn-ea"/>
              </a:rPr>
              <a:t>Lock-Up </a:t>
            </a:r>
            <a:r>
              <a:rPr lang="en-US" altLang="ko-KR" dirty="0" smtClean="0">
                <a:solidFill>
                  <a:schemeClr val="tx1"/>
                </a:solidFill>
                <a:latin typeface="+mn-ea"/>
              </a:rPr>
              <a:t>(2)</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2842181336"/>
              </p:ext>
            </p:extLst>
          </p:nvPr>
        </p:nvGraphicFramePr>
        <p:xfrm>
          <a:off x="439738" y="1043679"/>
          <a:ext cx="9188450" cy="166595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832976">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r>
                        <a:rPr lang="en-US" sz="1000" b="1" dirty="0">
                          <a:effectLst/>
                          <a:latin typeface="+mn-ea"/>
                          <a:ea typeface="+mn-ea"/>
                          <a:cs typeface="Times New Roman" panose="02020603050405020304" pitchFamily="18" charset="0"/>
                        </a:rPr>
                        <a:t>(1)</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ts val="1400"/>
                        </a:lnSpc>
                        <a:spcAft>
                          <a:spcPts val="0"/>
                        </a:spcAft>
                      </a:pPr>
                      <a:r>
                        <a:rPr lang="en-US" sz="1000" dirty="0">
                          <a:effectLst/>
                          <a:latin typeface="+mn-ea"/>
                          <a:ea typeface="+mn-ea"/>
                          <a:cs typeface="Times New Roman" panose="02020603050405020304" pitchFamily="18" charset="0"/>
                        </a:rPr>
                        <a:t>The Parties acknowledge and agree that any purported Transfer that is not in full compliance with [Section 3] shall be deemed to be a material breach of this Agreement and that the non-breaching Party shall be entitled to claim as liquidated damages the proceeds from such Transfer.</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832976">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r>
                        <a:rPr lang="en-US" sz="1000" b="1" dirty="0">
                          <a:effectLst/>
                          <a:latin typeface="+mn-ea"/>
                          <a:ea typeface="+mn-ea"/>
                          <a:cs typeface="Times New Roman" panose="02020603050405020304" pitchFamily="18" charset="0"/>
                        </a:rPr>
                        <a:t>(2)</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a:lnSpc>
                          <a:spcPts val="1400"/>
                        </a:lnSpc>
                        <a:spcAft>
                          <a:spcPts val="0"/>
                        </a:spcAft>
                      </a:pPr>
                      <a:r>
                        <a:rPr lang="en-US" sz="1000" dirty="0">
                          <a:effectLst/>
                          <a:latin typeface="+mn-ea"/>
                          <a:ea typeface="+mn-ea"/>
                          <a:cs typeface="Times New Roman" panose="02020603050405020304" pitchFamily="18" charset="0"/>
                        </a:rPr>
                        <a:t>Notwithstanding anything to the contrary herein, LG H&amp;H may Transfer any of its Shares to any other Person, whether it is an Affiliate or non-Affiliate of such Shareholder; provided, however, that such Transfer does not result in a change in Control of the Company.</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40591123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84693"/>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smtClean="0">
                <a:latin typeface="맑은 고딕" panose="020B0503020000020004" pitchFamily="50" charset="-127"/>
                <a:cs typeface="Times New Roman" panose="02020603050405020304" pitchFamily="18" charset="0"/>
              </a:rPr>
              <a:t>2. ROFO </a:t>
            </a:r>
            <a:r>
              <a:rPr lang="en-US" altLang="ko-KR" dirty="0">
                <a:latin typeface="맑은 고딕" panose="020B0503020000020004" pitchFamily="50" charset="-127"/>
                <a:cs typeface="Times New Roman" panose="02020603050405020304" pitchFamily="18" charset="0"/>
              </a:rPr>
              <a:t>/ </a:t>
            </a:r>
            <a:r>
              <a:rPr lang="en-US" altLang="ko-KR" dirty="0" smtClean="0">
                <a:latin typeface="맑은 고딕" panose="020B0503020000020004" pitchFamily="50" charset="-127"/>
                <a:cs typeface="Times New Roman" panose="02020603050405020304" pitchFamily="18" charset="0"/>
              </a:rPr>
              <a:t>ROFR </a:t>
            </a:r>
            <a:r>
              <a:rPr lang="en-US" altLang="ko-KR" dirty="0">
                <a:solidFill>
                  <a:schemeClr val="tx1"/>
                </a:solidFill>
                <a:latin typeface="+mn-ea"/>
              </a:rPr>
              <a:t>(1)</a:t>
            </a:r>
            <a:r>
              <a:rPr lang="en-US" altLang="ko-KR" dirty="0" smtClean="0">
                <a:latin typeface="맑은 고딕" panose="020B0503020000020004" pitchFamily="50" charset="-127"/>
                <a:cs typeface="Times New Roman" panose="02020603050405020304" pitchFamily="18" charset="0"/>
              </a:rPr>
              <a:t>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10" name="표 9"/>
          <p:cNvGraphicFramePr>
            <a:graphicFrameLocks noGrp="1"/>
          </p:cNvGraphicFramePr>
          <p:nvPr>
            <p:extLst>
              <p:ext uri="{D42A27DB-BD31-4B8C-83A1-F6EECF244321}">
                <p14:modId xmlns:p14="http://schemas.microsoft.com/office/powerpoint/2010/main" val="2950671089"/>
              </p:ext>
            </p:extLst>
          </p:nvPr>
        </p:nvGraphicFramePr>
        <p:xfrm>
          <a:off x="439738" y="1043677"/>
          <a:ext cx="9188450" cy="526280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89372">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대표적인</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err="1">
                          <a:effectLst/>
                          <a:latin typeface="Times New Roman" panose="02020603050405020304" pitchFamily="18" charset="0"/>
                          <a:ea typeface="맑은 고딕" panose="020B0503020000020004" pitchFamily="50" charset="-127"/>
                          <a:cs typeface="Times New Roman" panose="02020603050405020304" pitchFamily="18" charset="0"/>
                        </a:rPr>
                        <a:t>대표회사</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주식</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양도</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제한으로</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dirty="0">
                          <a:effectLst/>
                          <a:latin typeface="맑은 고딕" panose="020B0503020000020004" pitchFamily="50" charset="-127"/>
                          <a:ea typeface="Times New Roman" panose="02020603050405020304" pitchFamily="18" charset="0"/>
                          <a:cs typeface="Times New Roman" panose="02020603050405020304" pitchFamily="18" charset="0"/>
                        </a:rPr>
                        <a:t>Right of first offer (“</a:t>
                      </a:r>
                      <a:r>
                        <a:rPr lang="en-US" sz="1000" u="sng" dirty="0">
                          <a:effectLst/>
                          <a:latin typeface="맑은 고딕" panose="020B0503020000020004" pitchFamily="50" charset="-127"/>
                          <a:ea typeface="Times New Roman" panose="02020603050405020304" pitchFamily="18" charset="0"/>
                          <a:cs typeface="Times New Roman" panose="02020603050405020304" pitchFamily="18" charset="0"/>
                        </a:rPr>
                        <a:t>ROFO</a:t>
                      </a:r>
                      <a:r>
                        <a:rPr lang="en-US" sz="1000" dirty="0">
                          <a:effectLst/>
                          <a:latin typeface="맑은 고딕" panose="020B0503020000020004" pitchFamily="50" charset="-127"/>
                          <a:ea typeface="Times New Roman" panose="02020603050405020304" pitchFamily="18" charset="0"/>
                          <a:cs typeface="Times New Roman" panose="02020603050405020304" pitchFamily="18" charset="0"/>
                        </a:rPr>
                        <a:t>”), right of first refusal (“</a:t>
                      </a:r>
                      <a:r>
                        <a:rPr lang="en-US" sz="1000" u="sng" dirty="0">
                          <a:effectLst/>
                          <a:latin typeface="맑은 고딕" panose="020B0503020000020004" pitchFamily="50" charset="-127"/>
                          <a:ea typeface="Times New Roman" panose="02020603050405020304" pitchFamily="18" charset="0"/>
                          <a:cs typeface="Times New Roman" panose="02020603050405020304" pitchFamily="18" charset="0"/>
                        </a:rPr>
                        <a:t>ROFR</a:t>
                      </a:r>
                      <a:r>
                        <a:rPr lang="en-US" sz="1000" dirty="0">
                          <a:effectLst/>
                          <a:latin typeface="맑은 고딕" panose="020B0503020000020004" pitchFamily="50" charset="-127"/>
                          <a:ea typeface="Times New Roman" panose="02020603050405020304" pitchFamily="18" charset="0"/>
                          <a:cs typeface="Times New Roman" panose="02020603050405020304" pitchFamily="18" charset="0"/>
                        </a:rPr>
                        <a:t>”)</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이</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있음</a:t>
                      </a:r>
                      <a:r>
                        <a:rPr lang="en-US" sz="1000" dirty="0">
                          <a:effectLst/>
                          <a:latin typeface="Times New Roman" panose="02020603050405020304" pitchFamily="18" charset="0"/>
                          <a:ea typeface="맑은 고딕" panose="020B0503020000020004" pitchFamily="50" charset="-127"/>
                          <a:cs typeface="Times New Roman" panose="02020603050405020304" pitchFamily="18" charset="0"/>
                        </a:rPr>
                        <a:t>.</a:t>
                      </a:r>
                      <a:endParaRPr 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4154061">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68288" lvl="0" indent="-268288" algn="just" latinLnBrk="1">
                        <a:lnSpc>
                          <a:spcPct val="115000"/>
                        </a:lnSpc>
                        <a:spcAft>
                          <a:spcPts val="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표준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를 둘 다 규정하였으나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중 어느 하나만 규정하는 경우가 더 일반적임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68288" lvl="0" indent="-268288" algn="just" latinLnBrk="1">
                        <a:lnSpc>
                          <a:spcPct val="115000"/>
                        </a:lnSpc>
                        <a:spcAft>
                          <a:spcPts val="0"/>
                        </a:spcAft>
                        <a:buFont typeface="+mj-lt"/>
                        <a:buAutoNum type="arabicPeriod"/>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ROFO/ROFR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은 다양하게 변형된 버전으로 협상되어 계약서에 반영되기도 하나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통상적인 개념은 다음과 같음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538163" lvl="0" indent="-252413" algn="just" latinLnBrk="1">
                        <a:lnSpc>
                          <a:spcPct val="115000"/>
                        </a:lnSpc>
                        <a:spcAft>
                          <a:spcPts val="0"/>
                        </a:spcAft>
                        <a:buFont typeface="Times New Roman" panose="02020603050405020304" pitchFamily="18" charset="0"/>
                        <a:buChar char="-"/>
                      </a:pPr>
                      <a:r>
                        <a:rPr lang="en-US" altLang="ko-KR" sz="1000" b="1" dirty="0" smtClean="0">
                          <a:effectLst/>
                          <a:latin typeface="맑은 고딕" panose="020B0503020000020004" pitchFamily="50" charset="-127"/>
                          <a:ea typeface="맑은 고딕" panose="020B0503020000020004" pitchFamily="50" charset="-127"/>
                          <a:cs typeface="Times New Roman" panose="02020603050405020304" pitchFamily="18" charset="0"/>
                        </a:rPr>
                        <a:t>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는 어느 주주가 지분을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자에게 매도하고자 하는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상대방 주주가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 우선하여 그 주식을 매수할 권리임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있는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매도하고자 하는 주주가 먼저 매각조건을 제시하여 상대방 주주가 수용하지 않으면 그 조건 이상으로 매각할 수 있도록 하여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ROFO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행사 주주를 보호함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바탕" panose="02030600000101010101" pitchFamily="18" charset="-127"/>
                        <a:cs typeface="Times New Roman" panose="02020603050405020304" pitchFamily="18" charset="0"/>
                      </a:endParaRPr>
                    </a:p>
                    <a:p>
                      <a:pPr marL="538163" lvl="0" indent="-252413" algn="just" latinLnBrk="1">
                        <a:lnSpc>
                          <a:spcPct val="115000"/>
                        </a:lnSpc>
                        <a:spcAft>
                          <a:spcPts val="0"/>
                        </a:spcAft>
                        <a:buFont typeface="Times New Roman" panose="02020603050405020304" pitchFamily="18" charset="0"/>
                        <a:buChar char="-"/>
                      </a:pPr>
                      <a:r>
                        <a:rPr lang="en-US" altLang="ko-KR" sz="1000" b="1" dirty="0" smtClean="0">
                          <a:effectLst/>
                          <a:latin typeface="맑은 고딕" panose="020B0503020000020004" pitchFamily="50" charset="-127"/>
                          <a:ea typeface="맑은 고딕" panose="020B0503020000020004" pitchFamily="50" charset="-127"/>
                          <a:cs typeface="Times New Roman" panose="02020603050405020304" pitchFamily="18" charset="0"/>
                        </a:rPr>
                        <a:t>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는 어느 주주가 지분을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자에게 매도하고자 하는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상대방 주주가 그와 동일한 조건을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match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하여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 우선하여 그 주식을 매수할 수 있는 권리임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바탕" panose="02030600000101010101" pitchFamily="18" charset="-127"/>
                        <a:cs typeface="Times New Roman" panose="02020603050405020304" pitchFamily="18" charset="0"/>
                      </a:endParaRPr>
                    </a:p>
                    <a:p>
                      <a:pPr marL="538163" lvl="0" indent="-252413" algn="just" latinLnBrk="1">
                        <a:lnSpc>
                          <a:spcPct val="115000"/>
                        </a:lnSpc>
                        <a:spcAft>
                          <a:spcPts val="0"/>
                        </a:spcAft>
                        <a:buFont typeface="Times New Roman" panose="02020603050405020304" pitchFamily="18" charset="0"/>
                        <a:buChar char="-"/>
                      </a:pPr>
                      <a:r>
                        <a:rPr lang="en-US" altLang="ko-KR" sz="1000" b="1" dirty="0" smtClean="0">
                          <a:effectLst/>
                          <a:latin typeface="맑은 고딕" panose="020B0503020000020004" pitchFamily="50" charset="-127"/>
                          <a:ea typeface="맑은 고딕" panose="020B0503020000020004" pitchFamily="50" charset="-127"/>
                          <a:cs typeface="Times New Roman" panose="02020603050405020304" pitchFamily="18" charset="0"/>
                        </a:rPr>
                        <a:t>ROFO</a:t>
                      </a:r>
                      <a:r>
                        <a:rPr lang="ko-KR" altLang="ko-KR" sz="1000" b="1" dirty="0" smtClean="0">
                          <a:effectLst/>
                          <a:latin typeface="맑은 고딕" panose="020B0503020000020004" pitchFamily="50" charset="-127"/>
                          <a:ea typeface="맑은 고딕" panose="020B0503020000020004" pitchFamily="50" charset="-127"/>
                          <a:cs typeface="Times New Roman" panose="02020603050405020304" pitchFamily="18" charset="0"/>
                        </a:rPr>
                        <a:t>와</a:t>
                      </a:r>
                      <a:r>
                        <a:rPr lang="en-US" altLang="ko-KR" sz="1000" b="1" dirty="0" smtClean="0">
                          <a:effectLst/>
                          <a:latin typeface="맑은 고딕" panose="020B0503020000020004" pitchFamily="50" charset="-127"/>
                          <a:ea typeface="맑은 고딕" panose="020B0503020000020004" pitchFamily="50" charset="-127"/>
                          <a:cs typeface="Times New Roman" panose="02020603050405020304" pitchFamily="18" charset="0"/>
                        </a:rPr>
                        <a:t> ROFR</a:t>
                      </a:r>
                      <a:r>
                        <a:rPr lang="ko-KR" altLang="ko-KR" sz="1000" b="1" dirty="0" smtClean="0">
                          <a:effectLst/>
                          <a:latin typeface="맑은 고딕" panose="020B0503020000020004" pitchFamily="50" charset="-127"/>
                          <a:ea typeface="맑은 고딕" panose="020B0503020000020004" pitchFamily="50" charset="-127"/>
                          <a:cs typeface="Times New Roman" panose="02020603050405020304" pitchFamily="18" charset="0"/>
                        </a:rPr>
                        <a:t>의 차이점</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바탕" panose="02030600000101010101" pitchFamily="18" charset="-127"/>
                        <a:cs typeface="Times New Roman" panose="02020603050405020304" pitchFamily="18" charset="0"/>
                      </a:endParaRPr>
                    </a:p>
                    <a:p>
                      <a:pPr marL="806450" lvl="0" indent="-254000" algn="just" latinLnBrk="1">
                        <a:lnSpc>
                          <a:spcPct val="115000"/>
                        </a:lnSpc>
                        <a:spcAft>
                          <a:spcPts val="0"/>
                        </a:spcAft>
                        <a:buFont typeface="Wingdings" panose="05000000000000000000" pitchFamily="2" charset="2"/>
                        <a:buChar char=""/>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경우 매도하고자 하는 주주가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자와 사전에 매매와 관련한 조건 확정 없이 바로 상대방 주주와 매도 조건에 대하여 협상할 수 있다는 점에서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자와의 거래에 있어 상대적으로 거래의 확실성</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(deal certainty)</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 보장됨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806450" lvl="0" indent="-254000" algn="just" latinLnBrk="1">
                        <a:lnSpc>
                          <a:spcPct val="115000"/>
                        </a:lnSpc>
                        <a:spcAft>
                          <a:spcPts val="0"/>
                        </a:spcAft>
                        <a:buFont typeface="Wingdings" panose="05000000000000000000" pitchFamily="2" charset="2"/>
                        <a:buChar char=""/>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와 달리 매도하고자 하는 주식의 보다 객관적인 가격</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즉</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자와 협상된 가격</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상대방 주주가 확인할 수 있고</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이에 따라 상대방 주주가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informed decision</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할 수 있는 기회가 보장됨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806450" lvl="0" indent="-254000" algn="just" latinLnBrk="1">
                        <a:lnSpc>
                          <a:spcPct val="115000"/>
                        </a:lnSpc>
                        <a:spcAft>
                          <a:spcPts val="0"/>
                        </a:spcAft>
                        <a:buFont typeface="Wingdings" panose="05000000000000000000" pitchFamily="2" charset="2"/>
                        <a:buChar char=""/>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이에 소수주주가 재무적 투자자인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자와의 거래에 있어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거래종결의</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확실성</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(deal certainty)</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에 영향을 줄 수 있는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보다는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를 선호함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68288" lvl="0" indent="-268288" algn="just" latinLnBrk="1">
                        <a:lnSpc>
                          <a:spcPct val="115000"/>
                        </a:lnSpc>
                        <a:spcAft>
                          <a:spcPts val="0"/>
                        </a:spcAft>
                        <a:buFont typeface="+mj-lt"/>
                        <a:buAutoNum type="arabicPeriod" startAt="3"/>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는 통상적으로 관련 통지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sym typeface="Wingdings" panose="05000000000000000000" pitchFamily="2" charset="2"/>
                        </a:rPr>
                        <a:t></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상대방 주주의 검토 및 결정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sym typeface="Wingdings" panose="05000000000000000000" pitchFamily="2" charset="2"/>
                        </a:rPr>
                        <a:t></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결정에 따라 상대방 주주의 매수 또는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자에 대한 매각 절차를 거치고 있으며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구체적인 절차나 기간은 당사자간 협상에 따라 달라짐</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p>
                    <a:p>
                      <a:pPr marL="268288" lvl="0" indent="-268288" algn="just" latinLnBrk="1">
                        <a:lnSpc>
                          <a:spcPct val="115000"/>
                        </a:lnSpc>
                        <a:spcAft>
                          <a:spcPts val="0"/>
                        </a:spcAft>
                        <a:buFont typeface="+mj-lt"/>
                        <a:buAutoNum type="arabicPeriod" startAt="3"/>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기본적으로 보유 주식 전부를 양도하는 경우를 제외하고는 상대방 동의 없는 주식 양도를 금지하는 표준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와 달리</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일부 주식을 양도하고자 하는 경우에도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를 행사할 수 있도록 규정할 수도 있음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p>
                    <a:p>
                      <a:pPr marL="268288" lvl="0" indent="-268288" algn="just" latinLnBrk="1">
                        <a:lnSpc>
                          <a:spcPct val="115000"/>
                        </a:lnSpc>
                        <a:spcAft>
                          <a:spcPts val="0"/>
                        </a:spcAft>
                        <a:buFont typeface="+mj-lt"/>
                        <a:buAutoNum type="arabicPeriod" startAt="3"/>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대주주인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는 소수 주주가 아닌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에게만 부여하며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즉</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주식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양수도를</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하는 경우에 소수 주주에게는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ROFR</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발생하지 아니하고</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Tag-Along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권리만 발생함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주식이 양도되는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Drag-Along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권리를 가지는 구조를 고려해볼 수 있음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3.6</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조 관련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Note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문구 참고</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68288" indent="-268288">
                        <a:buFont typeface="+mj-lt"/>
                        <a:buAutoNum type="arabicPeriod" startAt="3"/>
                      </a:pPr>
                      <a:r>
                        <a:rPr lang="en-US" altLang="ko-KR" sz="1000" dirty="0" smtClean="0">
                          <a:effectLst/>
                          <a:latin typeface="맑은 고딕" panose="020B0503020000020004" pitchFamily="50" charset="-127"/>
                          <a:cs typeface="Times New Roman" panose="02020603050405020304" pitchFamily="18" charset="0"/>
                        </a:rPr>
                        <a:t>LG H&amp;H </a:t>
                      </a:r>
                      <a:r>
                        <a:rPr lang="ko-KR" altLang="ko-KR" sz="1000" dirty="0" smtClean="0">
                          <a:effectLst/>
                          <a:ea typeface="맑은 고딕" panose="020B0503020000020004" pitchFamily="50" charset="-127"/>
                          <a:cs typeface="Times New Roman" panose="02020603050405020304" pitchFamily="18" charset="0"/>
                        </a:rPr>
                        <a:t>소수 주주인 경우</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반대로 대주주의 주식 </a:t>
                      </a:r>
                      <a:r>
                        <a:rPr lang="ko-KR" altLang="ko-KR" sz="1000" dirty="0" err="1" smtClean="0">
                          <a:effectLst/>
                          <a:ea typeface="맑은 고딕" panose="020B0503020000020004" pitchFamily="50" charset="-127"/>
                          <a:cs typeface="Times New Roman" panose="02020603050405020304" pitchFamily="18" charset="0"/>
                        </a:rPr>
                        <a:t>양도시</a:t>
                      </a:r>
                      <a:r>
                        <a:rPr lang="en-US" altLang="ko-KR" sz="1000" dirty="0" smtClean="0">
                          <a:effectLst/>
                          <a:ea typeface="맑은 고딕" panose="020B0503020000020004" pitchFamily="50" charset="-127"/>
                          <a:cs typeface="Times New Roman" panose="02020603050405020304" pitchFamily="18" charset="0"/>
                        </a:rPr>
                        <a:t> ROFO/ROFR</a:t>
                      </a:r>
                      <a:r>
                        <a:rPr lang="ko-KR" altLang="ko-KR" sz="1000" dirty="0" smtClean="0">
                          <a:effectLst/>
                          <a:ea typeface="맑은 고딕" panose="020B0503020000020004" pitchFamily="50" charset="-127"/>
                          <a:cs typeface="Times New Roman" panose="02020603050405020304" pitchFamily="18" charset="0"/>
                        </a:rPr>
                        <a:t>나</a:t>
                      </a:r>
                      <a:r>
                        <a:rPr lang="en-US" altLang="ko-KR" sz="1000" dirty="0" smtClean="0">
                          <a:effectLst/>
                          <a:ea typeface="맑은 고딕" panose="020B0503020000020004" pitchFamily="50" charset="-127"/>
                          <a:cs typeface="Times New Roman" panose="02020603050405020304" pitchFamily="18" charset="0"/>
                        </a:rPr>
                        <a:t> Tag-Along </a:t>
                      </a:r>
                      <a:r>
                        <a:rPr lang="ko-KR" altLang="ko-KR" sz="1000" dirty="0" smtClean="0">
                          <a:effectLst/>
                          <a:ea typeface="맑은 고딕" panose="020B0503020000020004" pitchFamily="50" charset="-127"/>
                          <a:cs typeface="Times New Roman" panose="02020603050405020304" pitchFamily="18" charset="0"/>
                        </a:rPr>
                        <a:t>권리를 요구할 수 있음</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제</a:t>
                      </a:r>
                      <a:r>
                        <a:rPr lang="en-US" altLang="ko-KR" sz="1000" dirty="0" smtClean="0">
                          <a:effectLst/>
                          <a:ea typeface="맑은 고딕" panose="020B0503020000020004" pitchFamily="50" charset="-127"/>
                          <a:cs typeface="Times New Roman" panose="02020603050405020304" pitchFamily="18" charset="0"/>
                        </a:rPr>
                        <a:t>3.6</a:t>
                      </a:r>
                      <a:r>
                        <a:rPr lang="ko-KR" altLang="ko-KR" sz="1000" dirty="0" smtClean="0">
                          <a:effectLst/>
                          <a:ea typeface="맑은 고딕" panose="020B0503020000020004" pitchFamily="50" charset="-127"/>
                          <a:cs typeface="Times New Roman" panose="02020603050405020304" pitchFamily="18" charset="0"/>
                        </a:rPr>
                        <a:t>조 관련 문구 참고</a:t>
                      </a:r>
                      <a:r>
                        <a:rPr lang="en-US" altLang="ko-KR" sz="1000" dirty="0" smtClean="0">
                          <a:effectLst/>
                          <a:ea typeface="맑은 고딕" panose="020B0503020000020004" pitchFamily="50" charset="-127"/>
                          <a:cs typeface="Times New Roman" panose="02020603050405020304" pitchFamily="18" charset="0"/>
                        </a:rPr>
                        <a:t>)</a:t>
                      </a:r>
                      <a:endParaRPr lang="ko-KR" alt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719370">
                <a:tc>
                  <a:txBody>
                    <a:bodyPr/>
                    <a:lstStyle/>
                    <a:p>
                      <a:pPr algn="ctr" latinLnBrk="1">
                        <a:lnSpc>
                          <a:spcPct val="115000"/>
                        </a:lnSpc>
                        <a:spcAft>
                          <a:spcPts val="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indent="0"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3.2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Right of First Offer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Upon the expiration of the Lock-Up Period, each Shareholder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Offering Shareholder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may, at its option, Transfer all, but not less than all, of its Shares to a non-Affiliate third party (other than a Prohibited Competitor) only upon first offering such Shares to the other Shareholder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Non-Offering Shareholder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in accordance with the following: </a:t>
                      </a:r>
                      <a:endParaRPr lang="en-US" altLang="ko-KR" sz="10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005584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84693"/>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smtClean="0">
                <a:latin typeface="맑은 고딕" panose="020B0503020000020004" pitchFamily="50" charset="-127"/>
                <a:cs typeface="Times New Roman" panose="02020603050405020304" pitchFamily="18" charset="0"/>
              </a:rPr>
              <a:t>2. ROFO </a:t>
            </a:r>
            <a:r>
              <a:rPr lang="en-US" altLang="ko-KR" dirty="0">
                <a:latin typeface="맑은 고딕" panose="020B0503020000020004" pitchFamily="50" charset="-127"/>
                <a:cs typeface="Times New Roman" panose="02020603050405020304" pitchFamily="18" charset="0"/>
              </a:rPr>
              <a:t>/ </a:t>
            </a:r>
            <a:r>
              <a:rPr lang="en-US" altLang="ko-KR" dirty="0" smtClean="0">
                <a:latin typeface="맑은 고딕" panose="020B0503020000020004" pitchFamily="50" charset="-127"/>
                <a:cs typeface="Times New Roman" panose="02020603050405020304" pitchFamily="18" charset="0"/>
              </a:rPr>
              <a:t>ROFR </a:t>
            </a:r>
            <a:r>
              <a:rPr lang="en-US" altLang="ko-KR" dirty="0" smtClean="0">
                <a:solidFill>
                  <a:schemeClr val="tx1"/>
                </a:solidFill>
                <a:latin typeface="+mn-ea"/>
              </a:rPr>
              <a:t>(2)</a:t>
            </a:r>
            <a:r>
              <a:rPr lang="en-US" altLang="ko-KR" dirty="0" smtClean="0">
                <a:latin typeface="맑은 고딕" panose="020B0503020000020004" pitchFamily="50" charset="-127"/>
                <a:cs typeface="Times New Roman" panose="02020603050405020304" pitchFamily="18" charset="0"/>
              </a:rPr>
              <a:t>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10" name="표 9"/>
          <p:cNvGraphicFramePr>
            <a:graphicFrameLocks noGrp="1"/>
          </p:cNvGraphicFramePr>
          <p:nvPr>
            <p:extLst>
              <p:ext uri="{D42A27DB-BD31-4B8C-83A1-F6EECF244321}">
                <p14:modId xmlns:p14="http://schemas.microsoft.com/office/powerpoint/2010/main" val="3003175800"/>
              </p:ext>
            </p:extLst>
          </p:nvPr>
        </p:nvGraphicFramePr>
        <p:xfrm>
          <a:off x="439738" y="1043677"/>
          <a:ext cx="9188450" cy="502301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023013">
                <a:tc>
                  <a:txBody>
                    <a:bodyPr/>
                    <a:lstStyle/>
                    <a:p>
                      <a:pPr algn="ctr" latinLnBrk="1">
                        <a:lnSpc>
                          <a:spcPct val="115000"/>
                        </a:lnSpc>
                        <a:spcAft>
                          <a:spcPts val="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en-US"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t/>
                      </a:r>
                      <a:br>
                        <a:rPr lang="en-US"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br>
                      <a:r>
                        <a:rPr lang="ko-KR" sz="1000" b="1" dirty="0" smtClean="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a:lnSpc>
                          <a:spcPct val="115000"/>
                        </a:lnSpc>
                        <a:spcAft>
                          <a:spcPts val="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Offering Shareholder shall provide written notice to the Non-Offering Shareholder (a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First Offer Notice</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setting forth the number of Shares to be Transferred, the proposed selling price the Offering Shareholder is requesting, and other material terms and conditions on which the Offering Shareholder proposes to Transfer such Shares.</a:t>
                      </a:r>
                    </a:p>
                    <a:p>
                      <a:pPr marL="342900" lvl="0" indent="-342900" algn="just">
                        <a:lnSpc>
                          <a:spcPct val="115000"/>
                        </a:lnSpc>
                        <a:spcAft>
                          <a:spcPts val="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For a period of twenty (20) Business Days after receipt of the First Offer Notice, the Non-Offering Shareholder shall have the right, exercisable by delivery of written notice of such election to the Offering Shareholder, to purchase the Shares at the price stated in the First Offer Notice, and upon the same terms and conditions as are stated in the First Offer Notice.  Upon delivery by the Non-Offering Shareholder of written notice of such election, the closing of the purchase of the offered Shares by the Non-Offering Shareholder pursuant to this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3.2(b)</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shall occur within fifty-five (55) Business Days from the date of delivery of the First Offer Notice at the Company’s principal place of business and at a time reasonably chosen by the Non-Offering Shareholder.  </a:t>
                      </a:r>
                    </a:p>
                    <a:p>
                      <a:pPr marL="0" lvl="0" indent="0" algn="just">
                        <a:lnSpc>
                          <a:spcPct val="115000"/>
                        </a:lnSpc>
                        <a:spcAft>
                          <a:spcPts val="0"/>
                        </a:spcAft>
                        <a:buFont typeface="+mj-lt"/>
                        <a:buNone/>
                      </a:pPr>
                      <a:endPar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627063" lvl="1" indent="-268288" algn="just">
                        <a:lnSpc>
                          <a:spcPct val="115000"/>
                        </a:lnSpc>
                        <a:spcAft>
                          <a:spcPts val="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such closing, the Non-Offering Shareholder will pay the purchase price set forth in the First Offer Notice to the Offering Shareholder, and the Offering Shareholder and the Non-Offering Shareholder will execute and deliver such documents as may be necessary to effect such closing.</a:t>
                      </a:r>
                    </a:p>
                    <a:p>
                      <a:pPr marL="627063" lvl="1" indent="-268288" algn="just">
                        <a:lnSpc>
                          <a:spcPct val="115000"/>
                        </a:lnSpc>
                        <a:spcAft>
                          <a:spcPts val="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Subject to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3.8</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to the extent the Non-Offering Shareholder fails to purchase all of the Shares set forth in the First Offer Notice within fifty-five (55) Business Days from the date of delivery of the First Offer Notice by the Offering Shareholder, and such failure is not due to a cause attributable to the Offering Shareholder, the Offering Shareholder may sell all of the Shares set forth in the First Offer Notice to a third party (that is not a Prohibited Competitor) on the terms set forth in the First Offer Notice, including at price which is no less than the price per Share set forth in the First Offer Notice.  Subject to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3.8</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if the Offering Shareholder fails to consummate the sale of all of its Shares set forth in the First Offer Notice within ninety (90) Business Days from the date of delivery of the First Offer Notice to the Non-Offering Shareholder, such unsold Shares shall again be subject to all of the restrictions under this Agreement.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0" lvl="0" indent="0" algn="just">
                        <a:lnSpc>
                          <a:spcPct val="115000"/>
                        </a:lnSpc>
                        <a:spcAft>
                          <a:spcPts val="0"/>
                        </a:spcAft>
                        <a:buFont typeface="+mj-lt"/>
                        <a:buNone/>
                      </a:pPr>
                      <a:endPar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0" indent="0"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3.3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Right of First Refusal</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Upon the expiration of the Lock-Up Period, each Shareholder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Selling Shareholder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may, at its option, Transfer all, but not less than all, of its Shares to a bona fide non-Affiliate third party (other than a Prohibited Competitor)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Prospective Transferee</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only upon first offering such Shares to the other Shareholder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Non-Selling Shareholder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in accordance with the following, if, and, only if, such sale was not initiated by the Selling Shareholder but initiated by the non-Affiliate third party:</a:t>
                      </a:r>
                      <a:endParaRPr lang="en-US" altLang="ko-KR" sz="10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20636113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84693"/>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smtClean="0">
                <a:latin typeface="맑은 고딕" panose="020B0503020000020004" pitchFamily="50" charset="-127"/>
                <a:cs typeface="Times New Roman" panose="02020603050405020304" pitchFamily="18" charset="0"/>
              </a:rPr>
              <a:t>2. ROFO </a:t>
            </a:r>
            <a:r>
              <a:rPr lang="en-US" altLang="ko-KR" dirty="0">
                <a:latin typeface="맑은 고딕" panose="020B0503020000020004" pitchFamily="50" charset="-127"/>
                <a:cs typeface="Times New Roman" panose="02020603050405020304" pitchFamily="18" charset="0"/>
              </a:rPr>
              <a:t>/ </a:t>
            </a:r>
            <a:r>
              <a:rPr lang="en-US" altLang="ko-KR" dirty="0" smtClean="0">
                <a:latin typeface="맑은 고딕" panose="020B0503020000020004" pitchFamily="50" charset="-127"/>
                <a:cs typeface="Times New Roman" panose="02020603050405020304" pitchFamily="18" charset="0"/>
              </a:rPr>
              <a:t>ROFR </a:t>
            </a:r>
            <a:r>
              <a:rPr lang="en-US" altLang="ko-KR" dirty="0" smtClean="0">
                <a:solidFill>
                  <a:schemeClr val="tx1"/>
                </a:solidFill>
                <a:latin typeface="+mn-ea"/>
              </a:rPr>
              <a:t>(3)</a:t>
            </a:r>
            <a:r>
              <a:rPr lang="en-US" altLang="ko-KR" dirty="0" smtClean="0">
                <a:latin typeface="맑은 고딕" panose="020B0503020000020004" pitchFamily="50" charset="-127"/>
                <a:cs typeface="Times New Roman" panose="02020603050405020304" pitchFamily="18" charset="0"/>
              </a:rPr>
              <a:t>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10" name="표 9"/>
          <p:cNvGraphicFramePr>
            <a:graphicFrameLocks noGrp="1"/>
          </p:cNvGraphicFramePr>
          <p:nvPr>
            <p:extLst>
              <p:ext uri="{D42A27DB-BD31-4B8C-83A1-F6EECF244321}">
                <p14:modId xmlns:p14="http://schemas.microsoft.com/office/powerpoint/2010/main" val="3203706585"/>
              </p:ext>
            </p:extLst>
          </p:nvPr>
        </p:nvGraphicFramePr>
        <p:xfrm>
          <a:off x="439738" y="1043677"/>
          <a:ext cx="9188450" cy="418374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183748">
                <a:tc>
                  <a:txBody>
                    <a:bodyPr/>
                    <a:lstStyle/>
                    <a:p>
                      <a:pPr algn="ctr" latinLnBrk="1">
                        <a:lnSpc>
                          <a:spcPct val="115000"/>
                        </a:lnSpc>
                        <a:spcAft>
                          <a:spcPts val="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t>SHA</a:t>
                      </a:r>
                      <a:br>
                        <a:rPr lang="en-US"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br>
                      <a:r>
                        <a:rPr lang="ko-KR" sz="1000" b="1" dirty="0" smtClean="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a:lnSpc>
                          <a:spcPct val="115000"/>
                        </a:lnSpc>
                        <a:spcAft>
                          <a:spcPts val="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Selling Shareholder shall provide written notice to the Non-Selling Shareholder (a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First Refusal Notice</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setting forth the name of the Prospective Transferee, the number of shares to be Transferred, the selling price proposed by the Prospective Transferee, other material terms and conditions of the proposed sale, and confirmation that the Prospective Transferee has been informed of the provisions of this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3.3</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p>
                    <a:p>
                      <a:pPr marL="342900" lvl="0" indent="-342900" algn="just">
                        <a:lnSpc>
                          <a:spcPct val="115000"/>
                        </a:lnSpc>
                        <a:spcAft>
                          <a:spcPts val="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For a period of twenty (20) Business Days after receipt of the First Refusal Notice, the Non-Selling Shareholder shall have the right, exercisable by delivery of written notice of such election to the Selling Shareholder, to purchase the Shares at the price stated in First Refusal Notice, and upon the same material terms and conditions as are stated in First Refusal Notice.  Upon delivery by the Non-Selling Shareholder of written notice of such election, the closing of the purchase of the Shares by the Non-Selling Shareholder pursuant to this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3.3(b)</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shall occur within fifty-five (55) Business Days from the date of delivery of the First Refusal Notice at the Company’s principal place of business and at a time reasonably chosen by the Non-Selling Shareholder.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573088" lvl="1" indent="-214313" algn="just">
                        <a:lnSpc>
                          <a:spcPct val="115000"/>
                        </a:lnSpc>
                        <a:spcAft>
                          <a:spcPts val="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such closing, the Non-Selling Shareholder shall pay the purchase price set forth in the First Refusal Notice to the Selling Shareholder, and the Selling Shareholder and the First Refusal Purchasing Shareholder will execute and deliver such documents as may be necessary to effect such closing.</a:t>
                      </a:r>
                    </a:p>
                    <a:p>
                      <a:pPr marL="573088" lvl="1" indent="-214313" algn="just">
                        <a:lnSpc>
                          <a:spcPct val="115000"/>
                        </a:lnSpc>
                        <a:spcAft>
                          <a:spcPts val="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Subject to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3.8</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to the extent the Non-Selling Shareholder fails to purchase all of the Shares set forth in the First Refusal Notice within fifty-five (55) Business Days from the date of delivery of the First Refusal Notice by the Selling Shareholder and such failure is not due to a cause attributable to the Selling Shareholder, the Selling Shareholder may sell all of the Shares set forth in the First Refusal Notice to the Prospective Transferee on the terms set forth in the First Refusal Notice, including at price which is no less than the price per Share set forth in the First Refusal Notice.  If the Selling Shareholder fails to consummate the sale of all of its Shares set forth in the First Refusal Notice within ninety (90) Business Days from the date of delivery of the First Refusal Notice by the Selling Shareholder, such unsold Shares shall again be subject to all of the restrictions under this Agreement.</a:t>
                      </a:r>
                      <a:endParaRPr lang="en-US" altLang="ko-KR" sz="10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43849593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84693"/>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smtClean="0">
                <a:latin typeface="맑은 고딕" panose="020B0503020000020004" pitchFamily="50" charset="-127"/>
                <a:cs typeface="Times New Roman" panose="02020603050405020304" pitchFamily="18" charset="0"/>
              </a:rPr>
              <a:t>3. Tag-Along Right </a:t>
            </a:r>
            <a:r>
              <a:rPr lang="en-US" altLang="ko-KR" dirty="0">
                <a:solidFill>
                  <a:schemeClr val="tx1"/>
                </a:solidFill>
                <a:latin typeface="+mn-ea"/>
              </a:rPr>
              <a:t>(1)</a:t>
            </a:r>
            <a:r>
              <a:rPr lang="en-US" altLang="ko-KR" dirty="0" smtClean="0">
                <a:latin typeface="맑은 고딕" panose="020B0503020000020004" pitchFamily="50" charset="-127"/>
                <a:cs typeface="Times New Roman" panose="02020603050405020304" pitchFamily="18" charset="0"/>
              </a:rPr>
              <a:t>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10" name="표 9"/>
          <p:cNvGraphicFramePr>
            <a:graphicFrameLocks noGrp="1"/>
          </p:cNvGraphicFramePr>
          <p:nvPr>
            <p:extLst>
              <p:ext uri="{D42A27DB-BD31-4B8C-83A1-F6EECF244321}">
                <p14:modId xmlns:p14="http://schemas.microsoft.com/office/powerpoint/2010/main" val="4088502739"/>
              </p:ext>
            </p:extLst>
          </p:nvPr>
        </p:nvGraphicFramePr>
        <p:xfrm>
          <a:off x="439738" y="1043677"/>
          <a:ext cx="9188450" cy="5581241"/>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292064">
                <a:tc>
                  <a:txBody>
                    <a:bodyPr/>
                    <a:lstStyle/>
                    <a:p>
                      <a:pPr marL="0" algn="ctr" defTabSz="914400" rtl="0" eaLnBrk="1" latinLnBrk="1" hangingPunct="1">
                        <a:lnSpc>
                          <a:spcPct val="110000"/>
                        </a:lnSpc>
                        <a:spcAft>
                          <a:spcPts val="20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200"/>
                        </a:spcAft>
                      </a:pP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대표적인</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err="1">
                          <a:effectLst/>
                          <a:latin typeface="Times New Roman" panose="02020603050405020304" pitchFamily="18" charset="0"/>
                          <a:ea typeface="맑은 고딕" panose="020B0503020000020004" pitchFamily="50" charset="-127"/>
                          <a:cs typeface="Times New Roman" panose="02020603050405020304" pitchFamily="18" charset="0"/>
                        </a:rPr>
                        <a:t>대표회사</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주식</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양도</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제한으로</a:t>
                      </a:r>
                      <a:r>
                        <a:rPr lang="en-US" sz="1000" dirty="0">
                          <a:effectLst/>
                          <a:latin typeface="Times New Roman" panose="02020603050405020304" pitchFamily="18" charset="0"/>
                          <a:ea typeface="맑은 고딕" panose="020B0503020000020004" pitchFamily="50" charset="-127"/>
                          <a:cs typeface="Times New Roman" panose="02020603050405020304" pitchFamily="18" charset="0"/>
                        </a:rPr>
                        <a:t> tag along right</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이</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있음</a:t>
                      </a:r>
                      <a:r>
                        <a:rPr lang="en-US" sz="1000" dirty="0">
                          <a:effectLst/>
                          <a:latin typeface="Times New Roman" panose="02020603050405020304" pitchFamily="18" charset="0"/>
                          <a:ea typeface="맑은 고딕" panose="020B0503020000020004" pitchFamily="50" charset="-127"/>
                          <a:cs typeface="Times New Roman" panose="02020603050405020304" pitchFamily="18" charset="0"/>
                        </a:rPr>
                        <a:t>.</a:t>
                      </a:r>
                      <a:endParaRPr 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29553">
                <a:tc>
                  <a:txBody>
                    <a:bodyPr/>
                    <a:lstStyle/>
                    <a:p>
                      <a:pPr marL="0" algn="ctr" defTabSz="914400" rtl="0" eaLnBrk="1" latinLnBrk="1" hangingPunct="1">
                        <a:lnSpc>
                          <a:spcPct val="110000"/>
                        </a:lnSpc>
                        <a:spcAft>
                          <a:spcPts val="20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10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Tag-Along</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절차 및 방법은 당사자 협상에 따라 달라짐</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소수 주주인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0000"/>
                        </a:lnSpc>
                        <a:spcAft>
                          <a:spcPts val="0"/>
                        </a:spcAft>
                        <a:buSzPts val="1000"/>
                        <a:buFont typeface="Times New Roman" panose="02020603050405020304" pitchFamily="18" charset="0"/>
                        <a:buChar char="-"/>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Tag-Along</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협상할 때에는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특히 재무적 투자자인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Tag-Along</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권리를 행사하는 소수 주주가 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 매수인에게 제공하는 진술 및 보장</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그리고</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restrictive covenants</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범위를 줄이고자 할 수 있음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추가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SHA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문구</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(1)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참조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바탕" panose="02030600000101010101" pitchFamily="18" charset="-127"/>
                        <a:cs typeface="Times New Roman" panose="02020603050405020304" pitchFamily="18" charset="0"/>
                      </a:endParaRPr>
                    </a:p>
                    <a:p>
                      <a:pPr marL="342900" lvl="0" indent="-342900" algn="just">
                        <a:lnSpc>
                          <a:spcPct val="110000"/>
                        </a:lnSpc>
                        <a:spcAft>
                          <a:spcPts val="0"/>
                        </a:spcAft>
                        <a:buSzPts val="1000"/>
                        <a:buFont typeface="Times New Roman" panose="02020603050405020304" pitchFamily="18" charset="0"/>
                        <a:buChar char="-"/>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자 매수인이 매수하고자 하는 주식 수보다 기존 주주들이 매각하고자 하는 주식 수가 많은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각 주주의 지분 비율에 안분해서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pro rata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로 매각하는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Tag-Along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권리를 행사하는 소수 주주가 우선매도하도록 하는 경우 등이 있을 수 있으며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후자</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우선매도방안</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를 규정하는 것도 고려할 수 있음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추가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SHA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문구</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(2)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참조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a:effectLst/>
                        <a:latin typeface="맑은 고딕" panose="020B0503020000020004" pitchFamily="50" charset="-127"/>
                        <a:ea typeface="바탕" panose="02030600000101010101" pitchFamily="18"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159624">
                <a:tc>
                  <a:txBody>
                    <a:bodyPr/>
                    <a:lstStyle/>
                    <a:p>
                      <a:pPr algn="ctr" latinLnBrk="1">
                        <a:lnSpc>
                          <a:spcPct val="110000"/>
                        </a:lnSpc>
                        <a:spcAft>
                          <a:spcPts val="20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en-US"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t/>
                      </a:r>
                      <a:br>
                        <a:rPr lang="en-US"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br>
                      <a:r>
                        <a:rPr lang="ko-KR" sz="1000" b="1" dirty="0" smtClean="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00000"/>
                        </a:lnSpc>
                        <a:spcAft>
                          <a:spcPts val="200"/>
                        </a:spcAft>
                      </a:pP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3.6 </a:t>
                      </a:r>
                      <a:r>
                        <a:rPr lang="en-US" altLang="ko-KR" sz="1000" u="sng"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Tag-Along</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p>
                    <a:p>
                      <a:pPr marL="342900" lvl="0" indent="-342900" algn="just">
                        <a:lnSpc>
                          <a:spcPct val="100000"/>
                        </a:lnSpc>
                        <a:spcAft>
                          <a:spcPts val="200"/>
                        </a:spcAft>
                        <a:buFont typeface="+mj-lt"/>
                        <a:buAutoNum type="alpha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In the event, pursuant to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3.4</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 Shareholder who intends to Transfer its Shares to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 non-Affiliate third party (other than a Prohibited Competitor) </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(the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Transferee</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and such Transferring Shareholder, the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Transferring Shareholder</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has the right to sell all, but not less than all, of its Shares to the Transferee on the terms set forth in the First Offer Notice or First Refusal Notice, as the case may be, then the Transferring Shareholder shall, as a condition precedent to such sale, provide the non-Transferring shareholder (the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Non-Transferring Shareholder</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with the right to participate in such sale on the same terms and conditions as set forth in the First Offer Notice or First Refusal Notice, as the case may be, by delivering written notice of such proposed sale (the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Tag-Along Offer</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to the Non-Transferring Shareholder within ten (10) Business Days of the Free Sale Start Date.  At any time but in any event no later than thirty (30) days after receipt of the Tag-Along Offer by the Non-Transferring Shareholder, the Non-Transferring Shareholder shall have the right to accept the Tag-Along Offer for, all but not less than all, of its Shares.  Any Non-Transferring Shareholder may exercise such right by delivering a written notice to the Transferring Shareholder (the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Tag-Along Reply</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stating its acceptance of the Tag-Along Offer and the number of Shares that the Non-Transferring Shareholder proposes to sell, which shall be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all, but not less than all, of its Shares</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pursuant to such Tag-Along Offer, within thirty (30) days after receipt of the Tag-Along Offer by the Non-Transferring Shareholder.  If the Non-Transferring Shareholder fails to deliver the Tag-Along Reply during such period, such Non-Transferring Shareholder shall be deemed to have waived its right to sell its Shares in response to the Tag-Along Offer.</a:t>
                      </a:r>
                    </a:p>
                    <a:p>
                      <a:pPr marL="538163" lvl="1" indent="-179388" algn="just">
                        <a:lnSpc>
                          <a:spcPct val="100000"/>
                        </a:lnSpc>
                        <a:spcAft>
                          <a:spcPts val="200"/>
                        </a:spcAft>
                        <a:buFont typeface="+mj-lt"/>
                        <a:buAutoNum type="roman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On the date set forth in the Tag-Along Offer for the closing of the sale of the Shares (which date shall be the same as the closing of the Transferring Shareholder’s sale of its Shares), the Non-Transferring Shareholder shall deliver certificate(s) representing its Shares to the Transferee at the Company’s principal office or such other place as the Transferring Shareholder shall elect, and the Transferee shall pay to the Non-Transferring Shareholder the purchase price set forth in the First Offer Notice or First Refusal Notice, as the case may be, in the same form as paid to the Transferring Shareholder.</a:t>
                      </a:r>
                    </a:p>
                    <a:p>
                      <a:pPr marL="538163" lvl="1" indent="-179388" algn="just">
                        <a:lnSpc>
                          <a:spcPct val="100000"/>
                        </a:lnSpc>
                        <a:spcAft>
                          <a:spcPts val="200"/>
                        </a:spcAft>
                        <a:buFont typeface="+mj-lt"/>
                        <a:buAutoNum type="roman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To the extent that the Transferee prohibits the participation by the Non-Transferring Shareholder exercising its tag-along right hereunder in the proposed sale or otherwise refuses to purchase the Shares from the Non-Transferring Shareholder exercising its tag-along rights hereunder, the Transferring Shareholder shall not sell to the Transferee any of its Shares unless and until, simultaneously with such sale, the Transferee shall purchase such Shares from the Non-Transferring Shareholder, which shall be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all, but not less than all, of its Shares,</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for the same consideration and on the same terms and conditions as the proposed sale described in the First Offer Notice or First Refusal Notice, as the case may be.</a:t>
                      </a:r>
                      <a:endParaRPr lang="en-US" altLang="ko-KR" sz="1000" u="none" strike="noStrike" spc="-15"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35382217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84693"/>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smtClean="0">
                <a:latin typeface="맑은 고딕" panose="020B0503020000020004" pitchFamily="50" charset="-127"/>
                <a:cs typeface="Times New Roman" panose="02020603050405020304" pitchFamily="18" charset="0"/>
              </a:rPr>
              <a:t>3. Tag-Along Right </a:t>
            </a:r>
            <a:r>
              <a:rPr lang="en-US" altLang="ko-KR" dirty="0" smtClean="0">
                <a:solidFill>
                  <a:schemeClr val="tx1"/>
                </a:solidFill>
                <a:latin typeface="+mn-ea"/>
              </a:rPr>
              <a:t>(2)</a:t>
            </a:r>
            <a:r>
              <a:rPr lang="en-US" altLang="ko-KR" dirty="0" smtClean="0">
                <a:latin typeface="맑은 고딕" panose="020B0503020000020004" pitchFamily="50" charset="-127"/>
                <a:cs typeface="Times New Roman" panose="02020603050405020304" pitchFamily="18" charset="0"/>
              </a:rPr>
              <a:t>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10" name="표 9"/>
          <p:cNvGraphicFramePr>
            <a:graphicFrameLocks noGrp="1"/>
          </p:cNvGraphicFramePr>
          <p:nvPr>
            <p:extLst>
              <p:ext uri="{D42A27DB-BD31-4B8C-83A1-F6EECF244321}">
                <p14:modId xmlns:p14="http://schemas.microsoft.com/office/powerpoint/2010/main" val="1329969958"/>
              </p:ext>
            </p:extLst>
          </p:nvPr>
        </p:nvGraphicFramePr>
        <p:xfrm>
          <a:off x="439738" y="1043677"/>
          <a:ext cx="9188450" cy="262511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1546058">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r>
                        <a:rPr lang="en-US" sz="1000" b="1" dirty="0">
                          <a:effectLst/>
                          <a:latin typeface="+mn-ea"/>
                          <a:ea typeface="+mn-ea"/>
                          <a:cs typeface="Times New Roman" panose="02020603050405020304" pitchFamily="18" charset="0"/>
                        </a:rPr>
                        <a:t>(1) </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en-US" altLang="ko-KR" sz="1000" dirty="0" smtClean="0">
                          <a:effectLst/>
                          <a:latin typeface="+mn-ea"/>
                          <a:ea typeface="+mn-ea"/>
                          <a:cs typeface="Times New Roman" panose="02020603050405020304" pitchFamily="18" charset="0"/>
                        </a:rPr>
                        <a:t>Notwithstanding anything to the contrary herein, in connection with a sale pursuant to this Section 3.6, the Non-Transferring Shareholder exercising its tag along right hereunder (x) shall not be required to give any representations or warranties or indemnities (other than customary representations and warranties and indemnities with respect to authorization, execution, enforceability, the absence of conflicts and title to the Shares, in each case, solely in respect of the Non-Transferring Shareholder) and (y) shall not be required to give any non-solicitation, non-compete or other </a:t>
                      </a:r>
                      <a:r>
                        <a:rPr lang="en-US" altLang="ko-KR" sz="1000" dirty="0" err="1" smtClean="0">
                          <a:effectLst/>
                          <a:latin typeface="+mn-ea"/>
                          <a:ea typeface="+mn-ea"/>
                          <a:cs typeface="Times New Roman" panose="02020603050405020304" pitchFamily="18" charset="0"/>
                        </a:rPr>
                        <a:t>behavioural</a:t>
                      </a:r>
                      <a:r>
                        <a:rPr lang="en-US" altLang="ko-KR" sz="1000" dirty="0" smtClean="0">
                          <a:effectLst/>
                          <a:latin typeface="+mn-ea"/>
                          <a:ea typeface="+mn-ea"/>
                          <a:cs typeface="Times New Roman" panose="02020603050405020304" pitchFamily="18" charset="0"/>
                        </a:rPr>
                        <a:t> covenants (other than customary confidentiality, information and further assurances covenants or any other covenant which does not adversely affect the Non-Transferring Shareholder, other than in a de </a:t>
                      </a:r>
                      <a:r>
                        <a:rPr lang="en-US" altLang="ko-KR" sz="1000" dirty="0" err="1" smtClean="0">
                          <a:effectLst/>
                          <a:latin typeface="+mn-ea"/>
                          <a:ea typeface="+mn-ea"/>
                          <a:cs typeface="Times New Roman" panose="02020603050405020304" pitchFamily="18" charset="0"/>
                        </a:rPr>
                        <a:t>minimis</a:t>
                      </a:r>
                      <a:r>
                        <a:rPr lang="en-US" altLang="ko-KR" sz="1000" dirty="0" smtClean="0">
                          <a:effectLst/>
                          <a:latin typeface="+mn-ea"/>
                          <a:ea typeface="+mn-ea"/>
                          <a:cs typeface="Times New Roman" panose="02020603050405020304" pitchFamily="18" charset="0"/>
                        </a:rPr>
                        <a:t> respect) that survive the completion of such sale.</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079055">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en-US" sz="1000" b="1" dirty="0" smtClean="0">
                          <a:effectLst/>
                          <a:latin typeface="+mn-ea"/>
                          <a:ea typeface="+mn-ea"/>
                          <a:cs typeface="Times New Roman" panose="02020603050405020304" pitchFamily="18" charset="0"/>
                        </a:rPr>
                        <a:t/>
                      </a:r>
                      <a:br>
                        <a:rPr lang="en-US" sz="1000" b="1" dirty="0" smtClean="0">
                          <a:effectLst/>
                          <a:latin typeface="+mn-ea"/>
                          <a:ea typeface="+mn-ea"/>
                          <a:cs typeface="Times New Roman" panose="02020603050405020304" pitchFamily="18" charset="0"/>
                        </a:rPr>
                      </a:br>
                      <a:r>
                        <a:rPr lang="ko-KR" sz="1000" b="1" dirty="0" smtClean="0">
                          <a:effectLst/>
                          <a:latin typeface="+mn-ea"/>
                          <a:ea typeface="+mn-ea"/>
                          <a:cs typeface="Times New Roman" panose="02020603050405020304" pitchFamily="18" charset="0"/>
                        </a:rPr>
                        <a:t>문구</a:t>
                      </a:r>
                      <a:r>
                        <a:rPr lang="en-US" sz="1000" b="1" dirty="0">
                          <a:effectLst/>
                          <a:latin typeface="+mn-ea"/>
                          <a:ea typeface="+mn-ea"/>
                          <a:cs typeface="Times New Roman" panose="02020603050405020304" pitchFamily="18" charset="0"/>
                        </a:rPr>
                        <a:t>(2)</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15000"/>
                        </a:lnSpc>
                        <a:spcAft>
                          <a:spcPts val="0"/>
                        </a:spcAft>
                      </a:pPr>
                      <a:r>
                        <a:rPr lang="en-US" altLang="ko-KR" sz="1000" spc="-15" dirty="0" smtClean="0">
                          <a:effectLst/>
                          <a:latin typeface="+mn-ea"/>
                          <a:ea typeface="+mn-ea"/>
                          <a:cs typeface="Times New Roman" panose="02020603050405020304" pitchFamily="18" charset="0"/>
                        </a:rPr>
                        <a:t>To the extent that the Transferee refuses to purchase all of the Shares proposed to be sold by the Transferring Shareholder and the Non-Transferring Shareholder exercising its tag-along rights hereunder, </a:t>
                      </a:r>
                      <a:r>
                        <a:rPr lang="en-GB" altLang="ko-KR" sz="1000" dirty="0" smtClean="0">
                          <a:effectLst/>
                          <a:latin typeface="+mn-ea"/>
                          <a:ea typeface="+mn-ea"/>
                          <a:cs typeface="Times New Roman" panose="02020603050405020304" pitchFamily="18" charset="0"/>
                        </a:rPr>
                        <a:t>the Non-Transferring Shareholder shall be entitled to exercise its tag-along right with respect to up to all of its Shares on a priority basis ahead of the Transferring Shareholder, and the number of Shares to proposed to be sold by the Transferring Shareholder shall be reduced accordingly.</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spTree>
    <p:extLst>
      <p:ext uri="{BB962C8B-B14F-4D97-AF65-F5344CB8AC3E}">
        <p14:creationId xmlns:p14="http://schemas.microsoft.com/office/powerpoint/2010/main" val="21581045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4</a:t>
            </a:r>
            <a:r>
              <a:rPr lang="en-US" altLang="ko-KR" dirty="0" smtClean="0">
                <a:solidFill>
                  <a:schemeClr val="tx1"/>
                </a:solidFill>
                <a:latin typeface="+mn-ea"/>
                <a:ea typeface="+mn-ea"/>
              </a:rPr>
              <a:t>. </a:t>
            </a:r>
            <a:r>
              <a:rPr lang="ko-KR" altLang="en-US" dirty="0" smtClean="0">
                <a:solidFill>
                  <a:schemeClr val="tx1"/>
                </a:solidFill>
                <a:latin typeface="+mn-ea"/>
                <a:ea typeface="+mn-ea"/>
              </a:rPr>
              <a:t>기타 </a:t>
            </a:r>
            <a:r>
              <a:rPr lang="en-US" altLang="ko-KR" dirty="0">
                <a:solidFill>
                  <a:schemeClr val="tx1"/>
                </a:solidFill>
                <a:latin typeface="+mn-ea"/>
              </a:rPr>
              <a:t>(1)</a:t>
            </a:r>
            <a:r>
              <a:rPr lang="ko-KR" altLang="en-US" dirty="0" smtClean="0">
                <a:solidFill>
                  <a:schemeClr val="tx1"/>
                </a:solidFill>
                <a:latin typeface="+mn-ea"/>
                <a:ea typeface="+mn-ea"/>
              </a:rPr>
              <a:t>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2402762291"/>
              </p:ext>
            </p:extLst>
          </p:nvPr>
        </p:nvGraphicFramePr>
        <p:xfrm>
          <a:off x="439738" y="1043679"/>
          <a:ext cx="9188450" cy="551061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99639">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altLang="en-US" sz="1000" dirty="0" smtClean="0">
                          <a:solidFill>
                            <a:schemeClr val="tx1"/>
                          </a:solidFill>
                          <a:effectLst/>
                          <a:latin typeface="+mn-ea"/>
                          <a:ea typeface="+mn-ea"/>
                          <a:cs typeface="Times New Roman" panose="02020603050405020304" pitchFamily="18" charset="0"/>
                        </a:rPr>
                        <a:t>주식 양도 제한으로 그 외에도 </a:t>
                      </a:r>
                      <a:r>
                        <a:rPr lang="en-US" altLang="ko-KR" sz="1000" dirty="0" smtClean="0">
                          <a:solidFill>
                            <a:schemeClr val="tx1"/>
                          </a:solidFill>
                          <a:effectLst/>
                          <a:latin typeface="+mn-ea"/>
                          <a:ea typeface="+mn-ea"/>
                          <a:cs typeface="Times New Roman" panose="02020603050405020304" pitchFamily="18" charset="0"/>
                        </a:rPr>
                        <a:t>drag along rights, put option, call option </a:t>
                      </a:r>
                      <a:r>
                        <a:rPr lang="ko-KR" altLang="en-US" sz="1000" dirty="0" smtClean="0">
                          <a:solidFill>
                            <a:schemeClr val="tx1"/>
                          </a:solidFill>
                          <a:effectLst/>
                          <a:latin typeface="+mn-ea"/>
                          <a:ea typeface="+mn-ea"/>
                          <a:cs typeface="Times New Roman" panose="02020603050405020304" pitchFamily="18" charset="0"/>
                        </a:rPr>
                        <a:t>등이 있음</a:t>
                      </a:r>
                      <a:r>
                        <a:rPr lang="en-US" altLang="ko-KR" sz="1000" dirty="0" smtClean="0">
                          <a:solidFill>
                            <a:schemeClr val="tx1"/>
                          </a:solidFill>
                          <a:effectLst/>
                          <a:latin typeface="+mn-ea"/>
                          <a:ea typeface="+mn-ea"/>
                          <a:cs typeface="Times New Roman" panose="02020603050405020304" pitchFamily="18" charset="0"/>
                        </a:rPr>
                        <a:t>.</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4751294">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latinLnBrk="1">
                        <a:lnSpc>
                          <a:spcPct val="110000"/>
                        </a:lnSpc>
                        <a:spcAft>
                          <a:spcPts val="0"/>
                        </a:spcAft>
                      </a:pPr>
                      <a:r>
                        <a:rPr lang="ko-KR" altLang="ko-KR" sz="1000" dirty="0" smtClean="0">
                          <a:effectLst/>
                          <a:latin typeface="+mn-ea"/>
                          <a:ea typeface="+mn-ea"/>
                          <a:cs typeface="Times New Roman" panose="02020603050405020304" pitchFamily="18" charset="0"/>
                        </a:rPr>
                        <a:t>이외에도 거래의 구조 및 </a:t>
                      </a:r>
                      <a:r>
                        <a:rPr lang="ko-KR" altLang="ko-KR" sz="1000" dirty="0" err="1" smtClean="0">
                          <a:effectLst/>
                          <a:latin typeface="+mn-ea"/>
                          <a:ea typeface="+mn-ea"/>
                          <a:cs typeface="Times New Roman" panose="02020603050405020304" pitchFamily="18" charset="0"/>
                        </a:rPr>
                        <a:t>지분구조에</a:t>
                      </a:r>
                      <a:r>
                        <a:rPr lang="ko-KR" altLang="ko-KR" sz="1000" dirty="0" smtClean="0">
                          <a:effectLst/>
                          <a:latin typeface="+mn-ea"/>
                          <a:ea typeface="+mn-ea"/>
                          <a:cs typeface="Times New Roman" panose="02020603050405020304" pitchFamily="18" charset="0"/>
                        </a:rPr>
                        <a:t> 따라 아래와 같은 주식 양수도 관련 규정을 고려하여 볼 수 있음</a:t>
                      </a:r>
                    </a:p>
                    <a:p>
                      <a:pPr marL="179388" lvl="0" indent="-179388" algn="just" latinLnBrk="1">
                        <a:lnSpc>
                          <a:spcPct val="110000"/>
                        </a:lnSpc>
                        <a:spcAft>
                          <a:spcPts val="0"/>
                        </a:spcAft>
                        <a:buFont typeface="+mj-lt"/>
                        <a:buAutoNum type="arabicPeriod"/>
                      </a:pPr>
                      <a:r>
                        <a:rPr lang="en-US" altLang="ko-KR" sz="1000" b="1" dirty="0" smtClean="0">
                          <a:effectLst/>
                          <a:latin typeface="+mn-ea"/>
                          <a:ea typeface="+mn-ea"/>
                          <a:cs typeface="Times New Roman" panose="02020603050405020304" pitchFamily="18" charset="0"/>
                        </a:rPr>
                        <a:t>Drag-Along</a:t>
                      </a:r>
                      <a:endParaRPr lang="ko-KR" altLang="ko-KR" sz="1000" dirty="0" smtClean="0">
                        <a:effectLst/>
                        <a:latin typeface="+mn-ea"/>
                        <a:ea typeface="+mn-ea"/>
                        <a:cs typeface="Times New Roman" panose="02020603050405020304" pitchFamily="18" charset="0"/>
                      </a:endParaRPr>
                    </a:p>
                    <a:p>
                      <a:pPr marL="358775" lvl="0" indent="-163513"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대주주의 지위에서 대상회사의 주식을 양도하고자 하는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제</a:t>
                      </a:r>
                      <a:r>
                        <a:rPr lang="en-US" altLang="ko-KR" sz="1000" dirty="0" smtClean="0">
                          <a:effectLst/>
                          <a:latin typeface="+mn-ea"/>
                          <a:ea typeface="+mn-ea"/>
                          <a:cs typeface="Times New Roman" panose="02020603050405020304" pitchFamily="18" charset="0"/>
                        </a:rPr>
                        <a:t>3</a:t>
                      </a:r>
                      <a:r>
                        <a:rPr lang="ko-KR" altLang="ko-KR" sz="1000" dirty="0" smtClean="0">
                          <a:effectLst/>
                          <a:latin typeface="+mn-ea"/>
                          <a:ea typeface="+mn-ea"/>
                          <a:cs typeface="Times New Roman" panose="02020603050405020304" pitchFamily="18" charset="0"/>
                        </a:rPr>
                        <a:t>자 매수인이 </a:t>
                      </a:r>
                      <a:r>
                        <a:rPr lang="ko-KR" altLang="ko-KR" sz="1000" dirty="0" err="1" smtClean="0">
                          <a:effectLst/>
                          <a:latin typeface="+mn-ea"/>
                          <a:ea typeface="+mn-ea"/>
                          <a:cs typeface="Times New Roman" panose="02020603050405020304" pitchFamily="18" charset="0"/>
                        </a:rPr>
                        <a:t>대상회사</a:t>
                      </a:r>
                      <a:r>
                        <a:rPr lang="ko-KR" altLang="ko-KR" sz="1000" dirty="0" smtClean="0">
                          <a:effectLst/>
                          <a:latin typeface="+mn-ea"/>
                          <a:ea typeface="+mn-ea"/>
                          <a:cs typeface="Times New Roman" panose="02020603050405020304" pitchFamily="18" charset="0"/>
                        </a:rPr>
                        <a:t> 지분</a:t>
                      </a:r>
                      <a:r>
                        <a:rPr lang="en-US" altLang="ko-KR" sz="1000" dirty="0" smtClean="0">
                          <a:effectLst/>
                          <a:latin typeface="+mn-ea"/>
                          <a:ea typeface="+mn-ea"/>
                          <a:cs typeface="Times New Roman" panose="02020603050405020304" pitchFamily="18" charset="0"/>
                        </a:rPr>
                        <a:t> 100%</a:t>
                      </a:r>
                      <a:r>
                        <a:rPr lang="ko-KR" altLang="ko-KR" sz="1000" dirty="0" smtClean="0">
                          <a:effectLst/>
                          <a:latin typeface="+mn-ea"/>
                          <a:ea typeface="+mn-ea"/>
                          <a:cs typeface="Times New Roman" panose="02020603050405020304" pitchFamily="18" charset="0"/>
                        </a:rPr>
                        <a:t>를 매수하는 것을 담보할 수 있도록</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에 소수 주주 보유 주식에 대한</a:t>
                      </a:r>
                      <a:r>
                        <a:rPr lang="en-US" altLang="ko-KR" sz="1000" dirty="0" smtClean="0">
                          <a:effectLst/>
                          <a:latin typeface="+mn-ea"/>
                          <a:ea typeface="+mn-ea"/>
                          <a:cs typeface="Times New Roman" panose="02020603050405020304" pitchFamily="18" charset="0"/>
                        </a:rPr>
                        <a:t> Drag-Along </a:t>
                      </a:r>
                      <a:r>
                        <a:rPr lang="ko-KR" altLang="ko-KR" sz="1000" dirty="0" smtClean="0">
                          <a:effectLst/>
                          <a:latin typeface="+mn-ea"/>
                          <a:ea typeface="+mn-ea"/>
                          <a:cs typeface="Times New Roman" panose="02020603050405020304" pitchFamily="18" charset="0"/>
                        </a:rPr>
                        <a:t>권리를 부여하는 방법</a:t>
                      </a:r>
                    </a:p>
                    <a:p>
                      <a:pPr marL="627063" lvl="0" indent="-269875" algn="just" latinLnBrk="1">
                        <a:lnSpc>
                          <a:spcPct val="110000"/>
                        </a:lnSpc>
                        <a:spcAft>
                          <a:spcPts val="0"/>
                        </a:spcAft>
                        <a:buFont typeface="Wingdings" panose="05000000000000000000" pitchFamily="2" charset="2"/>
                        <a:buChar char=""/>
                      </a:pPr>
                      <a:r>
                        <a:rPr lang="en-US" altLang="ko-KR" sz="1000" dirty="0" smtClean="0">
                          <a:effectLst/>
                          <a:latin typeface="+mn-ea"/>
                          <a:ea typeface="+mn-ea"/>
                          <a:cs typeface="Times New Roman" panose="02020603050405020304" pitchFamily="18" charset="0"/>
                        </a:rPr>
                        <a:t>Drag-Along</a:t>
                      </a:r>
                      <a:r>
                        <a:rPr lang="ko-KR" altLang="ko-KR" sz="1000" dirty="0" smtClean="0">
                          <a:effectLst/>
                          <a:latin typeface="+mn-ea"/>
                          <a:ea typeface="+mn-ea"/>
                          <a:cs typeface="Times New Roman" panose="02020603050405020304" pitchFamily="18" charset="0"/>
                        </a:rPr>
                        <a:t>의 경우</a:t>
                      </a:r>
                      <a:r>
                        <a:rPr lang="en-US"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거래종결의</a:t>
                      </a:r>
                      <a:r>
                        <a:rPr lang="ko-KR" altLang="ko-KR" sz="1000" dirty="0" smtClean="0">
                          <a:effectLst/>
                          <a:latin typeface="+mn-ea"/>
                          <a:ea typeface="+mn-ea"/>
                          <a:cs typeface="Times New Roman" panose="02020603050405020304" pitchFamily="18" charset="0"/>
                        </a:rPr>
                        <a:t> 확실성</a:t>
                      </a:r>
                      <a:r>
                        <a:rPr lang="en-US" altLang="ko-KR" sz="1000" dirty="0" smtClean="0">
                          <a:effectLst/>
                          <a:latin typeface="+mn-ea"/>
                          <a:ea typeface="+mn-ea"/>
                          <a:cs typeface="Times New Roman" panose="02020603050405020304" pitchFamily="18" charset="0"/>
                        </a:rPr>
                        <a:t>(deal certainty)</a:t>
                      </a:r>
                      <a:r>
                        <a:rPr lang="ko-KR" altLang="ko-KR" sz="1000" dirty="0" smtClean="0">
                          <a:effectLst/>
                          <a:latin typeface="+mn-ea"/>
                          <a:ea typeface="+mn-ea"/>
                          <a:cs typeface="Times New Roman" panose="02020603050405020304" pitchFamily="18" charset="0"/>
                        </a:rPr>
                        <a:t>과 절차상의 편의를 확보하기 위하여 주주간 계약에서</a:t>
                      </a:r>
                      <a:r>
                        <a:rPr lang="en-US" altLang="ko-KR" sz="1000" dirty="0" smtClean="0">
                          <a:effectLst/>
                          <a:latin typeface="+mn-ea"/>
                          <a:ea typeface="+mn-ea"/>
                          <a:cs typeface="Times New Roman" panose="02020603050405020304" pitchFamily="18" charset="0"/>
                        </a:rPr>
                        <a:t> Drag-Along</a:t>
                      </a:r>
                      <a:r>
                        <a:rPr lang="ko-KR" altLang="ko-KR" sz="1000" dirty="0" smtClean="0">
                          <a:effectLst/>
                          <a:latin typeface="+mn-ea"/>
                          <a:ea typeface="+mn-ea"/>
                          <a:cs typeface="Times New Roman" panose="02020603050405020304" pitchFamily="18" charset="0"/>
                        </a:rPr>
                        <a:t>의 행사에 따라 매각과 관련한 전권을</a:t>
                      </a:r>
                      <a:r>
                        <a:rPr lang="en-US" altLang="ko-KR" sz="1000" dirty="0" smtClean="0">
                          <a:effectLst/>
                          <a:latin typeface="+mn-ea"/>
                          <a:ea typeface="+mn-ea"/>
                          <a:cs typeface="Times New Roman" panose="02020603050405020304" pitchFamily="18" charset="0"/>
                        </a:rPr>
                        <a:t> Drag-Along </a:t>
                      </a:r>
                      <a:r>
                        <a:rPr lang="ko-KR" altLang="ko-KR" sz="1000" dirty="0" smtClean="0">
                          <a:effectLst/>
                          <a:latin typeface="+mn-ea"/>
                          <a:ea typeface="+mn-ea"/>
                          <a:cs typeface="Times New Roman" panose="02020603050405020304" pitchFamily="18" charset="0"/>
                        </a:rPr>
                        <a:t>행사 주주에게 위임하도록 하는 규정과 함께 위임장 양식을 주주간 계약에 첨부하는 경우도 존재함</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a:t>
                      </a:r>
                      <a:r>
                        <a:rPr lang="en-US" altLang="ko-KR" sz="1000" dirty="0" smtClean="0">
                          <a:effectLst/>
                          <a:latin typeface="+mn-ea"/>
                          <a:ea typeface="+mn-ea"/>
                          <a:cs typeface="Times New Roman" panose="02020603050405020304" pitchFamily="18" charset="0"/>
                        </a:rPr>
                        <a:t>(1) </a:t>
                      </a:r>
                      <a:r>
                        <a:rPr lang="ko-KR" altLang="ko-KR" sz="1000" dirty="0" smtClean="0">
                          <a:effectLst/>
                          <a:latin typeface="+mn-ea"/>
                          <a:ea typeface="+mn-ea"/>
                          <a:cs typeface="Times New Roman" panose="02020603050405020304" pitchFamily="18" charset="0"/>
                        </a:rPr>
                        <a:t>참조</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358775" lvl="0" indent="-163513" algn="just" latinLnBrk="1">
                        <a:lnSpc>
                          <a:spcPct val="11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소수 주주인 경우</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627063" lvl="0" indent="-269875" algn="just" latinLnBrk="1">
                        <a:lnSpc>
                          <a:spcPct val="110000"/>
                        </a:lnSpc>
                        <a:spcAft>
                          <a:spcPts val="0"/>
                        </a:spcAft>
                        <a:buFont typeface="Wingdings" panose="05000000000000000000" pitchFamily="2" charset="2"/>
                        <a:buChar char=""/>
                      </a:pPr>
                      <a:r>
                        <a:rPr lang="ko-KR" altLang="ko-KR" sz="1000" dirty="0" smtClean="0">
                          <a:effectLst/>
                          <a:latin typeface="+mn-ea"/>
                          <a:ea typeface="+mn-ea"/>
                          <a:cs typeface="Times New Roman" panose="02020603050405020304" pitchFamily="18" charset="0"/>
                        </a:rPr>
                        <a:t>대상회사의 대주주에게 대상회사의</a:t>
                      </a:r>
                      <a:r>
                        <a:rPr lang="en-US" altLang="ko-KR" sz="1000" dirty="0" smtClean="0">
                          <a:effectLst/>
                          <a:latin typeface="+mn-ea"/>
                          <a:ea typeface="+mn-ea"/>
                          <a:cs typeface="Times New Roman" panose="02020603050405020304" pitchFamily="18" charset="0"/>
                        </a:rPr>
                        <a:t> IPO </a:t>
                      </a:r>
                      <a:r>
                        <a:rPr lang="ko-KR" altLang="ko-KR" sz="1000" dirty="0" smtClean="0">
                          <a:effectLst/>
                          <a:latin typeface="+mn-ea"/>
                          <a:ea typeface="+mn-ea"/>
                          <a:cs typeface="Times New Roman" panose="02020603050405020304" pitchFamily="18" charset="0"/>
                        </a:rPr>
                        <a:t>또는 경영 성과 등에 대한 의무를 부여하였으나 대주주가 이를 달성하지 못하는 경우</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대주주에 대한</a:t>
                      </a:r>
                      <a:r>
                        <a:rPr lang="en-US" altLang="ko-KR" sz="1000" dirty="0" smtClean="0">
                          <a:effectLst/>
                          <a:latin typeface="+mn-ea"/>
                          <a:ea typeface="+mn-ea"/>
                          <a:cs typeface="Times New Roman" panose="02020603050405020304" pitchFamily="18" charset="0"/>
                        </a:rPr>
                        <a:t> penalty </a:t>
                      </a:r>
                      <a:r>
                        <a:rPr lang="ko-KR" altLang="ko-KR" sz="1000" dirty="0" smtClean="0">
                          <a:effectLst/>
                          <a:latin typeface="+mn-ea"/>
                          <a:ea typeface="+mn-ea"/>
                          <a:cs typeface="Times New Roman" panose="02020603050405020304" pitchFamily="18" charset="0"/>
                        </a:rPr>
                        <a:t>성격으로</a:t>
                      </a:r>
                      <a:r>
                        <a:rPr lang="en-US" altLang="ko-KR" sz="1000" dirty="0" smtClean="0">
                          <a:effectLst/>
                          <a:latin typeface="+mn-ea"/>
                          <a:ea typeface="+mn-ea"/>
                          <a:cs typeface="Times New Roman" panose="02020603050405020304" pitchFamily="18" charset="0"/>
                        </a:rPr>
                        <a:t> Drag-Along </a:t>
                      </a:r>
                      <a:r>
                        <a:rPr lang="ko-KR" altLang="ko-KR" sz="1000" dirty="0" smtClean="0">
                          <a:effectLst/>
                          <a:latin typeface="+mn-ea"/>
                          <a:ea typeface="+mn-ea"/>
                          <a:cs typeface="Times New Roman" panose="02020603050405020304" pitchFamily="18" charset="0"/>
                        </a:rPr>
                        <a:t>할 수 있는 권리를 부여하는 방법</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다만</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이런 형태의</a:t>
                      </a:r>
                      <a:r>
                        <a:rPr lang="en-US" altLang="ko-KR" sz="1000" dirty="0" smtClean="0">
                          <a:effectLst/>
                          <a:latin typeface="+mn-ea"/>
                          <a:ea typeface="+mn-ea"/>
                          <a:cs typeface="Times New Roman" panose="02020603050405020304" pitchFamily="18" charset="0"/>
                        </a:rPr>
                        <a:t> Drag-Along</a:t>
                      </a:r>
                      <a:r>
                        <a:rPr lang="ko-KR" altLang="ko-KR" sz="1000" dirty="0" smtClean="0">
                          <a:effectLst/>
                          <a:latin typeface="+mn-ea"/>
                          <a:ea typeface="+mn-ea"/>
                          <a:cs typeface="Times New Roman" panose="02020603050405020304" pitchFamily="18" charset="0"/>
                        </a:rPr>
                        <a:t>은 주로 재무적 투자자가 경영권을 행사하는 전략적 투자자에 대해 경영 실패의 책임을 묻기 위한 방법으로 사용되므로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사업상 시너지를 위한 전략적 투자자끼리의 합작법인의 경우에는 사용되는 예를 찾아보기 어려움</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627063" lvl="0" indent="-269875" algn="just" latinLnBrk="1">
                        <a:lnSpc>
                          <a:spcPct val="110000"/>
                        </a:lnSpc>
                        <a:spcAft>
                          <a:spcPts val="0"/>
                        </a:spcAft>
                        <a:buFont typeface="Wingdings" panose="05000000000000000000" pitchFamily="2" charset="2"/>
                        <a:buChar char=""/>
                      </a:pPr>
                      <a:r>
                        <a:rPr lang="ko-KR" altLang="ko-KR" sz="1000" dirty="0" smtClean="0">
                          <a:effectLst/>
                          <a:latin typeface="+mn-ea"/>
                          <a:ea typeface="+mn-ea"/>
                          <a:cs typeface="Times New Roman" panose="02020603050405020304" pitchFamily="18" charset="0"/>
                        </a:rPr>
                        <a:t>제</a:t>
                      </a:r>
                      <a:r>
                        <a:rPr lang="en-US" altLang="ko-KR" sz="1000" dirty="0" smtClean="0">
                          <a:effectLst/>
                          <a:latin typeface="+mn-ea"/>
                          <a:ea typeface="+mn-ea"/>
                          <a:cs typeface="Times New Roman" panose="02020603050405020304" pitchFamily="18" charset="0"/>
                        </a:rPr>
                        <a:t>3</a:t>
                      </a:r>
                      <a:r>
                        <a:rPr lang="ko-KR" altLang="ko-KR" sz="1000" dirty="0" smtClean="0">
                          <a:effectLst/>
                          <a:latin typeface="+mn-ea"/>
                          <a:ea typeface="+mn-ea"/>
                          <a:cs typeface="Times New Roman" panose="02020603050405020304" pitchFamily="18" charset="0"/>
                        </a:rPr>
                        <a:t>자 매수인으로부터 지급 받은 매매대금을 특정 분배 순서에 따라 분배하는 이른바</a:t>
                      </a:r>
                      <a:r>
                        <a:rPr lang="en-US" altLang="ko-KR" sz="1000" dirty="0" smtClean="0">
                          <a:effectLst/>
                          <a:latin typeface="+mn-ea"/>
                          <a:ea typeface="+mn-ea"/>
                          <a:cs typeface="Times New Roman" panose="02020603050405020304" pitchFamily="18" charset="0"/>
                        </a:rPr>
                        <a:t> waterfall </a:t>
                      </a:r>
                      <a:r>
                        <a:rPr lang="ko-KR" altLang="ko-KR" sz="1000" dirty="0" smtClean="0">
                          <a:effectLst/>
                          <a:latin typeface="+mn-ea"/>
                          <a:ea typeface="+mn-ea"/>
                          <a:cs typeface="Times New Roman" panose="02020603050405020304" pitchFamily="18" charset="0"/>
                        </a:rPr>
                        <a:t>규정을 두어</a:t>
                      </a:r>
                      <a:r>
                        <a:rPr lang="en-US" altLang="ko-KR" sz="1000" dirty="0" smtClean="0">
                          <a:effectLst/>
                          <a:latin typeface="+mn-ea"/>
                          <a:ea typeface="+mn-ea"/>
                          <a:cs typeface="Times New Roman" panose="02020603050405020304" pitchFamily="18" charset="0"/>
                        </a:rPr>
                        <a:t>, Drag-Along</a:t>
                      </a:r>
                      <a:r>
                        <a:rPr lang="ko-KR" altLang="ko-KR" sz="1000" dirty="0" smtClean="0">
                          <a:effectLst/>
                          <a:latin typeface="+mn-ea"/>
                          <a:ea typeface="+mn-ea"/>
                          <a:cs typeface="Times New Roman" panose="02020603050405020304" pitchFamily="18" charset="0"/>
                        </a:rPr>
                        <a:t>을 행사하는 주주가 일정한 수준의 매매대금을 먼저 배분 받도록 규정하는 것도 고려할 수 있음</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위와 마찬가지로</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재무적 투자자의 경우를 제외하고는 사용되는 사례가 드문 편임</a:t>
                      </a:r>
                      <a:r>
                        <a:rPr lang="en-US" altLang="ko-KR" sz="1000" dirty="0" smtClean="0">
                          <a:effectLst/>
                          <a:latin typeface="+mn-ea"/>
                          <a:ea typeface="+mn-ea"/>
                          <a:cs typeface="Times New Roman" panose="02020603050405020304" pitchFamily="18" charset="0"/>
                        </a:rPr>
                        <a:t>).</a:t>
                      </a:r>
                      <a:endParaRPr lang="ko-KR" altLang="ko-KR" sz="1000" dirty="0" smtClean="0">
                        <a:effectLst/>
                        <a:latin typeface="+mn-ea"/>
                        <a:ea typeface="+mn-ea"/>
                        <a:cs typeface="Times New Roman" panose="02020603050405020304" pitchFamily="18" charset="0"/>
                      </a:endParaRPr>
                    </a:p>
                    <a:p>
                      <a:pPr marL="0" indent="0" algn="l" latinLnBrk="1">
                        <a:lnSpc>
                          <a:spcPct val="110000"/>
                        </a:lnSpc>
                        <a:spcAft>
                          <a:spcPts val="0"/>
                        </a:spcAft>
                        <a:buFont typeface="+mj-lt"/>
                        <a:buNone/>
                      </a:pPr>
                      <a:endParaRPr lang="en-US" altLang="ko-KR" sz="1000" b="0" dirty="0" smtClean="0">
                        <a:solidFill>
                          <a:schemeClr val="tx1"/>
                        </a:solidFill>
                        <a:effectLst/>
                        <a:latin typeface="+mn-ea"/>
                        <a:ea typeface="+mn-ea"/>
                        <a:cs typeface="Times New Roman" panose="02020603050405020304" pitchFamily="18" charset="0"/>
                      </a:endParaRPr>
                    </a:p>
                    <a:p>
                      <a:pPr marL="179388" lvl="0" indent="-179388" algn="just">
                        <a:lnSpc>
                          <a:spcPct val="110000"/>
                        </a:lnSpc>
                        <a:spcAft>
                          <a:spcPts val="0"/>
                        </a:spcAft>
                        <a:buFont typeface="+mj-lt"/>
                        <a:buNone/>
                      </a:pPr>
                      <a:r>
                        <a:rPr lang="en-US" altLang="ko-KR" sz="1000" b="1" dirty="0" smtClean="0">
                          <a:effectLst/>
                          <a:latin typeface="+mn-ea"/>
                          <a:ea typeface="+mn-ea"/>
                          <a:cs typeface="Times New Roman" panose="02020603050405020304" pitchFamily="18" charset="0"/>
                        </a:rPr>
                        <a:t>2.</a:t>
                      </a:r>
                      <a:r>
                        <a:rPr lang="en-US" altLang="ko-KR" sz="1000" b="1" baseline="0" dirty="0" smtClean="0">
                          <a:effectLst/>
                          <a:latin typeface="+mn-ea"/>
                          <a:ea typeface="+mn-ea"/>
                          <a:cs typeface="Times New Roman" panose="02020603050405020304" pitchFamily="18" charset="0"/>
                        </a:rPr>
                        <a:t> </a:t>
                      </a:r>
                      <a:r>
                        <a:rPr lang="en-US" altLang="ko-KR" sz="1000" b="1" dirty="0" smtClean="0">
                          <a:effectLst/>
                          <a:latin typeface="+mn-ea"/>
                          <a:ea typeface="+mn-ea"/>
                          <a:cs typeface="Times New Roman" panose="02020603050405020304" pitchFamily="18" charset="0"/>
                        </a:rPr>
                        <a:t>Put-Option; Call-Option</a:t>
                      </a:r>
                      <a:endParaRPr lang="ko-KR" altLang="ko-KR" sz="1000" dirty="0" smtClean="0">
                        <a:effectLst/>
                        <a:latin typeface="+mn-ea"/>
                        <a:ea typeface="+mn-ea"/>
                        <a:cs typeface="Times New Roman" panose="02020603050405020304" pitchFamily="18" charset="0"/>
                      </a:endParaRPr>
                    </a:p>
                    <a:p>
                      <a:pPr marL="358775" lvl="0" indent="-163513" algn="just" latinLnBrk="1">
                        <a:lnSpc>
                          <a:spcPct val="100000"/>
                        </a:lnSpc>
                        <a:spcAft>
                          <a:spcPts val="0"/>
                        </a:spcAft>
                        <a:buSzPts val="1000"/>
                        <a:buFont typeface="Times New Roman" panose="02020603050405020304" pitchFamily="18" charset="0"/>
                        <a:buChar char="-"/>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다른 주주에게 </a:t>
                      </a:r>
                      <a:r>
                        <a:rPr lang="ko-KR" altLang="ko-KR" sz="1000" dirty="0" err="1" smtClean="0">
                          <a:effectLst/>
                          <a:latin typeface="+mn-ea"/>
                          <a:ea typeface="+mn-ea"/>
                          <a:cs typeface="Times New Roman" panose="02020603050405020304" pitchFamily="18" charset="0"/>
                        </a:rPr>
                        <a:t>대상회사</a:t>
                      </a:r>
                      <a:r>
                        <a:rPr lang="ko-KR" altLang="ko-KR" sz="1000" dirty="0" smtClean="0">
                          <a:effectLst/>
                          <a:latin typeface="+mn-ea"/>
                          <a:ea typeface="+mn-ea"/>
                          <a:cs typeface="Times New Roman" panose="02020603050405020304" pitchFamily="18" charset="0"/>
                        </a:rPr>
                        <a:t> 경영에 대해서 일정한 인센티브를 주거나 페널티를 주기 위한 방법으로</a:t>
                      </a:r>
                      <a:r>
                        <a:rPr lang="en-US" altLang="ko-KR" sz="1000" dirty="0" smtClean="0">
                          <a:effectLst/>
                          <a:latin typeface="+mn-ea"/>
                          <a:ea typeface="+mn-ea"/>
                          <a:cs typeface="Times New Roman" panose="02020603050405020304" pitchFamily="18" charset="0"/>
                        </a:rPr>
                        <a:t> Put-Option </a:t>
                      </a:r>
                      <a:r>
                        <a:rPr lang="ko-KR" altLang="ko-KR" sz="1000" dirty="0" smtClean="0">
                          <a:effectLst/>
                          <a:latin typeface="+mn-ea"/>
                          <a:ea typeface="+mn-ea"/>
                          <a:cs typeface="Times New Roman" panose="02020603050405020304" pitchFamily="18" charset="0"/>
                        </a:rPr>
                        <a:t>또는</a:t>
                      </a:r>
                      <a:r>
                        <a:rPr lang="en-US" altLang="ko-KR" sz="1000" dirty="0" smtClean="0">
                          <a:effectLst/>
                          <a:latin typeface="+mn-ea"/>
                          <a:ea typeface="+mn-ea"/>
                          <a:cs typeface="Times New Roman" panose="02020603050405020304" pitchFamily="18" charset="0"/>
                        </a:rPr>
                        <a:t> Call-Option</a:t>
                      </a:r>
                      <a:r>
                        <a:rPr lang="ko-KR" altLang="ko-KR" sz="1000" dirty="0" smtClean="0">
                          <a:effectLst/>
                          <a:latin typeface="+mn-ea"/>
                          <a:ea typeface="+mn-ea"/>
                          <a:cs typeface="Times New Roman" panose="02020603050405020304" pitchFamily="18" charset="0"/>
                        </a:rPr>
                        <a:t>을 고려할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58775" lvl="0" indent="-163513" algn="just" latinLnBrk="1">
                        <a:lnSpc>
                          <a:spcPct val="100000"/>
                        </a:lnSpc>
                        <a:spcAft>
                          <a:spcPts val="0"/>
                        </a:spcAft>
                        <a:buSzPts val="1000"/>
                        <a:buFont typeface="Times New Roman" panose="02020603050405020304" pitchFamily="18" charset="0"/>
                        <a:buChar char="-"/>
                      </a:pPr>
                      <a:r>
                        <a:rPr lang="ko-KR" altLang="ko-KR" sz="1000" dirty="0" smtClean="0">
                          <a:effectLst/>
                          <a:latin typeface="+mn-ea"/>
                          <a:ea typeface="+mn-ea"/>
                          <a:cs typeface="Times New Roman" panose="02020603050405020304" pitchFamily="18" charset="0"/>
                        </a:rPr>
                        <a:t>즉</a:t>
                      </a:r>
                      <a:r>
                        <a:rPr lang="en-US"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대상회사가</a:t>
                      </a:r>
                      <a:r>
                        <a:rPr lang="ko-KR" altLang="ko-KR" sz="1000" dirty="0" smtClean="0">
                          <a:effectLst/>
                          <a:latin typeface="+mn-ea"/>
                          <a:ea typeface="+mn-ea"/>
                          <a:cs typeface="Times New Roman" panose="02020603050405020304" pitchFamily="18" charset="0"/>
                        </a:rPr>
                        <a:t> 일정 경영 목표를 달성할 때</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미리 정한 주당 단가로 </a:t>
                      </a:r>
                      <a:r>
                        <a:rPr lang="ko-KR" altLang="ko-KR" sz="1000" dirty="0" err="1" smtClean="0">
                          <a:effectLst/>
                          <a:latin typeface="+mn-ea"/>
                          <a:ea typeface="+mn-ea"/>
                          <a:cs typeface="Times New Roman" panose="02020603050405020304" pitchFamily="18" charset="0"/>
                        </a:rPr>
                        <a:t>대상회사</a:t>
                      </a:r>
                      <a:r>
                        <a:rPr lang="ko-KR" altLang="ko-KR" sz="1000" dirty="0" smtClean="0">
                          <a:effectLst/>
                          <a:latin typeface="+mn-ea"/>
                          <a:ea typeface="+mn-ea"/>
                          <a:cs typeface="Times New Roman" panose="02020603050405020304" pitchFamily="18" charset="0"/>
                        </a:rPr>
                        <a:t> 주식을 다른 주주로부터 매수하거나</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그 보유 주식을 매각하여 </a:t>
                      </a:r>
                      <a:r>
                        <a:rPr lang="ko-KR" altLang="ko-KR" sz="1000" dirty="0" err="1" smtClean="0">
                          <a:effectLst/>
                          <a:latin typeface="+mn-ea"/>
                          <a:ea typeface="+mn-ea"/>
                          <a:cs typeface="Times New Roman" panose="02020603050405020304" pitchFamily="18" charset="0"/>
                        </a:rPr>
                        <a:t>지분율을</a:t>
                      </a:r>
                      <a:r>
                        <a:rPr lang="ko-KR" altLang="ko-KR" sz="1000" dirty="0" smtClean="0">
                          <a:effectLst/>
                          <a:latin typeface="+mn-ea"/>
                          <a:ea typeface="+mn-ea"/>
                          <a:cs typeface="Times New Roman" panose="02020603050405020304" pitchFamily="18" charset="0"/>
                        </a:rPr>
                        <a:t> 희석하는 방식 등 여러 방안을 고려할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58775" lvl="0" indent="-163513" algn="just" latinLnBrk="1">
                        <a:lnSpc>
                          <a:spcPct val="100000"/>
                        </a:lnSpc>
                        <a:spcAft>
                          <a:spcPts val="0"/>
                        </a:spcAft>
                        <a:buSzPts val="1000"/>
                        <a:buFont typeface="Times New Roman" panose="02020603050405020304" pitchFamily="18" charset="0"/>
                        <a:buChar char="-"/>
                      </a:pPr>
                      <a:r>
                        <a:rPr lang="ko-KR" altLang="ko-KR" sz="1000" dirty="0" smtClean="0">
                          <a:effectLst/>
                          <a:latin typeface="+mn-ea"/>
                          <a:ea typeface="+mn-ea"/>
                          <a:cs typeface="Times New Roman" panose="02020603050405020304" pitchFamily="18" charset="0"/>
                        </a:rPr>
                        <a:t>대상회사의 특성</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상대방 주주와의 관계</a:t>
                      </a:r>
                      <a:r>
                        <a:rPr lang="en-US" altLang="ko-KR" sz="1000" dirty="0" smtClean="0">
                          <a:effectLst/>
                          <a:latin typeface="+mn-ea"/>
                          <a:ea typeface="+mn-ea"/>
                          <a:cs typeface="Times New Roman" panose="02020603050405020304" pitchFamily="18" charset="0"/>
                        </a:rPr>
                        <a:t>, PMI </a:t>
                      </a:r>
                      <a:r>
                        <a:rPr lang="ko-KR" altLang="ko-KR" sz="1000" dirty="0" smtClean="0">
                          <a:effectLst/>
                          <a:latin typeface="+mn-ea"/>
                          <a:ea typeface="+mn-ea"/>
                          <a:cs typeface="Times New Roman" panose="02020603050405020304" pitchFamily="18" charset="0"/>
                        </a:rPr>
                        <a:t>목표 등 여러 관점에서 상대방에게 일정한 동기를 부여하는 방법으로도 위 방안을 고려해볼 수 있음</a:t>
                      </a:r>
                      <a:r>
                        <a:rPr lang="en-US" altLang="ko-KR" sz="1000" dirty="0" smtClean="0">
                          <a:effectLst/>
                          <a:latin typeface="+mn-ea"/>
                          <a:ea typeface="+mn-ea"/>
                          <a:cs typeface="Times New Roman" panose="02020603050405020304" pitchFamily="18" charset="0"/>
                        </a:rPr>
                        <a:t>.</a:t>
                      </a:r>
                    </a:p>
                    <a:p>
                      <a:pPr marL="358775" lvl="0" indent="-163513" algn="just" latinLnBrk="1">
                        <a:lnSpc>
                          <a:spcPct val="100000"/>
                        </a:lnSpc>
                        <a:spcAft>
                          <a:spcPts val="0"/>
                        </a:spcAft>
                        <a:buSzPts val="1000"/>
                        <a:buFont typeface="Times New Roman" panose="02020603050405020304" pitchFamily="18" charset="0"/>
                        <a:buChar char="-"/>
                      </a:pPr>
                      <a:r>
                        <a:rPr lang="ko-KR" altLang="ko-KR" sz="1000" dirty="0" smtClean="0">
                          <a:effectLst/>
                          <a:latin typeface="+mn-ea"/>
                          <a:ea typeface="+mn-ea"/>
                          <a:cs typeface="Times New Roman" panose="02020603050405020304" pitchFamily="18" charset="0"/>
                        </a:rPr>
                        <a:t>참고로 한국의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특히 소수 주주인 재무적 투자자에게 경영권을 행사하는 대주주</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전략적 투자자</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에 대한</a:t>
                      </a:r>
                      <a:r>
                        <a:rPr lang="en-US" altLang="ko-KR" sz="1000" dirty="0" smtClean="0">
                          <a:effectLst/>
                          <a:latin typeface="+mn-ea"/>
                          <a:ea typeface="+mn-ea"/>
                          <a:cs typeface="Times New Roman" panose="02020603050405020304" pitchFamily="18" charset="0"/>
                        </a:rPr>
                        <a:t> Put-Option</a:t>
                      </a:r>
                      <a:r>
                        <a:rPr lang="ko-KR" altLang="ko-KR" sz="1000" dirty="0" smtClean="0">
                          <a:effectLst/>
                          <a:latin typeface="+mn-ea"/>
                          <a:ea typeface="+mn-ea"/>
                          <a:cs typeface="Times New Roman" panose="02020603050405020304" pitchFamily="18" charset="0"/>
                        </a:rPr>
                        <a:t>을 부여하는 것은 흔히 볼 수 있으나</a:t>
                      </a:r>
                      <a:r>
                        <a:rPr lang="en-US"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대상회사에</a:t>
                      </a:r>
                      <a:r>
                        <a:rPr lang="ko-KR" altLang="ko-KR" sz="1000" dirty="0" smtClean="0">
                          <a:effectLst/>
                          <a:latin typeface="+mn-ea"/>
                          <a:ea typeface="+mn-ea"/>
                          <a:cs typeface="Times New Roman" panose="02020603050405020304" pitchFamily="18" charset="0"/>
                        </a:rPr>
                        <a:t> 대한</a:t>
                      </a:r>
                      <a:r>
                        <a:rPr lang="en-US" altLang="ko-KR" sz="1000" dirty="0" smtClean="0">
                          <a:effectLst/>
                          <a:latin typeface="+mn-ea"/>
                          <a:ea typeface="+mn-ea"/>
                          <a:cs typeface="Times New Roman" panose="02020603050405020304" pitchFamily="18" charset="0"/>
                        </a:rPr>
                        <a:t> Put-Option</a:t>
                      </a:r>
                      <a:r>
                        <a:rPr lang="ko-KR" altLang="ko-KR" sz="1000" dirty="0" smtClean="0">
                          <a:effectLst/>
                          <a:latin typeface="+mn-ea"/>
                          <a:ea typeface="+mn-ea"/>
                          <a:cs typeface="Times New Roman" panose="02020603050405020304" pitchFamily="18" charset="0"/>
                        </a:rPr>
                        <a:t>의 경우 </a:t>
                      </a:r>
                      <a:r>
                        <a:rPr lang="ko-KR" altLang="ko-KR" sz="1000" dirty="0" err="1" smtClean="0">
                          <a:effectLst/>
                          <a:latin typeface="+mn-ea"/>
                          <a:ea typeface="+mn-ea"/>
                          <a:cs typeface="Times New Roman" panose="02020603050405020304" pitchFamily="18" charset="0"/>
                        </a:rPr>
                        <a:t>대상회사가</a:t>
                      </a:r>
                      <a:r>
                        <a:rPr lang="ko-KR" altLang="ko-KR" sz="1000" dirty="0" smtClean="0">
                          <a:effectLst/>
                          <a:latin typeface="+mn-ea"/>
                          <a:ea typeface="+mn-ea"/>
                          <a:cs typeface="Times New Roman" panose="02020603050405020304" pitchFamily="18" charset="0"/>
                        </a:rPr>
                        <a:t> 자기주식을 취득하기 위하여는 배당가능이익이 존재하여야 하고</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원래 주식에 상환권이 부여되어 있는 </a:t>
                      </a:r>
                      <a:r>
                        <a:rPr lang="ko-KR" altLang="ko-KR" sz="1000" dirty="0" err="1" smtClean="0">
                          <a:effectLst/>
                          <a:latin typeface="+mn-ea"/>
                          <a:ea typeface="+mn-ea"/>
                          <a:cs typeface="Times New Roman" panose="02020603050405020304" pitchFamily="18" charset="0"/>
                        </a:rPr>
                        <a:t>상환주식이</a:t>
                      </a:r>
                      <a:r>
                        <a:rPr lang="ko-KR" altLang="ko-KR" sz="1000" dirty="0" smtClean="0">
                          <a:effectLst/>
                          <a:latin typeface="+mn-ea"/>
                          <a:ea typeface="+mn-ea"/>
                          <a:cs typeface="Times New Roman" panose="02020603050405020304" pitchFamily="18" charset="0"/>
                        </a:rPr>
                        <a:t> 아닌 이상 주주평등의 원칙에 따라 모든 주주에게 자기주식 매입에 대한 기회를 공평하게 부여하여야 하기 때문에 </a:t>
                      </a:r>
                      <a:r>
                        <a:rPr lang="ko-KR" altLang="ko-KR" sz="1000" dirty="0" err="1" smtClean="0">
                          <a:effectLst/>
                          <a:latin typeface="+mn-ea"/>
                          <a:ea typeface="+mn-ea"/>
                          <a:cs typeface="Times New Roman" panose="02020603050405020304" pitchFamily="18" charset="0"/>
                        </a:rPr>
                        <a:t>대상회사에</a:t>
                      </a:r>
                      <a:r>
                        <a:rPr lang="ko-KR" altLang="ko-KR" sz="1000" dirty="0" smtClean="0">
                          <a:effectLst/>
                          <a:latin typeface="+mn-ea"/>
                          <a:ea typeface="+mn-ea"/>
                          <a:cs typeface="Times New Roman" panose="02020603050405020304" pitchFamily="18" charset="0"/>
                        </a:rPr>
                        <a:t> 대한</a:t>
                      </a:r>
                      <a:r>
                        <a:rPr lang="en-US" altLang="ko-KR" sz="1000" dirty="0" smtClean="0">
                          <a:effectLst/>
                          <a:latin typeface="+mn-ea"/>
                          <a:ea typeface="+mn-ea"/>
                          <a:cs typeface="Times New Roman" panose="02020603050405020304" pitchFamily="18" charset="0"/>
                        </a:rPr>
                        <a:t> Put-Option</a:t>
                      </a:r>
                      <a:r>
                        <a:rPr lang="ko-KR" altLang="ko-KR" sz="1000" dirty="0" smtClean="0">
                          <a:effectLst/>
                          <a:latin typeface="+mn-ea"/>
                          <a:ea typeface="+mn-ea"/>
                          <a:cs typeface="Times New Roman" panose="02020603050405020304" pitchFamily="18" charset="0"/>
                        </a:rPr>
                        <a:t>을 실행하기가 절차적으로 어려우며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다른 준거지법에서도 이러한 제약이 있는지는 확인 필요함</a:t>
                      </a:r>
                      <a:r>
                        <a:rPr lang="en-US" altLang="ko-KR" sz="1000" dirty="0" smtClean="0">
                          <a:effectLst/>
                          <a:latin typeface="+mn-ea"/>
                          <a:ea typeface="+mn-ea"/>
                          <a:cs typeface="Times New Roman" panose="02020603050405020304" pitchFamily="18" charset="0"/>
                        </a:rPr>
                        <a:t>.</a:t>
                      </a:r>
                      <a:endParaRPr lang="en-US" altLang="ko-KR" sz="1000" b="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359685">
                <a:tc>
                  <a:txBody>
                    <a:bodyPr/>
                    <a:lstStyle/>
                    <a:p>
                      <a:pPr marL="0" algn="ctr" defTabSz="914400" rtl="0" eaLnBrk="1" latinLnBrk="1" hangingPunct="1">
                        <a:lnSpc>
                          <a:spcPct val="11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SHA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457200" indent="-457200" algn="l">
                        <a:lnSpc>
                          <a:spcPct val="110000"/>
                        </a:lnSpc>
                        <a:spcAft>
                          <a:spcPts val="0"/>
                        </a:spcAft>
                        <a:tabLst>
                          <a:tab pos="1371600" algn="l"/>
                          <a:tab pos="540385" algn="l"/>
                        </a:tabLst>
                      </a:pPr>
                      <a:r>
                        <a:rPr lang="en-US" sz="1000" dirty="0">
                          <a:effectLst/>
                          <a:latin typeface="+mn-ea"/>
                          <a:ea typeface="+mn-ea"/>
                        </a:rPr>
                        <a:t>N/A</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5857883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r>
              <a:rPr lang="en-US" altLang="ko-KR" dirty="0">
                <a:solidFill>
                  <a:schemeClr val="tx1"/>
                </a:solidFill>
                <a:latin typeface="+mn-ea"/>
                <a:ea typeface="+mn-ea"/>
              </a:rPr>
              <a:t>4</a:t>
            </a:r>
            <a:r>
              <a:rPr lang="en-US" altLang="ko-KR" dirty="0" smtClean="0">
                <a:solidFill>
                  <a:schemeClr val="tx1"/>
                </a:solidFill>
                <a:latin typeface="+mn-ea"/>
                <a:ea typeface="+mn-ea"/>
              </a:rPr>
              <a:t>. </a:t>
            </a:r>
            <a:r>
              <a:rPr lang="ko-KR" altLang="en-US" dirty="0" smtClean="0">
                <a:solidFill>
                  <a:schemeClr val="tx1"/>
                </a:solidFill>
                <a:latin typeface="+mn-ea"/>
                <a:ea typeface="+mn-ea"/>
              </a:rPr>
              <a:t>기타 </a:t>
            </a:r>
            <a:r>
              <a:rPr lang="en-US" altLang="ko-KR" dirty="0" smtClean="0">
                <a:solidFill>
                  <a:schemeClr val="tx1"/>
                </a:solidFill>
                <a:latin typeface="+mn-ea"/>
              </a:rPr>
              <a:t>(2)</a:t>
            </a:r>
            <a:r>
              <a:rPr lang="ko-KR" altLang="en-US" dirty="0" smtClean="0">
                <a:solidFill>
                  <a:schemeClr val="tx1"/>
                </a:solidFill>
                <a:latin typeface="+mn-ea"/>
                <a:ea typeface="+mn-ea"/>
              </a:rPr>
              <a:t> </a:t>
            </a:r>
            <a:endParaRPr lang="ko-KR" altLang="en-US" dirty="0">
              <a:solidFill>
                <a:schemeClr val="tx1"/>
              </a:solidFill>
              <a:latin typeface="+mn-ea"/>
              <a:ea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833648513"/>
              </p:ext>
            </p:extLst>
          </p:nvPr>
        </p:nvGraphicFramePr>
        <p:xfrm>
          <a:off x="439738" y="1043677"/>
          <a:ext cx="9188450" cy="418374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183748">
                <a:tc>
                  <a:txBody>
                    <a:bodyPr/>
                    <a:lstStyle/>
                    <a:p>
                      <a:pPr algn="ctr" latinLnBrk="1">
                        <a:lnSpc>
                          <a:spcPct val="110000"/>
                        </a:lnSpc>
                        <a:spcAft>
                          <a:spcPts val="60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추가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10000"/>
                        </a:lnSpc>
                        <a:spcAft>
                          <a:spcPts val="60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In the event that LG H&amp;H proposes to Transfer to a non-Affiliate third party (other than a Prohibited Competitor) (collectively, the “Drag Along Purchaser”), all or its Shares, then LG H&amp;H shall have the right (a “Drag Along Right”) to require Other Shareholder (the “Drag Along Shareholder” and, together with LG H&amp;H, the “Selling Shareholders”) to Transfer to the Drag Along Purchaser the Drag Along Shares on the same terms and conditions and for the same per Security consideration as the Shares proposed to be Transferred by LG H&amp;H (a transaction described above, a “Drag Along Sale”).  For the purpose of this Agreement, the term “Drag Along Shares” means a number of Shares held by the Drag Along Shareholders.</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0000"/>
                        </a:lnSpc>
                        <a:spcAft>
                          <a:spcPts val="60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In order to exercise a Drag Along Right, LG H&amp;H shall notify the Drag Along Shareholder, such notice to set forth a reasonable description of the principal terms and conditions of the proposed Drag Along Sale, including the name and address of the proposed Drag Along Purchaser, the class and number of Shares proposed to be Transferred and the price per Share (the “Drag Along Notice”).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0000"/>
                        </a:lnSpc>
                        <a:spcAft>
                          <a:spcPts val="60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If LG H&amp;H exercises its Drag Along Right, (</a:t>
                      </a:r>
                      <a:r>
                        <a:rPr lang="en-US"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the sale of the Drag Along Shares held by the Drag Along Shareholder in the Drag Along Sale shall occur concurrently with the sale by LG H&amp;H of its Shares in the Drag Along Sale, (ii) the Drag Along Shareholder shall receive for its Drag Along Shares the same consideration per Security that LG H&amp;H receives for its Shares from the Drag Along Purchaser in the Drag Along Sale and as set forth in the Drag Along Notice, and (iii) such Drag Along Sale shall otherwise be on the same terms and conditions upon which LG H&amp;H is selling its Shares in such Drag Along Sale. In connection with the Drag Along Sale, the Drag Along Shareholder will agree to make or agree to the same representations, warranties, covenants, agreements and indemnities as LG H&amp;H so long as they are borne on a pro rata basis based on the consideration to be received by each Selling Shareholder; provided, however, that any general indemnity given to the Drag Along Purchaser, applicable to liabilities not specific to a particular Drag Along Shareholder, shall be apportioned among the Selling Shareholders according to the consideration received by each such Selling Shareholder.</a:t>
                      </a:r>
                    </a:p>
                    <a:p>
                      <a:pPr marL="342900" lvl="0" indent="-342900" algn="just" latinLnBrk="1">
                        <a:lnSpc>
                          <a:spcPct val="110000"/>
                        </a:lnSpc>
                        <a:spcAft>
                          <a:spcPts val="600"/>
                        </a:spcAft>
                        <a:buFont typeface="+mj-lt"/>
                        <a:buAutoNum type="alphaLcParenBoth"/>
                      </a:pPr>
                      <a:r>
                        <a:rPr lang="en-US" altLang="ko-KR" sz="1000" dirty="0" smtClean="0">
                          <a:effectLst/>
                          <a:latin typeface="맑은 고딕" panose="020B0503020000020004" pitchFamily="50" charset="-127"/>
                          <a:cs typeface="Times New Roman" panose="02020603050405020304" pitchFamily="18" charset="0"/>
                        </a:rPr>
                        <a:t>At LG H&amp;H’s request, the Drag Along Shareholder shall provide a duly executed irrevocable power of attorney to delegate to LG H&amp;H all of its authority and power (including voting rights) necessary or required to consummate the Drag Along Sale.</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bl>
          </a:graphicData>
        </a:graphic>
      </p:graphicFrame>
    </p:spTree>
    <p:extLst>
      <p:ext uri="{BB962C8B-B14F-4D97-AF65-F5344CB8AC3E}">
        <p14:creationId xmlns:p14="http://schemas.microsoft.com/office/powerpoint/2010/main" val="40698001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smtClean="0">
                <a:latin typeface="맑은 고딕" panose="020B0503020000020004" pitchFamily="50" charset="-127"/>
                <a:cs typeface="Times New Roman" panose="02020603050405020304" pitchFamily="18" charset="0"/>
              </a:rPr>
              <a:t>5. Call </a:t>
            </a:r>
            <a:r>
              <a:rPr lang="en-US" altLang="ko-KR" dirty="0">
                <a:latin typeface="맑은 고딕" panose="020B0503020000020004" pitchFamily="50" charset="-127"/>
                <a:cs typeface="Times New Roman" panose="02020603050405020304" pitchFamily="18" charset="0"/>
              </a:rPr>
              <a:t>Option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7" name="표 6"/>
          <p:cNvGraphicFramePr>
            <a:graphicFrameLocks noGrp="1"/>
          </p:cNvGraphicFramePr>
          <p:nvPr>
            <p:extLst>
              <p:ext uri="{D42A27DB-BD31-4B8C-83A1-F6EECF244321}">
                <p14:modId xmlns:p14="http://schemas.microsoft.com/office/powerpoint/2010/main" val="155426762"/>
              </p:ext>
            </p:extLst>
          </p:nvPr>
        </p:nvGraphicFramePr>
        <p:xfrm>
          <a:off x="439738" y="1043676"/>
          <a:ext cx="9188450" cy="5563311"/>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58755">
                <a:tc>
                  <a:txBody>
                    <a:bodyPr/>
                    <a:lstStyle/>
                    <a:p>
                      <a:pPr marL="0" algn="ctr" defTabSz="914400" rtl="0" eaLnBrk="1" latinLnBrk="1" hangingPunct="1">
                        <a:lnSpc>
                          <a:spcPct val="10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00000"/>
                        </a:lnSpc>
                        <a:spcAft>
                          <a:spcPts val="0"/>
                        </a:spcAft>
                      </a:pPr>
                      <a:r>
                        <a:rPr lang="ko-KR" altLang="en-US" sz="1000" dirty="0" smtClean="0">
                          <a:solidFill>
                            <a:schemeClr val="tx1"/>
                          </a:solidFill>
                          <a:effectLst/>
                          <a:latin typeface="+mn-ea"/>
                          <a:ea typeface="+mn-ea"/>
                          <a:cs typeface="Times New Roman" panose="02020603050405020304" pitchFamily="18" charset="0"/>
                        </a:rPr>
                        <a:t>계약에 정한 일정한 경우</a:t>
                      </a:r>
                      <a:r>
                        <a:rPr lang="en-US" altLang="ko-KR" sz="1000" dirty="0" smtClean="0">
                          <a:solidFill>
                            <a:schemeClr val="tx1"/>
                          </a:solidFill>
                          <a:effectLst/>
                          <a:latin typeface="+mn-ea"/>
                          <a:ea typeface="+mn-ea"/>
                          <a:cs typeface="Times New Roman" panose="02020603050405020304" pitchFamily="18" charset="0"/>
                        </a:rPr>
                        <a:t>, </a:t>
                      </a:r>
                      <a:r>
                        <a:rPr lang="ko-KR" altLang="en-US" sz="1000" dirty="0" err="1" smtClean="0">
                          <a:solidFill>
                            <a:schemeClr val="tx1"/>
                          </a:solidFill>
                          <a:effectLst/>
                          <a:latin typeface="+mn-ea"/>
                          <a:ea typeface="+mn-ea"/>
                          <a:cs typeface="Times New Roman" panose="02020603050405020304" pitchFamily="18" charset="0"/>
                        </a:rPr>
                        <a:t>콜옵션</a:t>
                      </a:r>
                      <a:r>
                        <a:rPr lang="ko-KR" altLang="en-US" sz="1000" dirty="0" smtClean="0">
                          <a:solidFill>
                            <a:schemeClr val="tx1"/>
                          </a:solidFill>
                          <a:effectLst/>
                          <a:latin typeface="+mn-ea"/>
                          <a:ea typeface="+mn-ea"/>
                          <a:cs typeface="Times New Roman" panose="02020603050405020304" pitchFamily="18" charset="0"/>
                        </a:rPr>
                        <a:t> 권리자가 상대방 주주의 주식을 인수할 수 있는 권리</a:t>
                      </a:r>
                      <a:r>
                        <a:rPr lang="en-US" altLang="ko-KR" sz="1000" dirty="0" smtClean="0">
                          <a:solidFill>
                            <a:schemeClr val="tx1"/>
                          </a:solidFill>
                          <a:effectLst/>
                          <a:latin typeface="+mn-ea"/>
                          <a:ea typeface="+mn-ea"/>
                          <a:cs typeface="Times New Roman" panose="02020603050405020304" pitchFamily="18" charset="0"/>
                        </a:rPr>
                        <a:t>. </a:t>
                      </a:r>
                      <a:endParaRPr lang="ko-KR" sz="10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15262">
                <a:tc>
                  <a:txBody>
                    <a:bodyPr/>
                    <a:lstStyle/>
                    <a:p>
                      <a:pPr marL="0" algn="ctr" defTabSz="914400" rtl="0" eaLnBrk="1" latinLnBrk="1" hangingPunct="1">
                        <a:lnSpc>
                          <a:spcPct val="10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00000"/>
                        </a:lnSpc>
                        <a:spcAft>
                          <a:spcPts val="20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표준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SPA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상의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call option(</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3.7</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은 대상회사의 경영성과가 좋은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Other Shareholder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또는 대상회사로부터 프리미엄을 주고 추가로 발행주식의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10%</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를 인수할 수 있는 권리를 부여하는 방향으로 규정한 것임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00000"/>
                        </a:lnSpc>
                        <a:spcAft>
                          <a:spcPts val="200"/>
                        </a:spcAft>
                        <a:buFont typeface="+mj-lt"/>
                        <a:buAutoNum type="arabicPeriod"/>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Call option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행사에 따른 매매거래 이행의 확보를 위하여</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call option</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보유한 권리자가 그 행사와 관련한 통지를 상대방 주주에게 하는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주식매매계약이 체결된 것으로 간주하는 규정을 넣는 경우가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통상적임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p>
                    <a:p>
                      <a:pPr marL="342900" lvl="0" indent="-342900" algn="just" latinLnBrk="1">
                        <a:lnSpc>
                          <a:spcPct val="100000"/>
                        </a:lnSpc>
                        <a:spcAft>
                          <a:spcPts val="0"/>
                        </a:spcAft>
                        <a:buFont typeface="+mj-lt"/>
                        <a:buAutoNum type="arabicPeriod"/>
                      </a:pPr>
                      <a:r>
                        <a:rPr lang="ko-KR" altLang="ko-KR" sz="1000" dirty="0" smtClean="0">
                          <a:effectLst/>
                          <a:ea typeface="맑은 고딕" panose="020B0503020000020004" pitchFamily="50" charset="-127"/>
                          <a:cs typeface="Times New Roman" panose="02020603050405020304" pitchFamily="18" charset="0"/>
                        </a:rPr>
                        <a:t>하기 제</a:t>
                      </a:r>
                      <a:r>
                        <a:rPr lang="en-US" altLang="ko-KR" sz="1000" dirty="0" smtClean="0">
                          <a:effectLst/>
                          <a:ea typeface="맑은 고딕" panose="020B0503020000020004" pitchFamily="50" charset="-127"/>
                          <a:cs typeface="Times New Roman" panose="02020603050405020304" pitchFamily="18" charset="0"/>
                        </a:rPr>
                        <a:t>3.7</a:t>
                      </a:r>
                      <a:r>
                        <a:rPr lang="ko-KR" altLang="ko-KR" sz="1000" dirty="0" smtClean="0">
                          <a:effectLst/>
                          <a:ea typeface="맑은 고딕" panose="020B0503020000020004" pitchFamily="50" charset="-127"/>
                          <a:cs typeface="Times New Roman" panose="02020603050405020304" pitchFamily="18" charset="0"/>
                        </a:rPr>
                        <a:t>조는</a:t>
                      </a:r>
                      <a:r>
                        <a:rPr lang="en-US" altLang="ko-KR" sz="1000" dirty="0" smtClean="0">
                          <a:effectLst/>
                          <a:ea typeface="맑은 고딕" panose="020B0503020000020004" pitchFamily="50" charset="-127"/>
                          <a:cs typeface="Times New Roman" panose="02020603050405020304" pitchFamily="18" charset="0"/>
                        </a:rPr>
                        <a:t> LG H&amp;H</a:t>
                      </a:r>
                      <a:r>
                        <a:rPr lang="ko-KR" altLang="ko-KR" sz="1000" dirty="0" smtClean="0">
                          <a:effectLst/>
                          <a:ea typeface="맑은 고딕" panose="020B0503020000020004" pitchFamily="50" charset="-127"/>
                          <a:cs typeface="Times New Roman" panose="02020603050405020304" pitchFamily="18" charset="0"/>
                        </a:rPr>
                        <a:t>가 실제 체결한 계약 사례에서 인용한 것이나</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실제 사례에서는</a:t>
                      </a:r>
                      <a:r>
                        <a:rPr lang="en-US" altLang="ko-KR" sz="1000" dirty="0" smtClean="0">
                          <a:effectLst/>
                          <a:ea typeface="맑은 고딕" panose="020B0503020000020004" pitchFamily="50" charset="-127"/>
                          <a:cs typeface="Times New Roman" panose="02020603050405020304" pitchFamily="18" charset="0"/>
                        </a:rPr>
                        <a:t> LG H&amp;H</a:t>
                      </a:r>
                      <a:r>
                        <a:rPr lang="ko-KR" altLang="ko-KR" sz="1000" dirty="0" smtClean="0">
                          <a:effectLst/>
                          <a:ea typeface="맑은 고딕" panose="020B0503020000020004" pitchFamily="50" charset="-127"/>
                          <a:cs typeface="Times New Roman" panose="02020603050405020304" pitchFamily="18" charset="0"/>
                        </a:rPr>
                        <a:t>가 아닌</a:t>
                      </a:r>
                      <a:r>
                        <a:rPr lang="en-US" altLang="ko-KR" sz="1000" dirty="0" smtClean="0">
                          <a:effectLst/>
                          <a:ea typeface="맑은 고딕" panose="020B0503020000020004" pitchFamily="50" charset="-127"/>
                          <a:cs typeface="Times New Roman" panose="02020603050405020304" pitchFamily="18" charset="0"/>
                        </a:rPr>
                        <a:t> Other Shareholder</a:t>
                      </a:r>
                      <a:r>
                        <a:rPr lang="ko-KR" altLang="ko-KR" sz="1000" dirty="0" smtClean="0">
                          <a:effectLst/>
                          <a:ea typeface="맑은 고딕" panose="020B0503020000020004" pitchFamily="50" charset="-127"/>
                          <a:cs typeface="Times New Roman" panose="02020603050405020304" pitchFamily="18" charset="0"/>
                        </a:rPr>
                        <a:t>에게</a:t>
                      </a:r>
                      <a:r>
                        <a:rPr lang="en-US" altLang="ko-KR" sz="1000" dirty="0" smtClean="0">
                          <a:effectLst/>
                          <a:ea typeface="맑은 고딕" panose="020B0503020000020004" pitchFamily="50" charset="-127"/>
                          <a:cs typeface="Times New Roman" panose="02020603050405020304" pitchFamily="18" charset="0"/>
                        </a:rPr>
                        <a:t> call option</a:t>
                      </a:r>
                      <a:r>
                        <a:rPr lang="ko-KR" altLang="ko-KR" sz="1000" dirty="0" smtClean="0">
                          <a:effectLst/>
                          <a:ea typeface="맑은 고딕" panose="020B0503020000020004" pitchFamily="50" charset="-127"/>
                          <a:cs typeface="Times New Roman" panose="02020603050405020304" pitchFamily="18" charset="0"/>
                        </a:rPr>
                        <a:t>이 부여되어 있었음</a:t>
                      </a:r>
                      <a:endParaRPr lang="en-US" altLang="ko-KR" sz="1000" b="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4089294">
                <a:tc>
                  <a:txBody>
                    <a:bodyPr/>
                    <a:lstStyle/>
                    <a:p>
                      <a:pPr marL="0" algn="ctr" defTabSz="914400" rtl="0" eaLnBrk="1" latinLnBrk="1" hangingPunct="1">
                        <a:lnSpc>
                          <a:spcPct val="100000"/>
                        </a:lnSpc>
                        <a:spcAft>
                          <a:spcPts val="0"/>
                        </a:spcAft>
                      </a:pPr>
                      <a:r>
                        <a:rPr lang="ko-KR" altLang="ko-KR" sz="1000" b="1" kern="1200" dirty="0" smtClean="0">
                          <a:solidFill>
                            <a:schemeClr val="tx1"/>
                          </a:solidFill>
                          <a:effectLst/>
                          <a:latin typeface="+mn-ea"/>
                          <a:ea typeface="+mn-ea"/>
                          <a:cs typeface="Times New Roman" panose="02020603050405020304" pitchFamily="18" charset="0"/>
                        </a:rPr>
                        <a:t>표준</a:t>
                      </a:r>
                      <a:r>
                        <a:rPr lang="en-US" altLang="ko-KR" sz="1000" b="1" kern="1200" dirty="0" smtClean="0">
                          <a:solidFill>
                            <a:schemeClr val="tx1"/>
                          </a:solidFill>
                          <a:effectLst/>
                          <a:latin typeface="+mn-ea"/>
                          <a:ea typeface="+mn-ea"/>
                          <a:cs typeface="Times New Roman" panose="02020603050405020304" pitchFamily="18" charset="0"/>
                        </a:rPr>
                        <a:t> SHA  </a:t>
                      </a:r>
                      <a:br>
                        <a:rPr lang="en-US" altLang="ko-KR" sz="1000" b="1" kern="1200" dirty="0" smtClean="0">
                          <a:solidFill>
                            <a:schemeClr val="tx1"/>
                          </a:solidFill>
                          <a:effectLst/>
                          <a:latin typeface="+mn-ea"/>
                          <a:ea typeface="+mn-ea"/>
                          <a:cs typeface="Times New Roman" panose="02020603050405020304" pitchFamily="18" charset="0"/>
                        </a:rPr>
                      </a:br>
                      <a:r>
                        <a:rPr lang="ko-KR" altLang="ko-KR" sz="1000" b="1" kern="1200" dirty="0" smtClean="0">
                          <a:solidFill>
                            <a:schemeClr val="tx1"/>
                          </a:solidFill>
                          <a:effectLst/>
                          <a:latin typeface="+mn-ea"/>
                          <a:ea typeface="+mn-ea"/>
                          <a:cs typeface="Times New Roman" panose="02020603050405020304" pitchFamily="18" charset="0"/>
                        </a:rPr>
                        <a:t>문구</a:t>
                      </a:r>
                      <a:endParaRPr lang="ko-KR" alt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00000"/>
                        </a:lnSpc>
                        <a:spcAft>
                          <a:spcPts val="400"/>
                        </a:spcAft>
                        <a:buFont typeface="+mj-lt"/>
                        <a:buNone/>
                      </a:pP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3.7 </a:t>
                      </a:r>
                      <a:r>
                        <a:rPr lang="en-US" altLang="ko-KR" sz="1000" u="sng"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Call Option</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LG H&amp;H shall have the right, at its election, by giving written notice to Other Shareholder (the “</a:t>
                      </a:r>
                      <a:r>
                        <a:rPr lang="en-US" altLang="ko-KR" sz="1000" u="sng"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Call Option Notice</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to either (</a:t>
                      </a:r>
                      <a:r>
                        <a:rPr lang="en-US" altLang="ko-KR" sz="1000" u="none" strike="noStrike" spc="-15" dirty="0" err="1" smtClean="0">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require Other Shareholder to sell its Shares to LG H&amp;H, or (ii) subscribe for and purchase newly issued Shares described in this </a:t>
                      </a:r>
                      <a:r>
                        <a:rPr lang="en-US" altLang="ko-KR" sz="1000" u="sng"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3.7</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(the “</a:t>
                      </a:r>
                      <a:r>
                        <a:rPr lang="en-US" altLang="ko-KR" sz="1000" u="sng"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Call Option</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and specifying in the Call Option Notice the number of Shares LG H&amp;H will be purchasing pursuant to this </a:t>
                      </a:r>
                      <a:r>
                        <a:rPr lang="en-US" altLang="ko-KR" sz="1000" u="sng"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3.7</a:t>
                      </a:r>
                      <a:r>
                        <a:rPr lang="en-US" altLang="ko-KR" sz="1000" u="none" strike="noStrike"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as follows:</a:t>
                      </a:r>
                      <a:endParaRPr lang="ko-KR" altLang="ko-KR" sz="1000" u="none" strike="noStrike"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a:lnSpc>
                          <a:spcPct val="100000"/>
                        </a:lnSpc>
                        <a:spcAft>
                          <a:spcPts val="400"/>
                        </a:spcAft>
                        <a:buFont typeface="+mj-lt"/>
                        <a:buAutoNum type="alpha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At any time after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바탕" panose="02030600000101010101" pitchFamily="18" charset="-127"/>
                          <a:ea typeface="맑은 고딕" panose="020B0503020000020004" pitchFamily="50" charset="-127"/>
                          <a:cs typeface="Times New Roman" panose="02020603050405020304" pitchFamily="18" charset="0"/>
                        </a:rPr>
                        <a:t>•</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at LG H&amp;H’s election, (x) the Shares owned by Other Shareholder representing up to ten percent (10%) of the issued and outstanding Shares for a purchase price equal to [130% of the Shareholder’s Market Value] of such Shares as determined in accordance with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7.3(c)</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or (y) newly issued Shares up to the amount such that LG H&amp;H’s Percentage Interest equals 60% for a subscription price equal to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바탕" panose="02030600000101010101" pitchFamily="18" charset="-127"/>
                          <a:ea typeface="맑은 고딕" panose="020B0503020000020004" pitchFamily="50" charset="-127"/>
                          <a:cs typeface="Times New Roman" panose="02020603050405020304" pitchFamily="18" charset="0"/>
                        </a:rPr>
                        <a:t>•</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per Share.</a:t>
                      </a:r>
                    </a:p>
                    <a:p>
                      <a:pPr marL="342900" lvl="0" indent="-342900" algn="just">
                        <a:lnSpc>
                          <a:spcPct val="100000"/>
                        </a:lnSpc>
                        <a:spcAft>
                          <a:spcPts val="0"/>
                        </a:spcAft>
                        <a:buFont typeface="+mj-lt"/>
                        <a:buAutoNum type="alpha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In the event of an exercise of the Call Option:</a:t>
                      </a:r>
                    </a:p>
                    <a:p>
                      <a:pPr marL="627063" lvl="1" indent="-268288" algn="just">
                        <a:lnSpc>
                          <a:spcPct val="100000"/>
                        </a:lnSpc>
                        <a:spcAft>
                          <a:spcPts val="0"/>
                        </a:spcAft>
                        <a:buFont typeface="+mj-lt"/>
                        <a:buAutoNum type="roman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Other Shareholder shall (x) sell the number of Shares set forth in the Call Option Notice to LG H&amp;H, or (y) take any and all actions necessary (including without limitation waive any pre-emptive rights) to cause the Company to issue solely to LG H&amp;H the number of Shares set forth in the Call Option Notice, as the case may be;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627063" lvl="1" indent="-268288" algn="just">
                        <a:lnSpc>
                          <a:spcPct val="100000"/>
                        </a:lnSpc>
                        <a:spcAft>
                          <a:spcPts val="0"/>
                        </a:spcAft>
                        <a:buFont typeface="+mj-lt"/>
                        <a:buAutoNum type="roman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upon delivery of the Call Option Notice, LG H&amp;H on the one hand and the Company or Other Shareholder, as applicable, on the other hand shall be deemed to have entered into a definitive agreement with respect to the consummation of the sale of the Shares by Other Shareholder or the issuance of the new Shares pursuant to this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3.7</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as applicable;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627063" lvl="1" indent="-268288" algn="just">
                        <a:lnSpc>
                          <a:spcPct val="100000"/>
                        </a:lnSpc>
                        <a:spcAft>
                          <a:spcPts val="0"/>
                        </a:spcAft>
                        <a:buFont typeface="+mj-lt"/>
                        <a:buAutoNum type="roman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the consummation of the sale of the Shares by Other Shareholder or the issuance of the new Shares pursuant to this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3.7</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shall occur within thirty (30) days from the receipt of the Appraisal Report from the Independent Accountant (or, in the event of a disagreement with respect to the Appraisal Report pursuant to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7.3(c)(ii)</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within sixty (60) days of the date when such disagreement is resolved pursuant to </a:t>
                      </a:r>
                      <a:r>
                        <a:rPr lang="en-US" altLang="ko-KR" sz="1000" u="sng" spc="-15"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7.3(c)(ii)</a:t>
                      </a: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 or such other date as may be agreed to between the Shareholders, at the Company’s principal place of business and at a time reasonably chosen by LG H&amp;H.  At such closing, LG H&amp;H will deliver the price for such Shares to Other Shareholder or the Company, as the case may be, and Other Shareholder will execute and deliver or cause the Company to execute and deliver such documents as may be necessary to effectuate such Transfer or issuance of new Shares, as the case may be; and</a:t>
                      </a:r>
                    </a:p>
                    <a:p>
                      <a:pPr marL="627063" lvl="1" indent="-268288" algn="just">
                        <a:lnSpc>
                          <a:spcPct val="100000"/>
                        </a:lnSpc>
                        <a:spcAft>
                          <a:spcPts val="0"/>
                        </a:spcAft>
                        <a:buFont typeface="+mj-lt"/>
                        <a:buAutoNum type="romanLcParenBoth"/>
                      </a:pPr>
                      <a:r>
                        <a:rPr lang="en-US" altLang="ko-KR" sz="1000" spc="-15" dirty="0" smtClean="0">
                          <a:effectLst/>
                          <a:latin typeface="맑은 고딕" panose="020B0503020000020004" pitchFamily="50" charset="-127"/>
                          <a:ea typeface="맑은 고딕" panose="020B0503020000020004" pitchFamily="50" charset="-127"/>
                          <a:cs typeface="Times New Roman" panose="02020603050405020304" pitchFamily="18" charset="0"/>
                        </a:rPr>
                        <a:t>the Shareholders shall approve the amendment of the Articles of Incorporation of the Company to reflect any and all changes caused by the exercise of the Call Option.</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34020626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 Transfer Restriction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sp>
        <p:nvSpPr>
          <p:cNvPr id="5" name="TextBox 4"/>
          <p:cNvSpPr txBox="1"/>
          <p:nvPr/>
        </p:nvSpPr>
        <p:spPr>
          <a:xfrm>
            <a:off x="277813" y="689915"/>
            <a:ext cx="9163776" cy="276999"/>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a:latin typeface="맑은 고딕" panose="020B0503020000020004" pitchFamily="50" charset="-127"/>
                <a:cs typeface="Times New Roman" panose="02020603050405020304" pitchFamily="18" charset="0"/>
              </a:rPr>
              <a:t>6.	Transfer Violation </a:t>
            </a:r>
            <a:endParaRPr lang="ko-KR" altLang="ko-KR" sz="1050" dirty="0">
              <a:latin typeface="맑은 고딕" panose="020B0503020000020004" pitchFamily="50" charset="-127"/>
              <a:cs typeface="Times New Roman" panose="02020603050405020304" pitchFamily="18" charset="0"/>
            </a:endParaRPr>
          </a:p>
        </p:txBody>
      </p:sp>
      <p:graphicFrame>
        <p:nvGraphicFramePr>
          <p:cNvPr id="7" name="표 6"/>
          <p:cNvGraphicFramePr>
            <a:graphicFrameLocks noGrp="1"/>
          </p:cNvGraphicFramePr>
          <p:nvPr>
            <p:extLst>
              <p:ext uri="{D42A27DB-BD31-4B8C-83A1-F6EECF244321}">
                <p14:modId xmlns:p14="http://schemas.microsoft.com/office/powerpoint/2010/main" val="2582801435"/>
              </p:ext>
            </p:extLst>
          </p:nvPr>
        </p:nvGraphicFramePr>
        <p:xfrm>
          <a:off x="439738" y="1043677"/>
          <a:ext cx="9188450" cy="310469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7003">
                <a:tc>
                  <a:txBody>
                    <a:bodyPr/>
                    <a:lstStyle/>
                    <a:p>
                      <a:pPr algn="ctr" latinLnBrk="1">
                        <a:lnSpc>
                          <a:spcPct val="115000"/>
                        </a:lnSpc>
                        <a:spcAft>
                          <a:spcPts val="0"/>
                        </a:spcAft>
                      </a:pPr>
                      <a:r>
                        <a:rPr lang="ko-KR" sz="1000" b="1">
                          <a:effectLst/>
                          <a:latin typeface="+mn-ea"/>
                          <a:ea typeface="+mn-ea"/>
                          <a:cs typeface="Times New Roman" panose="02020603050405020304" pitchFamily="18" charset="0"/>
                        </a:rPr>
                        <a:t>원칙</a:t>
                      </a:r>
                      <a:r>
                        <a:rPr lang="en-US" sz="1000" b="1">
                          <a:effectLst/>
                          <a:latin typeface="+mn-ea"/>
                          <a:ea typeface="+mn-ea"/>
                          <a:cs typeface="Times New Roman" panose="02020603050405020304" pitchFamily="18" charset="0"/>
                        </a:rPr>
                        <a:t>/</a:t>
                      </a:r>
                      <a:r>
                        <a:rPr lang="ko-KR" sz="1000" b="1">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altLang="en-US" sz="1000" dirty="0" smtClean="0">
                          <a:effectLst/>
                          <a:latin typeface="+mn-ea"/>
                          <a:ea typeface="+mn-ea"/>
                          <a:cs typeface="Times New Roman" panose="02020603050405020304" pitchFamily="18" charset="0"/>
                        </a:rPr>
                        <a:t>앞서 설명한 바와 같이 주주간 계약상 양도 제한규정은 효력이 제한적일 수 있음</a:t>
                      </a:r>
                      <a:r>
                        <a:rPr lang="en-US" altLang="ko-KR"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798425">
                <a:tc>
                  <a:txBody>
                    <a:bodyPr/>
                    <a:lstStyle/>
                    <a:p>
                      <a:pPr algn="ctr" latinLnBrk="1">
                        <a:lnSpc>
                          <a:spcPct val="115000"/>
                        </a:lnSpc>
                        <a:spcAft>
                          <a:spcPts val="0"/>
                        </a:spcAft>
                      </a:pPr>
                      <a:r>
                        <a:rPr lang="en-US" sz="1000" b="1" dirty="0">
                          <a:effectLst/>
                          <a:latin typeface="+mn-ea"/>
                          <a:ea typeface="+mn-ea"/>
                          <a:cs typeface="Times New Roman" panose="02020603050405020304" pitchFamily="18" charset="0"/>
                        </a:rPr>
                        <a:t>Checklist</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ko-KR" altLang="en-US" sz="1000" dirty="0" smtClean="0">
                          <a:effectLst/>
                          <a:latin typeface="+mn-ea"/>
                          <a:ea typeface="+mn-ea"/>
                          <a:cs typeface="Times New Roman" panose="02020603050405020304" pitchFamily="18" charset="0"/>
                        </a:rPr>
                        <a:t>주주간 계약상 양도 제한규정은 주주간 계약상의 의무이기 때문에 상대방이 이를 위반하는 경우에는 원칙적으로 계약 위반에 대한 손해배상의무가 발생하는 것 외에 주주간 계약의 존재를 알지 못하고 양수한 제</a:t>
                      </a:r>
                      <a:r>
                        <a:rPr lang="en-US" altLang="ko-KR" sz="1000" dirty="0" smtClean="0">
                          <a:effectLst/>
                          <a:latin typeface="+mn-ea"/>
                          <a:ea typeface="+mn-ea"/>
                          <a:cs typeface="Times New Roman" panose="02020603050405020304" pitchFamily="18" charset="0"/>
                        </a:rPr>
                        <a:t>3</a:t>
                      </a:r>
                      <a:r>
                        <a:rPr lang="ko-KR" altLang="en-US" sz="1000" dirty="0" smtClean="0">
                          <a:effectLst/>
                          <a:latin typeface="+mn-ea"/>
                          <a:ea typeface="+mn-ea"/>
                          <a:cs typeface="Times New Roman" panose="02020603050405020304" pitchFamily="18" charset="0"/>
                        </a:rPr>
                        <a:t>자에 대해서는 </a:t>
                      </a:r>
                      <a:r>
                        <a:rPr lang="en-US" altLang="ko-KR" sz="1000" dirty="0" smtClean="0">
                          <a:effectLst/>
                          <a:latin typeface="+mn-ea"/>
                          <a:ea typeface="+mn-ea"/>
                          <a:cs typeface="Times New Roman" panose="02020603050405020304" pitchFamily="18" charset="0"/>
                        </a:rPr>
                        <a:t>(</a:t>
                      </a:r>
                      <a:r>
                        <a:rPr lang="ko-KR" altLang="en-US" sz="1000" dirty="0" smtClean="0">
                          <a:effectLst/>
                          <a:latin typeface="+mn-ea"/>
                          <a:ea typeface="+mn-ea"/>
                          <a:cs typeface="Times New Roman" panose="02020603050405020304" pitchFamily="18" charset="0"/>
                        </a:rPr>
                        <a:t>특히 선의취득 등의 관점에서</a:t>
                      </a:r>
                      <a:r>
                        <a:rPr lang="en-US" altLang="ko-KR" sz="1000" dirty="0" smtClean="0">
                          <a:effectLst/>
                          <a:latin typeface="+mn-ea"/>
                          <a:ea typeface="+mn-ea"/>
                          <a:cs typeface="Times New Roman" panose="02020603050405020304" pitchFamily="18" charset="0"/>
                        </a:rPr>
                        <a:t>) </a:t>
                      </a:r>
                      <a:r>
                        <a:rPr lang="ko-KR" altLang="en-US" sz="1000" dirty="0" smtClean="0">
                          <a:effectLst/>
                          <a:latin typeface="+mn-ea"/>
                          <a:ea typeface="+mn-ea"/>
                          <a:cs typeface="Times New Roman" panose="02020603050405020304" pitchFamily="18" charset="0"/>
                        </a:rPr>
                        <a:t>대항하기 어려울 수 있음</a:t>
                      </a:r>
                      <a:r>
                        <a:rPr lang="en-US" altLang="ko-KR" sz="1000" dirty="0" smtClean="0">
                          <a:effectLst/>
                          <a:latin typeface="+mn-ea"/>
                          <a:ea typeface="+mn-ea"/>
                          <a:cs typeface="Times New Roman" panose="02020603050405020304" pitchFamily="18" charset="0"/>
                        </a:rPr>
                        <a:t>. </a:t>
                      </a:r>
                    </a:p>
                    <a:p>
                      <a:pPr algn="l" latinLnBrk="1">
                        <a:lnSpc>
                          <a:spcPct val="115000"/>
                        </a:lnSpc>
                        <a:spcAft>
                          <a:spcPts val="0"/>
                        </a:spcAft>
                      </a:pPr>
                      <a:r>
                        <a:rPr lang="en-US" sz="1000" dirty="0" smtClean="0">
                          <a:effectLst/>
                          <a:latin typeface="+mn-ea"/>
                          <a:ea typeface="+mn-ea"/>
                          <a:cs typeface="Times New Roman" panose="02020603050405020304" pitchFamily="18" charset="0"/>
                        </a:rPr>
                        <a:t> </a:t>
                      </a:r>
                      <a:endParaRPr lang="ko-KR" sz="1000" dirty="0" smtClean="0">
                        <a:effectLst/>
                        <a:latin typeface="+mn-ea"/>
                        <a:ea typeface="+mn-ea"/>
                        <a:cs typeface="Times New Roman" panose="02020603050405020304" pitchFamily="18" charset="0"/>
                      </a:endParaRPr>
                    </a:p>
                    <a:p>
                      <a:pPr algn="l" latinLnBrk="1">
                        <a:lnSpc>
                          <a:spcPct val="115000"/>
                        </a:lnSpc>
                        <a:spcAft>
                          <a:spcPts val="0"/>
                        </a:spcAft>
                      </a:pPr>
                      <a:r>
                        <a:rPr lang="ko-KR" sz="1000" dirty="0" smtClean="0">
                          <a:effectLst/>
                          <a:latin typeface="+mn-ea"/>
                          <a:ea typeface="+mn-ea"/>
                          <a:cs typeface="Times New Roman" panose="02020603050405020304" pitchFamily="18" charset="0"/>
                        </a:rPr>
                        <a:t>앞서 설명한 바와 같이 단순한 계약상 의무가 아니라 </a:t>
                      </a:r>
                      <a:r>
                        <a:rPr lang="ko-KR" sz="1000" dirty="0" err="1" smtClean="0">
                          <a:effectLst/>
                          <a:latin typeface="+mn-ea"/>
                          <a:ea typeface="+mn-ea"/>
                          <a:cs typeface="Times New Roman" panose="02020603050405020304" pitchFamily="18" charset="0"/>
                        </a:rPr>
                        <a:t>준거지법에</a:t>
                      </a:r>
                      <a:r>
                        <a:rPr lang="ko-KR" sz="1000" dirty="0" smtClean="0">
                          <a:effectLst/>
                          <a:latin typeface="+mn-ea"/>
                          <a:ea typeface="+mn-ea"/>
                          <a:cs typeface="Times New Roman" panose="02020603050405020304" pitchFamily="18" charset="0"/>
                        </a:rPr>
                        <a:t> 따른 정관 규정에 의하여 양도를 제한할 수 있으려면</a:t>
                      </a:r>
                      <a:r>
                        <a:rPr lang="en-US" sz="1000" dirty="0" smtClean="0">
                          <a:effectLst/>
                          <a:latin typeface="+mn-ea"/>
                          <a:ea typeface="+mn-ea"/>
                          <a:cs typeface="Times New Roman" panose="02020603050405020304" pitchFamily="18" charset="0"/>
                        </a:rPr>
                        <a:t>, </a:t>
                      </a:r>
                      <a:r>
                        <a:rPr lang="ko-KR" sz="1000" dirty="0" err="1" smtClean="0">
                          <a:effectLst/>
                          <a:latin typeface="+mn-ea"/>
                          <a:ea typeface="+mn-ea"/>
                          <a:cs typeface="Times New Roman" panose="02020603050405020304" pitchFamily="18" charset="0"/>
                        </a:rPr>
                        <a:t>준거지법에</a:t>
                      </a:r>
                      <a:r>
                        <a:rPr lang="ko-KR" sz="1000" dirty="0" smtClean="0">
                          <a:effectLst/>
                          <a:latin typeface="+mn-ea"/>
                          <a:ea typeface="+mn-ea"/>
                          <a:cs typeface="Times New Roman" panose="02020603050405020304" pitchFamily="18" charset="0"/>
                        </a:rPr>
                        <a:t> 대한 검토 및 정관 기재 내지 등기 등의 절차가 필요할 수 있음</a:t>
                      </a:r>
                      <a:r>
                        <a:rPr lang="en-US" sz="1000" dirty="0" smtClean="0">
                          <a:effectLst/>
                          <a:latin typeface="+mn-ea"/>
                          <a:ea typeface="+mn-ea"/>
                          <a:cs typeface="Times New Roman" panose="02020603050405020304" pitchFamily="18" charset="0"/>
                        </a:rPr>
                        <a:t>. </a:t>
                      </a:r>
                      <a:endParaRPr lang="ko-KR" sz="1000" dirty="0" smtClean="0">
                        <a:effectLst/>
                        <a:latin typeface="+mn-ea"/>
                        <a:ea typeface="+mn-ea"/>
                        <a:cs typeface="Times New Roman" panose="02020603050405020304" pitchFamily="18" charset="0"/>
                      </a:endParaRPr>
                    </a:p>
                    <a:p>
                      <a:pPr algn="l" latinLnBrk="1">
                        <a:lnSpc>
                          <a:spcPct val="115000"/>
                        </a:lnSpc>
                        <a:spcAft>
                          <a:spcPts val="0"/>
                        </a:spcAft>
                      </a:pPr>
                      <a:r>
                        <a:rPr lang="en-US" sz="1000" dirty="0" smtClean="0">
                          <a:effectLst/>
                          <a:latin typeface="+mn-ea"/>
                          <a:ea typeface="+mn-ea"/>
                          <a:cs typeface="Times New Roman" panose="02020603050405020304" pitchFamily="18" charset="0"/>
                        </a:rPr>
                        <a:t> </a:t>
                      </a:r>
                      <a:endParaRPr lang="ko-KR" sz="1000" dirty="0" smtClean="0">
                        <a:effectLst/>
                        <a:latin typeface="+mn-ea"/>
                        <a:ea typeface="+mn-ea"/>
                        <a:cs typeface="Times New Roman" panose="02020603050405020304" pitchFamily="18" charset="0"/>
                      </a:endParaRPr>
                    </a:p>
                    <a:p>
                      <a:pPr algn="l" latinLnBrk="1">
                        <a:lnSpc>
                          <a:spcPct val="115000"/>
                        </a:lnSpc>
                        <a:spcAft>
                          <a:spcPts val="0"/>
                        </a:spcAft>
                      </a:pPr>
                      <a:r>
                        <a:rPr lang="ko-KR" sz="1000" dirty="0" err="1" smtClean="0">
                          <a:effectLst/>
                          <a:latin typeface="+mn-ea"/>
                          <a:ea typeface="+mn-ea"/>
                          <a:cs typeface="Times New Roman" panose="02020603050405020304" pitchFamily="18" charset="0"/>
                        </a:rPr>
                        <a:t>준거지법에</a:t>
                      </a:r>
                      <a:r>
                        <a:rPr lang="ko-KR" sz="1000" dirty="0" smtClean="0">
                          <a:effectLst/>
                          <a:latin typeface="+mn-ea"/>
                          <a:ea typeface="+mn-ea"/>
                          <a:cs typeface="Times New Roman" panose="02020603050405020304" pitchFamily="18" charset="0"/>
                        </a:rPr>
                        <a:t> 따라 양도금지 위반에 대한 손해에 대한 입증이 쉽지 않을 것을 고려하여</a:t>
                      </a:r>
                      <a:r>
                        <a:rPr lang="en-US" sz="1000" dirty="0" smtClean="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주주간 계약에 양도차익에 대한 </a:t>
                      </a:r>
                      <a:r>
                        <a:rPr lang="ko-KR" sz="1000" dirty="0" err="1" smtClean="0">
                          <a:effectLst/>
                          <a:latin typeface="+mn-ea"/>
                          <a:ea typeface="+mn-ea"/>
                          <a:cs typeface="Times New Roman" panose="02020603050405020304" pitchFamily="18" charset="0"/>
                        </a:rPr>
                        <a:t>몰취</a:t>
                      </a:r>
                      <a:r>
                        <a:rPr lang="ko-KR" sz="1000" dirty="0" smtClean="0">
                          <a:effectLst/>
                          <a:latin typeface="+mn-ea"/>
                          <a:ea typeface="+mn-ea"/>
                          <a:cs typeface="Times New Roman" panose="02020603050405020304" pitchFamily="18" charset="0"/>
                        </a:rPr>
                        <a:t> 등 </a:t>
                      </a:r>
                      <a:r>
                        <a:rPr lang="ko-KR" sz="1000" dirty="0" err="1" smtClean="0">
                          <a:effectLst/>
                          <a:latin typeface="+mn-ea"/>
                          <a:ea typeface="+mn-ea"/>
                          <a:cs typeface="Times New Roman" panose="02020603050405020304" pitchFamily="18" charset="0"/>
                        </a:rPr>
                        <a:t>위약벌과</a:t>
                      </a:r>
                      <a:r>
                        <a:rPr lang="ko-KR" sz="1000" dirty="0" smtClean="0">
                          <a:effectLst/>
                          <a:latin typeface="+mn-ea"/>
                          <a:ea typeface="+mn-ea"/>
                          <a:cs typeface="Times New Roman" panose="02020603050405020304" pitchFamily="18" charset="0"/>
                        </a:rPr>
                        <a:t> 유사한 형식의 규정을 두는 것도 고려할 수 있음</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839265">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표준 </a:t>
                      </a:r>
                      <a:r>
                        <a:rPr lang="en-US" sz="1000" b="1" dirty="0">
                          <a:effectLst/>
                          <a:latin typeface="+mn-ea"/>
                          <a:ea typeface="+mn-ea"/>
                          <a:cs typeface="Times New Roman" panose="02020603050405020304" pitchFamily="18" charset="0"/>
                        </a:rPr>
                        <a:t>SHA </a:t>
                      </a:r>
                      <a:r>
                        <a:rPr lang="ko-KR" sz="1000" b="1" dirty="0">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l">
                        <a:lnSpc>
                          <a:spcPts val="1400"/>
                        </a:lnSpc>
                        <a:spcAft>
                          <a:spcPts val="0"/>
                        </a:spcAft>
                        <a:buFont typeface="+mj-lt"/>
                        <a:buNone/>
                      </a:pPr>
                      <a:r>
                        <a:rPr lang="en-US" sz="1000" u="none" strike="noStrike" spc="-15" dirty="0" smtClean="0">
                          <a:effectLst/>
                          <a:latin typeface="+mn-ea"/>
                          <a:ea typeface="+mn-ea"/>
                          <a:cs typeface="Times New Roman" panose="02020603050405020304" pitchFamily="18" charset="0"/>
                        </a:rPr>
                        <a:t>3.9 </a:t>
                      </a:r>
                      <a:r>
                        <a:rPr lang="en-US" sz="1000" u="sng" strike="noStrike" spc="-15" dirty="0">
                          <a:effectLst/>
                          <a:latin typeface="+mn-ea"/>
                          <a:ea typeface="+mn-ea"/>
                          <a:cs typeface="Times New Roman" panose="02020603050405020304" pitchFamily="18" charset="0"/>
                        </a:rPr>
                        <a:t>Violation of Transfer Restrictions</a:t>
                      </a:r>
                      <a:r>
                        <a:rPr lang="en-US" sz="1000" u="none" strike="noStrike" spc="-15" dirty="0">
                          <a:effectLst/>
                          <a:latin typeface="+mn-ea"/>
                          <a:ea typeface="+mn-ea"/>
                          <a:cs typeface="Times New Roman" panose="02020603050405020304" pitchFamily="18" charset="0"/>
                        </a:rPr>
                        <a:t>.  The Parties acknowledge and agree that any purported Transfer that is not in full compliance with this Agreement shall be deemed to be a material breach of this Agreement and the Company shall not acknowledge, agree to or register any such Transfer in the Company’s registry of Shareholders. </a:t>
                      </a:r>
                      <a:endParaRPr lang="ko-KR" sz="1000" u="none" strike="noStrike"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303082326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 Non-Competition /</a:t>
            </a:r>
            <a:r>
              <a:rPr lang="en-US" altLang="ko-KR" dirty="0" smtClean="0">
                <a:latin typeface="+mn-ea"/>
              </a:rPr>
              <a:t>Non-Solicitation (1)</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3771164534"/>
              </p:ext>
            </p:extLst>
          </p:nvPr>
        </p:nvGraphicFramePr>
        <p:xfrm>
          <a:off x="439738" y="671513"/>
          <a:ext cx="9188450" cy="575486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653867">
                <a:tc>
                  <a:txBody>
                    <a:bodyPr/>
                    <a:lstStyle/>
                    <a:p>
                      <a:pPr algn="ctr" latinLnBrk="1">
                        <a:lnSpc>
                          <a:spcPct val="115000"/>
                        </a:lnSpc>
                        <a:spcAft>
                          <a:spcPts val="0"/>
                        </a:spcAft>
                      </a:pPr>
                      <a:r>
                        <a:rPr lang="ko-KR" sz="1000" b="1">
                          <a:effectLst/>
                          <a:latin typeface="+mn-ea"/>
                          <a:ea typeface="+mn-ea"/>
                          <a:cs typeface="Times New Roman" panose="02020603050405020304" pitchFamily="18" charset="0"/>
                        </a:rPr>
                        <a:t>원칙</a:t>
                      </a:r>
                      <a:r>
                        <a:rPr lang="en-US" sz="1000" b="1">
                          <a:effectLst/>
                          <a:latin typeface="+mn-ea"/>
                          <a:ea typeface="+mn-ea"/>
                          <a:cs typeface="Times New Roman" panose="02020603050405020304" pitchFamily="18" charset="0"/>
                        </a:rPr>
                        <a:t>/</a:t>
                      </a:r>
                      <a:r>
                        <a:rPr lang="ko-KR" sz="1000" b="1">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5000"/>
                        </a:lnSpc>
                        <a:spcAft>
                          <a:spcPts val="0"/>
                        </a:spcAft>
                      </a:pPr>
                      <a:r>
                        <a:rPr lang="en-US" sz="1000" dirty="0">
                          <a:effectLst/>
                          <a:latin typeface="+mn-ea"/>
                          <a:ea typeface="+mn-ea"/>
                          <a:cs typeface="Times New Roman" panose="02020603050405020304" pitchFamily="18" charset="0"/>
                        </a:rPr>
                        <a:t>50:50 </a:t>
                      </a:r>
                      <a:r>
                        <a:rPr lang="ko-KR" sz="1000" dirty="0">
                          <a:effectLst/>
                          <a:latin typeface="+mn-ea"/>
                          <a:ea typeface="+mn-ea"/>
                          <a:cs typeface="Times New Roman" panose="02020603050405020304" pitchFamily="18" charset="0"/>
                        </a:rPr>
                        <a:t>지분구조를 갖는 사실상의 합작회사 구조의 경우</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합작회사와의 이해충돌</a:t>
                      </a:r>
                      <a:r>
                        <a:rPr lang="en-US" sz="1000" dirty="0">
                          <a:effectLst/>
                          <a:latin typeface="+mn-ea"/>
                          <a:ea typeface="+mn-ea"/>
                          <a:cs typeface="Times New Roman" panose="02020603050405020304" pitchFamily="18" charset="0"/>
                        </a:rPr>
                        <a:t>(conflict of interest) </a:t>
                      </a:r>
                      <a:r>
                        <a:rPr lang="ko-KR" sz="1000" dirty="0">
                          <a:effectLst/>
                          <a:latin typeface="+mn-ea"/>
                          <a:ea typeface="+mn-ea"/>
                          <a:cs typeface="Times New Roman" panose="02020603050405020304" pitchFamily="18" charset="0"/>
                        </a:rPr>
                        <a:t>방지를 위해 각 주주들에게 경업금지</a:t>
                      </a:r>
                      <a:r>
                        <a:rPr lang="en-US" sz="1000" dirty="0">
                          <a:effectLst/>
                          <a:latin typeface="+mn-ea"/>
                          <a:ea typeface="+mn-ea"/>
                          <a:cs typeface="Times New Roman" panose="02020603050405020304" pitchFamily="18" charset="0"/>
                        </a:rPr>
                        <a:t>/</a:t>
                      </a:r>
                      <a:r>
                        <a:rPr lang="ko-KR" sz="1000" dirty="0" err="1">
                          <a:effectLst/>
                          <a:latin typeface="+mn-ea"/>
                          <a:ea typeface="+mn-ea"/>
                          <a:cs typeface="Times New Roman" panose="02020603050405020304" pitchFamily="18" charset="0"/>
                        </a:rPr>
                        <a:t>유인금지</a:t>
                      </a:r>
                      <a:r>
                        <a:rPr lang="ko-KR" sz="1000" dirty="0">
                          <a:effectLst/>
                          <a:latin typeface="+mn-ea"/>
                          <a:ea typeface="+mn-ea"/>
                          <a:cs typeface="Times New Roman" panose="02020603050405020304" pitchFamily="18" charset="0"/>
                        </a:rPr>
                        <a:t> 의무를 규정하는 것을 고려할 수 있음</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092716">
                <a:tc>
                  <a:txBody>
                    <a:bodyPr/>
                    <a:lstStyle/>
                    <a:p>
                      <a:pPr algn="ctr" latinLnBrk="1">
                        <a:lnSpc>
                          <a:spcPct val="115000"/>
                        </a:lnSpc>
                        <a:spcAft>
                          <a:spcPts val="0"/>
                        </a:spcAft>
                      </a:pPr>
                      <a:r>
                        <a:rPr lang="en-US" sz="1000" b="1">
                          <a:effectLst/>
                          <a:latin typeface="+mn-ea"/>
                          <a:ea typeface="+mn-ea"/>
                          <a:cs typeface="Times New Roman" panose="02020603050405020304" pitchFamily="18" charset="0"/>
                        </a:rPr>
                        <a:t>Checklist</a:t>
                      </a:r>
                      <a:endParaRPr lang="ko-KR" sz="1000" b="1">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15000"/>
                        </a:lnSpc>
                        <a:spcAft>
                          <a:spcPts val="300"/>
                        </a:spcAft>
                        <a:buFont typeface="+mj-lt"/>
                        <a:buAutoNum type="arabicPeriod"/>
                      </a:pPr>
                      <a:r>
                        <a:rPr lang="ko-KR" sz="1000" dirty="0" smtClean="0">
                          <a:effectLst/>
                          <a:latin typeface="+mn-ea"/>
                          <a:ea typeface="+mn-ea"/>
                          <a:cs typeface="Times New Roman" panose="02020603050405020304" pitchFamily="18" charset="0"/>
                        </a:rPr>
                        <a:t>경업금지</a:t>
                      </a:r>
                      <a:r>
                        <a:rPr lang="en-US" sz="1000" dirty="0" smtClean="0">
                          <a:effectLst/>
                          <a:latin typeface="+mn-ea"/>
                          <a:ea typeface="+mn-ea"/>
                          <a:cs typeface="Times New Roman" panose="02020603050405020304" pitchFamily="18" charset="0"/>
                        </a:rPr>
                        <a:t>/</a:t>
                      </a:r>
                      <a:r>
                        <a:rPr lang="ko-KR" sz="1000" dirty="0" err="1" smtClean="0">
                          <a:effectLst/>
                          <a:latin typeface="+mn-ea"/>
                          <a:ea typeface="+mn-ea"/>
                          <a:cs typeface="Times New Roman" panose="02020603050405020304" pitchFamily="18" charset="0"/>
                        </a:rPr>
                        <a:t>유인금지</a:t>
                      </a:r>
                      <a:r>
                        <a:rPr lang="ko-KR" sz="1000" dirty="0" smtClean="0">
                          <a:effectLst/>
                          <a:latin typeface="+mn-ea"/>
                          <a:ea typeface="+mn-ea"/>
                          <a:cs typeface="Times New Roman" panose="02020603050405020304" pitchFamily="18" charset="0"/>
                        </a:rPr>
                        <a:t> 의무가 적용되는 지역을 명시하거나 기존의 영업행위에 대해서는 적용되지 않게 하는 등 예외를 두는 것도 고려할 수 있음</a:t>
                      </a:r>
                      <a:r>
                        <a:rPr lang="en-US" sz="1000" dirty="0" smtClean="0">
                          <a:effectLst/>
                          <a:latin typeface="+mn-ea"/>
                          <a:ea typeface="+mn-ea"/>
                          <a:cs typeface="Times New Roman" panose="02020603050405020304" pitchFamily="18" charset="0"/>
                        </a:rPr>
                        <a:t>. </a:t>
                      </a:r>
                      <a:r>
                        <a:rPr lang="ko-KR" sz="1000" dirty="0" smtClean="0">
                          <a:effectLst/>
                          <a:latin typeface="+mn-ea"/>
                          <a:ea typeface="+mn-ea"/>
                          <a:cs typeface="Times New Roman" panose="02020603050405020304" pitchFamily="18" charset="0"/>
                        </a:rPr>
                        <a:t>경쟁금지 조항의 경우 </a:t>
                      </a:r>
                      <a:r>
                        <a:rPr lang="ko-KR" sz="1000" dirty="0" err="1" smtClean="0">
                          <a:effectLst/>
                          <a:latin typeface="+mn-ea"/>
                          <a:ea typeface="+mn-ea"/>
                          <a:cs typeface="Times New Roman" panose="02020603050405020304" pitchFamily="18" charset="0"/>
                        </a:rPr>
                        <a:t>소수지분</a:t>
                      </a:r>
                      <a:r>
                        <a:rPr lang="ko-KR" sz="1000" dirty="0" smtClean="0">
                          <a:effectLst/>
                          <a:latin typeface="+mn-ea"/>
                          <a:ea typeface="+mn-ea"/>
                          <a:cs typeface="Times New Roman" panose="02020603050405020304" pitchFamily="18" charset="0"/>
                        </a:rPr>
                        <a:t> 투자에 대한 예외를 추가하는 것을 고려할 수 있음 </a:t>
                      </a:r>
                      <a:r>
                        <a:rPr lang="en-US" sz="1000" dirty="0" smtClean="0">
                          <a:effectLst/>
                          <a:latin typeface="+mn-ea"/>
                          <a:ea typeface="+mn-ea"/>
                          <a:cs typeface="Times New Roman" panose="02020603050405020304" pitchFamily="18" charset="0"/>
                        </a:rPr>
                        <a:t>(</a:t>
                      </a:r>
                      <a:r>
                        <a:rPr lang="ko-KR" sz="1000" dirty="0" smtClean="0">
                          <a:effectLst/>
                          <a:latin typeface="+mn-ea"/>
                          <a:ea typeface="+mn-ea"/>
                          <a:cs typeface="Times New Roman" panose="02020603050405020304" pitchFamily="18" charset="0"/>
                        </a:rPr>
                        <a:t>추가 </a:t>
                      </a:r>
                      <a:r>
                        <a:rPr lang="en-US" sz="1000" dirty="0" smtClean="0">
                          <a:effectLst/>
                          <a:latin typeface="+mn-ea"/>
                          <a:ea typeface="+mn-ea"/>
                          <a:cs typeface="Times New Roman" panose="02020603050405020304" pitchFamily="18" charset="0"/>
                        </a:rPr>
                        <a:t>SHA </a:t>
                      </a:r>
                      <a:r>
                        <a:rPr lang="ko-KR" sz="1000" dirty="0" smtClean="0">
                          <a:effectLst/>
                          <a:latin typeface="+mn-ea"/>
                          <a:ea typeface="+mn-ea"/>
                          <a:cs typeface="Times New Roman" panose="02020603050405020304" pitchFamily="18" charset="0"/>
                        </a:rPr>
                        <a:t>문구 참조</a:t>
                      </a:r>
                      <a:r>
                        <a:rPr lang="en-US" sz="1000" dirty="0" smtClean="0">
                          <a:effectLst/>
                          <a:latin typeface="+mn-ea"/>
                          <a:ea typeface="+mn-ea"/>
                          <a:cs typeface="Times New Roman" panose="02020603050405020304" pitchFamily="18" charset="0"/>
                        </a:rPr>
                        <a:t>) </a:t>
                      </a:r>
                      <a:endParaRPr 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300"/>
                        </a:spcAft>
                        <a:buFont typeface="+mj-lt"/>
                        <a:buAutoNum type="arabicPeriod"/>
                      </a:pPr>
                      <a:r>
                        <a:rPr lang="ko-KR" sz="1000" dirty="0" smtClean="0">
                          <a:effectLst/>
                          <a:latin typeface="+mn-ea"/>
                          <a:ea typeface="+mn-ea"/>
                          <a:cs typeface="Times New Roman" panose="02020603050405020304" pitchFamily="18" charset="0"/>
                        </a:rPr>
                        <a:t>경업금지의 </a:t>
                      </a:r>
                      <a:r>
                        <a:rPr lang="ko-KR" sz="1000" dirty="0">
                          <a:effectLst/>
                          <a:latin typeface="+mn-ea"/>
                          <a:ea typeface="+mn-ea"/>
                          <a:cs typeface="Times New Roman" panose="02020603050405020304" pitchFamily="18" charset="0"/>
                        </a:rPr>
                        <a:t>경우</a:t>
                      </a:r>
                      <a:r>
                        <a:rPr lang="en-US" sz="1000" dirty="0">
                          <a:effectLst/>
                          <a:latin typeface="+mn-ea"/>
                          <a:ea typeface="+mn-ea"/>
                          <a:cs typeface="Times New Roman" panose="02020603050405020304" pitchFamily="18" charset="0"/>
                        </a:rPr>
                        <a:t>, </a:t>
                      </a:r>
                      <a:r>
                        <a:rPr lang="ko-KR" sz="1000" dirty="0" err="1">
                          <a:effectLst/>
                          <a:latin typeface="+mn-ea"/>
                          <a:ea typeface="+mn-ea"/>
                          <a:cs typeface="Times New Roman" panose="02020603050405020304" pitchFamily="18" charset="0"/>
                        </a:rPr>
                        <a:t>준거지법에</a:t>
                      </a:r>
                      <a:r>
                        <a:rPr lang="ko-KR" sz="1000" dirty="0">
                          <a:effectLst/>
                          <a:latin typeface="+mn-ea"/>
                          <a:ea typeface="+mn-ea"/>
                          <a:cs typeface="Times New Roman" panose="02020603050405020304" pitchFamily="18" charset="0"/>
                        </a:rPr>
                        <a:t> 따라 금지 기간이 일정 기간을 초과하는 경우 그 유효성이 문제될 수 있으므로</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이에 대한 사전 검토도 필요함</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342900" lvl="0" indent="-342900" algn="just" latinLnBrk="1">
                        <a:lnSpc>
                          <a:spcPct val="115000"/>
                        </a:lnSpc>
                        <a:spcAft>
                          <a:spcPts val="300"/>
                        </a:spcAft>
                        <a:buFont typeface="+mj-lt"/>
                        <a:buAutoNum type="arabicPeriod"/>
                      </a:pPr>
                      <a:r>
                        <a:rPr lang="ko-KR" sz="1000" dirty="0">
                          <a:effectLst/>
                          <a:latin typeface="+mn-ea"/>
                          <a:ea typeface="+mn-ea"/>
                          <a:cs typeface="Times New Roman" panose="02020603050405020304" pitchFamily="18" charset="0"/>
                        </a:rPr>
                        <a:t>최근 미국 연방거래위원회</a:t>
                      </a:r>
                      <a:r>
                        <a:rPr lang="en-US" sz="1000" dirty="0">
                          <a:effectLst/>
                          <a:latin typeface="+mn-ea"/>
                          <a:ea typeface="+mn-ea"/>
                          <a:cs typeface="Times New Roman" panose="02020603050405020304" pitchFamily="18" charset="0"/>
                        </a:rPr>
                        <a:t>(FTC)</a:t>
                      </a:r>
                      <a:r>
                        <a:rPr lang="ko-KR" sz="1000" dirty="0">
                          <a:effectLst/>
                          <a:latin typeface="+mn-ea"/>
                          <a:ea typeface="+mn-ea"/>
                          <a:cs typeface="Times New Roman" panose="02020603050405020304" pitchFamily="18" charset="0"/>
                        </a:rPr>
                        <a:t>에서 사업자 간의 경업금지 조항을 일반적으로 금지하는</a:t>
                      </a:r>
                      <a:r>
                        <a:rPr lang="en-US" sz="1000" dirty="0">
                          <a:effectLst/>
                          <a:latin typeface="+mn-ea"/>
                          <a:ea typeface="+mn-ea"/>
                          <a:cs typeface="Times New Roman" panose="02020603050405020304" pitchFamily="18" charset="0"/>
                        </a:rPr>
                        <a:t> Rule</a:t>
                      </a:r>
                      <a:r>
                        <a:rPr lang="ko-KR" sz="1000" dirty="0">
                          <a:effectLst/>
                          <a:latin typeface="+mn-ea"/>
                          <a:ea typeface="+mn-ea"/>
                          <a:cs typeface="Times New Roman" panose="02020603050405020304" pitchFamily="18" charset="0"/>
                        </a:rPr>
                        <a:t>을 발표하였으나</a:t>
                      </a:r>
                      <a:r>
                        <a:rPr lang="en-US" sz="1000" dirty="0">
                          <a:effectLst/>
                          <a:latin typeface="+mn-ea"/>
                          <a:ea typeface="+mn-ea"/>
                          <a:cs typeface="Times New Roman" panose="02020603050405020304" pitchFamily="18" charset="0"/>
                        </a:rPr>
                        <a:t>, M&amp;A </a:t>
                      </a:r>
                      <a:r>
                        <a:rPr lang="ko-KR" sz="1000" dirty="0">
                          <a:effectLst/>
                          <a:latin typeface="+mn-ea"/>
                          <a:ea typeface="+mn-ea"/>
                          <a:cs typeface="Times New Roman" panose="02020603050405020304" pitchFamily="18" charset="0"/>
                        </a:rPr>
                        <a:t>거래에서 독립당사자간의 선의의 매매거래</a:t>
                      </a:r>
                      <a:r>
                        <a:rPr lang="en-US" sz="1000" dirty="0">
                          <a:effectLst/>
                          <a:latin typeface="+mn-ea"/>
                          <a:ea typeface="+mn-ea"/>
                          <a:cs typeface="Times New Roman" panose="02020603050405020304" pitchFamily="18" charset="0"/>
                        </a:rPr>
                        <a:t>(bona fide sale, </a:t>
                      </a:r>
                      <a:r>
                        <a:rPr lang="ko-KR" sz="1000" dirty="0">
                          <a:effectLst/>
                          <a:latin typeface="+mn-ea"/>
                          <a:ea typeface="+mn-ea"/>
                          <a:cs typeface="Times New Roman" panose="02020603050405020304" pitchFamily="18" charset="0"/>
                        </a:rPr>
                        <a:t>즉 독립당사자간의</a:t>
                      </a:r>
                      <a:r>
                        <a:rPr lang="en-US" sz="1000" dirty="0">
                          <a:effectLst/>
                          <a:latin typeface="+mn-ea"/>
                          <a:ea typeface="+mn-ea"/>
                          <a:cs typeface="Times New Roman" panose="02020603050405020304" pitchFamily="18" charset="0"/>
                        </a:rPr>
                        <a:t> arms’ length </a:t>
                      </a:r>
                      <a:r>
                        <a:rPr lang="ko-KR" sz="1000" dirty="0">
                          <a:effectLst/>
                          <a:latin typeface="+mn-ea"/>
                          <a:ea typeface="+mn-ea"/>
                          <a:cs typeface="Times New Roman" panose="02020603050405020304" pitchFamily="18" charset="0"/>
                        </a:rPr>
                        <a:t>거래</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에 대해서는 예외를 인정하였음</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한편</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해당</a:t>
                      </a:r>
                      <a:r>
                        <a:rPr lang="en-US" sz="1000" dirty="0">
                          <a:effectLst/>
                          <a:latin typeface="+mn-ea"/>
                          <a:ea typeface="+mn-ea"/>
                          <a:cs typeface="Times New Roman" panose="02020603050405020304" pitchFamily="18" charset="0"/>
                        </a:rPr>
                        <a:t> Rule</a:t>
                      </a:r>
                      <a:r>
                        <a:rPr lang="ko-KR" sz="1000" dirty="0">
                          <a:effectLst/>
                          <a:latin typeface="+mn-ea"/>
                          <a:ea typeface="+mn-ea"/>
                          <a:cs typeface="Times New Roman" panose="02020603050405020304" pitchFamily="18" charset="0"/>
                        </a:rPr>
                        <a:t>은</a:t>
                      </a:r>
                      <a:r>
                        <a:rPr lang="en-US" sz="1000" dirty="0">
                          <a:effectLst/>
                          <a:latin typeface="+mn-ea"/>
                          <a:ea typeface="+mn-ea"/>
                          <a:cs typeface="Times New Roman" panose="02020603050405020304" pitchFamily="18" charset="0"/>
                        </a:rPr>
                        <a:t> 2024</a:t>
                      </a:r>
                      <a:r>
                        <a:rPr lang="ko-KR" sz="1000" dirty="0">
                          <a:effectLst/>
                          <a:latin typeface="+mn-ea"/>
                          <a:ea typeface="+mn-ea"/>
                          <a:cs typeface="Times New Roman" panose="02020603050405020304" pitchFamily="18" charset="0"/>
                        </a:rPr>
                        <a:t>년</a:t>
                      </a:r>
                      <a:r>
                        <a:rPr lang="en-US" sz="1000" dirty="0">
                          <a:effectLst/>
                          <a:latin typeface="+mn-ea"/>
                          <a:ea typeface="+mn-ea"/>
                          <a:cs typeface="Times New Roman" panose="02020603050405020304" pitchFamily="18" charset="0"/>
                        </a:rPr>
                        <a:t> 8</a:t>
                      </a:r>
                      <a:r>
                        <a:rPr lang="ko-KR" sz="1000" dirty="0">
                          <a:effectLst/>
                          <a:latin typeface="+mn-ea"/>
                          <a:ea typeface="+mn-ea"/>
                          <a:cs typeface="Times New Roman" panose="02020603050405020304" pitchFamily="18" charset="0"/>
                        </a:rPr>
                        <a:t>월 미 연방</a:t>
                      </a:r>
                      <a:r>
                        <a:rPr lang="en-US" sz="1000" dirty="0">
                          <a:effectLst/>
                          <a:latin typeface="+mn-ea"/>
                          <a:ea typeface="+mn-ea"/>
                          <a:cs typeface="Times New Roman" panose="02020603050405020304" pitchFamily="18" charset="0"/>
                        </a:rPr>
                        <a:t> 1</a:t>
                      </a:r>
                      <a:r>
                        <a:rPr lang="ko-KR" sz="1000" dirty="0" err="1">
                          <a:effectLst/>
                          <a:latin typeface="+mn-ea"/>
                          <a:ea typeface="+mn-ea"/>
                          <a:cs typeface="Times New Roman" panose="02020603050405020304" pitchFamily="18" charset="0"/>
                        </a:rPr>
                        <a:t>심법원의</a:t>
                      </a:r>
                      <a:r>
                        <a:rPr lang="ko-KR" sz="1000" dirty="0">
                          <a:effectLst/>
                          <a:latin typeface="+mn-ea"/>
                          <a:ea typeface="+mn-ea"/>
                          <a:cs typeface="Times New Roman" panose="02020603050405020304" pitchFamily="18" charset="0"/>
                        </a:rPr>
                        <a:t> 판결에 의해 효력이 정지되었는데</a:t>
                      </a:r>
                      <a:r>
                        <a:rPr lang="en-US" sz="1000" dirty="0">
                          <a:effectLst/>
                          <a:latin typeface="+mn-ea"/>
                          <a:ea typeface="+mn-ea"/>
                          <a:cs typeface="Times New Roman" panose="02020603050405020304" pitchFamily="18" charset="0"/>
                        </a:rPr>
                        <a:t>, FTC</a:t>
                      </a:r>
                      <a:r>
                        <a:rPr lang="ko-KR" sz="1000" dirty="0">
                          <a:effectLst/>
                          <a:latin typeface="+mn-ea"/>
                          <a:ea typeface="+mn-ea"/>
                          <a:cs typeface="Times New Roman" panose="02020603050405020304" pitchFamily="18" charset="0"/>
                        </a:rPr>
                        <a:t>에서 항소를 준비하고 있는바 향후 추이를 모니터링할 필요가 있음</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r>
                        <a:rPr lang="en-US" sz="1000" dirty="0">
                          <a:effectLst/>
                          <a:latin typeface="+mn-ea"/>
                          <a:ea typeface="+mn-ea"/>
                          <a:cs typeface="Times New Roman" panose="02020603050405020304" pitchFamily="18" charset="0"/>
                        </a:rPr>
                        <a:t>LG H&amp;H</a:t>
                      </a:r>
                      <a:r>
                        <a:rPr lang="ko-KR" sz="1000" dirty="0">
                          <a:effectLst/>
                          <a:latin typeface="+mn-ea"/>
                          <a:ea typeface="+mn-ea"/>
                          <a:cs typeface="Times New Roman" panose="02020603050405020304" pitchFamily="18" charset="0"/>
                        </a:rPr>
                        <a:t>가 소수 주주인 경우</a:t>
                      </a:r>
                      <a:r>
                        <a:rPr lang="en-US" sz="1000" dirty="0">
                          <a:effectLst/>
                          <a:latin typeface="+mn-ea"/>
                          <a:ea typeface="+mn-ea"/>
                          <a:cs typeface="Times New Roman" panose="02020603050405020304" pitchFamily="18" charset="0"/>
                        </a:rPr>
                        <a:t>, LG H&amp;H </a:t>
                      </a:r>
                      <a:r>
                        <a:rPr lang="ko-KR" sz="1000" dirty="0">
                          <a:effectLst/>
                          <a:latin typeface="+mn-ea"/>
                          <a:ea typeface="+mn-ea"/>
                          <a:cs typeface="Times New Roman" panose="02020603050405020304" pitchFamily="18" charset="0"/>
                        </a:rPr>
                        <a:t>보다는 상대방인 대주주가 대상회사와의 관계에서 경업이나 유인 행위를 함으로써 대상회사의 가치가 감소되는 것을 방지하기 위한 목적으로 대주주에 한하여 경업금지</a:t>
                      </a:r>
                      <a:r>
                        <a:rPr lang="en-US" sz="1000" dirty="0">
                          <a:effectLst/>
                          <a:latin typeface="+mn-ea"/>
                          <a:ea typeface="+mn-ea"/>
                          <a:cs typeface="Times New Roman" panose="02020603050405020304" pitchFamily="18" charset="0"/>
                        </a:rPr>
                        <a:t>/</a:t>
                      </a:r>
                      <a:r>
                        <a:rPr lang="ko-KR" sz="1000" dirty="0" err="1">
                          <a:effectLst/>
                          <a:latin typeface="+mn-ea"/>
                          <a:ea typeface="+mn-ea"/>
                          <a:cs typeface="Times New Roman" panose="02020603050405020304" pitchFamily="18" charset="0"/>
                        </a:rPr>
                        <a:t>유인금지</a:t>
                      </a:r>
                      <a:r>
                        <a:rPr lang="ko-KR" sz="1000" dirty="0">
                          <a:effectLst/>
                          <a:latin typeface="+mn-ea"/>
                          <a:ea typeface="+mn-ea"/>
                          <a:cs typeface="Times New Roman" panose="02020603050405020304" pitchFamily="18" charset="0"/>
                        </a:rPr>
                        <a:t> 의무를 요구하는 것도 고려가 가능함</a:t>
                      </a:r>
                      <a:r>
                        <a:rPr lang="en-US" sz="1000" dirty="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3008279">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표준 </a:t>
                      </a:r>
                      <a:r>
                        <a:rPr lang="en-US" sz="1000" b="1" dirty="0">
                          <a:effectLst/>
                          <a:latin typeface="+mn-ea"/>
                          <a:ea typeface="+mn-ea"/>
                          <a:cs typeface="Times New Roman" panose="02020603050405020304" pitchFamily="18" charset="0"/>
                        </a:rPr>
                        <a:t>SHA </a:t>
                      </a:r>
                      <a:r>
                        <a:rPr lang="ko-KR" sz="1000" b="1" dirty="0">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5000"/>
                        </a:lnSpc>
                        <a:spcAft>
                          <a:spcPts val="0"/>
                        </a:spcAft>
                        <a:buFont typeface="바탕" panose="02030600000101010101" pitchFamily="18" charset="-127"/>
                        <a:buNone/>
                      </a:pPr>
                      <a:r>
                        <a:rPr lang="en-US" altLang="ko-KR" sz="1000" u="none" dirty="0" smtClean="0">
                          <a:effectLst/>
                          <a:latin typeface="+mn-ea"/>
                          <a:ea typeface="+mn-ea"/>
                          <a:cs typeface="Times New Roman" panose="02020603050405020304" pitchFamily="18" charset="0"/>
                        </a:rPr>
                        <a:t>5.1 </a:t>
                      </a:r>
                      <a:r>
                        <a:rPr lang="en-US" altLang="ko-KR" sz="1000" u="sng" dirty="0" smtClean="0">
                          <a:effectLst/>
                          <a:latin typeface="+mn-ea"/>
                          <a:ea typeface="+mn-ea"/>
                          <a:cs typeface="Times New Roman" panose="02020603050405020304" pitchFamily="18" charset="0"/>
                        </a:rPr>
                        <a:t>Non-Compete</a:t>
                      </a:r>
                      <a:r>
                        <a:rPr lang="en-US" altLang="ko-KR" sz="1000" dirty="0" smtClean="0">
                          <a:effectLst/>
                          <a:latin typeface="+mn-ea"/>
                          <a:ea typeface="+mn-ea"/>
                          <a:cs typeface="Times New Roman" panose="02020603050405020304" pitchFamily="18" charset="0"/>
                        </a:rPr>
                        <a:t>.  </a:t>
                      </a:r>
                      <a:r>
                        <a:rPr lang="en-US" altLang="ko-KR" sz="1000" spc="-15" dirty="0" smtClean="0">
                          <a:effectLst/>
                          <a:latin typeface="+mn-ea"/>
                          <a:ea typeface="+mn-ea"/>
                          <a:cs typeface="Times New Roman" panose="02020603050405020304" pitchFamily="18" charset="0"/>
                        </a:rPr>
                        <a:t>Each</a:t>
                      </a:r>
                      <a:r>
                        <a:rPr lang="en-US" altLang="ko-KR" sz="1000" dirty="0" smtClean="0">
                          <a:effectLst/>
                          <a:latin typeface="+mn-ea"/>
                          <a:ea typeface="+mn-ea"/>
                          <a:cs typeface="Times New Roman" panose="02020603050405020304" pitchFamily="18" charset="0"/>
                        </a:rPr>
                        <a:t> Shareholder agrees that, while it remains a shareholder of the Company and for a period of two (2) years after the termination of this Agreement, it shall not engage in, or cause, assist or allow any of its Affiliates to, directly or indirectly, engage in, or acquire an interest in any Person which engages in, the manufacture, development, marketing, distribution and/or sale or import for sale of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in the Territory (the “</a:t>
                      </a:r>
                      <a:r>
                        <a:rPr lang="en-US" altLang="ko-KR" sz="1000" u="sng" dirty="0" smtClean="0">
                          <a:effectLst/>
                          <a:latin typeface="+mn-ea"/>
                          <a:ea typeface="+mn-ea"/>
                          <a:cs typeface="Times New Roman" panose="02020603050405020304" pitchFamily="18" charset="0"/>
                        </a:rPr>
                        <a:t>Prohibited Business</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each Shareholder or its Affiliates may engage in, or cause, assist or allow any of its Affiliates to, directly or indirectly, engage in, or acquire an interest in any Person which engages in,  the Prohibited Business outside of the Territory even in case such Person, directly or indirectly, has an interest in any Person which engages in the Prohibited Business in the Territory, as long as the sales/revenues derived from such Prohibited Business is less than [</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of the total sales/revenues of the Prohibited Business in the Territory.  Each Shareholder agrees that, while it remains a Shareholder, it shall only pursue opportunities relating to the Prohibited Business in the Territory and any other activities incidental to and in furtherance of the foregoing activities in the Territory through the Company.</a:t>
                      </a:r>
                    </a:p>
                    <a:p>
                      <a:pPr marL="0" lvl="1" indent="0" algn="just">
                        <a:lnSpc>
                          <a:spcPct val="115000"/>
                        </a:lnSpc>
                        <a:spcAft>
                          <a:spcPts val="0"/>
                        </a:spcAft>
                        <a:buFont typeface="바탕" panose="02030600000101010101" pitchFamily="18" charset="-127"/>
                        <a:buNone/>
                      </a:pPr>
                      <a:endParaRPr lang="en-US" altLang="ko-KR" sz="1000" dirty="0" smtClean="0">
                        <a:effectLst/>
                        <a:latin typeface="+mn-ea"/>
                        <a:ea typeface="+mn-ea"/>
                        <a:cs typeface="Times New Roman" panose="02020603050405020304" pitchFamily="18" charset="0"/>
                      </a:endParaRPr>
                    </a:p>
                    <a:p>
                      <a:pPr marL="0" lvl="1" indent="0" algn="just">
                        <a:lnSpc>
                          <a:spcPct val="115000"/>
                        </a:lnSpc>
                        <a:spcAft>
                          <a:spcPts val="0"/>
                        </a:spcAft>
                        <a:buFont typeface="바탕" panose="02030600000101010101" pitchFamily="18" charset="-127"/>
                        <a:buNone/>
                      </a:pPr>
                      <a:r>
                        <a:rPr lang="en-US" altLang="ko-KR" sz="1000" dirty="0" smtClean="0">
                          <a:effectLst/>
                          <a:latin typeface="+mn-ea"/>
                          <a:ea typeface="+mn-ea"/>
                          <a:cs typeface="Times New Roman" panose="02020603050405020304" pitchFamily="18" charset="0"/>
                        </a:rPr>
                        <a:t>5.2</a:t>
                      </a:r>
                      <a:r>
                        <a:rPr lang="en-US" altLang="ko-KR" sz="1000"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Non-Solicitation</a:t>
                      </a:r>
                      <a:r>
                        <a:rPr lang="en-US" altLang="ko-KR" sz="1000" dirty="0" smtClean="0">
                          <a:effectLst/>
                          <a:latin typeface="+mn-ea"/>
                          <a:ea typeface="+mn-ea"/>
                          <a:cs typeface="Times New Roman" panose="02020603050405020304" pitchFamily="18" charset="0"/>
                        </a:rPr>
                        <a:t>.  Each Shareholder agrees that, while it remains a shareholder of the Company and for a period of two (2) years after the termination of this Agreement, that such Shareholder shall not, and shall not cause, assist or allow any of its Affiliates to, directly or indirectly, either for itself or any other Person:  </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373001816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 Non-Competition /</a:t>
            </a:r>
            <a:r>
              <a:rPr lang="en-US" altLang="ko-KR" dirty="0" smtClean="0">
                <a:latin typeface="+mn-ea"/>
              </a:rPr>
              <a:t>Non-Solicitation (2)</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710522275"/>
              </p:ext>
            </p:extLst>
          </p:nvPr>
        </p:nvGraphicFramePr>
        <p:xfrm>
          <a:off x="439738" y="681411"/>
          <a:ext cx="9188450" cy="526536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235340">
                <a:tc>
                  <a:txBody>
                    <a:bodyPr/>
                    <a:lstStyle/>
                    <a:p>
                      <a:pPr marL="0" algn="ctr" defTabSz="914400" rtl="0" eaLnBrk="1" latinLnBrk="1" hangingPunct="1">
                        <a:lnSpc>
                          <a:spcPct val="110000"/>
                        </a:lnSpc>
                        <a:spcAft>
                          <a:spcPts val="30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t>
                      </a:r>
                      <a:r>
                        <a:rPr lang="en-US" altLang="ko-KR" sz="1000" dirty="0" err="1" smtClean="0">
                          <a:effectLst/>
                          <a:latin typeface="+mn-ea"/>
                          <a:ea typeface="+mn-ea"/>
                          <a:cs typeface="Times New Roman" panose="02020603050405020304" pitchFamily="18" charset="0"/>
                        </a:rPr>
                        <a:t>i</a:t>
                      </a:r>
                      <a:r>
                        <a:rPr lang="en-US" altLang="ko-KR" sz="1000" dirty="0" smtClean="0">
                          <a:effectLst/>
                          <a:latin typeface="+mn-ea"/>
                          <a:ea typeface="+mn-ea"/>
                          <a:cs typeface="Times New Roman" panose="02020603050405020304" pitchFamily="18" charset="0"/>
                        </a:rPr>
                        <a:t>) induce or attempt to induce any employee of the Company to leave the employ of the Company, (ii) in any way interfere with the relationship between the Company and any employee of the Company, (iii) employ, or otherwise engage as an employee, independent contractor, or otherwise, any employee of the Company; </a:t>
                      </a:r>
                      <a:r>
                        <a:rPr lang="en-US" altLang="ko-KR" sz="1000" u="sng" dirty="0" smtClean="0">
                          <a:effectLst/>
                          <a:latin typeface="+mn-ea"/>
                          <a:ea typeface="+mn-ea"/>
                          <a:cs typeface="Times New Roman" panose="02020603050405020304" pitchFamily="18" charset="0"/>
                        </a:rPr>
                        <a:t>provided</a:t>
                      </a:r>
                      <a:r>
                        <a:rPr lang="en-US" altLang="ko-KR" sz="100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however</a:t>
                      </a:r>
                      <a:r>
                        <a:rPr lang="en-US" altLang="ko-KR" sz="1000" dirty="0" smtClean="0">
                          <a:effectLst/>
                          <a:latin typeface="+mn-ea"/>
                          <a:ea typeface="+mn-ea"/>
                          <a:cs typeface="Times New Roman" panose="02020603050405020304" pitchFamily="18" charset="0"/>
                        </a:rPr>
                        <a:t>, that the foregoing shall not apply to (</a:t>
                      </a:r>
                      <a:r>
                        <a:rPr lang="en-US" altLang="ko-KR" sz="1000" dirty="0" err="1" smtClean="0">
                          <a:effectLst/>
                          <a:latin typeface="+mn-ea"/>
                          <a:ea typeface="+mn-ea"/>
                          <a:cs typeface="Times New Roman" panose="02020603050405020304" pitchFamily="18" charset="0"/>
                        </a:rPr>
                        <a:t>i</a:t>
                      </a:r>
                      <a:r>
                        <a:rPr lang="en-US" altLang="ko-KR" sz="1000" dirty="0" smtClean="0">
                          <a:effectLst/>
                          <a:latin typeface="+mn-ea"/>
                          <a:ea typeface="+mn-ea"/>
                          <a:cs typeface="Times New Roman" panose="02020603050405020304" pitchFamily="18" charset="0"/>
                        </a:rPr>
                        <a:t>) solicitation made by job opportunity advertisements and headhunter searches directed to the general public rather than targeting any employees of the Company, or (ii) any employee who has been terminated by the Company or who has voluntarily left his or her employment, in each case, more than six (6) months prior to such solicitation; </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induce or attempt to induce any customer, supplier, licensee, or business relation of the Company to cease doing business with the Company, or in any way interfere with the relationship between any customer, supplier, licensee, or business relation of the Company, including, as applicable, the cessation of supply of goods or services to the Company, the restriction or variation of the terms of any supply of goods or services to the Company; or</a:t>
                      </a:r>
                    </a:p>
                    <a:p>
                      <a:pPr marL="342900" lvl="0" indent="-342900" algn="just">
                        <a:lnSpc>
                          <a:spcPct val="110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use any corporate name, brand name, service mark, trademark, logo, symbol, or trade name (each, a “</a:t>
                      </a:r>
                      <a:r>
                        <a:rPr lang="en-US" altLang="ko-KR" sz="1000" u="sng" dirty="0" smtClean="0">
                          <a:effectLst/>
                          <a:latin typeface="+mn-ea"/>
                          <a:ea typeface="+mn-ea"/>
                          <a:cs typeface="Times New Roman" panose="02020603050405020304" pitchFamily="18" charset="0"/>
                        </a:rPr>
                        <a:t>Business Mark</a:t>
                      </a:r>
                      <a:r>
                        <a:rPr lang="en-US" altLang="ko-KR" sz="1000" dirty="0" smtClean="0">
                          <a:effectLst/>
                          <a:latin typeface="+mn-ea"/>
                          <a:ea typeface="+mn-ea"/>
                          <a:cs typeface="Times New Roman" panose="02020603050405020304" pitchFamily="18" charset="0"/>
                        </a:rPr>
                        <a:t>”), which is substantially similar or deceptively similar to a Business Mark owned or used by the Company, except in the event such Shareholder licensed such Business Mark to the Company.</a:t>
                      </a:r>
                    </a:p>
                    <a:p>
                      <a:pPr marL="457200" lvl="1" indent="0" algn="just">
                        <a:lnSpc>
                          <a:spcPct val="110000"/>
                        </a:lnSpc>
                        <a:spcAft>
                          <a:spcPts val="300"/>
                        </a:spcAft>
                        <a:buFont typeface="바탕" panose="02030600000101010101" pitchFamily="18" charset="-127"/>
                        <a:buNone/>
                      </a:pPr>
                      <a:endParaRPr lang="en-US" altLang="ko-KR" sz="1000" u="none" dirty="0" smtClean="0">
                        <a:effectLst/>
                        <a:latin typeface="+mn-ea"/>
                        <a:ea typeface="+mn-ea"/>
                        <a:cs typeface="Times New Roman" panose="02020603050405020304" pitchFamily="18" charset="0"/>
                      </a:endParaRPr>
                    </a:p>
                    <a:p>
                      <a:pPr marL="0" lvl="1" indent="0" algn="just">
                        <a:lnSpc>
                          <a:spcPct val="110000"/>
                        </a:lnSpc>
                        <a:spcAft>
                          <a:spcPts val="300"/>
                        </a:spcAft>
                        <a:buFont typeface="바탕" panose="02030600000101010101" pitchFamily="18" charset="-127"/>
                        <a:buNone/>
                      </a:pPr>
                      <a:r>
                        <a:rPr lang="en-US" altLang="ko-KR" sz="1000" u="none" dirty="0" smtClean="0">
                          <a:effectLst/>
                          <a:latin typeface="+mn-ea"/>
                          <a:ea typeface="+mn-ea"/>
                          <a:cs typeface="Times New Roman" panose="02020603050405020304" pitchFamily="18" charset="0"/>
                        </a:rPr>
                        <a:t>5.3</a:t>
                      </a:r>
                      <a:r>
                        <a:rPr lang="en-US" altLang="ko-KR" sz="1000" u="none"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Acknowledgement of Parties</a:t>
                      </a:r>
                      <a:r>
                        <a:rPr lang="en-US" altLang="ko-KR" sz="1000" dirty="0" smtClean="0">
                          <a:effectLst/>
                          <a:latin typeface="+mn-ea"/>
                          <a:ea typeface="+mn-ea"/>
                          <a:cs typeface="Times New Roman" panose="02020603050405020304" pitchFamily="18" charset="0"/>
                        </a:rPr>
                        <a:t>.  Each Shareholder </a:t>
                      </a:r>
                      <a:r>
                        <a:rPr lang="en-GB" altLang="ko-KR" sz="1000" dirty="0" smtClean="0">
                          <a:effectLst/>
                          <a:latin typeface="+mn-ea"/>
                          <a:ea typeface="+mn-ea"/>
                          <a:cs typeface="Times New Roman" panose="02020603050405020304" pitchFamily="18" charset="0"/>
                        </a:rPr>
                        <a:t>(for itself and on behalf of its Affiliates) acknowledges and agrees </a:t>
                      </a:r>
                      <a:r>
                        <a:rPr lang="en-US" altLang="ko-KR" sz="1000" dirty="0" smtClean="0">
                          <a:effectLst/>
                          <a:latin typeface="+mn-ea"/>
                          <a:ea typeface="+mn-ea"/>
                          <a:cs typeface="Times New Roman" panose="02020603050405020304" pitchFamily="18" charset="0"/>
                        </a:rPr>
                        <a:t>that the restrictions contained in </a:t>
                      </a:r>
                      <a:r>
                        <a:rPr lang="en-US" altLang="ko-KR" sz="1000" u="sng" dirty="0" smtClean="0">
                          <a:effectLst/>
                          <a:latin typeface="+mn-ea"/>
                          <a:ea typeface="+mn-ea"/>
                          <a:cs typeface="Times New Roman" panose="02020603050405020304" pitchFamily="18" charset="0"/>
                        </a:rPr>
                        <a:t>Sections 5.1</a:t>
                      </a:r>
                      <a:r>
                        <a:rPr lang="en-US" altLang="ko-KR" sz="1000" dirty="0" smtClean="0">
                          <a:effectLst/>
                          <a:latin typeface="+mn-ea"/>
                          <a:ea typeface="+mn-ea"/>
                          <a:cs typeface="Times New Roman" panose="02020603050405020304" pitchFamily="18" charset="0"/>
                        </a:rPr>
                        <a:t> and </a:t>
                      </a:r>
                      <a:r>
                        <a:rPr lang="en-US" altLang="ko-KR" sz="1000" u="sng" dirty="0" smtClean="0">
                          <a:effectLst/>
                          <a:latin typeface="+mn-ea"/>
                          <a:ea typeface="+mn-ea"/>
                          <a:cs typeface="Times New Roman" panose="02020603050405020304" pitchFamily="18" charset="0"/>
                        </a:rPr>
                        <a:t>5.2</a:t>
                      </a:r>
                      <a:r>
                        <a:rPr lang="en-US" altLang="ko-KR" sz="1000" dirty="0" smtClean="0">
                          <a:effectLst/>
                          <a:latin typeface="+mn-ea"/>
                          <a:ea typeface="+mn-ea"/>
                          <a:cs typeface="Times New Roman" panose="02020603050405020304" pitchFamily="18" charset="0"/>
                        </a:rPr>
                        <a:t> are reasonable and necessary to protect the legitimate interests of the other Shareholder and the Company, and constitute a material inducement to each Shareholder to enter into this Agreement and consummate the transactions contemplated hereby.  In the event that any covenant contained in </a:t>
                      </a:r>
                      <a:r>
                        <a:rPr lang="en-US" altLang="ko-KR" sz="1000" u="sng" dirty="0" smtClean="0">
                          <a:effectLst/>
                          <a:latin typeface="+mn-ea"/>
                          <a:ea typeface="+mn-ea"/>
                          <a:cs typeface="Times New Roman" panose="02020603050405020304" pitchFamily="18" charset="0"/>
                        </a:rPr>
                        <a:t>Sections 5.1</a:t>
                      </a:r>
                      <a:r>
                        <a:rPr lang="en-US" altLang="ko-KR" sz="1000" dirty="0" smtClean="0">
                          <a:effectLst/>
                          <a:latin typeface="+mn-ea"/>
                          <a:ea typeface="+mn-ea"/>
                          <a:cs typeface="Times New Roman" panose="02020603050405020304" pitchFamily="18" charset="0"/>
                        </a:rPr>
                        <a:t> and </a:t>
                      </a:r>
                      <a:r>
                        <a:rPr lang="en-US" altLang="ko-KR" sz="1000" u="sng" dirty="0" smtClean="0">
                          <a:effectLst/>
                          <a:latin typeface="+mn-ea"/>
                          <a:ea typeface="+mn-ea"/>
                          <a:cs typeface="Times New Roman" panose="02020603050405020304" pitchFamily="18" charset="0"/>
                        </a:rPr>
                        <a:t>5.2</a:t>
                      </a:r>
                      <a:r>
                        <a:rPr lang="en-US" altLang="ko-KR" sz="1000" dirty="0" smtClean="0">
                          <a:effectLst/>
                          <a:latin typeface="+mn-ea"/>
                          <a:ea typeface="+mn-ea"/>
                          <a:cs typeface="Times New Roman" panose="02020603050405020304" pitchFamily="18" charset="0"/>
                        </a:rPr>
                        <a:t> should ever be adjudicated to exceed the time, geographic, product or service or other limitations permitted by applicable Law in any jurisdiction, then any court or arbitral tribunal is expressly empowered to reform such covenant, and such covenant shall be deemed reformed, in such jurisdiction to the maximum time, geographic, product or service or other limitations permitted by applicable Law</a:t>
                      </a:r>
                      <a:endParaRPr lang="ko-KR" altLang="ko-KR" sz="1000" dirty="0" smtClean="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030023">
                <a:tc>
                  <a:txBody>
                    <a:bodyPr/>
                    <a:lstStyle/>
                    <a:p>
                      <a:pPr algn="ctr" latinLnBrk="1">
                        <a:lnSpc>
                          <a:spcPct val="110000"/>
                        </a:lnSpc>
                        <a:spcAft>
                          <a:spcPts val="300"/>
                        </a:spcAft>
                      </a:pPr>
                      <a:r>
                        <a:rPr lang="ko-KR" sz="1000" b="1" dirty="0">
                          <a:effectLst/>
                          <a:latin typeface="+mn-ea"/>
                          <a:ea typeface="+mn-ea"/>
                          <a:cs typeface="Times New Roman" panose="02020603050405020304" pitchFamily="18" charset="0"/>
                        </a:rPr>
                        <a:t>추가 </a:t>
                      </a:r>
                      <a:r>
                        <a:rPr lang="en-US" sz="1000" b="1" dirty="0">
                          <a:effectLst/>
                          <a:latin typeface="+mn-ea"/>
                          <a:ea typeface="+mn-ea"/>
                          <a:cs typeface="Times New Roman" panose="02020603050405020304" pitchFamily="18" charset="0"/>
                        </a:rPr>
                        <a:t>SHA </a:t>
                      </a:r>
                      <a:r>
                        <a:rPr lang="ko-KR" sz="1000" b="1" dirty="0">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300"/>
                        </a:spcAft>
                      </a:pPr>
                      <a:r>
                        <a:rPr lang="en-US" sz="1000" dirty="0">
                          <a:effectLst/>
                          <a:latin typeface="+mn-ea"/>
                          <a:ea typeface="+mn-ea"/>
                        </a:rPr>
                        <a:t>Notwithstanding anything to the contrary herein, this </a:t>
                      </a:r>
                      <a:r>
                        <a:rPr lang="en-US" sz="1000" u="sng" dirty="0">
                          <a:effectLst/>
                          <a:latin typeface="+mn-ea"/>
                          <a:ea typeface="+mn-ea"/>
                        </a:rPr>
                        <a:t>Section 5.1</a:t>
                      </a:r>
                      <a:r>
                        <a:rPr lang="en-US" sz="1000" dirty="0">
                          <a:effectLst/>
                          <a:latin typeface="+mn-ea"/>
                          <a:ea typeface="+mn-ea"/>
                        </a:rPr>
                        <a:t> shall not prohibit each Shareholder or any of its Affiliates from collectively owning up to an aggregate of [five (5)] percent of the outstanding shares of any class of capital stock of any [publicly traded] Person that engages in any Prohibited Business in the Territory [so long as no member of the board of directors (or equivalent body) of such Person is a representative of, or has been nominated or designated by, such Shareholder or any of its Affiliates]. </a:t>
                      </a:r>
                      <a:endParaRPr lang="ko-KR" sz="1000" dirty="0">
                        <a:effectLst/>
                        <a:latin typeface="+mn-ea"/>
                        <a:ea typeface="+mn-ea"/>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4074012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 Accounting / Financing / </a:t>
            </a:r>
            <a:r>
              <a:rPr lang="en-US" altLang="ko-KR" dirty="0" smtClean="0">
                <a:latin typeface="+mn-ea"/>
              </a:rPr>
              <a:t>Dividends (1)</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1413041351"/>
              </p:ext>
            </p:extLst>
          </p:nvPr>
        </p:nvGraphicFramePr>
        <p:xfrm>
          <a:off x="439738" y="671513"/>
          <a:ext cx="9188450" cy="527526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643232">
                <a:tc>
                  <a:txBody>
                    <a:bodyPr/>
                    <a:lstStyle/>
                    <a:p>
                      <a:pPr algn="ctr" latinLnBrk="1">
                        <a:lnSpc>
                          <a:spcPct val="110000"/>
                        </a:lnSpc>
                        <a:spcAft>
                          <a:spcPts val="0"/>
                        </a:spcAft>
                      </a:pPr>
                      <a:r>
                        <a:rPr lang="ko-KR" sz="1000" b="1">
                          <a:effectLst/>
                          <a:latin typeface="+mn-ea"/>
                          <a:ea typeface="+mn-ea"/>
                          <a:cs typeface="Times New Roman" panose="02020603050405020304" pitchFamily="18" charset="0"/>
                        </a:rPr>
                        <a:t>원칙</a:t>
                      </a:r>
                      <a:r>
                        <a:rPr lang="en-US" sz="1000" b="1">
                          <a:effectLst/>
                          <a:latin typeface="+mn-ea"/>
                          <a:ea typeface="+mn-ea"/>
                          <a:cs typeface="Times New Roman" panose="02020603050405020304" pitchFamily="18" charset="0"/>
                        </a:rPr>
                        <a:t>/</a:t>
                      </a:r>
                      <a:r>
                        <a:rPr lang="ko-KR" sz="1000" b="1">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0"/>
                        </a:spcAft>
                      </a:pPr>
                      <a:r>
                        <a:rPr lang="ko-KR" sz="1000" dirty="0">
                          <a:effectLst/>
                          <a:latin typeface="+mn-ea"/>
                          <a:ea typeface="+mn-ea"/>
                          <a:cs typeface="Times New Roman" panose="02020603050405020304" pitchFamily="18" charset="0"/>
                        </a:rPr>
                        <a:t>표준</a:t>
                      </a:r>
                      <a:r>
                        <a:rPr lang="en-US" sz="1000" dirty="0">
                          <a:effectLst/>
                          <a:latin typeface="+mn-ea"/>
                          <a:ea typeface="+mn-ea"/>
                          <a:cs typeface="Times New Roman" panose="02020603050405020304" pitchFamily="18" charset="0"/>
                        </a:rPr>
                        <a:t> SHA</a:t>
                      </a:r>
                      <a:r>
                        <a:rPr lang="ko-KR" sz="1000" dirty="0">
                          <a:effectLst/>
                          <a:latin typeface="+mn-ea"/>
                          <a:ea typeface="+mn-ea"/>
                          <a:cs typeface="Times New Roman" panose="02020603050405020304" pitchFamily="18" charset="0"/>
                        </a:rPr>
                        <a:t>는 한국 상법에 따라 재무제표를 확정 및 이사회에 보고하는 방식으로 그 내용을 규정하고 있으나</a:t>
                      </a:r>
                      <a:r>
                        <a:rPr lang="en-US" sz="1000" dirty="0">
                          <a:effectLst/>
                          <a:latin typeface="+mn-ea"/>
                          <a:ea typeface="+mn-ea"/>
                          <a:cs typeface="Times New Roman" panose="02020603050405020304" pitchFamily="18" charset="0"/>
                        </a:rPr>
                        <a:t>, </a:t>
                      </a:r>
                      <a:r>
                        <a:rPr lang="ko-KR" sz="1000" dirty="0" err="1">
                          <a:effectLst/>
                          <a:latin typeface="+mn-ea"/>
                          <a:ea typeface="+mn-ea"/>
                          <a:cs typeface="Times New Roman" panose="02020603050405020304" pitchFamily="18" charset="0"/>
                        </a:rPr>
                        <a:t>준거지법에</a:t>
                      </a:r>
                      <a:r>
                        <a:rPr lang="ko-KR" sz="1000" dirty="0">
                          <a:effectLst/>
                          <a:latin typeface="+mn-ea"/>
                          <a:ea typeface="+mn-ea"/>
                          <a:cs typeface="Times New Roman" panose="02020603050405020304" pitchFamily="18" charset="0"/>
                        </a:rPr>
                        <a:t> 따라 규정이 달라질 수 있음</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80134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342900" lvl="0" indent="-342900" algn="just" latinLnBrk="1">
                        <a:lnSpc>
                          <a:spcPct val="110000"/>
                        </a:lnSpc>
                        <a:spcAft>
                          <a:spcPts val="600"/>
                        </a:spcAft>
                        <a:buFont typeface="+mj-lt"/>
                        <a:buAutoNum type="arabicPeriod"/>
                      </a:pPr>
                      <a:r>
                        <a:rPr lang="en-US" altLang="ko-KR" sz="1000" dirty="0" smtClean="0">
                          <a:effectLst/>
                          <a:latin typeface="+mn-ea"/>
                          <a:ea typeface="+mn-ea"/>
                          <a:cs typeface="Times New Roman" panose="02020603050405020304" pitchFamily="18" charset="0"/>
                        </a:rPr>
                        <a:t>LG H&amp;H</a:t>
                      </a:r>
                      <a:r>
                        <a:rPr lang="ko-KR" altLang="ko-KR" sz="1000" dirty="0" smtClean="0">
                          <a:effectLst/>
                          <a:latin typeface="+mn-ea"/>
                          <a:ea typeface="+mn-ea"/>
                          <a:cs typeface="Times New Roman" panose="02020603050405020304" pitchFamily="18" charset="0"/>
                        </a:rPr>
                        <a:t>가 </a:t>
                      </a:r>
                      <a:r>
                        <a:rPr lang="ko-KR" altLang="ko-KR" sz="1000" dirty="0" err="1" smtClean="0">
                          <a:effectLst/>
                          <a:latin typeface="+mn-ea"/>
                          <a:ea typeface="+mn-ea"/>
                          <a:cs typeface="Times New Roman" panose="02020603050405020304" pitchFamily="18" charset="0"/>
                        </a:rPr>
                        <a:t>지분율</a:t>
                      </a:r>
                      <a:r>
                        <a:rPr lang="en-US" altLang="ko-KR" sz="1000" dirty="0" smtClean="0">
                          <a:effectLst/>
                          <a:latin typeface="+mn-ea"/>
                          <a:ea typeface="+mn-ea"/>
                          <a:cs typeface="Times New Roman" panose="02020603050405020304" pitchFamily="18" charset="0"/>
                        </a:rPr>
                        <a:t> 20% </a:t>
                      </a:r>
                      <a:r>
                        <a:rPr lang="ko-KR" altLang="ko-KR" sz="1000" dirty="0" smtClean="0">
                          <a:effectLst/>
                          <a:latin typeface="+mn-ea"/>
                          <a:ea typeface="+mn-ea"/>
                          <a:cs typeface="Times New Roman" panose="02020603050405020304" pitchFamily="18" charset="0"/>
                        </a:rPr>
                        <a:t>이상 투자하게 되는 경우 </a:t>
                      </a:r>
                      <a:r>
                        <a:rPr lang="ko-KR" altLang="ko-KR" sz="1000" dirty="0" err="1" smtClean="0">
                          <a:effectLst/>
                          <a:latin typeface="+mn-ea"/>
                          <a:ea typeface="+mn-ea"/>
                          <a:cs typeface="Times New Roman" panose="02020603050405020304" pitchFamily="18" charset="0"/>
                        </a:rPr>
                        <a:t>대상회사가</a:t>
                      </a:r>
                      <a:r>
                        <a:rPr lang="ko-KR" altLang="ko-KR" sz="1000" dirty="0" smtClean="0">
                          <a:effectLst/>
                          <a:latin typeface="+mn-ea"/>
                          <a:ea typeface="+mn-ea"/>
                          <a:cs typeface="Times New Roman" panose="02020603050405020304" pitchFamily="18" charset="0"/>
                        </a:rPr>
                        <a:t> 지분법 또는 연결재무제표의 연결 대상이 되는지 여부에 대한 검토가 필요할 것으로 보임</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이에 따라</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재무제표를 준비하면서 필요한 자료들을 특정하여 규정하는 것이 필요하며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대상회사의 회계 원칙과</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회계 원칙이 달라 </a:t>
                      </a:r>
                      <a:r>
                        <a:rPr lang="ko-KR" altLang="ko-KR" sz="1000" dirty="0" err="1" smtClean="0">
                          <a:effectLst/>
                          <a:latin typeface="+mn-ea"/>
                          <a:ea typeface="+mn-ea"/>
                          <a:cs typeface="Times New Roman" panose="02020603050405020304" pitchFamily="18" charset="0"/>
                        </a:rPr>
                        <a:t>대상회사가</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의 </a:t>
                      </a:r>
                      <a:r>
                        <a:rPr lang="ko-KR" altLang="ko-KR" sz="1000" dirty="0" err="1" smtClean="0">
                          <a:effectLst/>
                          <a:latin typeface="+mn-ea"/>
                          <a:ea typeface="+mn-ea"/>
                          <a:cs typeface="Times New Roman" panose="02020603050405020304" pitchFamily="18" charset="0"/>
                        </a:rPr>
                        <a:t>회계원칙에</a:t>
                      </a:r>
                      <a:r>
                        <a:rPr lang="ko-KR" altLang="ko-KR" sz="1000" dirty="0" smtClean="0">
                          <a:effectLst/>
                          <a:latin typeface="+mn-ea"/>
                          <a:ea typeface="+mn-ea"/>
                          <a:cs typeface="Times New Roman" panose="02020603050405020304" pitchFamily="18" charset="0"/>
                        </a:rPr>
                        <a:t> 따라 변환된 재무제표의 제공 또한 필요하다면</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이러한 내용을 주주간 계약에 담는 것을 고려할 수 있음</a:t>
                      </a:r>
                      <a:r>
                        <a:rPr lang="en-US" altLang="ko-KR" sz="1000" dirty="0" smtClean="0">
                          <a:effectLst/>
                          <a:latin typeface="+mn-ea"/>
                          <a:ea typeface="+mn-ea"/>
                          <a:cs typeface="Times New Roman" panose="02020603050405020304" pitchFamily="18" charset="0"/>
                        </a:rPr>
                        <a:t>. </a:t>
                      </a:r>
                      <a:endParaRPr lang="ko-KR" altLang="ko-KR" sz="1000" dirty="0" smtClean="0">
                        <a:effectLst/>
                        <a:latin typeface="+mn-ea"/>
                        <a:ea typeface="+mn-ea"/>
                        <a:cs typeface="Times New Roman" panose="02020603050405020304" pitchFamily="18" charset="0"/>
                      </a:endParaRPr>
                    </a:p>
                    <a:p>
                      <a:pPr marL="342900" lvl="0" indent="-342900" algn="just" latinLnBrk="1">
                        <a:lnSpc>
                          <a:spcPct val="110000"/>
                        </a:lnSpc>
                        <a:spcAft>
                          <a:spcPts val="600"/>
                        </a:spcAft>
                        <a:buFont typeface="+mj-lt"/>
                        <a:buAutoNum type="arabicPeriod"/>
                      </a:pPr>
                      <a:r>
                        <a:rPr lang="ko-KR" altLang="ko-KR" sz="1000" dirty="0" smtClean="0">
                          <a:effectLst/>
                          <a:latin typeface="+mn-ea"/>
                          <a:ea typeface="+mn-ea"/>
                          <a:cs typeface="Times New Roman" panose="02020603050405020304" pitchFamily="18" charset="0"/>
                        </a:rPr>
                        <a:t>또한</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소수 주주인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일정한 재무 관련 정보를 특정 기간 내에 제공하도록 주주간 계약에 명시하는 것과 함께</a:t>
                      </a:r>
                      <a:r>
                        <a:rPr lang="en-US" altLang="ko-KR" sz="1000" dirty="0" smtClean="0">
                          <a:effectLst/>
                          <a:latin typeface="+mn-ea"/>
                          <a:ea typeface="+mn-ea"/>
                          <a:cs typeface="Times New Roman" panose="02020603050405020304" pitchFamily="18" charset="0"/>
                        </a:rPr>
                        <a:t>(</a:t>
                      </a:r>
                      <a:r>
                        <a:rPr lang="ko-KR" altLang="ko-KR" sz="1000" dirty="0" smtClean="0">
                          <a:effectLst/>
                          <a:latin typeface="+mn-ea"/>
                          <a:ea typeface="+mn-ea"/>
                          <a:cs typeface="Times New Roman" panose="02020603050405020304" pitchFamily="18" charset="0"/>
                        </a:rPr>
                        <a:t>추가 </a:t>
                      </a:r>
                      <a:r>
                        <a:rPr lang="en-US" altLang="ko-KR" sz="1000" dirty="0" smtClean="0">
                          <a:effectLst/>
                          <a:latin typeface="+mn-ea"/>
                          <a:ea typeface="+mn-ea"/>
                          <a:cs typeface="Times New Roman" panose="02020603050405020304" pitchFamily="18" charset="0"/>
                        </a:rPr>
                        <a:t>SHA </a:t>
                      </a:r>
                      <a:r>
                        <a:rPr lang="ko-KR" altLang="ko-KR" sz="1000" dirty="0" smtClean="0">
                          <a:effectLst/>
                          <a:latin typeface="+mn-ea"/>
                          <a:ea typeface="+mn-ea"/>
                          <a:cs typeface="Times New Roman" panose="02020603050405020304" pitchFamily="18" charset="0"/>
                        </a:rPr>
                        <a:t>문구</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대상회사의 비용으로 대상회사의 재무 상태를 감사할 수 있는 권리를 갖는 것도 고려할 수 있음</a:t>
                      </a:r>
                      <a:r>
                        <a:rPr lang="en-US" altLang="ko-KR" sz="1000" dirty="0" smtClean="0">
                          <a:effectLst/>
                          <a:latin typeface="+mn-ea"/>
                          <a:ea typeface="+mn-ea"/>
                          <a:cs typeface="Times New Roman" panose="02020603050405020304" pitchFamily="18" charset="0"/>
                        </a:rPr>
                        <a:t>.</a:t>
                      </a:r>
                    </a:p>
                    <a:p>
                      <a:pPr marL="342900" lvl="0" indent="-342900" algn="just" latinLnBrk="1">
                        <a:lnSpc>
                          <a:spcPct val="110000"/>
                        </a:lnSpc>
                        <a:spcAft>
                          <a:spcPts val="0"/>
                        </a:spcAft>
                        <a:buFont typeface="+mj-lt"/>
                        <a:buAutoNum type="arabicPeriod"/>
                      </a:pPr>
                      <a:r>
                        <a:rPr lang="ko-KR" altLang="ko-KR" sz="1000" dirty="0" smtClean="0">
                          <a:effectLst/>
                          <a:latin typeface="+mn-ea"/>
                          <a:ea typeface="+mn-ea"/>
                          <a:cs typeface="Times New Roman" panose="02020603050405020304" pitchFamily="18" charset="0"/>
                        </a:rPr>
                        <a:t>배당 정책</a:t>
                      </a:r>
                      <a:r>
                        <a:rPr lang="en-US" altLang="ko-KR" sz="1000" dirty="0" smtClean="0">
                          <a:effectLst/>
                          <a:latin typeface="+mn-ea"/>
                          <a:ea typeface="+mn-ea"/>
                          <a:cs typeface="Times New Roman" panose="02020603050405020304" pitchFamily="18" charset="0"/>
                        </a:rPr>
                        <a:t>(dividend policy)</a:t>
                      </a:r>
                      <a:r>
                        <a:rPr lang="ko-KR" altLang="ko-KR" sz="1000" dirty="0" smtClean="0">
                          <a:effectLst/>
                          <a:latin typeface="+mn-ea"/>
                          <a:ea typeface="+mn-ea"/>
                          <a:cs typeface="Times New Roman" panose="02020603050405020304" pitchFamily="18" charset="0"/>
                        </a:rPr>
                        <a:t>의 경우</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주주간 계약에 명시하는 것도 고려할 수 있으나</a:t>
                      </a:r>
                      <a:r>
                        <a:rPr lang="en-US" altLang="ko-KR" sz="1000" dirty="0" smtClean="0">
                          <a:effectLst/>
                          <a:latin typeface="+mn-ea"/>
                          <a:ea typeface="+mn-ea"/>
                          <a:cs typeface="Times New Roman" panose="02020603050405020304" pitchFamily="18" charset="0"/>
                        </a:rPr>
                        <a:t>, </a:t>
                      </a:r>
                      <a:r>
                        <a:rPr lang="ko-KR" altLang="ko-KR" sz="1000" dirty="0" err="1" smtClean="0">
                          <a:effectLst/>
                          <a:latin typeface="+mn-ea"/>
                          <a:ea typeface="+mn-ea"/>
                          <a:cs typeface="Times New Roman" panose="02020603050405020304" pitchFamily="18" charset="0"/>
                        </a:rPr>
                        <a:t>준거지법에</a:t>
                      </a:r>
                      <a:r>
                        <a:rPr lang="ko-KR" altLang="ko-KR" sz="1000" dirty="0" smtClean="0">
                          <a:effectLst/>
                          <a:latin typeface="+mn-ea"/>
                          <a:ea typeface="+mn-ea"/>
                          <a:cs typeface="Times New Roman" panose="02020603050405020304" pitchFamily="18" charset="0"/>
                        </a:rPr>
                        <a:t> 따라 실제 배당이 가능한지 여부는 개별적으로 검토 필요함</a:t>
                      </a:r>
                      <a:endParaRPr lang="ko-KR" sz="1000" u="none" kern="1200" dirty="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2830685">
                <a:tc>
                  <a:txBody>
                    <a:bodyPr/>
                    <a:lstStyle/>
                    <a:p>
                      <a:pPr algn="ctr" latinLnBrk="1">
                        <a:lnSpc>
                          <a:spcPct val="110000"/>
                        </a:lnSpc>
                        <a:spcAft>
                          <a:spcPts val="0"/>
                        </a:spcAft>
                      </a:pPr>
                      <a:r>
                        <a:rPr lang="ko-KR" sz="1000" b="1" dirty="0" smtClean="0">
                          <a:effectLst/>
                          <a:latin typeface="+mn-ea"/>
                          <a:ea typeface="+mn-ea"/>
                          <a:cs typeface="Times New Roman" panose="02020603050405020304" pitchFamily="18" charset="0"/>
                        </a:rPr>
                        <a:t>표준 </a:t>
                      </a:r>
                      <a:r>
                        <a:rPr lang="en-US" sz="1000" b="1" dirty="0" smtClean="0">
                          <a:effectLst/>
                          <a:latin typeface="+mn-ea"/>
                          <a:ea typeface="+mn-ea"/>
                          <a:cs typeface="Times New Roman" panose="02020603050405020304" pitchFamily="18" charset="0"/>
                        </a:rPr>
                        <a:t>SHA </a:t>
                      </a: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0"/>
                        </a:spcAft>
                        <a:buFont typeface="+mj-lt"/>
                        <a:buNone/>
                      </a:pPr>
                      <a:r>
                        <a:rPr lang="en-US" altLang="ko-KR" sz="1000" u="none" dirty="0" smtClean="0">
                          <a:effectLst/>
                          <a:latin typeface="+mn-ea"/>
                          <a:ea typeface="+mn-ea"/>
                          <a:cs typeface="Times New Roman" panose="02020603050405020304" pitchFamily="18" charset="0"/>
                        </a:rPr>
                        <a:t>6.1</a:t>
                      </a:r>
                      <a:r>
                        <a:rPr lang="en-US" altLang="ko-KR" sz="1000" u="none"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Audit</a:t>
                      </a:r>
                      <a:r>
                        <a:rPr lang="en-US" altLang="ko-KR" sz="1000" dirty="0" smtClean="0">
                          <a:effectLst/>
                          <a:latin typeface="+mn-ea"/>
                          <a:ea typeface="+mn-ea"/>
                          <a:cs typeface="Times New Roman" panose="02020603050405020304" pitchFamily="18" charset="0"/>
                        </a:rPr>
                        <a:t>.   The Company shall have the books and records audited at the end of each fiscal year during the term of this Agreement by an independent certified public accounting firm (the “</a:t>
                      </a:r>
                      <a:r>
                        <a:rPr lang="en-US" altLang="ko-KR" sz="1000" u="sng" dirty="0" smtClean="0">
                          <a:effectLst/>
                          <a:latin typeface="+mn-ea"/>
                          <a:ea typeface="+mn-ea"/>
                          <a:cs typeface="Times New Roman" panose="02020603050405020304" pitchFamily="18" charset="0"/>
                        </a:rPr>
                        <a:t>Independent Auditor</a:t>
                      </a:r>
                      <a:r>
                        <a:rPr lang="en-US" altLang="ko-KR" sz="1000" dirty="0" smtClean="0">
                          <a:effectLst/>
                          <a:latin typeface="+mn-ea"/>
                          <a:ea typeface="+mn-ea"/>
                          <a:cs typeface="Times New Roman" panose="02020603050405020304" pitchFamily="18" charset="0"/>
                        </a:rPr>
                        <a:t>”) appointed by the Board of Directors.  The Company shall provide each Shareholder, within ninety (90) days after the end of each fiscal year, with audited financial statements of the Company, including a statement of assets and liabilities and statement of income and expenses, Shareholders’ equity, and changes in financial position, which shall be prepared in the English language and in accordance with the applicable accounting principles.</a:t>
                      </a:r>
                    </a:p>
                    <a:p>
                      <a:pPr marL="457200" lvl="1" indent="0" algn="just">
                        <a:lnSpc>
                          <a:spcPct val="110000"/>
                        </a:lnSpc>
                        <a:spcAft>
                          <a:spcPts val="0"/>
                        </a:spcAft>
                        <a:buFont typeface="+mj-lt"/>
                        <a:buNone/>
                      </a:pPr>
                      <a:endParaRPr lang="en-US" altLang="ko-KR" sz="1000" dirty="0" smtClean="0">
                        <a:effectLst/>
                        <a:latin typeface="+mn-ea"/>
                        <a:ea typeface="+mn-ea"/>
                        <a:cs typeface="Times New Roman" panose="02020603050405020304" pitchFamily="18" charset="0"/>
                      </a:endParaRPr>
                    </a:p>
                    <a:p>
                      <a:pPr marL="0" lvl="1" indent="0" algn="just">
                        <a:lnSpc>
                          <a:spcPct val="110000"/>
                        </a:lnSpc>
                        <a:spcAft>
                          <a:spcPts val="0"/>
                        </a:spcAft>
                        <a:buFont typeface="+mj-lt"/>
                        <a:buNone/>
                      </a:pPr>
                      <a:r>
                        <a:rPr lang="en-US" altLang="ko-KR" sz="1000" u="none" dirty="0" smtClean="0">
                          <a:effectLst/>
                          <a:latin typeface="+mn-ea"/>
                          <a:ea typeface="+mn-ea"/>
                          <a:cs typeface="Times New Roman" panose="02020603050405020304" pitchFamily="18" charset="0"/>
                        </a:rPr>
                        <a:t>6.2</a:t>
                      </a:r>
                      <a:r>
                        <a:rPr lang="en-US" altLang="ko-KR" sz="1000" u="none"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Strategic Plan</a:t>
                      </a:r>
                      <a:r>
                        <a:rPr lang="en-US" altLang="ko-KR" sz="1000" dirty="0" smtClean="0">
                          <a:effectLst/>
                          <a:latin typeface="+mn-ea"/>
                          <a:ea typeface="+mn-ea"/>
                          <a:cs typeface="Times New Roman" panose="02020603050405020304" pitchFamily="18" charset="0"/>
                        </a:rPr>
                        <a:t>.  The strategic plan for the Company relating to five (5) fiscal years of the Company (the “</a:t>
                      </a:r>
                      <a:r>
                        <a:rPr lang="en-US" altLang="ko-KR" sz="1000" u="sng" dirty="0" smtClean="0">
                          <a:effectLst/>
                          <a:latin typeface="+mn-ea"/>
                          <a:ea typeface="+mn-ea"/>
                          <a:cs typeface="Times New Roman" panose="02020603050405020304" pitchFamily="18" charset="0"/>
                        </a:rPr>
                        <a:t>Strategic Plan</a:t>
                      </a:r>
                      <a:r>
                        <a:rPr lang="en-US" altLang="ko-KR" sz="1000" dirty="0" smtClean="0">
                          <a:effectLst/>
                          <a:latin typeface="+mn-ea"/>
                          <a:ea typeface="+mn-ea"/>
                          <a:cs typeface="Times New Roman" panose="02020603050405020304" pitchFamily="18" charset="0"/>
                        </a:rPr>
                        <a:t>”), which will be the initial Strategic Plan and applicable upon the Closing, covering the five (5) fiscal years of the Company starting with the fiscal year ending December 31, 20[</a:t>
                      </a:r>
                      <a:r>
                        <a:rPr lang="ko-KR" altLang="ko-KR" sz="1000" dirty="0" smtClean="0">
                          <a:effectLst/>
                          <a:latin typeface="+mn-ea"/>
                          <a:ea typeface="+mn-ea"/>
                          <a:cs typeface="Times New Roman" panose="02020603050405020304" pitchFamily="18" charset="0"/>
                        </a:rPr>
                        <a:t>•</a:t>
                      </a:r>
                      <a:r>
                        <a:rPr lang="en-US" altLang="ko-KR" sz="1000" dirty="0" smtClean="0">
                          <a:effectLst/>
                          <a:latin typeface="+mn-ea"/>
                          <a:ea typeface="+mn-ea"/>
                          <a:cs typeface="Times New Roman" panose="02020603050405020304" pitchFamily="18" charset="0"/>
                        </a:rPr>
                        <a:t>] is attached hereto as </a:t>
                      </a:r>
                      <a:r>
                        <a:rPr lang="en-US" altLang="ko-KR" sz="1000" u="sng" dirty="0" smtClean="0">
                          <a:effectLst/>
                          <a:latin typeface="+mn-ea"/>
                          <a:ea typeface="+mn-ea"/>
                          <a:cs typeface="Times New Roman" panose="02020603050405020304" pitchFamily="18" charset="0"/>
                        </a:rPr>
                        <a:t>Exhibit B</a:t>
                      </a:r>
                      <a:r>
                        <a:rPr lang="en-US" altLang="ko-KR" sz="1000" dirty="0" smtClean="0">
                          <a:effectLst/>
                          <a:latin typeface="+mn-ea"/>
                          <a:ea typeface="+mn-ea"/>
                          <a:cs typeface="Times New Roman" panose="02020603050405020304" pitchFamily="18" charset="0"/>
                        </a:rPr>
                        <a:t> (the “</a:t>
                      </a:r>
                      <a:r>
                        <a:rPr lang="en-US" altLang="ko-KR" sz="1000" u="sng" dirty="0" smtClean="0">
                          <a:effectLst/>
                          <a:latin typeface="+mn-ea"/>
                          <a:ea typeface="+mn-ea"/>
                          <a:cs typeface="Times New Roman" panose="02020603050405020304" pitchFamily="18" charset="0"/>
                        </a:rPr>
                        <a:t>Initial Strategic Plan</a:t>
                      </a:r>
                      <a:r>
                        <a:rPr lang="en-US" altLang="ko-KR" sz="1000" dirty="0" smtClean="0">
                          <a:effectLst/>
                          <a:latin typeface="+mn-ea"/>
                          <a:ea typeface="+mn-ea"/>
                          <a:cs typeface="Times New Roman" panose="02020603050405020304" pitchFamily="18" charset="0"/>
                        </a:rPr>
                        <a:t>”).  By [September 30] of the last fiscal year covered by any current Strategic Plan (the “</a:t>
                      </a:r>
                      <a:r>
                        <a:rPr lang="en-US" altLang="ko-KR" sz="1000" u="sng" dirty="0" smtClean="0">
                          <a:effectLst/>
                          <a:latin typeface="+mn-ea"/>
                          <a:ea typeface="+mn-ea"/>
                          <a:cs typeface="Times New Roman" panose="02020603050405020304" pitchFamily="18" charset="0"/>
                        </a:rPr>
                        <a:t>Last Fiscal Year Covered</a:t>
                      </a:r>
                      <a:r>
                        <a:rPr lang="en-US" altLang="ko-KR" sz="1000" dirty="0" smtClean="0">
                          <a:effectLst/>
                          <a:latin typeface="+mn-ea"/>
                          <a:ea typeface="+mn-ea"/>
                          <a:cs typeface="Times New Roman" panose="02020603050405020304" pitchFamily="18" charset="0"/>
                        </a:rPr>
                        <a:t>”), the CEO shall prepare a proposed draft of the Strategic Plan for the ensuing five (5) fiscal years of the Company immediately following the Last Fiscal Year Covered.  The Strategic Plan shall outline the major operational issues and overall management plans with respect to the Company, including all significant capital expenditures and debt commitments and an estimated budget relating to a five (5) year period.  The Board of Directors shall endeavor in good faith to adopt, no later than the [November 15] of the Last Fiscal Year Covered, the Strategic Plan relating to the immediately subsequent five (5) fiscal years.</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6732780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 Accounting / Financing / </a:t>
            </a:r>
            <a:r>
              <a:rPr lang="en-US" altLang="ko-KR" dirty="0" smtClean="0">
                <a:latin typeface="+mn-ea"/>
              </a:rPr>
              <a:t>Dividends (2)</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1145229118"/>
              </p:ext>
            </p:extLst>
          </p:nvPr>
        </p:nvGraphicFramePr>
        <p:xfrm>
          <a:off x="439738" y="671513"/>
          <a:ext cx="9188450" cy="479570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795702">
                <a:tc>
                  <a:txBody>
                    <a:bodyPr/>
                    <a:lstStyle/>
                    <a:p>
                      <a:pPr algn="ctr" latinLnBrk="1">
                        <a:lnSpc>
                          <a:spcPct val="115000"/>
                        </a:lnSpc>
                        <a:spcAft>
                          <a:spcPts val="300"/>
                        </a:spcAft>
                      </a:pPr>
                      <a:r>
                        <a:rPr lang="ko-KR" sz="1000" b="1" dirty="0" smtClean="0">
                          <a:effectLst/>
                          <a:latin typeface="+mn-ea"/>
                          <a:ea typeface="+mn-ea"/>
                          <a:cs typeface="Times New Roman" panose="02020603050405020304" pitchFamily="18" charset="0"/>
                        </a:rPr>
                        <a:t>표준 </a:t>
                      </a:r>
                      <a:r>
                        <a:rPr lang="en-US" sz="1000" b="1" dirty="0" smtClean="0">
                          <a:effectLst/>
                          <a:latin typeface="+mn-ea"/>
                          <a:ea typeface="+mn-ea"/>
                          <a:cs typeface="Times New Roman" panose="02020603050405020304" pitchFamily="18" charset="0"/>
                        </a:rPr>
                        <a:t>SHA </a:t>
                      </a:r>
                      <a:r>
                        <a:rPr lang="ko-KR" sz="1000" b="1" dirty="0" smtClean="0">
                          <a:effectLst/>
                          <a:latin typeface="+mn-ea"/>
                          <a:ea typeface="+mn-ea"/>
                          <a:cs typeface="Times New Roman" panose="02020603050405020304" pitchFamily="18" charset="0"/>
                        </a:rPr>
                        <a:t>문구</a:t>
                      </a:r>
                      <a:endParaRPr lang="ko-KR" sz="1000" b="1" dirty="0">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5000"/>
                        </a:lnSpc>
                        <a:spcAft>
                          <a:spcPts val="300"/>
                        </a:spcAft>
                        <a:buFont typeface="+mj-lt"/>
                        <a:buNone/>
                      </a:pPr>
                      <a:r>
                        <a:rPr lang="en-US" altLang="ko-KR" sz="1000" u="none" dirty="0" smtClean="0">
                          <a:effectLst/>
                          <a:latin typeface="+mn-ea"/>
                          <a:ea typeface="+mn-ea"/>
                          <a:cs typeface="Times New Roman" panose="02020603050405020304" pitchFamily="18" charset="0"/>
                        </a:rPr>
                        <a:t>6.3</a:t>
                      </a:r>
                      <a:r>
                        <a:rPr lang="en-US" altLang="ko-KR" sz="1000" u="none"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Annual Business Plan and Budget</a:t>
                      </a:r>
                      <a:r>
                        <a:rPr lang="en-US" altLang="ko-KR" sz="1000" dirty="0" smtClean="0">
                          <a:effectLst/>
                          <a:latin typeface="+mn-ea"/>
                          <a:ea typeface="+mn-ea"/>
                          <a:cs typeface="Times New Roman" panose="02020603050405020304" pitchFamily="18" charset="0"/>
                        </a:rPr>
                        <a:t>.  At least by [September 30] prior to the beginning of each subsequent fiscal year, the CEO shall prepare a proposed annual business plan and annual operating and capital budgets for the ensuing fiscal year of the Company, which shall be based on and consistent with the then Strategic Plan for such fiscal year (the “</a:t>
                      </a:r>
                      <a:r>
                        <a:rPr lang="en-US" altLang="ko-KR" sz="1000" u="sng" dirty="0" smtClean="0">
                          <a:effectLst/>
                          <a:latin typeface="+mn-ea"/>
                          <a:ea typeface="+mn-ea"/>
                          <a:cs typeface="Times New Roman" panose="02020603050405020304" pitchFamily="18" charset="0"/>
                        </a:rPr>
                        <a:t>Annual Business Plan and Budget</a:t>
                      </a:r>
                      <a:r>
                        <a:rPr lang="en-US" altLang="ko-KR" sz="1000" dirty="0" smtClean="0">
                          <a:effectLst/>
                          <a:latin typeface="+mn-ea"/>
                          <a:ea typeface="+mn-ea"/>
                          <a:cs typeface="Times New Roman" panose="02020603050405020304" pitchFamily="18" charset="0"/>
                        </a:rPr>
                        <a:t>”).  The Annual Business Plan and Budget may include items, such as leases and/or mortgage loans which create obligations of the Company during more than one fiscal year provided the term and amount of such obligation is clearly set forth in the Annual Business Plan and Budget and the approval of the Board of Directors thereof shall constitute approval for the full term of any such obligation.  The Board of Directors shall endeavor in good faith to adopt an Annual Business Plan and Budget for each fiscal year of the Company not later than [November 15] of the previous fiscal year.  If no Annual Business Plan and Budget has been adopted for a particular fiscal year of the Company prior to the commencement thereof, then until the date that the Board of Directors approves an Annual Business Plan and Budget for such fiscal year, payment of the Company’s expenditures in the ordinary course business consistent with the most recent Annual Business Plan and Budget approved by the Board of Directors shall be deemed authorized by the Board of Directors.</a:t>
                      </a:r>
                    </a:p>
                    <a:p>
                      <a:pPr marL="457200" lvl="1" indent="0" algn="just">
                        <a:lnSpc>
                          <a:spcPct val="115000"/>
                        </a:lnSpc>
                        <a:spcAft>
                          <a:spcPts val="300"/>
                        </a:spcAft>
                        <a:buFont typeface="+mj-lt"/>
                        <a:buNone/>
                      </a:pPr>
                      <a:endParaRPr lang="en-US" altLang="ko-KR" sz="1000" dirty="0" smtClean="0">
                        <a:effectLst/>
                        <a:latin typeface="+mn-ea"/>
                        <a:ea typeface="+mn-ea"/>
                        <a:cs typeface="Times New Roman" panose="02020603050405020304" pitchFamily="18" charset="0"/>
                      </a:endParaRPr>
                    </a:p>
                    <a:p>
                      <a:pPr marL="0" lvl="1" indent="0" algn="just">
                        <a:lnSpc>
                          <a:spcPct val="115000"/>
                        </a:lnSpc>
                        <a:spcAft>
                          <a:spcPts val="300"/>
                        </a:spcAft>
                        <a:buFont typeface="+mj-lt"/>
                        <a:buNone/>
                      </a:pPr>
                      <a:r>
                        <a:rPr lang="en-US" altLang="ko-KR" sz="1000" u="none" dirty="0" smtClean="0">
                          <a:effectLst/>
                          <a:latin typeface="+mn-ea"/>
                          <a:ea typeface="+mn-ea"/>
                          <a:cs typeface="Times New Roman" panose="02020603050405020304" pitchFamily="18" charset="0"/>
                        </a:rPr>
                        <a:t>6.4</a:t>
                      </a:r>
                      <a:r>
                        <a:rPr lang="en-US" altLang="ko-KR" sz="1000" u="none" baseline="0" dirty="0" smtClean="0">
                          <a:effectLst/>
                          <a:latin typeface="+mn-ea"/>
                          <a:ea typeface="+mn-ea"/>
                          <a:cs typeface="Times New Roman" panose="02020603050405020304" pitchFamily="18" charset="0"/>
                        </a:rPr>
                        <a:t> </a:t>
                      </a:r>
                      <a:r>
                        <a:rPr lang="en-US" altLang="ko-KR" sz="1000" u="sng" dirty="0" smtClean="0">
                          <a:effectLst/>
                          <a:latin typeface="+mn-ea"/>
                          <a:ea typeface="+mn-ea"/>
                          <a:cs typeface="Times New Roman" panose="02020603050405020304" pitchFamily="18" charset="0"/>
                        </a:rPr>
                        <a:t>Report to the Board of Directors</a:t>
                      </a:r>
                      <a:r>
                        <a:rPr lang="en-US" altLang="ko-KR" sz="1000" dirty="0" smtClean="0">
                          <a:effectLst/>
                          <a:latin typeface="+mn-ea"/>
                          <a:ea typeface="+mn-ea"/>
                          <a:cs typeface="Times New Roman" panose="02020603050405020304" pitchFamily="18" charset="0"/>
                        </a:rPr>
                        <a:t>.  The Company shall ensure that the following information is reported to the Board of Directors within thirty (30) days after the end of each fiscal quarter, in Korean and English:</a:t>
                      </a:r>
                      <a:endParaRPr lang="ko-KR" altLang="ko-KR" sz="1000" dirty="0" smtClean="0">
                        <a:effectLst/>
                        <a:latin typeface="+mn-ea"/>
                        <a:ea typeface="+mn-ea"/>
                        <a:cs typeface="Times New Roman" panose="02020603050405020304" pitchFamily="18" charset="0"/>
                      </a:endParaRPr>
                    </a:p>
                    <a:p>
                      <a:pPr marL="457200" lvl="1" indent="0" algn="just">
                        <a:lnSpc>
                          <a:spcPct val="115000"/>
                        </a:lnSpc>
                        <a:spcAft>
                          <a:spcPts val="300"/>
                        </a:spcAft>
                        <a:buFont typeface="+mj-lt"/>
                        <a:buNone/>
                      </a:pPr>
                      <a:endParaRPr lang="en-US" altLang="ko-KR" sz="1000" dirty="0" smtClean="0">
                        <a:effectLst/>
                        <a:latin typeface="+mn-ea"/>
                        <a:ea typeface="+mn-ea"/>
                        <a:cs typeface="Times New Roman" panose="02020603050405020304" pitchFamily="18" charset="0"/>
                      </a:endParaRPr>
                    </a:p>
                    <a:p>
                      <a:pPr marL="342900" lvl="0" indent="-342900" algn="just">
                        <a:lnSpc>
                          <a:spcPct val="115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interim financial statements of the Company as at the end of the preceding quarter consisting of a statement of assets and liabilities and statement of income and expenses, Shareholders’ equity, and changes in financial position;</a:t>
                      </a:r>
                    </a:p>
                    <a:p>
                      <a:pPr marL="342900" lvl="0" indent="-342900" algn="just">
                        <a:lnSpc>
                          <a:spcPct val="115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 written report comparing actual results for such fiscal quarter to the Annual Business Plan And Budget for the relevant year and containing comments on any other significant operational or other developments which may affect the Company and a commentary on the outlook for the next four (4) fiscal quarters; and</a:t>
                      </a:r>
                    </a:p>
                    <a:p>
                      <a:pPr marL="342900" lvl="0" indent="-342900" algn="just">
                        <a:lnSpc>
                          <a:spcPct val="115000"/>
                        </a:lnSpc>
                        <a:spcAft>
                          <a:spcPts val="300"/>
                        </a:spcAft>
                        <a:buFont typeface="+mj-lt"/>
                        <a:buAutoNum type="alphaLcParenBoth"/>
                      </a:pPr>
                      <a:r>
                        <a:rPr lang="en-US" altLang="ko-KR" sz="1000" dirty="0" smtClean="0">
                          <a:effectLst/>
                          <a:latin typeface="+mn-ea"/>
                          <a:ea typeface="+mn-ea"/>
                          <a:cs typeface="Times New Roman" panose="02020603050405020304" pitchFamily="18" charset="0"/>
                        </a:rPr>
                        <a:t>a report disclosing and detailing any transactions or agreements between the Company and any of its directors or officers, or either Shareholder, or Affiliates of either Shareholder, or any director or officer of either Shareholder or such Affiliate and any other transactions or agreements other than on commercial arm’s-length terms.</a:t>
                      </a: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25469741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 Accounting / Financing / </a:t>
            </a:r>
            <a:r>
              <a:rPr lang="en-US" altLang="ko-KR" dirty="0" smtClean="0">
                <a:latin typeface="+mn-ea"/>
              </a:rPr>
              <a:t>Dividends (3)</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5" name="표 4"/>
          <p:cNvGraphicFramePr>
            <a:graphicFrameLocks noGrp="1"/>
          </p:cNvGraphicFramePr>
          <p:nvPr>
            <p:extLst>
              <p:ext uri="{D42A27DB-BD31-4B8C-83A1-F6EECF244321}">
                <p14:modId xmlns:p14="http://schemas.microsoft.com/office/powerpoint/2010/main" val="2655881289"/>
              </p:ext>
            </p:extLst>
          </p:nvPr>
        </p:nvGraphicFramePr>
        <p:xfrm>
          <a:off x="439738" y="671513"/>
          <a:ext cx="9188450" cy="4303643"/>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2505218">
                <a:tc>
                  <a:txBody>
                    <a:bodyPr/>
                    <a:lstStyle/>
                    <a:p>
                      <a:pPr marL="0" algn="ctr" defTabSz="914400" rtl="0" eaLnBrk="1" latinLnBrk="1" hangingPunct="1">
                        <a:lnSpc>
                          <a:spcPct val="110000"/>
                        </a:lnSpc>
                        <a:spcAft>
                          <a:spcPts val="0"/>
                        </a:spcAft>
                      </a:pPr>
                      <a:r>
                        <a:rPr lang="ko-KR" altLang="en-US" sz="1000" b="1" kern="1200" dirty="0" smtClean="0">
                          <a:solidFill>
                            <a:schemeClr val="tx1"/>
                          </a:solidFill>
                          <a:effectLst/>
                          <a:latin typeface="+mn-ea"/>
                          <a:ea typeface="+mn-ea"/>
                          <a:cs typeface="Times New Roman" panose="02020603050405020304" pitchFamily="18" charset="0"/>
                        </a:rPr>
                        <a:t>표준 </a:t>
                      </a:r>
                      <a:r>
                        <a:rPr lang="en-US" altLang="ko-KR" sz="1000" b="1" kern="1200" dirty="0" smtClean="0">
                          <a:solidFill>
                            <a:schemeClr val="tx1"/>
                          </a:solidFill>
                          <a:effectLst/>
                          <a:latin typeface="+mn-ea"/>
                          <a:ea typeface="+mn-ea"/>
                          <a:cs typeface="Times New Roman" panose="02020603050405020304" pitchFamily="18" charset="0"/>
                        </a:rPr>
                        <a:t>SHA </a:t>
                      </a:r>
                      <a:r>
                        <a:rPr lang="ko-KR" altLang="en-US" sz="1000" b="1" kern="1200" dirty="0" smtClean="0">
                          <a:solidFill>
                            <a:schemeClr val="tx1"/>
                          </a:solidFill>
                          <a:effectLst/>
                          <a:latin typeface="+mn-ea"/>
                          <a:ea typeface="+mn-ea"/>
                          <a:cs typeface="Times New Roman" panose="02020603050405020304" pitchFamily="18" charset="0"/>
                        </a:rPr>
                        <a:t>문구</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300"/>
                        </a:spcAft>
                        <a:buFont typeface="+mj-lt"/>
                        <a:buNone/>
                        <a:tabLst/>
                      </a:pPr>
                      <a:r>
                        <a:rPr lang="en-US" altLang="ko-KR" sz="1000" u="none" dirty="0" smtClean="0">
                          <a:effectLst/>
                          <a:latin typeface="맑은 고딕" panose="020B0503020000020004" pitchFamily="50" charset="-127"/>
                          <a:ea typeface="맑은 고딕" panose="020B0503020000020004" pitchFamily="50" charset="-127"/>
                          <a:cs typeface="Times New Roman" panose="02020603050405020304" pitchFamily="18" charset="0"/>
                        </a:rPr>
                        <a:t>6.5</a:t>
                      </a:r>
                      <a:r>
                        <a:rPr lang="en-US" altLang="ko-KR" sz="1000" u="none" baseline="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Inspection Right</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Either Shareholder, through its authorized representative(s) and with prior written notice, shall have the right to inspect the books and records of the Company at any reasonable times.</a:t>
                      </a:r>
                    </a:p>
                    <a:p>
                      <a:pPr marL="457200" lvl="1" indent="0" algn="just">
                        <a:lnSpc>
                          <a:spcPct val="110000"/>
                        </a:lnSpc>
                        <a:spcAft>
                          <a:spcPts val="300"/>
                        </a:spcAft>
                        <a:buFont typeface="+mj-lt"/>
                        <a:buNone/>
                      </a:pP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0000"/>
                        </a:lnSpc>
                        <a:spcAft>
                          <a:spcPts val="300"/>
                        </a:spcAft>
                      </a:pPr>
                      <a:r>
                        <a:rPr lang="en-US" altLang="ko-KR" sz="1000" u="none" dirty="0" smtClean="0">
                          <a:effectLst/>
                          <a:latin typeface="맑은 고딕" panose="020B0503020000020004" pitchFamily="50" charset="-127"/>
                          <a:ea typeface="맑은 고딕" panose="020B0503020000020004" pitchFamily="50" charset="-127"/>
                          <a:cs typeface="Times New Roman" panose="02020603050405020304" pitchFamily="18" charset="0"/>
                        </a:rPr>
                        <a:t>6.6</a:t>
                      </a:r>
                      <a:r>
                        <a:rPr lang="en-US" altLang="ko-KR" sz="1000" u="none" baseline="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 Dividend Policy</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Subject to the approval of the Shareholders and the Board of Directors, the Company shall make periodic distributions of dividends depending on its circumstances, including, among others, planned expansion and capital investment requirements and its cash position, in accordance with the Articles of Incorporation and subject to the relevant Laws;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provided</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however</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that, in the event the Company has “distributable profits” in any fiscal year as defined under the Korean Commercial Code (the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KCC</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which are not reserved for expansion or future business activities of the Company in the Strategic Plan with respect to such fiscal year, the Company shall make a distribution of dividends to the Shareholders in an amount equal to 100% of the “distributable profits” in any fiscal year as defined under the KCC and, in connection therewith, each Shareholder agrees that (x) it will exercise its voting rights in the Company to approve at the annual ordinary general meeting of Shareholders such distribution of dividends to the Shareholders, and (y) take such other steps as are necessary to ensure that such distribution occurs.</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798425">
                <a:tc>
                  <a:txBody>
                    <a:bodyPr/>
                    <a:lstStyle/>
                    <a:p>
                      <a:pPr algn="ctr" latinLnBrk="1">
                        <a:lnSpc>
                          <a:spcPct val="115000"/>
                        </a:lnSpc>
                        <a:spcAft>
                          <a:spcPts val="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추가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30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Company shall provide each Shareholder with the following information and reports: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0000"/>
                        </a:lnSpc>
                        <a:spcAft>
                          <a:spcPts val="300"/>
                        </a:spcAft>
                        <a:buSzPts val="1100"/>
                        <a:buFont typeface="Times New Roman" panose="02020603050405020304" pitchFamily="18" charset="0"/>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annual balance sheets, statements of income and of cash flows and statements of shareholders’ equity in accordance with K-GAAP and audited to the extent required by Law within ninety (90) days of the fiscal year end of the Company;</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0000"/>
                        </a:lnSpc>
                        <a:spcAft>
                          <a:spcPts val="300"/>
                        </a:spcAft>
                        <a:buSzPts val="1100"/>
                        <a:buFont typeface="Times New Roman" panose="02020603050405020304" pitchFamily="18" charset="0"/>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quarterly unaudited balance sheets, statements of income and of cash flows and statements of shareholders’ equity in accordance with K-GAAP within forty five (45) days of the applicable fiscal quarter end of the Company;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latinLnBrk="1">
                        <a:lnSpc>
                          <a:spcPct val="110000"/>
                        </a:lnSpc>
                        <a:spcAft>
                          <a:spcPts val="300"/>
                        </a:spcAft>
                        <a:buSzPts val="1100"/>
                        <a:buFont typeface="Times New Roman" panose="02020603050405020304" pitchFamily="18" charset="0"/>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unaudited separate </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monthly management accounts within [fifteen (15)] days of the applicable fiscal month end of the Company; and from time to time and as soon as practically possible, such other information and documents as a Shareholder may reasonably request.</a:t>
                      </a:r>
                      <a:endParaRPr lang="ko-KR" sz="1000" kern="12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42841221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VIII. </a:t>
            </a:r>
            <a:r>
              <a:rPr lang="en-US" altLang="ko-KR" dirty="0" smtClean="0">
                <a:latin typeface="+mn-ea"/>
              </a:rPr>
              <a:t>Termination</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10" name="표 9"/>
          <p:cNvGraphicFramePr>
            <a:graphicFrameLocks noGrp="1"/>
          </p:cNvGraphicFramePr>
          <p:nvPr>
            <p:extLst>
              <p:ext uri="{D42A27DB-BD31-4B8C-83A1-F6EECF244321}">
                <p14:modId xmlns:p14="http://schemas.microsoft.com/office/powerpoint/2010/main" val="943550917"/>
              </p:ext>
            </p:extLst>
          </p:nvPr>
        </p:nvGraphicFramePr>
        <p:xfrm>
          <a:off x="439738" y="1041097"/>
          <a:ext cx="9188450" cy="4186328"/>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69583">
                <a:tc>
                  <a:txBody>
                    <a:bodyPr/>
                    <a:lstStyle/>
                    <a:p>
                      <a:pPr marL="0" algn="ctr" defTabSz="914400" rtl="0" eaLnBrk="1" latinLnBrk="1" hangingPunct="1">
                        <a:lnSpc>
                          <a:spcPct val="110000"/>
                        </a:lnSpc>
                        <a:spcAft>
                          <a:spcPts val="30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300"/>
                        </a:spcAft>
                      </a:pPr>
                      <a:r>
                        <a:rPr lang="ko-KR" altLang="en-US" sz="1000" smtClean="0">
                          <a:effectLst/>
                          <a:latin typeface="+mn-ea"/>
                          <a:ea typeface="+mn-ea"/>
                          <a:cs typeface="Times New Roman" panose="02020603050405020304" pitchFamily="18" charset="0"/>
                        </a:rPr>
                        <a:t>주주간계약이 해지되는 사유를 정함</a:t>
                      </a:r>
                      <a:r>
                        <a:rPr lang="en-US" altLang="ko-KR" sz="1000" smtClean="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98950">
                <a:tc>
                  <a:txBody>
                    <a:bodyPr/>
                    <a:lstStyle/>
                    <a:p>
                      <a:pPr marL="0" algn="ctr" defTabSz="914400" rtl="0" eaLnBrk="1" latinLnBrk="1" hangingPunct="1">
                        <a:lnSpc>
                          <a:spcPct val="110000"/>
                        </a:lnSpc>
                        <a:spcAft>
                          <a:spcPts val="30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68288" lvl="0" indent="-268288" algn="just" latinLnBrk="1">
                        <a:lnSpc>
                          <a:spcPct val="110000"/>
                        </a:lnSpc>
                        <a:spcAft>
                          <a:spcPts val="30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어떠한 주주의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지분율이</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일정한 기준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예</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10%)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미만으로 하락하는 경우 주주간 계약이 해제되도록 규정하는 것이 통상적이고</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 경우 그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지분율은</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대상회사의 지분구조 등을 종합적으로 고려하여 당사자의 협상으로 결정됨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p>
                    <a:p>
                      <a:pPr marL="268288" lvl="0" indent="-268288" algn="just" latinLnBrk="1">
                        <a:lnSpc>
                          <a:spcPct val="110000"/>
                        </a:lnSpc>
                        <a:spcAft>
                          <a:spcPts val="300"/>
                        </a:spcAft>
                        <a:buFont typeface="+mj-lt"/>
                        <a:buAutoNum type="arabicPeriod"/>
                      </a:pPr>
                      <a:r>
                        <a:rPr lang="ko-KR" altLang="ko-KR" sz="1000" dirty="0" smtClean="0">
                          <a:effectLst/>
                          <a:ea typeface="맑은 고딕" panose="020B0503020000020004" pitchFamily="50" charset="-127"/>
                          <a:cs typeface="Times New Roman" panose="02020603050405020304" pitchFamily="18" charset="0"/>
                        </a:rPr>
                        <a:t>어떠한 주주가 대상회사의 주식을 전부 매각하는 경우에는 그 해석상 주주간 계약의 효력이 종료된다고 볼 수 있으나</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이를 명확하게 규정하는 것도 </a:t>
                      </a:r>
                      <a:r>
                        <a:rPr lang="ko-KR" altLang="ko-KR" sz="1000" dirty="0" err="1" smtClean="0">
                          <a:effectLst/>
                          <a:ea typeface="맑은 고딕" panose="020B0503020000020004" pitchFamily="50" charset="-127"/>
                          <a:cs typeface="Times New Roman" panose="02020603050405020304" pitchFamily="18" charset="0"/>
                        </a:rPr>
                        <a:t>준거지법에</a:t>
                      </a:r>
                      <a:r>
                        <a:rPr lang="ko-KR" altLang="ko-KR" sz="1000" dirty="0" smtClean="0">
                          <a:effectLst/>
                          <a:ea typeface="맑은 고딕" panose="020B0503020000020004" pitchFamily="50" charset="-127"/>
                          <a:cs typeface="Times New Roman" panose="02020603050405020304" pitchFamily="18" charset="0"/>
                        </a:rPr>
                        <a:t> 따라 필요할 수 있고</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이러한 경우 제</a:t>
                      </a:r>
                      <a:r>
                        <a:rPr lang="en-US" altLang="ko-KR" sz="1000" dirty="0" smtClean="0">
                          <a:effectLst/>
                          <a:ea typeface="맑은 고딕" panose="020B0503020000020004" pitchFamily="50" charset="-127"/>
                          <a:cs typeface="Times New Roman" panose="02020603050405020304" pitchFamily="18" charset="0"/>
                        </a:rPr>
                        <a:t>3</a:t>
                      </a:r>
                      <a:r>
                        <a:rPr lang="ko-KR" altLang="ko-KR" sz="1000" dirty="0" smtClean="0">
                          <a:effectLst/>
                          <a:ea typeface="맑은 고딕" panose="020B0503020000020004" pitchFamily="50" charset="-127"/>
                          <a:cs typeface="Times New Roman" panose="02020603050405020304" pitchFamily="18" charset="0"/>
                        </a:rPr>
                        <a:t>자 매수인이 주주간 계약을 승계하도록 규정함으로써 제</a:t>
                      </a:r>
                      <a:r>
                        <a:rPr lang="en-US" altLang="ko-KR" sz="1000" dirty="0" smtClean="0">
                          <a:effectLst/>
                          <a:ea typeface="맑은 고딕" panose="020B0503020000020004" pitchFamily="50" charset="-127"/>
                          <a:cs typeface="Times New Roman" panose="02020603050405020304" pitchFamily="18" charset="0"/>
                        </a:rPr>
                        <a:t>3</a:t>
                      </a:r>
                      <a:r>
                        <a:rPr lang="ko-KR" altLang="ko-KR" sz="1000" dirty="0" smtClean="0">
                          <a:effectLst/>
                          <a:ea typeface="맑은 고딕" panose="020B0503020000020004" pitchFamily="50" charset="-127"/>
                          <a:cs typeface="Times New Roman" panose="02020603050405020304" pitchFamily="18" charset="0"/>
                        </a:rPr>
                        <a:t>자 매수인 또한 주주간 계약에 편입되어 기존 주주간 계약에 따른 지배구조가 유지되도록 규정하는 것도 고려할 수 있음</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2517795">
                <a:tc>
                  <a:txBody>
                    <a:bodyPr/>
                    <a:lstStyle/>
                    <a:p>
                      <a:pPr algn="ctr" latinLnBrk="1">
                        <a:lnSpc>
                          <a:spcPct val="110000"/>
                        </a:lnSpc>
                        <a:spcAft>
                          <a:spcPts val="30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0000"/>
                        </a:lnSpc>
                        <a:spcAft>
                          <a:spcPts val="300"/>
                        </a:spcAft>
                        <a:buFont typeface="+mj-lt"/>
                        <a:buNone/>
                      </a:pP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7.2</a:t>
                      </a:r>
                      <a:r>
                        <a:rPr lang="en-US" altLang="ko-KR" sz="1000" u="sng" baseline="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Termination.</a:t>
                      </a:r>
                      <a:endParaRPr lang="ko-KR"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0000"/>
                        </a:lnSpc>
                        <a:spcAft>
                          <a:spcPts val="30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68288" lvl="0" indent="-268288" algn="just">
                        <a:lnSpc>
                          <a:spcPct val="110000"/>
                        </a:lnSpc>
                        <a:spcAft>
                          <a:spcPts val="300"/>
                        </a:spcAft>
                        <a:buFont typeface="+mj-lt"/>
                        <a:buAutoNum type="alpha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This Agreement may be terminated by either Shareholder by written notice to the other Shareholder in the event that: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538163" lvl="0" indent="-268288" algn="just">
                        <a:lnSpc>
                          <a:spcPct val="110000"/>
                        </a:lnSpc>
                        <a:spcAft>
                          <a:spcPts val="30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other Shareholder commits a material breach of any of its obligations, agreements, or covenants under this Agreement, which if remediable, has not been remedied within sixty (60) days after receipt of written notice requiring said breach to be remedied; </a:t>
                      </a:r>
                    </a:p>
                    <a:p>
                      <a:pPr marL="538163" lvl="0" indent="-268288" algn="just">
                        <a:lnSpc>
                          <a:spcPct val="110000"/>
                        </a:lnSpc>
                        <a:spcAft>
                          <a:spcPts val="30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 bankruptcy, insolvency, reorganization, rehabilitation (in Korean “</a:t>
                      </a:r>
                      <a:r>
                        <a:rPr lang="en-US" altLang="ko-KR" sz="1000" i="1" dirty="0" err="1" smtClean="0">
                          <a:effectLst/>
                          <a:latin typeface="맑은 고딕" panose="020B0503020000020004" pitchFamily="50" charset="-127"/>
                          <a:ea typeface="맑은 고딕" panose="020B0503020000020004" pitchFamily="50" charset="-127"/>
                          <a:cs typeface="Times New Roman" panose="02020603050405020304" pitchFamily="18" charset="0"/>
                        </a:rPr>
                        <a:t>hoesaeng</a:t>
                      </a:r>
                      <a:r>
                        <a:rPr lang="en-US" altLang="ko-KR" sz="1000" i="1"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work-out, corporate restructuring (under the Corporate Restructuring Promotion Act), dissolution or similar proceeding has been initiated by or against the other Shareholder, or its banking transactions have been suspended; </a:t>
                      </a:r>
                    </a:p>
                    <a:p>
                      <a:pPr marL="538163" lvl="0" indent="-268288" algn="just">
                        <a:lnSpc>
                          <a:spcPct val="110000"/>
                        </a:lnSpc>
                        <a:spcAft>
                          <a:spcPts val="30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any third party, engaged in a business or activity which is in direct or indirect competition with (or may otherwise adversely affect the business of) the Company, or the terminating Shareholder or its Affiliates, acquires the power or ability to appoint more than half of the directors of the other Shareholder, through ownership of voting shares, or by contract, or otherwise; or</a:t>
                      </a:r>
                    </a:p>
                    <a:p>
                      <a:pPr marL="538163" lvl="0" indent="-268288" algn="just">
                        <a:lnSpc>
                          <a:spcPct val="110000"/>
                        </a:lnSpc>
                        <a:spcAft>
                          <a:spcPts val="30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shareholding of the other Shareholder in the Company becomes less than 10%.</a:t>
                      </a:r>
                      <a:endParaRPr lang="ko-KR" alt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5" name="TextBox 4"/>
          <p:cNvSpPr txBox="1"/>
          <p:nvPr/>
        </p:nvSpPr>
        <p:spPr>
          <a:xfrm>
            <a:off x="277813" y="689915"/>
            <a:ext cx="9163776" cy="284693"/>
          </a:xfrm>
          <a:prstGeom prst="rect">
            <a:avLst/>
          </a:prstGeom>
          <a:noFill/>
        </p:spPr>
        <p:txBody>
          <a:bodyPr wrap="square" rtlCol="0">
            <a:spAutoFit/>
          </a:bodyPr>
          <a:lstStyle/>
          <a:p>
            <a:pPr lvl="0" algn="just">
              <a:lnSpc>
                <a:spcPts val="1500"/>
              </a:lnSpc>
              <a:spcAft>
                <a:spcPts val="0"/>
              </a:spcAft>
              <a:tabLst>
                <a:tab pos="180340" algn="l"/>
              </a:tabLst>
            </a:pPr>
            <a:r>
              <a:rPr lang="en-US" altLang="ko-KR" dirty="0">
                <a:latin typeface="맑은 고딕" panose="020B0503020000020004" pitchFamily="50" charset="-127"/>
                <a:cs typeface="Times New Roman" panose="02020603050405020304" pitchFamily="18" charset="0"/>
              </a:rPr>
              <a:t>1</a:t>
            </a:r>
            <a:r>
              <a:rPr lang="en-US" altLang="ko-KR" dirty="0" smtClean="0">
                <a:latin typeface="맑은 고딕" panose="020B0503020000020004" pitchFamily="50" charset="-127"/>
                <a:cs typeface="Times New Roman" panose="02020603050405020304" pitchFamily="18" charset="0"/>
              </a:rPr>
              <a:t>. Termination Events</a:t>
            </a:r>
            <a:endParaRPr lang="ko-KR" altLang="ko-KR" sz="1050" dirty="0">
              <a:latin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30030937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VIII. </a:t>
            </a:r>
            <a:r>
              <a:rPr lang="en-US" altLang="ko-KR" dirty="0" smtClean="0">
                <a:latin typeface="+mn-ea"/>
              </a:rPr>
              <a:t>Termination</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534987034"/>
              </p:ext>
            </p:extLst>
          </p:nvPr>
        </p:nvGraphicFramePr>
        <p:xfrm>
          <a:off x="439738" y="1031100"/>
          <a:ext cx="9188450" cy="5395177"/>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79482">
                <a:tc>
                  <a:txBody>
                    <a:bodyPr/>
                    <a:lstStyle/>
                    <a:p>
                      <a:pPr marL="0" algn="ctr" defTabSz="914400" rtl="0" eaLnBrk="1" latinLnBrk="1" hangingPunct="1">
                        <a:lnSpc>
                          <a:spcPct val="110000"/>
                        </a:lnSpc>
                        <a:spcAft>
                          <a:spcPts val="60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smtClean="0">
                          <a:solidFill>
                            <a:schemeClr val="tx1"/>
                          </a:solidFill>
                          <a:effectLst/>
                          <a:latin typeface="+mn-ea"/>
                          <a:ea typeface="+mn-ea"/>
                          <a:cs typeface="Times New Roman" panose="02020603050405020304" pitchFamily="18" charset="0"/>
                        </a:rPr>
                        <a:t>의의</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1">
                        <a:lnSpc>
                          <a:spcPct val="110000"/>
                        </a:lnSpc>
                        <a:spcAft>
                          <a:spcPts val="600"/>
                        </a:spcAft>
                      </a:pPr>
                      <a:r>
                        <a:rPr lang="ko-KR" sz="1000" dirty="0" err="1">
                          <a:effectLst/>
                          <a:latin typeface="Times New Roman" panose="02020603050405020304" pitchFamily="18" charset="0"/>
                          <a:ea typeface="맑은 고딕" panose="020B0503020000020004" pitchFamily="50" charset="-127"/>
                          <a:cs typeface="Times New Roman" panose="02020603050405020304" pitchFamily="18" charset="0"/>
                        </a:rPr>
                        <a:t>해지권</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err="1">
                          <a:effectLst/>
                          <a:latin typeface="Times New Roman" panose="02020603050405020304" pitchFamily="18" charset="0"/>
                          <a:ea typeface="맑은 고딕" panose="020B0503020000020004" pitchFamily="50" charset="-127"/>
                          <a:cs typeface="Times New Roman" panose="02020603050405020304" pitchFamily="18" charset="0"/>
                        </a:rPr>
                        <a:t>행사시</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효력에</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대해</a:t>
                      </a:r>
                      <a:r>
                        <a:rPr lang="ko-KR" sz="1000"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ko-KR" sz="1000" dirty="0">
                          <a:effectLst/>
                          <a:latin typeface="Times New Roman" panose="02020603050405020304" pitchFamily="18" charset="0"/>
                          <a:ea typeface="맑은 고딕" panose="020B0503020000020004" pitchFamily="50" charset="-127"/>
                          <a:cs typeface="Times New Roman" panose="02020603050405020304" pitchFamily="18" charset="0"/>
                        </a:rPr>
                        <a:t>규정</a:t>
                      </a:r>
                      <a:endParaRPr 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2757585">
                <a:tc>
                  <a:txBody>
                    <a:bodyPr/>
                    <a:lstStyle/>
                    <a:p>
                      <a:pPr marL="0" algn="ctr" defTabSz="914400" rtl="0" eaLnBrk="1" latinLnBrk="1" hangingPunct="1">
                        <a:lnSpc>
                          <a:spcPct val="110000"/>
                        </a:lnSpc>
                        <a:spcAft>
                          <a:spcPts val="60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indent="-228600" algn="just" latinLnBrk="1">
                        <a:lnSpc>
                          <a:spcPct val="110000"/>
                        </a:lnSpc>
                        <a:spcAft>
                          <a:spcPts val="60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표준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50:50</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의 구조가 합작회사의 형식을 띄는 것을 고려하여</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표준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해지되는 경우 그 지분의 매각에 대한 조건을 규정하였으나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이와 달리 주주간 계약이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해지되더라도</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당사자들 사이에서의 주식 양수도 없이 주주간 계약만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해지되도록</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하는 것도 고려 가능함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다만 이러한 경우 사실상</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50:50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지배구조에서</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Deadlock</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해소할 장치가 없어 주주간 이견이 발생할 경우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계속기업으로서의</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회사의 존립이 어려워질 것임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28600" indent="-228600" algn="just" latinLnBrk="1">
                        <a:lnSpc>
                          <a:spcPct val="110000"/>
                        </a:lnSpc>
                        <a:spcAft>
                          <a:spcPts val="60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특히</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준거지법에</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따라서는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일방 당사자가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insolvent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하다는 사유로 주주간 계약이 해지되는 경우 상대방 당사자가</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insolvent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한 주주가 보유한 주식을 매수할 수 있는 권리에 대하여 대상회사의 도산절차에서 부인권</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(avoidance)</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을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행사당할</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가능성도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존재하는바</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사전에 관련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준거지법을</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고려하여 규정을 구성하여야 할 것임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28600" indent="-228600">
                        <a:lnSpc>
                          <a:spcPct val="110000"/>
                        </a:lnSpc>
                        <a:spcAft>
                          <a:spcPts val="600"/>
                        </a:spcAft>
                        <a:buFont typeface="+mj-lt"/>
                        <a:buAutoNum type="arabicPeriod"/>
                      </a:pPr>
                      <a:r>
                        <a:rPr lang="ko-KR" altLang="ko-KR" sz="1000" dirty="0" smtClean="0">
                          <a:effectLst/>
                          <a:ea typeface="맑은 고딕" panose="020B0503020000020004" pitchFamily="50" charset="-127"/>
                          <a:cs typeface="Times New Roman" panose="02020603050405020304" pitchFamily="18" charset="0"/>
                        </a:rPr>
                        <a:t>해지의 결과 발생하는 어느 당사자의</a:t>
                      </a:r>
                      <a:r>
                        <a:rPr lang="en-US" altLang="ko-KR" sz="1000" dirty="0" smtClean="0">
                          <a:effectLst/>
                          <a:ea typeface="맑은 고딕" panose="020B0503020000020004" pitchFamily="50" charset="-127"/>
                          <a:cs typeface="Times New Roman" panose="02020603050405020304" pitchFamily="18" charset="0"/>
                        </a:rPr>
                        <a:t> call option </a:t>
                      </a:r>
                      <a:r>
                        <a:rPr lang="ko-KR" altLang="ko-KR" sz="1000" dirty="0" smtClean="0">
                          <a:effectLst/>
                          <a:ea typeface="맑은 고딕" panose="020B0503020000020004" pitchFamily="50" charset="-127"/>
                          <a:cs typeface="Times New Roman" panose="02020603050405020304" pitchFamily="18" charset="0"/>
                        </a:rPr>
                        <a:t>또는</a:t>
                      </a:r>
                      <a:r>
                        <a:rPr lang="en-US" altLang="ko-KR" sz="1000" dirty="0" smtClean="0">
                          <a:effectLst/>
                          <a:ea typeface="맑은 고딕" panose="020B0503020000020004" pitchFamily="50" charset="-127"/>
                          <a:cs typeface="Times New Roman" panose="02020603050405020304" pitchFamily="18" charset="0"/>
                        </a:rPr>
                        <a:t> put option</a:t>
                      </a:r>
                      <a:r>
                        <a:rPr lang="ko-KR" altLang="ko-KR" sz="1000" dirty="0" smtClean="0">
                          <a:effectLst/>
                          <a:ea typeface="맑은 고딕" panose="020B0503020000020004" pitchFamily="50" charset="-127"/>
                          <a:cs typeface="Times New Roman" panose="02020603050405020304" pitchFamily="18" charset="0"/>
                        </a:rPr>
                        <a:t>은 시가</a:t>
                      </a:r>
                      <a:r>
                        <a:rPr lang="en-US" altLang="ko-KR" sz="1000" dirty="0" smtClean="0">
                          <a:effectLst/>
                          <a:ea typeface="맑은 고딕" panose="020B0503020000020004" pitchFamily="50" charset="-127"/>
                          <a:cs typeface="Times New Roman" panose="02020603050405020304" pitchFamily="18" charset="0"/>
                        </a:rPr>
                        <a:t>(fair market value)</a:t>
                      </a:r>
                      <a:r>
                        <a:rPr lang="ko-KR" altLang="ko-KR" sz="1000" dirty="0" smtClean="0">
                          <a:effectLst/>
                          <a:ea typeface="맑은 고딕" panose="020B0503020000020004" pitchFamily="50" charset="-127"/>
                          <a:cs typeface="Times New Roman" panose="02020603050405020304" pitchFamily="18" charset="0"/>
                        </a:rPr>
                        <a:t>를 기준으로 하고</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당사자들이 합의하는 독립적인 회계 전문가를 선정하여 시가를 산정하도록 하는 것이 </a:t>
                      </a:r>
                      <a:r>
                        <a:rPr lang="ko-KR" altLang="ko-KR" sz="1000" dirty="0" err="1" smtClean="0">
                          <a:effectLst/>
                          <a:ea typeface="맑은 고딕" panose="020B0503020000020004" pitchFamily="50" charset="-127"/>
                          <a:cs typeface="Times New Roman" panose="02020603050405020304" pitchFamily="18" charset="0"/>
                        </a:rPr>
                        <a:t>통상적임</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다만</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주주간 계약이 해지되는 경우 당사자들 사이에 분쟁이 발생함에 따라 자신의 주식을 매각하여야 하는 특정 주주가 시가의 산정을 위한 독립적인 회계 전문가 선정 관련 합의를 거부하여 시가 산정 자체를 어렵게 하는 경우도 발생할 수 있음</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이러한 경우를 대비하여</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단순히 당사자들 사이의 합의를 통하여 독립적인 회계 전문가를 선정하는 규정에서 나아가 어느 당사자가 일정한 기간 내에 선정에 대한 의견을 제시하지 않거나 선정에 응하지 아니하는 경우 다른 당사자가 선임한 회계 전문가의 산정 결과에 따르도록 하는 근거 규정을 두는 것이 필요할 수 있으며</a:t>
                      </a:r>
                      <a:r>
                        <a:rPr lang="en-US" altLang="ko-KR" sz="1000" dirty="0" smtClean="0">
                          <a:effectLst/>
                          <a:ea typeface="맑은 고딕" panose="020B0503020000020004" pitchFamily="50" charset="-127"/>
                          <a:cs typeface="Times New Roman" panose="02020603050405020304" pitchFamily="18" charset="0"/>
                        </a:rPr>
                        <a:t>, </a:t>
                      </a:r>
                      <a:r>
                        <a:rPr lang="ko-KR" altLang="ko-KR" sz="1000" dirty="0" smtClean="0">
                          <a:effectLst/>
                          <a:ea typeface="맑은 고딕" panose="020B0503020000020004" pitchFamily="50" charset="-127"/>
                          <a:cs typeface="Times New Roman" panose="02020603050405020304" pitchFamily="18" charset="0"/>
                        </a:rPr>
                        <a:t>표준</a:t>
                      </a:r>
                      <a:r>
                        <a:rPr lang="en-US" altLang="ko-KR" sz="1000" dirty="0" smtClean="0">
                          <a:effectLst/>
                          <a:ea typeface="맑은 고딕" panose="020B0503020000020004" pitchFamily="50" charset="-127"/>
                          <a:cs typeface="Times New Roman" panose="02020603050405020304" pitchFamily="18" charset="0"/>
                        </a:rPr>
                        <a:t> SHA</a:t>
                      </a:r>
                      <a:r>
                        <a:rPr lang="ko-KR" altLang="ko-KR" sz="1000" dirty="0" smtClean="0">
                          <a:effectLst/>
                          <a:ea typeface="맑은 고딕" panose="020B0503020000020004" pitchFamily="50" charset="-127"/>
                          <a:cs typeface="Times New Roman" panose="02020603050405020304" pitchFamily="18" charset="0"/>
                        </a:rPr>
                        <a:t>는 이에 따라 관련 규정을 마련하였음</a:t>
                      </a:r>
                      <a:r>
                        <a:rPr lang="en-US" altLang="ko-KR" sz="1000" dirty="0" smtClean="0">
                          <a:effectLst/>
                          <a:ea typeface="맑은 고딕" panose="020B0503020000020004" pitchFamily="50" charset="-127"/>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2158110">
                <a:tc>
                  <a:txBody>
                    <a:bodyPr/>
                    <a:lstStyle/>
                    <a:p>
                      <a:pPr algn="ctr" latinLnBrk="1">
                        <a:lnSpc>
                          <a:spcPct val="110000"/>
                        </a:lnSpc>
                        <a:spcAft>
                          <a:spcPts val="60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just">
                        <a:lnSpc>
                          <a:spcPct val="110000"/>
                        </a:lnSpc>
                        <a:spcAft>
                          <a:spcPts val="600"/>
                        </a:spcAft>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7.3  </a:t>
                      </a:r>
                      <a:r>
                        <a:rPr lang="en-US" altLang="ko-KR" sz="1000" u="sng"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Consequence of Termination.</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marL="342900" lvl="0" indent="-342900" algn="just">
                        <a:lnSpc>
                          <a:spcPct val="110000"/>
                        </a:lnSpc>
                        <a:spcAft>
                          <a:spcPts val="600"/>
                        </a:spcAft>
                        <a:buFont typeface="+mj-lt"/>
                        <a:buAutoNum type="alphaLcParenBoth"/>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Termination of this Agreement shall be without prejudice to the accrued rights and liabilities of the Parties at the date of termination, unless waived in writing by mutual agreement of the Parties.  Each Shareholder’s right of termination under Section 7.2 is in addition to any other rights it may have under this Agreement or otherwise, and the exercise of the right of termination will not be an election of remedies.  Nothing in this Agreement shall prevent a Party from enforcing its rights by such remedies as may be available in lieu of or in addition to termination.</a:t>
                      </a:r>
                      <a:endParaRPr lang="en-US" altLang="ko-KR" sz="1000" dirty="0" smtClean="0">
                        <a:effectLst/>
                        <a:latin typeface="+mn-ea"/>
                        <a:ea typeface="+mn-ea"/>
                        <a:cs typeface="Times New Roman" panose="02020603050405020304" pitchFamily="18" charset="0"/>
                      </a:endParaRPr>
                    </a:p>
                    <a:p>
                      <a:pPr marL="342900" lvl="0" indent="-342900" algn="just">
                        <a:lnSpc>
                          <a:spcPct val="110000"/>
                        </a:lnSpc>
                        <a:spcAft>
                          <a:spcPts val="600"/>
                        </a:spcAft>
                        <a:buFont typeface="+mj-lt"/>
                        <a:buAutoNum type="alphaLcParenBoth"/>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In the event of termination of this Agreement pursuant to </a:t>
                      </a:r>
                      <a:r>
                        <a:rPr lang="en-US" altLang="ko-KR" sz="1000" u="sng"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Section 7.2(a)</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within one (1) month from the receipt of the Appraisal Report from the Independent Accountant pursuant to </a:t>
                      </a:r>
                      <a:r>
                        <a:rPr lang="en-US" altLang="ko-KR" sz="1000" u="sng"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Section 7.3(c)</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the terminating Party shall have the right to require the other Party (</a:t>
                      </a:r>
                      <a:r>
                        <a:rPr lang="en-US" altLang="ko-KR" sz="1000"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to purchase all of the terminating Party’s Shares at the price per Share equal to [70]% of the Shareholder’s Market Value or (ii) to sell all of its Shares to the terminating Party at the price per Share equal to [130]% of the Shareholder’s Market Value.</a:t>
                      </a:r>
                      <a:endParaRPr lang="en-US" altLang="ko-KR" sz="1000" kern="1200" dirty="0" smtClean="0">
                        <a:solidFill>
                          <a:schemeClr val="tx1"/>
                        </a:solidFill>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2" name="직사각형 1"/>
          <p:cNvSpPr/>
          <p:nvPr/>
        </p:nvSpPr>
        <p:spPr>
          <a:xfrm>
            <a:off x="157200" y="640076"/>
            <a:ext cx="2828275" cy="276999"/>
          </a:xfrm>
          <a:prstGeom prst="rect">
            <a:avLst/>
          </a:prstGeom>
        </p:spPr>
        <p:txBody>
          <a:bodyPr wrap="none">
            <a:spAutoFit/>
          </a:bodyPr>
          <a:lstStyle/>
          <a:p>
            <a:pPr latinLnBrk="0"/>
            <a:r>
              <a:rPr lang="en-US" altLang="ko-KR" dirty="0" smtClean="0">
                <a:latin typeface="+mn-ea"/>
              </a:rPr>
              <a:t> 2. Consequence of Termination (1) </a:t>
            </a:r>
            <a:endParaRPr lang="ko-KR" altLang="en-US" dirty="0">
              <a:latin typeface="+mn-ea"/>
            </a:endParaRPr>
          </a:p>
        </p:txBody>
      </p:sp>
    </p:spTree>
    <p:extLst>
      <p:ext uri="{BB962C8B-B14F-4D97-AF65-F5344CB8AC3E}">
        <p14:creationId xmlns:p14="http://schemas.microsoft.com/office/powerpoint/2010/main" val="42143313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VIII. </a:t>
            </a:r>
            <a:r>
              <a:rPr lang="en-US" altLang="ko-KR" dirty="0" smtClean="0">
                <a:latin typeface="+mn-ea"/>
              </a:rPr>
              <a:t>Termination</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2369188891"/>
              </p:ext>
            </p:extLst>
          </p:nvPr>
        </p:nvGraphicFramePr>
        <p:xfrm>
          <a:off x="439738" y="1031100"/>
          <a:ext cx="9188450" cy="5395275"/>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5395275">
                <a:tc>
                  <a:txBody>
                    <a:bodyPr/>
                    <a:lstStyle/>
                    <a:p>
                      <a:pPr algn="ctr" latinLnBrk="1">
                        <a:lnSpc>
                          <a:spcPct val="110000"/>
                        </a:lnSpc>
                        <a:spcAft>
                          <a:spcPts val="60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lvl="0" indent="-228600" algn="just" defTabSz="914400" rtl="0" eaLnBrk="1" latinLnBrk="1" hangingPunct="1">
                        <a:lnSpc>
                          <a:spcPct val="110000"/>
                        </a:lnSpc>
                        <a:spcAft>
                          <a:spcPts val="600"/>
                        </a:spcAft>
                        <a:buFont typeface="+mj-lt"/>
                        <a:buAutoNum type="alphaLcParenBoth" startAt="3"/>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In the event of (</a:t>
                      </a:r>
                      <a:r>
                        <a:rPr lang="en-US" altLang="ko-KR" sz="1000"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termination of this Agreement pursuant to Section 7.2(a) or (ii) a Transfer under Section 2.12(c)(</a:t>
                      </a:r>
                      <a:r>
                        <a:rPr lang="en-US" altLang="ko-KR" sz="1000"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 if the Shareholders are unable to reach an agreement on terms and conditions of such Transfer or (iii) the exercise by LG H&amp;H of the Call Option (“Valuation Event”), the Parties shall appoint an independent certified accounting firm in accordance with Section 7.3(c)(</a:t>
                      </a:r>
                      <a:r>
                        <a:rPr lang="en-US" altLang="ko-KR" sz="1000" kern="1200" dirty="0" err="1"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(“Independent Accountant”) to undertake an appraisal to determine the fair market value of the Shares (the “Market Value”) and to provide a report on the results of the appraisal (the “Appraisal Report”) to all of the Parties.  The cost of the appraisal shall be borne by both Shareholders equally. </a:t>
                      </a:r>
                    </a:p>
                    <a:p>
                      <a:pPr marL="538163" lvl="1" indent="-179388" algn="just">
                        <a:lnSpc>
                          <a:spcPct val="110000"/>
                        </a:lnSpc>
                        <a:spcAft>
                          <a:spcPts val="60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Shareholders shall appoint the Independent Accountant from among the four largest certified accounting firms in [Korea], excluding the outside auditor of each Shareholder and the Company, and the accounting firms affiliated or having alliance relationship with such outside auditor.  If the Shareholders fail to agree on the Independent Accountant within (A) ten (10) days from the receipt of (x) the notice of termination, or (y) the Call Option Notice, or (B) forty (40) days from the Declaration Date, as the case may be, the Independent Accountant shall be selected by the following method within five (5) days thereafter: Each Shareholder shall assign points ranging from 10 to 1 (10 being the most favorable and 1 being the least favorable) to each of the ten largest certified accounting firms in [Korea], excluding the outside auditor of each Shareholder and the Company, and the accounting firms affiliated or having alliance relationship with such outside auditor.  The accounting firm with the highest points adding the points assigned by each Shareholder shall be selected as the Independent Accountant.  If the Independent Accountant is not selected within the five-day period due to a reason attributable to a Shareholder, the other Shareholder shall be entitled to appoint any of such certified accounting firms as the Independent Accountant at its sole discretion.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538163" lvl="1" indent="-179388" algn="just">
                        <a:lnSpc>
                          <a:spcPct val="110000"/>
                        </a:lnSpc>
                        <a:spcAft>
                          <a:spcPts val="60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The Appraisal Report shall become final and binding upon the Parties on the date that is five (5) Business Days after receipt thereof by each Shareholder, except in case of any patent error, inaccuracy or mistake, which inconsistency, error, inaccuracy or mistake shall have been notified by either Shareholder to the other by giving a written notice setting forth in reasonable detail the item, amount, nature, and basis of any disagreement so asserted.  In case either Shareholder sends a notice of disagreement within the said time period, the Shareholders shall attempt in good faith to resolve in writing any differences that they may have with respect to all matters set forth in the notice within twenty (20) days from the notice of disagreement.  If the Shareholders have not reached agreement on such matters, the matters that remain in dispute shall be submitted to the arbitration in accordance with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10.2</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endPar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marL="228600" lvl="0" indent="-228600" algn="just" defTabSz="914400" rtl="0" eaLnBrk="1" latinLnBrk="1" hangingPunct="1">
                        <a:lnSpc>
                          <a:spcPct val="110000"/>
                        </a:lnSpc>
                        <a:spcAft>
                          <a:spcPts val="600"/>
                        </a:spcAft>
                        <a:buFont typeface="+mj-lt"/>
                        <a:buAutoNum type="alphaLcParenBoth" startAt="3"/>
                      </a:pPr>
                      <a:r>
                        <a:rPr lang="en-US" altLang="ko-KR" sz="1000" kern="1200" dirty="0" smtClean="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The consummation of the sale of the Shares by the Shareholders pursuant to Section 7.3(b), as applicable, shall occur within thirty (30) days after receipt of written notice sent by an Shareholder exercising such option first, or such other date as may be agreed to between the Shareholders, at the Company’s principal place of business and at a time reasonably chosen by the purchasing Shareholder.</a:t>
                      </a: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2" name="직사각형 1"/>
          <p:cNvSpPr/>
          <p:nvPr/>
        </p:nvSpPr>
        <p:spPr>
          <a:xfrm>
            <a:off x="0" y="657988"/>
            <a:ext cx="2882777" cy="276999"/>
          </a:xfrm>
          <a:prstGeom prst="rect">
            <a:avLst/>
          </a:prstGeom>
        </p:spPr>
        <p:txBody>
          <a:bodyPr wrap="none">
            <a:spAutoFit/>
          </a:bodyPr>
          <a:lstStyle/>
          <a:p>
            <a:pPr latinLnBrk="0"/>
            <a:r>
              <a:rPr lang="en-US" altLang="ko-KR" dirty="0" smtClean="0">
                <a:latin typeface="+mn-ea"/>
              </a:rPr>
              <a:t>  2</a:t>
            </a:r>
            <a:r>
              <a:rPr lang="en-US" altLang="ko-KR" dirty="0">
                <a:latin typeface="+mn-ea"/>
              </a:rPr>
              <a:t>. Consequence of Termination </a:t>
            </a:r>
            <a:r>
              <a:rPr lang="en-US" altLang="ko-KR" dirty="0" smtClean="0">
                <a:latin typeface="+mn-ea"/>
              </a:rPr>
              <a:t>(2)</a:t>
            </a:r>
            <a:endParaRPr lang="ko-KR" altLang="en-US" dirty="0">
              <a:latin typeface="+mn-ea"/>
            </a:endParaRPr>
          </a:p>
        </p:txBody>
      </p:sp>
    </p:spTree>
    <p:extLst>
      <p:ext uri="{BB962C8B-B14F-4D97-AF65-F5344CB8AC3E}">
        <p14:creationId xmlns:p14="http://schemas.microsoft.com/office/powerpoint/2010/main" val="27043705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683401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VIII. </a:t>
            </a:r>
            <a:r>
              <a:rPr lang="en-US" altLang="ko-KR" dirty="0" smtClean="0">
                <a:latin typeface="+mn-ea"/>
              </a:rPr>
              <a:t>Termination</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570920918"/>
              </p:ext>
            </p:extLst>
          </p:nvPr>
        </p:nvGraphicFramePr>
        <p:xfrm>
          <a:off x="439738" y="911205"/>
          <a:ext cx="9188450" cy="311717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3117172">
                <a:tc>
                  <a:txBody>
                    <a:bodyPr/>
                    <a:lstStyle/>
                    <a:p>
                      <a:pPr algn="ctr" latinLnBrk="1">
                        <a:lnSpc>
                          <a:spcPct val="115000"/>
                        </a:lnSpc>
                        <a:spcAft>
                          <a:spcPts val="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28600" lvl="0" indent="-228600" algn="just">
                        <a:lnSpc>
                          <a:spcPct val="115000"/>
                        </a:lnSpc>
                        <a:spcAft>
                          <a:spcPts val="0"/>
                        </a:spcAft>
                        <a:buFont typeface="+mj-lt"/>
                        <a:buAutoNum type="alphaLcParenBoth" startAt="5"/>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In the event that this Agreement is terminated under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7.2(b)</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unless otherwise mutually agreed by the Shareholders, the Shareholders shall take all steps reasonably necessary to liquidate and dissolve the Company as promptly as possible.</a:t>
                      </a:r>
                    </a:p>
                    <a:p>
                      <a:pPr marL="228600" lvl="0" indent="-228600" algn="just">
                        <a:lnSpc>
                          <a:spcPct val="115000"/>
                        </a:lnSpc>
                        <a:spcAft>
                          <a:spcPts val="0"/>
                        </a:spcAft>
                        <a:buFont typeface="+mj-lt"/>
                        <a:buAutoNum type="alphaLcParenBoth" startAt="5"/>
                      </a:pPr>
                      <a:endPar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28600" lvl="0" indent="-228600" algn="just">
                        <a:lnSpc>
                          <a:spcPct val="115000"/>
                        </a:lnSpc>
                        <a:spcAft>
                          <a:spcPts val="0"/>
                        </a:spcAft>
                        <a:buFont typeface="+mj-lt"/>
                        <a:buAutoNum type="alphaLcParenBoth" startAt="5"/>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In the event that this Agreement is terminated under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7.2</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p>
                    <a:p>
                      <a:pPr marL="538163" lvl="1" indent="-268288" algn="just">
                        <a:lnSpc>
                          <a:spcPct val="115000"/>
                        </a:lnSpc>
                        <a:spcAft>
                          <a:spcPts val="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either Shareholder may, at its election, require the other Shareholder to take all steps necessary to change the registered corporate name of the Company promptly so that it no longer contains any reference to any tradename or service mark of the Shareholder so electing and the other Shareholder and the Company shall take all steps reasonably necessary to effect such change; and</a:t>
                      </a:r>
                    </a:p>
                    <a:p>
                      <a:pPr marL="538163" lvl="1" indent="-268288" algn="just">
                        <a:lnSpc>
                          <a:spcPct val="115000"/>
                        </a:lnSpc>
                        <a:spcAft>
                          <a:spcPts val="0"/>
                        </a:spcAft>
                        <a:buFont typeface="+mj-lt"/>
                        <a:buAutoNum type="romanLcParenBoth"/>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each Shareholder may, at its election, require the other Shareholder and the Company to discontinue use, cancel, and return (and to cause the Company to discontinue use, cancel, and return) the Confidential Information supplied by such Shareholder, together with all reproductions and copies thereof and other written documents related thereto, retaining no reproductions or copies of or other written documents relating to said confidential and/or proprietary information.</a:t>
                      </a:r>
                    </a:p>
                    <a:p>
                      <a:pPr marL="269875" lvl="1" indent="0" algn="just">
                        <a:lnSpc>
                          <a:spcPct val="115000"/>
                        </a:lnSpc>
                        <a:spcAft>
                          <a:spcPts val="0"/>
                        </a:spcAft>
                        <a:buFont typeface="+mj-lt"/>
                        <a:buNone/>
                      </a:pPr>
                      <a:endPar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28600" lvl="0" indent="-228600" algn="just">
                        <a:lnSpc>
                          <a:spcPct val="115000"/>
                        </a:lnSpc>
                        <a:spcAft>
                          <a:spcPts val="0"/>
                        </a:spcAft>
                        <a:buFont typeface="+mj-lt"/>
                        <a:buAutoNum type="alphaLcParenBoth" startAt="5"/>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In the event that this Agreement is terminated under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7.2(a)</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and either Shareholder exercises its option under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7.3(b)</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the Shareholder selling its Shares under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Section 7.3(b)</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shall cause all Directors and other officers nominated by it to resign from such positions immediately upon the consummation of the sale of the Shares.</a:t>
                      </a:r>
                    </a:p>
                    <a:p>
                      <a:pPr marL="538163" lvl="1" indent="-268288" algn="just">
                        <a:lnSpc>
                          <a:spcPct val="115000"/>
                        </a:lnSpc>
                        <a:spcAft>
                          <a:spcPts val="0"/>
                        </a:spcAft>
                        <a:buFont typeface="+mj-lt"/>
                        <a:buAutoNum type="romanLcParenBoth"/>
                      </a:pPr>
                      <a:endPar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
        <p:nvSpPr>
          <p:cNvPr id="2" name="직사각형 1"/>
          <p:cNvSpPr/>
          <p:nvPr/>
        </p:nvSpPr>
        <p:spPr>
          <a:xfrm>
            <a:off x="57291" y="588139"/>
            <a:ext cx="2773773" cy="276999"/>
          </a:xfrm>
          <a:prstGeom prst="rect">
            <a:avLst/>
          </a:prstGeom>
        </p:spPr>
        <p:txBody>
          <a:bodyPr wrap="none">
            <a:spAutoFit/>
          </a:bodyPr>
          <a:lstStyle/>
          <a:p>
            <a:r>
              <a:rPr lang="en-US" altLang="ko-KR" dirty="0">
                <a:latin typeface="+mn-ea"/>
              </a:rPr>
              <a:t> 2. Consequence of Termination </a:t>
            </a:r>
            <a:r>
              <a:rPr lang="en-US" altLang="ko-KR" dirty="0" smtClean="0">
                <a:latin typeface="+mn-ea"/>
              </a:rPr>
              <a:t>(3)</a:t>
            </a:r>
            <a:endParaRPr lang="ko-KR" altLang="en-US" dirty="0"/>
          </a:p>
        </p:txBody>
      </p:sp>
    </p:spTree>
    <p:extLst>
      <p:ext uri="{BB962C8B-B14F-4D97-AF65-F5344CB8AC3E}">
        <p14:creationId xmlns:p14="http://schemas.microsoft.com/office/powerpoint/2010/main" val="261401933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6975"/>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 </a:t>
            </a:r>
          </a:p>
          <a:p>
            <a:pPr latinLnBrk="0"/>
            <a:r>
              <a:rPr lang="en-US" altLang="ko-KR" dirty="0">
                <a:latin typeface="+mn-ea"/>
              </a:rPr>
              <a:t>IX. </a:t>
            </a:r>
            <a:r>
              <a:rPr lang="en-US" altLang="ko-KR" dirty="0" smtClean="0">
                <a:latin typeface="+mn-ea"/>
              </a:rPr>
              <a:t>Covenants (1) </a:t>
            </a:r>
            <a:endParaRPr lang="en-US" altLang="ko-KR"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1917519953"/>
              </p:ext>
            </p:extLst>
          </p:nvPr>
        </p:nvGraphicFramePr>
        <p:xfrm>
          <a:off x="439738" y="671513"/>
          <a:ext cx="9188450" cy="479570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93899">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algn="l" latinLnBrk="0">
                        <a:lnSpc>
                          <a:spcPct val="110000"/>
                        </a:lnSpc>
                        <a:spcAft>
                          <a:spcPts val="0"/>
                        </a:spcAft>
                      </a:pPr>
                      <a:r>
                        <a:rPr lang="ko-KR" altLang="ko-KR" sz="1000" dirty="0" smtClean="0">
                          <a:effectLst/>
                          <a:ea typeface="맑은 고딕" panose="020B0503020000020004" pitchFamily="50" charset="-127"/>
                          <a:cs typeface="Times New Roman" panose="02020603050405020304" pitchFamily="18" charset="0"/>
                        </a:rPr>
                        <a:t>주주들이 준수해야하는 </a:t>
                      </a:r>
                      <a:r>
                        <a:rPr lang="ko-KR" altLang="ko-KR" sz="1000" dirty="0" err="1" smtClean="0">
                          <a:effectLst/>
                          <a:ea typeface="맑은 고딕" panose="020B0503020000020004" pitchFamily="50" charset="-127"/>
                          <a:cs typeface="Times New Roman" panose="02020603050405020304" pitchFamily="18" charset="0"/>
                        </a:rPr>
                        <a:t>확약사항을</a:t>
                      </a:r>
                      <a:r>
                        <a:rPr lang="ko-KR" altLang="ko-KR" sz="1000" dirty="0" smtClean="0">
                          <a:effectLst/>
                          <a:ea typeface="맑은 고딕" panose="020B0503020000020004" pitchFamily="50" charset="-127"/>
                          <a:cs typeface="Times New Roman" panose="02020603050405020304" pitchFamily="18" charset="0"/>
                        </a:rPr>
                        <a:t> 정함</a:t>
                      </a:r>
                      <a:r>
                        <a:rPr lang="en-US" altLang="ko-KR" sz="1000" dirty="0" smtClean="0">
                          <a:effectLst/>
                          <a:ea typeface="맑은 고딕" panose="020B0503020000020004" pitchFamily="50" charset="-127"/>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1156447">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68288" lvl="0" indent="-268288" algn="just" latinLnBrk="1">
                        <a:lnSpc>
                          <a:spcPct val="115000"/>
                        </a:lnSpc>
                        <a:spcAft>
                          <a:spcPts val="300"/>
                        </a:spcAft>
                        <a:buFont typeface="+mj-lt"/>
                        <a:buAutoNum type="arabicPeriod"/>
                      </a:pP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아래 표준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문구와 같은 일반적인 확약 외에 주식매매계약에서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거래종결</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후 확약으로 규정한 사항을 주주간 계약의 확약으로도 규정하는 것도 고려할 수 있을 것임</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marL="268288" lvl="0" indent="-268288" algn="just" latinLnBrk="1">
                        <a:lnSpc>
                          <a:spcPct val="115000"/>
                        </a:lnSpc>
                        <a:spcAft>
                          <a:spcPts val="300"/>
                        </a:spcAft>
                        <a:buFont typeface="+mj-lt"/>
                        <a:buAutoNum type="arabicPeriod"/>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LG H&amp;H</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가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스타트업에</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투자하여 </a:t>
                      </a:r>
                      <a:r>
                        <a:rPr lang="ko-KR" altLang="ko-KR" sz="1000" dirty="0" err="1" smtClean="0">
                          <a:effectLst/>
                          <a:latin typeface="맑은 고딕" panose="020B0503020000020004" pitchFamily="50" charset="-127"/>
                          <a:ea typeface="맑은 고딕" panose="020B0503020000020004" pitchFamily="50" charset="-127"/>
                          <a:cs typeface="Times New Roman" panose="02020603050405020304" pitchFamily="18" charset="0"/>
                        </a:rPr>
                        <a:t>스타트업의</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IPO</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도 고려하는 경우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IPO </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관련 사항을 확약에 추가하는 것이 필요함</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추가 </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SHA</a:t>
                      </a:r>
                      <a:r>
                        <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문구 참조</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a:t>
                      </a:r>
                    </a:p>
                    <a:p>
                      <a:pPr marL="268288" lvl="0" indent="-268288" algn="just" latinLnBrk="1">
                        <a:lnSpc>
                          <a:spcPct val="115000"/>
                        </a:lnSpc>
                        <a:spcAft>
                          <a:spcPts val="300"/>
                        </a:spcAft>
                        <a:buFont typeface="+mj-lt"/>
                        <a:buAutoNum type="arabicPeriod"/>
                      </a:pPr>
                      <a:r>
                        <a:rPr lang="ko-KR" altLang="ko-KR" sz="1000" dirty="0" smtClean="0">
                          <a:effectLst/>
                          <a:ea typeface="맑은 고딕" panose="020B0503020000020004" pitchFamily="50" charset="-127"/>
                          <a:cs typeface="Times New Roman" panose="02020603050405020304" pitchFamily="18" charset="0"/>
                        </a:rPr>
                        <a:t>확약 이외에 진술 및 보장을 규정하는 경우도 존재함</a:t>
                      </a:r>
                      <a:r>
                        <a:rPr lang="en-US" altLang="ko-KR" sz="1000" dirty="0" smtClean="0">
                          <a:effectLst/>
                          <a:ea typeface="맑은 고딕" panose="020B0503020000020004" pitchFamily="50" charset="-127"/>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r h="3145356">
                <a:tc>
                  <a:txBody>
                    <a:bodyPr/>
                    <a:lstStyle/>
                    <a:p>
                      <a:pPr algn="ctr" latinLnBrk="1">
                        <a:lnSpc>
                          <a:spcPct val="115000"/>
                        </a:lnSpc>
                        <a:spcAft>
                          <a:spcPts val="0"/>
                        </a:spcAft>
                      </a:pP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표준</a:t>
                      </a:r>
                      <a:r>
                        <a:rPr lang="ko-KR" sz="1000" b="1" dirty="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lvl="1" indent="0" algn="just">
                        <a:lnSpc>
                          <a:spcPct val="115000"/>
                        </a:lnSpc>
                        <a:spcAft>
                          <a:spcPts val="0"/>
                        </a:spcAft>
                        <a:buFont typeface="+mj-lt"/>
                        <a:buNone/>
                        <a:tabLst/>
                      </a:pPr>
                      <a:r>
                        <a:rPr lang="en-US" altLang="ko-KR" sz="1000" u="none" strike="noStrike" dirty="0" smtClean="0">
                          <a:effectLst/>
                          <a:latin typeface="맑은 고딕" panose="020B0503020000020004" pitchFamily="50" charset="-127"/>
                          <a:ea typeface="맑은 고딕" panose="020B0503020000020004" pitchFamily="50" charset="-127"/>
                          <a:cs typeface="Times New Roman" panose="02020603050405020304" pitchFamily="18" charset="0"/>
                        </a:rPr>
                        <a:t>8.1</a:t>
                      </a:r>
                      <a:r>
                        <a:rPr lang="en-US" altLang="ko-KR" sz="1000" u="none" strike="noStrike" baseline="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000" u="sng" strike="noStrike" dirty="0" smtClean="0">
                          <a:effectLst/>
                          <a:latin typeface="맑은 고딕" panose="020B0503020000020004" pitchFamily="50" charset="-127"/>
                          <a:ea typeface="맑은 고딕" panose="020B0503020000020004" pitchFamily="50" charset="-127"/>
                          <a:cs typeface="Times New Roman" panose="02020603050405020304" pitchFamily="18" charset="0"/>
                        </a:rPr>
                        <a:t>Required Approvals</a:t>
                      </a:r>
                      <a:r>
                        <a:rPr lang="en-US" altLang="ko-KR" sz="1000" u="none" strike="noStrike" dirty="0" smtClean="0">
                          <a:effectLst/>
                          <a:latin typeface="맑은 고딕" panose="020B0503020000020004" pitchFamily="50" charset="-127"/>
                          <a:ea typeface="맑은 고딕" panose="020B0503020000020004" pitchFamily="50" charset="-127"/>
                          <a:cs typeface="Times New Roman" panose="02020603050405020304" pitchFamily="18" charset="0"/>
                        </a:rPr>
                        <a:t>.  As promptly as practicable after the date hereof, each Party will (a) make all filings required under the applicable laws to be made by them, and (b) cooperate with the other Parties with respect to all filings such other Parties elect to make or is required under the applicable laws to be made in connection with the transactions contemplated hereby.</a:t>
                      </a:r>
                      <a:endParaRPr lang="ko-KR" altLang="ko-KR" sz="1000" u="none" strike="noStrike"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8.2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Commercially Reasonable Efforts</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Subject to the terms and conditions of this Agreement, each Shareholder shall use all commercially reasonable efforts to take, or cause to be taken, all actions, and to do, or cause to be done, all things necessary, proper or advisable under applicable laws and regulations, to cause the conditions set forth in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Article 8</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which such Shareholder is obligated to satisfy, to be satisfied and otherwise to consummate and make effective the transactions contemplated by this Agreement</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a:lnSpc>
                          <a:spcPct val="115000"/>
                        </a:lnSpc>
                        <a:spcAft>
                          <a:spcPts val="0"/>
                        </a:spcAft>
                      </a:pP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8.3  </a:t>
                      </a:r>
                      <a:r>
                        <a:rPr lang="en-US" altLang="ko-KR" sz="1000" u="sng" dirty="0" smtClean="0">
                          <a:effectLst/>
                          <a:latin typeface="맑은 고딕" panose="020B0503020000020004" pitchFamily="50" charset="-127"/>
                          <a:ea typeface="맑은 고딕" panose="020B0503020000020004" pitchFamily="50" charset="-127"/>
                          <a:cs typeface="Times New Roman" panose="02020603050405020304" pitchFamily="18" charset="0"/>
                        </a:rPr>
                        <a:t>General</a:t>
                      </a:r>
                      <a:r>
                        <a:rPr lang="en-US" altLang="ko-KR" sz="1000" dirty="0" smtClean="0">
                          <a:effectLst/>
                          <a:latin typeface="맑은 고딕" panose="020B0503020000020004" pitchFamily="50" charset="-127"/>
                          <a:ea typeface="맑은 고딕" panose="020B0503020000020004" pitchFamily="50" charset="-127"/>
                          <a:cs typeface="Times New Roman" panose="02020603050405020304" pitchFamily="18" charset="0"/>
                        </a:rPr>
                        <a:t>.  From and after the Closing Date, each Shareholder shall vote its Shares, in person or by proxy as permitted under applicable laws and regulations, at any regular or special meeting of general meeting of the Shareholders, and shall take all other actions necessary, including causing the Company and/or the Directors nominated by each Shareholder to take all necessary actions, to effectuate the terms and conditions of this Agreement and to ensure that the Articles of Incorporation do not, at any time hereafter, conflict in any respect with the provisions of this Agreement.  In addition, each Shareholder shall vote its Shares at any general meeting of the Shareholders in conformity with its obligations and undertakings under this Agreement.</a:t>
                      </a:r>
                      <a:endParaRPr lang="ko-KR" altLang="ko-KR" sz="10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16380404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6975"/>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 </a:t>
            </a:r>
          </a:p>
          <a:p>
            <a:pPr latinLnBrk="0"/>
            <a:r>
              <a:rPr lang="en-US" altLang="ko-KR" dirty="0">
                <a:latin typeface="+mn-ea"/>
              </a:rPr>
              <a:t>IX. Covenants </a:t>
            </a:r>
            <a:r>
              <a:rPr lang="en-US" altLang="ko-KR" dirty="0" smtClean="0">
                <a:latin typeface="+mn-ea"/>
              </a:rPr>
              <a:t>(2)</a:t>
            </a:r>
            <a:endParaRPr lang="en-US" altLang="ko-KR"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726043354"/>
              </p:ext>
            </p:extLst>
          </p:nvPr>
        </p:nvGraphicFramePr>
        <p:xfrm>
          <a:off x="439738" y="671514"/>
          <a:ext cx="9188450" cy="4316122"/>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316122">
                <a:tc>
                  <a:txBody>
                    <a:bodyPr/>
                    <a:lstStyle/>
                    <a:p>
                      <a:pPr algn="ctr" latinLnBrk="1">
                        <a:lnSpc>
                          <a:spcPct val="115000"/>
                        </a:lnSpc>
                        <a:spcAft>
                          <a:spcPts val="0"/>
                        </a:spcAft>
                      </a:pPr>
                      <a:r>
                        <a:rPr lang="ko-KR" altLang="en-US" sz="1000" b="1" dirty="0" smtClean="0">
                          <a:effectLst/>
                          <a:latin typeface="Times New Roman" panose="02020603050405020304" pitchFamily="18" charset="0"/>
                          <a:ea typeface="맑은 고딕" panose="020B0503020000020004" pitchFamily="50" charset="-127"/>
                          <a:cs typeface="Times New Roman" panose="02020603050405020304" pitchFamily="18" charset="0"/>
                        </a:rPr>
                        <a:t>추가</a:t>
                      </a:r>
                      <a:r>
                        <a:rPr lang="ko-KR" sz="1000" b="1" dirty="0" smtClean="0">
                          <a:effectLst/>
                          <a:latin typeface="맑은 고딕" panose="020B0503020000020004" pitchFamily="50" charset="-127"/>
                          <a:ea typeface="Times New Roman" panose="02020603050405020304" pitchFamily="18" charset="0"/>
                          <a:cs typeface="Times New Roman" panose="02020603050405020304" pitchFamily="18" charset="0"/>
                        </a:rPr>
                        <a:t> </a:t>
                      </a:r>
                      <a:r>
                        <a:rPr lang="en-US" sz="1000" b="1" dirty="0">
                          <a:effectLst/>
                          <a:latin typeface="맑은 고딕" panose="020B0503020000020004" pitchFamily="50" charset="-127"/>
                          <a:ea typeface="Times New Roman" panose="02020603050405020304" pitchFamily="18" charset="0"/>
                          <a:cs typeface="Times New Roman" panose="02020603050405020304" pitchFamily="18" charset="0"/>
                        </a:rPr>
                        <a:t>SHA </a:t>
                      </a:r>
                      <a:r>
                        <a:rPr lang="ko-KR" sz="1000" b="1" dirty="0">
                          <a:effectLst/>
                          <a:latin typeface="Times New Roman" panose="02020603050405020304" pitchFamily="18" charset="0"/>
                          <a:ea typeface="맑은 고딕" panose="020B0503020000020004" pitchFamily="50" charset="-127"/>
                          <a:cs typeface="Times New Roman" panose="02020603050405020304" pitchFamily="18" charset="0"/>
                        </a:rPr>
                        <a:t>문구</a:t>
                      </a:r>
                      <a:endParaRPr lang="ko-KR" sz="1000" b="1"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68288" lvl="2" indent="-228600" algn="just">
                        <a:lnSpc>
                          <a:spcPct val="115000"/>
                        </a:lnSpc>
                        <a:spcAft>
                          <a:spcPts val="600"/>
                        </a:spcAft>
                        <a:buFont typeface="+mj-lt"/>
                        <a:buAutoNum type="alphaLcPeriod"/>
                        <a:tabLst>
                          <a:tab pos="558165" algn="l"/>
                        </a:tabLst>
                      </a:pPr>
                      <a:r>
                        <a:rPr lang="en-GB" altLang="ko-KR" sz="1000" b="0" dirty="0" smtClean="0">
                          <a:effectLst/>
                          <a:latin typeface="+mj-lt"/>
                          <a:ea typeface="MS Mincho"/>
                          <a:cs typeface="Times New Roman" panose="02020603050405020304" pitchFamily="18" charset="0"/>
                        </a:rPr>
                        <a:t>Each Shareholder shall use its best efforts to, and (to the extent within its power) cause the Company to, pursue and complete an initial public offering of its Shares (“</a:t>
                      </a:r>
                      <a:r>
                        <a:rPr lang="en-GB" altLang="ko-KR" sz="1000" b="0" u="sng" dirty="0" smtClean="0">
                          <a:effectLst/>
                          <a:latin typeface="+mj-lt"/>
                          <a:ea typeface="MS Mincho"/>
                          <a:cs typeface="Times New Roman" panose="02020603050405020304" pitchFamily="18" charset="0"/>
                        </a:rPr>
                        <a:t>IPO</a:t>
                      </a:r>
                      <a:r>
                        <a:rPr lang="en-GB" altLang="ko-KR" sz="1000" b="0" dirty="0" smtClean="0">
                          <a:effectLst/>
                          <a:latin typeface="+mj-lt"/>
                          <a:ea typeface="MS Mincho"/>
                          <a:cs typeface="Times New Roman" panose="02020603050405020304" pitchFamily="18" charset="0"/>
                        </a:rPr>
                        <a:t>”) prior to the [fifth] year anniversary of the Closing (the “</a:t>
                      </a:r>
                      <a:r>
                        <a:rPr lang="en-GB" altLang="ko-KR" sz="1000" b="0" u="sng" dirty="0" smtClean="0">
                          <a:effectLst/>
                          <a:latin typeface="+mj-lt"/>
                          <a:ea typeface="MS Mincho"/>
                          <a:cs typeface="Times New Roman" panose="02020603050405020304" pitchFamily="18" charset="0"/>
                        </a:rPr>
                        <a:t>IPO Deadline</a:t>
                      </a:r>
                      <a:r>
                        <a:rPr lang="en-GB" altLang="ko-KR" sz="1000" b="0" dirty="0" smtClean="0">
                          <a:effectLst/>
                          <a:latin typeface="+mj-lt"/>
                          <a:ea typeface="MS Mincho"/>
                          <a:cs typeface="Times New Roman" panose="02020603050405020304" pitchFamily="18" charset="0"/>
                        </a:rPr>
                        <a:t>”), including the filing of </a:t>
                      </a:r>
                      <a:r>
                        <a:rPr lang="en-US" altLang="ko-KR" sz="1000" b="0" dirty="0" smtClean="0">
                          <a:effectLst/>
                          <a:latin typeface="+mj-lt"/>
                          <a:ea typeface="MS Mincho"/>
                          <a:cs typeface="Times New Roman" panose="02020603050405020304" pitchFamily="18" charset="0"/>
                        </a:rPr>
                        <a:t>a preliminary application for listing upon either Shareholder’s request at such time the Company has satisfied the objective criteria needed for such listing under applicable Law</a:t>
                      </a:r>
                      <a:r>
                        <a:rPr lang="en-GB" altLang="ko-KR" sz="1000" b="0" dirty="0" smtClean="0">
                          <a:effectLst/>
                          <a:latin typeface="+mj-lt"/>
                          <a:ea typeface="MS Mincho"/>
                          <a:cs typeface="Times New Roman" panose="02020603050405020304" pitchFamily="18" charset="0"/>
                        </a:rPr>
                        <a:t>.</a:t>
                      </a:r>
                      <a:endParaRPr lang="ko-KR" altLang="ko-KR" sz="1000" b="0" dirty="0" smtClean="0">
                        <a:effectLst/>
                        <a:latin typeface="+mj-lt"/>
                        <a:ea typeface="MS Mincho"/>
                        <a:cs typeface="Times New Roman" panose="02020603050405020304" pitchFamily="18" charset="0"/>
                      </a:endParaRPr>
                    </a:p>
                    <a:p>
                      <a:pPr marL="268288" lvl="2" indent="-228600" algn="just">
                        <a:lnSpc>
                          <a:spcPct val="115000"/>
                        </a:lnSpc>
                        <a:spcAft>
                          <a:spcPts val="600"/>
                        </a:spcAft>
                        <a:buFont typeface="+mj-lt"/>
                        <a:buAutoNum type="alphaLcPeriod"/>
                        <a:tabLst>
                          <a:tab pos="558165" algn="l"/>
                        </a:tabLst>
                      </a:pPr>
                      <a:r>
                        <a:rPr lang="en-GB" altLang="ko-KR" sz="1000" b="0" dirty="0" smtClean="0">
                          <a:effectLst/>
                          <a:latin typeface="+mj-lt"/>
                          <a:ea typeface="MS Mincho"/>
                          <a:cs typeface="Times New Roman" panose="02020603050405020304" pitchFamily="18" charset="0"/>
                        </a:rPr>
                        <a:t>At any time following the [first] anniversary of the Closing Date, each Shareholder shall have the right to require the Company to pursue and complete an IPO prior to the IPO Deadline at the cost and expense of the Company (“</a:t>
                      </a:r>
                      <a:r>
                        <a:rPr lang="en-GB" altLang="ko-KR" sz="1000" b="0" u="sng" dirty="0" smtClean="0">
                          <a:effectLst/>
                          <a:latin typeface="+mj-lt"/>
                          <a:ea typeface="MS Mincho"/>
                          <a:cs typeface="Times New Roman" panose="02020603050405020304" pitchFamily="18" charset="0"/>
                        </a:rPr>
                        <a:t>IPO Right</a:t>
                      </a:r>
                      <a:r>
                        <a:rPr lang="en-GB" altLang="ko-KR" sz="1000" b="0" dirty="0" smtClean="0">
                          <a:effectLst/>
                          <a:latin typeface="+mj-lt"/>
                          <a:ea typeface="MS Mincho"/>
                          <a:cs typeface="Times New Roman" panose="02020603050405020304" pitchFamily="18" charset="0"/>
                        </a:rPr>
                        <a:t>”) by providing the Company with a written notice of its exercise of the IPO Right, which notice shall specify the date on which the Company should </a:t>
                      </a:r>
                      <a:r>
                        <a:rPr lang="en-US" altLang="ko-KR" sz="1000" b="0" dirty="0" smtClean="0">
                          <a:effectLst/>
                          <a:latin typeface="+mj-lt"/>
                          <a:ea typeface="MS Mincho"/>
                          <a:cs typeface="Times New Roman" panose="02020603050405020304" pitchFamily="18" charset="0"/>
                        </a:rPr>
                        <a:t>commence the preparation for an IPO (the “</a:t>
                      </a:r>
                      <a:r>
                        <a:rPr lang="en-US" altLang="ko-KR" sz="1000" b="0" u="sng" dirty="0" smtClean="0">
                          <a:effectLst/>
                          <a:latin typeface="+mj-lt"/>
                          <a:ea typeface="MS Mincho"/>
                          <a:cs typeface="Times New Roman" panose="02020603050405020304" pitchFamily="18" charset="0"/>
                        </a:rPr>
                        <a:t>IPO Commencement</a:t>
                      </a:r>
                      <a:r>
                        <a:rPr lang="en-US" altLang="ko-KR" sz="1000" b="0" dirty="0" smtClean="0">
                          <a:effectLst/>
                          <a:latin typeface="+mj-lt"/>
                          <a:ea typeface="MS Mincho"/>
                          <a:cs typeface="Times New Roman" panose="02020603050405020304" pitchFamily="18" charset="0"/>
                        </a:rPr>
                        <a:t>”)</a:t>
                      </a:r>
                      <a:r>
                        <a:rPr lang="en-GB" altLang="ko-KR" sz="1000" b="0" dirty="0" smtClean="0">
                          <a:effectLst/>
                          <a:latin typeface="+mj-lt"/>
                          <a:ea typeface="MS Mincho"/>
                          <a:cs typeface="Times New Roman" panose="02020603050405020304" pitchFamily="18" charset="0"/>
                        </a:rPr>
                        <a:t>.  </a:t>
                      </a:r>
                      <a:endParaRPr lang="ko-KR" altLang="ko-KR" sz="1000" b="0" dirty="0" smtClean="0">
                        <a:effectLst/>
                        <a:latin typeface="+mj-lt"/>
                        <a:ea typeface="MS Mincho"/>
                        <a:cs typeface="Times New Roman" panose="02020603050405020304" pitchFamily="18" charset="0"/>
                      </a:endParaRPr>
                    </a:p>
                    <a:p>
                      <a:pPr marL="268288" lvl="2" indent="-228600" algn="just">
                        <a:lnSpc>
                          <a:spcPct val="115000"/>
                        </a:lnSpc>
                        <a:spcAft>
                          <a:spcPts val="200"/>
                        </a:spcAft>
                        <a:buFont typeface="+mj-lt"/>
                        <a:buAutoNum type="alphaLcPeriod"/>
                        <a:tabLst>
                          <a:tab pos="558165" algn="l"/>
                        </a:tabLst>
                      </a:pPr>
                      <a:r>
                        <a:rPr lang="en-US" altLang="ko-KR" sz="1000" b="0" dirty="0" smtClean="0">
                          <a:effectLst/>
                          <a:latin typeface="+mj-lt"/>
                          <a:ea typeface="MS Mincho"/>
                          <a:cs typeface="Times New Roman" panose="02020603050405020304" pitchFamily="18" charset="0"/>
                        </a:rPr>
                        <a:t>Upon a Shareholder’s exercise of its IPO Right, the Parties shall, as soon as practicable after such exercise, establish </a:t>
                      </a:r>
                      <a:r>
                        <a:rPr lang="en-GB" altLang="ko-KR" sz="1000" b="0" dirty="0" smtClean="0">
                          <a:effectLst/>
                          <a:latin typeface="+mj-lt"/>
                          <a:ea typeface="Times New Roman" panose="02020603050405020304" pitchFamily="18" charset="0"/>
                          <a:cs typeface="Times New Roman" panose="02020603050405020304" pitchFamily="18" charset="0"/>
                        </a:rPr>
                        <a:t>the</a:t>
                      </a:r>
                      <a:r>
                        <a:rPr lang="en-US" altLang="ko-KR" sz="1000" b="0" dirty="0" smtClean="0">
                          <a:effectLst/>
                          <a:latin typeface="+mj-lt"/>
                          <a:ea typeface="MS Mincho"/>
                          <a:cs typeface="Times New Roman" panose="02020603050405020304" pitchFamily="18" charset="0"/>
                        </a:rPr>
                        <a:t> IPO Committee. The IPO Committee shall be delegated the full responsibility and authority to determine and approve the material terms and conditions of the IPO, including the following</a:t>
                      </a:r>
                      <a:r>
                        <a:rPr lang="en-US" altLang="ko-KR" sz="1000" b="0" dirty="0" smtClean="0">
                          <a:effectLst/>
                          <a:latin typeface="+mj-lt"/>
                          <a:ea typeface="맑은 고딕" panose="020B0503020000020004" pitchFamily="50" charset="-127"/>
                          <a:cs typeface="Times New Roman" panose="02020603050405020304" pitchFamily="18" charset="0"/>
                        </a:rPr>
                        <a:t>:</a:t>
                      </a:r>
                      <a:r>
                        <a:rPr lang="en-US" altLang="ko-KR" sz="1000" b="0" dirty="0" smtClean="0">
                          <a:effectLst/>
                          <a:latin typeface="+mj-lt"/>
                          <a:ea typeface="MS Mincho"/>
                          <a:cs typeface="Times New Roman" panose="02020603050405020304" pitchFamily="18" charset="0"/>
                        </a:rPr>
                        <a:t> </a:t>
                      </a:r>
                      <a:endParaRPr lang="ko-KR" altLang="ko-KR" sz="1000" b="0" dirty="0" smtClean="0">
                        <a:effectLst/>
                        <a:latin typeface="+mj-lt"/>
                        <a:ea typeface="MS Mincho"/>
                        <a:cs typeface="Times New Roman" panose="02020603050405020304" pitchFamily="18" charset="0"/>
                      </a:endParaRPr>
                    </a:p>
                    <a:p>
                      <a:pPr marL="538163" lvl="3" indent="-269875" algn="just" defTabSz="914400" rtl="0" eaLnBrk="1" latinLnBrk="1" hangingPunct="1">
                        <a:lnSpc>
                          <a:spcPct val="115000"/>
                        </a:lnSpc>
                        <a:spcAft>
                          <a:spcPts val="200"/>
                        </a:spcAft>
                        <a:buFont typeface="+mj-lt"/>
                        <a:buAutoNum type="arabicParenR"/>
                        <a:tabLst>
                          <a:tab pos="558165" algn="l"/>
                        </a:tabLst>
                      </a:pPr>
                      <a:r>
                        <a:rPr lang="en-US" altLang="ko-KR" sz="1000" b="0" kern="1200" dirty="0" smtClean="0">
                          <a:solidFill>
                            <a:schemeClr val="tx1"/>
                          </a:solidFill>
                          <a:effectLst/>
                          <a:latin typeface="+mj-lt"/>
                          <a:ea typeface="MS Mincho"/>
                          <a:cs typeface="Times New Roman" panose="02020603050405020304" pitchFamily="18" charset="0"/>
                        </a:rPr>
                        <a:t>timeline of the IPO; </a:t>
                      </a:r>
                      <a:endParaRPr lang="ko-KR" altLang="ko-KR" sz="1000" b="0" kern="1200" dirty="0" smtClean="0">
                        <a:solidFill>
                          <a:schemeClr val="tx1"/>
                        </a:solidFill>
                        <a:effectLst/>
                        <a:latin typeface="+mj-lt"/>
                        <a:ea typeface="MS Mincho"/>
                        <a:cs typeface="Times New Roman" panose="02020603050405020304" pitchFamily="18" charset="0"/>
                      </a:endParaRPr>
                    </a:p>
                    <a:p>
                      <a:pPr marL="538163" lvl="3" indent="-269875" algn="just" defTabSz="914400" rtl="0" eaLnBrk="1" latinLnBrk="1" hangingPunct="1">
                        <a:lnSpc>
                          <a:spcPct val="115000"/>
                        </a:lnSpc>
                        <a:spcAft>
                          <a:spcPts val="200"/>
                        </a:spcAft>
                        <a:buFont typeface="+mj-lt"/>
                        <a:buAutoNum type="arabicParenR"/>
                        <a:tabLst>
                          <a:tab pos="558165" algn="l"/>
                        </a:tabLst>
                      </a:pPr>
                      <a:r>
                        <a:rPr lang="en-US" altLang="ko-KR" sz="1000" b="0" kern="1200" dirty="0" smtClean="0">
                          <a:solidFill>
                            <a:schemeClr val="tx1"/>
                          </a:solidFill>
                          <a:effectLst/>
                          <a:latin typeface="+mj-lt"/>
                          <a:ea typeface="MS Mincho"/>
                          <a:cs typeface="Times New Roman" panose="02020603050405020304" pitchFamily="18" charset="0"/>
                        </a:rPr>
                        <a:t>selection of the managing underwriters and other advisors;</a:t>
                      </a:r>
                      <a:endParaRPr lang="ko-KR" altLang="ko-KR" sz="1000" b="0" kern="1200" dirty="0" smtClean="0">
                        <a:solidFill>
                          <a:schemeClr val="tx1"/>
                        </a:solidFill>
                        <a:effectLst/>
                        <a:latin typeface="+mj-lt"/>
                        <a:ea typeface="MS Mincho"/>
                        <a:cs typeface="Times New Roman" panose="02020603050405020304" pitchFamily="18" charset="0"/>
                      </a:endParaRPr>
                    </a:p>
                    <a:p>
                      <a:pPr marL="538163" lvl="3" indent="-269875" algn="just" defTabSz="914400" rtl="0" eaLnBrk="1" latinLnBrk="1" hangingPunct="1">
                        <a:lnSpc>
                          <a:spcPct val="115000"/>
                        </a:lnSpc>
                        <a:spcAft>
                          <a:spcPts val="200"/>
                        </a:spcAft>
                        <a:buFont typeface="+mj-lt"/>
                        <a:buAutoNum type="arabicParenR"/>
                        <a:tabLst>
                          <a:tab pos="558165" algn="l"/>
                        </a:tabLst>
                      </a:pPr>
                      <a:r>
                        <a:rPr lang="en-US" altLang="ko-KR" sz="1000" b="0" kern="1200" dirty="0" smtClean="0">
                          <a:solidFill>
                            <a:schemeClr val="tx1"/>
                          </a:solidFill>
                          <a:effectLst/>
                          <a:latin typeface="+mj-lt"/>
                          <a:ea typeface="MS Mincho"/>
                          <a:cs typeface="Times New Roman" panose="02020603050405020304" pitchFamily="18" charset="0"/>
                        </a:rPr>
                        <a:t>determination of the securities exchange on which the relevant Shares will be listed, the minimum valuation of the IPO, the offering price per Share, the offering size (including the minimum public float), and the proportion of the IPO that shall be effected as a primary offering by the Company and the proportion of the IPO that shall be effected as a secondary offering by the shareholders of the Company;</a:t>
                      </a:r>
                      <a:endParaRPr lang="ko-KR" altLang="ko-KR" sz="1000" b="0" kern="1200" dirty="0" smtClean="0">
                        <a:solidFill>
                          <a:schemeClr val="tx1"/>
                        </a:solidFill>
                        <a:effectLst/>
                        <a:latin typeface="+mj-lt"/>
                        <a:ea typeface="MS Mincho"/>
                        <a:cs typeface="Times New Roman" panose="02020603050405020304" pitchFamily="18" charset="0"/>
                      </a:endParaRPr>
                    </a:p>
                    <a:p>
                      <a:pPr marL="538163" lvl="3" indent="-269875" algn="just" defTabSz="914400" rtl="0" eaLnBrk="1" latinLnBrk="1" hangingPunct="1">
                        <a:lnSpc>
                          <a:spcPct val="115000"/>
                        </a:lnSpc>
                        <a:spcAft>
                          <a:spcPts val="200"/>
                        </a:spcAft>
                        <a:buFont typeface="+mj-lt"/>
                        <a:buAutoNum type="arabicParenR"/>
                        <a:tabLst>
                          <a:tab pos="558165" algn="l"/>
                        </a:tabLst>
                      </a:pPr>
                      <a:r>
                        <a:rPr lang="en-US" altLang="ko-KR" sz="1000" b="0" kern="1200" dirty="0" smtClean="0">
                          <a:solidFill>
                            <a:schemeClr val="tx1"/>
                          </a:solidFill>
                          <a:effectLst/>
                          <a:latin typeface="+mj-lt"/>
                          <a:ea typeface="MS Mincho"/>
                          <a:cs typeface="Times New Roman" panose="02020603050405020304" pitchFamily="18" charset="0"/>
                        </a:rPr>
                        <a:t>the corporate procedures to be undertaken by the Company in connection with the IPO (including amending the Articles of Incorporation, deciding as to whether to establish an employee stock ownership association and making modifications relating to the Board); and</a:t>
                      </a:r>
                    </a:p>
                    <a:p>
                      <a:pPr marL="538163" lvl="3" indent="-269875" algn="just" defTabSz="914400" rtl="0" eaLnBrk="1" latinLnBrk="1" hangingPunct="1">
                        <a:lnSpc>
                          <a:spcPct val="115000"/>
                        </a:lnSpc>
                        <a:spcAft>
                          <a:spcPts val="0"/>
                        </a:spcAft>
                        <a:buFont typeface="+mj-lt"/>
                        <a:buAutoNum type="arabicParenR"/>
                        <a:tabLst>
                          <a:tab pos="558165" algn="l"/>
                        </a:tabLst>
                      </a:pPr>
                      <a:r>
                        <a:rPr lang="en-US" altLang="ko-KR" sz="1000" b="0" kern="1200" dirty="0" smtClean="0">
                          <a:solidFill>
                            <a:schemeClr val="tx1"/>
                          </a:solidFill>
                          <a:effectLst/>
                          <a:latin typeface="+mj-lt"/>
                          <a:ea typeface="MS Mincho"/>
                          <a:cs typeface="Times New Roman" panose="02020603050405020304" pitchFamily="18" charset="0"/>
                        </a:rPr>
                        <a:t>matters related to management of the IPO process.</a:t>
                      </a:r>
                      <a:endParaRPr lang="ko-KR" altLang="ko-KR" sz="1000" b="0" kern="1200" dirty="0">
                        <a:solidFill>
                          <a:schemeClr val="tx1"/>
                        </a:solidFill>
                        <a:effectLst/>
                        <a:latin typeface="+mj-lt"/>
                        <a:ea typeface="MS Mincho"/>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545508497"/>
                  </a:ext>
                </a:extLst>
              </a:tr>
            </a:tbl>
          </a:graphicData>
        </a:graphic>
      </p:graphicFrame>
    </p:spTree>
    <p:extLst>
      <p:ext uri="{BB962C8B-B14F-4D97-AF65-F5344CB8AC3E}">
        <p14:creationId xmlns:p14="http://schemas.microsoft.com/office/powerpoint/2010/main" val="9790081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제목 1"/>
          <p:cNvSpPr txBox="1">
            <a:spLocks/>
          </p:cNvSpPr>
          <p:nvPr/>
        </p:nvSpPr>
        <p:spPr>
          <a:xfrm>
            <a:off x="157200" y="140948"/>
            <a:ext cx="4675905"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latinLnBrk="0"/>
            <a:r>
              <a:rPr lang="en-US" altLang="ko-KR" dirty="0">
                <a:latin typeface="+mn-ea"/>
              </a:rPr>
              <a:t>X. Arbitration </a:t>
            </a:r>
            <a:endParaRPr lang="ko-KR" altLang="en-US" dirty="0">
              <a:latin typeface="+mn-ea"/>
            </a:endParaRPr>
          </a:p>
        </p:txBody>
      </p:sp>
      <p:sp>
        <p:nvSpPr>
          <p:cNvPr id="25" name="제목 1"/>
          <p:cNvSpPr txBox="1">
            <a:spLocks/>
          </p:cNvSpPr>
          <p:nvPr/>
        </p:nvSpPr>
        <p:spPr>
          <a:xfrm>
            <a:off x="6871320" y="180000"/>
            <a:ext cx="2857318" cy="346050"/>
          </a:xfrm>
          <a:prstGeom prst="rect">
            <a:avLst/>
          </a:prstGeom>
        </p:spPr>
        <p:txBody>
          <a:bodyPr vert="horz" lIns="91440" tIns="45720" rIns="91440" bIns="45720" rtlCol="0" anchor="ctr">
            <a:noAutofit/>
          </a:bodyPr>
          <a:lstStyle>
            <a:lvl1pPr defTabSz="914400" eaLnBrk="1" hangingPunct="1">
              <a:buNone/>
              <a:defRPr sz="1800">
                <a:solidFill>
                  <a:schemeClr val="tx1"/>
                </a:solidFill>
                <a:latin typeface="Arial Narrow" panose="020B0606020202030204" pitchFamily="34" charset="0"/>
                <a:ea typeface="+mn-ea"/>
                <a:cs typeface="+mj-cs"/>
              </a:defRPr>
            </a:lvl1pPr>
          </a:lstStyle>
          <a:p>
            <a:pPr algn="r"/>
            <a:endParaRPr lang="ko-KR" altLang="en-US" sz="1400" dirty="0">
              <a:latin typeface="+mn-ea"/>
            </a:endParaRPr>
          </a:p>
        </p:txBody>
      </p:sp>
      <p:graphicFrame>
        <p:nvGraphicFramePr>
          <p:cNvPr id="6" name="표 5"/>
          <p:cNvGraphicFramePr>
            <a:graphicFrameLocks noGrp="1"/>
          </p:cNvGraphicFramePr>
          <p:nvPr>
            <p:extLst>
              <p:ext uri="{D42A27DB-BD31-4B8C-83A1-F6EECF244321}">
                <p14:modId xmlns:p14="http://schemas.microsoft.com/office/powerpoint/2010/main" val="3304254091"/>
              </p:ext>
            </p:extLst>
          </p:nvPr>
        </p:nvGraphicFramePr>
        <p:xfrm>
          <a:off x="439738" y="671513"/>
          <a:ext cx="9188450" cy="4436017"/>
        </p:xfrm>
        <a:graphic>
          <a:graphicData uri="http://schemas.openxmlformats.org/drawingml/2006/table">
            <a:tbl>
              <a:tblPr firstRow="1" firstCol="1" bandRow="1"/>
              <a:tblGrid>
                <a:gridCol w="853256">
                  <a:extLst>
                    <a:ext uri="{9D8B030D-6E8A-4147-A177-3AD203B41FA5}">
                      <a16:colId xmlns:a16="http://schemas.microsoft.com/office/drawing/2014/main" val="1817266575"/>
                    </a:ext>
                  </a:extLst>
                </a:gridCol>
                <a:gridCol w="8335194">
                  <a:extLst>
                    <a:ext uri="{9D8B030D-6E8A-4147-A177-3AD203B41FA5}">
                      <a16:colId xmlns:a16="http://schemas.microsoft.com/office/drawing/2014/main" val="3684459789"/>
                    </a:ext>
                  </a:extLst>
                </a:gridCol>
              </a:tblGrid>
              <a:tr h="479482">
                <a:tc>
                  <a:txBody>
                    <a:bodyPr/>
                    <a:lstStyle/>
                    <a:p>
                      <a:pPr marL="0" algn="ctr" defTabSz="914400" rtl="0" eaLnBrk="1" latinLnBrk="1" hangingPunct="1">
                        <a:lnSpc>
                          <a:spcPct val="110000"/>
                        </a:lnSpc>
                        <a:spcAft>
                          <a:spcPts val="0"/>
                        </a:spcAft>
                      </a:pPr>
                      <a:r>
                        <a:rPr lang="ko-KR" sz="1000" b="1" kern="1200" dirty="0">
                          <a:solidFill>
                            <a:schemeClr val="tx1"/>
                          </a:solidFill>
                          <a:effectLst/>
                          <a:latin typeface="+mn-ea"/>
                          <a:ea typeface="+mn-ea"/>
                          <a:cs typeface="Times New Roman" panose="02020603050405020304" pitchFamily="18" charset="0"/>
                        </a:rPr>
                        <a:t>원칙</a:t>
                      </a:r>
                      <a:r>
                        <a:rPr lang="en-US" sz="1000" b="1" kern="1200" dirty="0">
                          <a:solidFill>
                            <a:schemeClr val="tx1"/>
                          </a:solidFill>
                          <a:effectLst/>
                          <a:latin typeface="+mn-ea"/>
                          <a:ea typeface="+mn-ea"/>
                          <a:cs typeface="Times New Roman" panose="02020603050405020304" pitchFamily="18" charset="0"/>
                        </a:rPr>
                        <a:t>/</a:t>
                      </a:r>
                      <a:r>
                        <a:rPr lang="ko-KR" sz="1000" b="1" kern="1200" dirty="0">
                          <a:solidFill>
                            <a:schemeClr val="tx1"/>
                          </a:solidFill>
                          <a:effectLst/>
                          <a:latin typeface="+mn-ea"/>
                          <a:ea typeface="+mn-ea"/>
                          <a:cs typeface="Times New Roman" panose="02020603050405020304" pitchFamily="18" charset="0"/>
                        </a:rPr>
                        <a:t>의의</a:t>
                      </a: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1" hangingPunct="1">
                        <a:lnSpc>
                          <a:spcPct val="110000"/>
                        </a:lnSpc>
                        <a:spcBef>
                          <a:spcPts val="0"/>
                        </a:spcBef>
                        <a:spcAft>
                          <a:spcPts val="0"/>
                        </a:spcAft>
                        <a:buClrTx/>
                        <a:buSzTx/>
                        <a:buFont typeface="+mj-lt"/>
                        <a:buNone/>
                        <a:tabLst/>
                        <a:defRPr/>
                      </a:pPr>
                      <a:r>
                        <a:rPr kumimoji="0" lang="ko-KR"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표준 </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SHA</a:t>
                      </a:r>
                      <a:r>
                        <a:rPr kumimoji="0" lang="ko-KR"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에는 분쟁 해결 수단으로서 중재로 반영함</a:t>
                      </a:r>
                      <a:r>
                        <a:rPr kumimoji="0" lang="en-US" altLang="ko-KR" sz="1000" b="0" i="0" u="none" strike="noStrike" kern="1200" cap="none" spc="0" normalizeH="0" baseline="0" noProof="0" dirty="0" smtClean="0">
                          <a:ln>
                            <a:noFill/>
                          </a:ln>
                          <a:solidFill>
                            <a:prstClr val="black"/>
                          </a:solidFill>
                          <a:effectLst/>
                          <a:uLnTx/>
                          <a:uFillTx/>
                          <a:latin typeface="+mn-ea"/>
                          <a:ea typeface="+mn-ea"/>
                          <a:cs typeface="Times New Roman" panose="02020603050405020304" pitchFamily="18" charset="0"/>
                        </a:rPr>
                        <a:t>. </a:t>
                      </a:r>
                      <a:endParaRPr kumimoji="0" lang="ko-KR" altLang="en-US" sz="1000" b="0" i="0" u="none" strike="noStrike" kern="1200" cap="none" spc="0" normalizeH="0" baseline="0" noProof="0" dirty="0">
                        <a:ln>
                          <a:noFill/>
                        </a:ln>
                        <a:solidFill>
                          <a:prstClr val="black"/>
                        </a:solidFill>
                        <a:effectLst/>
                        <a:uLnTx/>
                        <a:uFillTx/>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2230751648"/>
                  </a:ext>
                </a:extLst>
              </a:tr>
              <a:tr h="3956535">
                <a:tc>
                  <a:txBody>
                    <a:bodyPr/>
                    <a:lstStyle/>
                    <a:p>
                      <a:pPr marL="0" algn="ctr" defTabSz="914400" rtl="0" eaLnBrk="1" latinLnBrk="1" hangingPunct="1">
                        <a:lnSpc>
                          <a:spcPct val="110000"/>
                        </a:lnSpc>
                        <a:spcAft>
                          <a:spcPts val="0"/>
                        </a:spcAft>
                      </a:pPr>
                      <a:r>
                        <a:rPr lang="en-US" sz="1000" b="1" kern="1200" dirty="0">
                          <a:solidFill>
                            <a:schemeClr val="tx1"/>
                          </a:solidFill>
                          <a:effectLst/>
                          <a:latin typeface="+mn-ea"/>
                          <a:ea typeface="+mn-ea"/>
                          <a:cs typeface="Times New Roman" panose="02020603050405020304" pitchFamily="18" charset="0"/>
                        </a:rPr>
                        <a:t>Checklist</a:t>
                      </a:r>
                      <a:endParaRPr lang="ko-KR" sz="1000" b="1" kern="1200" dirty="0">
                        <a:solidFill>
                          <a:schemeClr val="tx1"/>
                        </a:solidFill>
                        <a:effectLst/>
                        <a:latin typeface="+mn-ea"/>
                        <a:ea typeface="+mn-ea"/>
                        <a:cs typeface="Times New Roman" panose="02020603050405020304" pitchFamily="18" charset="0"/>
                      </a:endParaRPr>
                    </a:p>
                  </a:txBody>
                  <a:tcPr marL="68580" marR="68580" marT="0" marB="0" anchor="ctr">
                    <a:lnL w="3175" cap="flat" cmpd="sng" algn="ctr">
                      <a:no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chemeClr val="bg1">
                        <a:lumMod val="95000"/>
                      </a:schemeClr>
                    </a:solidFill>
                  </a:tcPr>
                </a:tc>
                <a:tc>
                  <a:txBody>
                    <a:bodyPr/>
                    <a:lstStyle/>
                    <a:p>
                      <a:pPr marL="268288" lvl="0" indent="-268288" algn="just" latinLnBrk="1">
                        <a:lnSpc>
                          <a:spcPct val="115000"/>
                        </a:lnSpc>
                        <a:spcAft>
                          <a:spcPts val="0"/>
                        </a:spcAft>
                        <a:buFont typeface="+mj-lt"/>
                        <a:buAutoNum type="arabicPeriod"/>
                      </a:pPr>
                      <a:r>
                        <a:rPr lang="ko-KR" altLang="ko-KR" sz="1000" dirty="0" smtClean="0">
                          <a:effectLst/>
                          <a:latin typeface="+mn-ea"/>
                          <a:ea typeface="+mn-ea"/>
                          <a:cs typeface="Times New Roman" panose="02020603050405020304" pitchFamily="18" charset="0"/>
                        </a:rPr>
                        <a:t>통상적으로 중재 제기를 어렵게 하기 위하여 중재 신청 당사자가 불편한</a:t>
                      </a:r>
                      <a:r>
                        <a:rPr lang="en-US" altLang="ko-KR" sz="1000" dirty="0" smtClean="0">
                          <a:effectLst/>
                          <a:latin typeface="+mn-ea"/>
                          <a:ea typeface="+mn-ea"/>
                          <a:cs typeface="Times New Roman" panose="02020603050405020304" pitchFamily="18" charset="0"/>
                        </a:rPr>
                        <a:t> forum</a:t>
                      </a:r>
                      <a:r>
                        <a:rPr lang="ko-KR" altLang="ko-KR" sz="1000" dirty="0" smtClean="0">
                          <a:effectLst/>
                          <a:latin typeface="+mn-ea"/>
                          <a:ea typeface="+mn-ea"/>
                          <a:cs typeface="Times New Roman" panose="02020603050405020304" pitchFamily="18" charset="0"/>
                        </a:rPr>
                        <a:t>을 </a:t>
                      </a:r>
                      <a:r>
                        <a:rPr lang="ko-KR" altLang="ko-KR" sz="1000" dirty="0" err="1" smtClean="0">
                          <a:effectLst/>
                          <a:latin typeface="+mn-ea"/>
                          <a:ea typeface="+mn-ea"/>
                          <a:cs typeface="Times New Roman" panose="02020603050405020304" pitchFamily="18" charset="0"/>
                        </a:rPr>
                        <a:t>선정하는바</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예컨대</a:t>
                      </a:r>
                      <a:r>
                        <a:rPr lang="en-US" altLang="ko-KR" sz="1000" dirty="0" smtClean="0">
                          <a:effectLst/>
                          <a:latin typeface="+mn-ea"/>
                          <a:ea typeface="+mn-ea"/>
                          <a:cs typeface="Times New Roman" panose="02020603050405020304" pitchFamily="18" charset="0"/>
                        </a:rPr>
                        <a:t> Other Shareholder</a:t>
                      </a:r>
                      <a:r>
                        <a:rPr lang="ko-KR" altLang="ko-KR" sz="1000" dirty="0" smtClean="0">
                          <a:effectLst/>
                          <a:latin typeface="+mn-ea"/>
                          <a:ea typeface="+mn-ea"/>
                          <a:cs typeface="Times New Roman" panose="02020603050405020304" pitchFamily="18" charset="0"/>
                        </a:rPr>
                        <a:t>가 중재를 제기하는 경우에는 서울에서</a:t>
                      </a:r>
                      <a:r>
                        <a:rPr lang="en-US" altLang="ko-KR" sz="1000" dirty="0" smtClean="0">
                          <a:effectLst/>
                          <a:latin typeface="+mn-ea"/>
                          <a:ea typeface="+mn-ea"/>
                          <a:cs typeface="Times New Roman" panose="02020603050405020304" pitchFamily="18" charset="0"/>
                        </a:rPr>
                        <a:t>, LG H&amp;H</a:t>
                      </a:r>
                      <a:r>
                        <a:rPr lang="ko-KR" altLang="ko-KR" sz="1000" dirty="0" smtClean="0">
                          <a:effectLst/>
                          <a:latin typeface="+mn-ea"/>
                          <a:ea typeface="+mn-ea"/>
                          <a:cs typeface="Times New Roman" panose="02020603050405020304" pitchFamily="18" charset="0"/>
                        </a:rPr>
                        <a:t>가 중재를 제기하는 경우에는</a:t>
                      </a:r>
                      <a:r>
                        <a:rPr lang="en-US" altLang="ko-KR" sz="1000" dirty="0" smtClean="0">
                          <a:effectLst/>
                          <a:latin typeface="+mn-ea"/>
                          <a:ea typeface="+mn-ea"/>
                          <a:cs typeface="Times New Roman" panose="02020603050405020304" pitchFamily="18" charset="0"/>
                        </a:rPr>
                        <a:t> Other Shareholder</a:t>
                      </a:r>
                      <a:r>
                        <a:rPr lang="ko-KR" altLang="ko-KR" sz="1000" dirty="0" smtClean="0">
                          <a:effectLst/>
                          <a:latin typeface="+mn-ea"/>
                          <a:ea typeface="+mn-ea"/>
                          <a:cs typeface="Times New Roman" panose="02020603050405020304" pitchFamily="18" charset="0"/>
                        </a:rPr>
                        <a:t>의 본점 소재지에서 </a:t>
                      </a:r>
                      <a:r>
                        <a:rPr lang="ko-KR" altLang="ko-KR" sz="1000" dirty="0" err="1" smtClean="0">
                          <a:effectLst/>
                          <a:latin typeface="+mn-ea"/>
                          <a:ea typeface="+mn-ea"/>
                          <a:cs typeface="Times New Roman" panose="02020603050405020304" pitchFamily="18" charset="0"/>
                        </a:rPr>
                        <a:t>중재절차가</a:t>
                      </a:r>
                      <a:r>
                        <a:rPr lang="ko-KR" altLang="ko-KR" sz="1000" dirty="0" smtClean="0">
                          <a:effectLst/>
                          <a:latin typeface="+mn-ea"/>
                          <a:ea typeface="+mn-ea"/>
                          <a:cs typeface="Times New Roman" panose="02020603050405020304" pitchFamily="18" charset="0"/>
                        </a:rPr>
                        <a:t> 진행되도록 규정하는 것도 한 방법이 될 것임</a:t>
                      </a:r>
                      <a:r>
                        <a:rPr lang="en-US" altLang="ko-KR" sz="1000" dirty="0" smtClean="0">
                          <a:effectLst/>
                          <a:latin typeface="+mn-ea"/>
                          <a:ea typeface="+mn-ea"/>
                          <a:cs typeface="Times New Roman" panose="02020603050405020304" pitchFamily="18" charset="0"/>
                        </a:rPr>
                        <a:t>. </a:t>
                      </a:r>
                    </a:p>
                    <a:p>
                      <a:pPr marL="268288" lvl="0" indent="-268288" algn="just" latinLnBrk="1">
                        <a:lnSpc>
                          <a:spcPct val="115000"/>
                        </a:lnSpc>
                        <a:spcAft>
                          <a:spcPts val="0"/>
                        </a:spcAft>
                        <a:buFont typeface="+mj-lt"/>
                        <a:buAutoNum type="arabicPeriod"/>
                      </a:pPr>
                      <a:r>
                        <a:rPr lang="ko-KR" altLang="ko-KR" sz="1000" dirty="0" smtClean="0">
                          <a:effectLst/>
                          <a:latin typeface="+mn-ea"/>
                          <a:ea typeface="+mn-ea"/>
                          <a:cs typeface="Times New Roman" panose="02020603050405020304" pitchFamily="18" charset="0"/>
                        </a:rPr>
                        <a:t>만약 본건이 국내</a:t>
                      </a:r>
                      <a:r>
                        <a:rPr lang="en-US" altLang="ko-KR" sz="1000" dirty="0" smtClean="0">
                          <a:effectLst/>
                          <a:latin typeface="+mn-ea"/>
                          <a:ea typeface="+mn-ea"/>
                          <a:cs typeface="Times New Roman" panose="02020603050405020304" pitchFamily="18" charset="0"/>
                        </a:rPr>
                        <a:t> deal</a:t>
                      </a:r>
                      <a:r>
                        <a:rPr lang="ko-KR" altLang="ko-KR" sz="1000" dirty="0" smtClean="0">
                          <a:effectLst/>
                          <a:latin typeface="+mn-ea"/>
                          <a:ea typeface="+mn-ea"/>
                          <a:cs typeface="Times New Roman" panose="02020603050405020304" pitchFamily="18" charset="0"/>
                        </a:rPr>
                        <a:t>이라면</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비용적인 측면을 고려하여 소송으로 분쟁을 해결하고자 하는 경우가 많으나</a:t>
                      </a:r>
                      <a:r>
                        <a:rPr lang="en-US" altLang="ko-KR" sz="1000" dirty="0" smtClean="0">
                          <a:effectLst/>
                          <a:latin typeface="+mn-ea"/>
                          <a:ea typeface="+mn-ea"/>
                          <a:cs typeface="Times New Roman" panose="02020603050405020304" pitchFamily="18" charset="0"/>
                        </a:rPr>
                        <a:t>) </a:t>
                      </a:r>
                      <a:r>
                        <a:rPr lang="ko-KR" altLang="ko-KR" sz="1000" dirty="0" smtClean="0">
                          <a:effectLst/>
                          <a:latin typeface="+mn-ea"/>
                          <a:ea typeface="+mn-ea"/>
                          <a:cs typeface="Times New Roman" panose="02020603050405020304" pitchFamily="18" charset="0"/>
                        </a:rPr>
                        <a:t>아래와 같은 소송과 중재의 장단점을 비교하여 분쟁 해결 방식을 정하는 것이 바람직함</a:t>
                      </a:r>
                      <a:r>
                        <a:rPr lang="en-US" altLang="ko-KR" sz="1000" dirty="0" smtClean="0">
                          <a:effectLst/>
                          <a:latin typeface="+mn-ea"/>
                          <a:ea typeface="+mn-ea"/>
                          <a:cs typeface="Times New Roman" panose="02020603050405020304" pitchFamily="18" charset="0"/>
                        </a:rPr>
                        <a:t>.</a:t>
                      </a: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0" lvl="0" indent="0" algn="just" latinLnBrk="1">
                        <a:lnSpc>
                          <a:spcPct val="115000"/>
                        </a:lnSpc>
                        <a:spcAft>
                          <a:spcPts val="0"/>
                        </a:spcAft>
                        <a:buFont typeface="+mj-lt"/>
                        <a:buNone/>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0" lvl="0" indent="0" algn="just" latinLnBrk="1">
                        <a:lnSpc>
                          <a:spcPct val="115000"/>
                        </a:lnSpc>
                        <a:spcAft>
                          <a:spcPts val="0"/>
                        </a:spcAft>
                        <a:buFont typeface="+mj-lt"/>
                        <a:buNone/>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0" lvl="0" indent="0" algn="just" latinLnBrk="1">
                        <a:lnSpc>
                          <a:spcPct val="115000"/>
                        </a:lnSpc>
                        <a:spcAft>
                          <a:spcPts val="0"/>
                        </a:spcAft>
                        <a:buFont typeface="+mj-lt"/>
                        <a:buNone/>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342900" lvl="0" indent="-342900" algn="just" latinLnBrk="1">
                        <a:lnSpc>
                          <a:spcPct val="115000"/>
                        </a:lnSpc>
                        <a:spcAft>
                          <a:spcPts val="0"/>
                        </a:spcAft>
                        <a:buFont typeface="+mj-lt"/>
                        <a:buAutoNum type="arabicPeriod"/>
                      </a:pPr>
                      <a:endParaRPr lang="en-US" altLang="ko-KR" sz="1000" dirty="0" smtClean="0">
                        <a:effectLst/>
                        <a:latin typeface="+mn-ea"/>
                        <a:ea typeface="+mn-ea"/>
                        <a:cs typeface="Times New Roman" panose="02020603050405020304" pitchFamily="18" charset="0"/>
                      </a:endParaRPr>
                    </a:p>
                    <a:p>
                      <a:pPr marL="0" lvl="0" indent="0" algn="just" latinLnBrk="1">
                        <a:lnSpc>
                          <a:spcPct val="115000"/>
                        </a:lnSpc>
                        <a:spcAft>
                          <a:spcPts val="0"/>
                        </a:spcAft>
                        <a:buFont typeface="+mj-lt"/>
                        <a:buNone/>
                      </a:pPr>
                      <a:endParaRPr lang="en-US" altLang="ko-KR" sz="1000" dirty="0" smtClean="0">
                        <a:effectLst/>
                        <a:latin typeface="+mn-ea"/>
                        <a:ea typeface="+mn-ea"/>
                        <a:cs typeface="Times New Roman" panose="02020603050405020304" pitchFamily="18" charset="0"/>
                      </a:endParaRPr>
                    </a:p>
                    <a:p>
                      <a:pPr marL="0" lvl="0" indent="0" algn="just" latinLnBrk="1">
                        <a:lnSpc>
                          <a:spcPct val="115000"/>
                        </a:lnSpc>
                        <a:spcAft>
                          <a:spcPts val="0"/>
                        </a:spcAft>
                        <a:buFont typeface="+mj-lt"/>
                        <a:buNone/>
                      </a:pPr>
                      <a:endParaRPr lang="en-US" altLang="ko-KR" sz="1000" dirty="0" smtClean="0">
                        <a:effectLst/>
                        <a:latin typeface="+mn-ea"/>
                        <a:ea typeface="+mn-ea"/>
                        <a:cs typeface="Times New Roman" panose="02020603050405020304" pitchFamily="18" charset="0"/>
                      </a:endParaRPr>
                    </a:p>
                    <a:p>
                      <a:pPr marL="0" lvl="0" indent="0" algn="just" latinLnBrk="1">
                        <a:lnSpc>
                          <a:spcPct val="115000"/>
                        </a:lnSpc>
                        <a:spcAft>
                          <a:spcPts val="0"/>
                        </a:spcAft>
                        <a:buFont typeface="+mj-lt"/>
                        <a:buNone/>
                      </a:pPr>
                      <a:endParaRPr lang="ko-KR" altLang="ko-KR" sz="1000" dirty="0">
                        <a:effectLst/>
                        <a:latin typeface="+mn-ea"/>
                        <a:ea typeface="+mn-ea"/>
                        <a:cs typeface="Times New Roman" panose="02020603050405020304" pitchFamily="18" charset="0"/>
                      </a:endParaRPr>
                    </a:p>
                  </a:txBody>
                  <a:tcPr marL="68580" marR="68580" marT="0" marB="0" anchor="ctr">
                    <a:lnL w="12700" cap="flat" cmpd="sng" algn="ctr">
                      <a:solidFill>
                        <a:srgbClr val="808080"/>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3669265861"/>
                  </a:ext>
                </a:extLst>
              </a:tr>
            </a:tbl>
          </a:graphicData>
        </a:graphic>
      </p:graphicFrame>
      <p:graphicFrame>
        <p:nvGraphicFramePr>
          <p:cNvPr id="4" name="표 3"/>
          <p:cNvGraphicFramePr>
            <a:graphicFrameLocks noGrp="1"/>
          </p:cNvGraphicFramePr>
          <p:nvPr>
            <p:extLst>
              <p:ext uri="{D42A27DB-BD31-4B8C-83A1-F6EECF244321}">
                <p14:modId xmlns:p14="http://schemas.microsoft.com/office/powerpoint/2010/main" val="1066535722"/>
              </p:ext>
            </p:extLst>
          </p:nvPr>
        </p:nvGraphicFramePr>
        <p:xfrm>
          <a:off x="1641998" y="2289371"/>
          <a:ext cx="7747117" cy="2560439"/>
        </p:xfrm>
        <a:graphic>
          <a:graphicData uri="http://schemas.openxmlformats.org/drawingml/2006/table">
            <a:tbl>
              <a:tblPr firstRow="1" bandRow="1">
                <a:tableStyleId>{2D5ABB26-0587-4C30-8999-92F81FD0307C}</a:tableStyleId>
              </a:tblPr>
              <a:tblGrid>
                <a:gridCol w="603069">
                  <a:extLst>
                    <a:ext uri="{9D8B030D-6E8A-4147-A177-3AD203B41FA5}">
                      <a16:colId xmlns:a16="http://schemas.microsoft.com/office/drawing/2014/main" val="903563137"/>
                    </a:ext>
                  </a:extLst>
                </a:gridCol>
                <a:gridCol w="3580135">
                  <a:extLst>
                    <a:ext uri="{9D8B030D-6E8A-4147-A177-3AD203B41FA5}">
                      <a16:colId xmlns:a16="http://schemas.microsoft.com/office/drawing/2014/main" val="2220246247"/>
                    </a:ext>
                  </a:extLst>
                </a:gridCol>
                <a:gridCol w="3563913">
                  <a:extLst>
                    <a:ext uri="{9D8B030D-6E8A-4147-A177-3AD203B41FA5}">
                      <a16:colId xmlns:a16="http://schemas.microsoft.com/office/drawing/2014/main" val="1530879547"/>
                    </a:ext>
                  </a:extLst>
                </a:gridCol>
              </a:tblGrid>
              <a:tr h="243715">
                <a:tc>
                  <a:txBody>
                    <a:bodyPr/>
                    <a:lstStyle/>
                    <a:p>
                      <a:pPr algn="ctr">
                        <a:lnSpc>
                          <a:spcPct val="115000"/>
                        </a:lnSpc>
                        <a:spcAft>
                          <a:spcPts val="0"/>
                        </a:spcAft>
                      </a:pPr>
                      <a:r>
                        <a:rPr lang="en-US" sz="1000" b="1" dirty="0">
                          <a:solidFill>
                            <a:schemeClr val="bg1"/>
                          </a:solidFill>
                          <a:effectLst/>
                          <a:latin typeface="+mn-ea"/>
                          <a:ea typeface="+mn-ea"/>
                          <a:cs typeface="Times New Roman" panose="02020603050405020304" pitchFamily="18" charset="0"/>
                        </a:rPr>
                        <a:t> </a:t>
                      </a:r>
                      <a:endParaRPr lang="ko-KR" sz="1000" dirty="0">
                        <a:solidFill>
                          <a:schemeClr val="bg1"/>
                        </a:solidFill>
                        <a:effectLst/>
                        <a:latin typeface="+mn-ea"/>
                        <a:ea typeface="+mn-ea"/>
                        <a:cs typeface="Times New Roman" panose="02020603050405020304" pitchFamily="18" charset="0"/>
                      </a:endParaRPr>
                    </a:p>
                  </a:txBody>
                  <a:tcPr marL="68580" marR="6858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tx1">
                        <a:lumMod val="50000"/>
                        <a:lumOff val="50000"/>
                      </a:schemeClr>
                    </a:solidFill>
                  </a:tcPr>
                </a:tc>
                <a:tc>
                  <a:txBody>
                    <a:bodyPr/>
                    <a:lstStyle/>
                    <a:p>
                      <a:pPr algn="ctr" latinLnBrk="1">
                        <a:lnSpc>
                          <a:spcPct val="115000"/>
                        </a:lnSpc>
                        <a:spcAft>
                          <a:spcPts val="0"/>
                        </a:spcAft>
                      </a:pPr>
                      <a:r>
                        <a:rPr lang="ko-KR" sz="1000" b="1" dirty="0">
                          <a:solidFill>
                            <a:schemeClr val="bg1"/>
                          </a:solidFill>
                          <a:effectLst/>
                          <a:latin typeface="+mn-ea"/>
                          <a:ea typeface="+mn-ea"/>
                          <a:cs typeface="Times New Roman" panose="02020603050405020304" pitchFamily="18" charset="0"/>
                        </a:rPr>
                        <a:t>장점</a:t>
                      </a:r>
                      <a:endParaRPr lang="ko-KR" sz="1000" dirty="0">
                        <a:solidFill>
                          <a:schemeClr val="bg1"/>
                        </a:solidFill>
                        <a:effectLst/>
                        <a:latin typeface="+mn-ea"/>
                        <a:ea typeface="+mn-ea"/>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tx1">
                        <a:lumMod val="50000"/>
                        <a:lumOff val="50000"/>
                      </a:schemeClr>
                    </a:solidFill>
                  </a:tcPr>
                </a:tc>
                <a:tc>
                  <a:txBody>
                    <a:bodyPr/>
                    <a:lstStyle/>
                    <a:p>
                      <a:pPr algn="ctr" latinLnBrk="1">
                        <a:lnSpc>
                          <a:spcPct val="115000"/>
                        </a:lnSpc>
                        <a:spcAft>
                          <a:spcPts val="0"/>
                        </a:spcAft>
                      </a:pPr>
                      <a:r>
                        <a:rPr lang="ko-KR" sz="1000" b="1" dirty="0">
                          <a:solidFill>
                            <a:schemeClr val="bg1"/>
                          </a:solidFill>
                          <a:effectLst/>
                          <a:latin typeface="+mn-ea"/>
                          <a:ea typeface="+mn-ea"/>
                          <a:cs typeface="Times New Roman" panose="02020603050405020304" pitchFamily="18" charset="0"/>
                        </a:rPr>
                        <a:t>단점</a:t>
                      </a:r>
                      <a:endParaRPr lang="ko-KR" sz="1000" dirty="0">
                        <a:solidFill>
                          <a:schemeClr val="bg1"/>
                        </a:solidFill>
                        <a:effectLst/>
                        <a:latin typeface="+mn-ea"/>
                        <a:ea typeface="+mn-ea"/>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694335805"/>
                  </a:ext>
                </a:extLst>
              </a:tr>
              <a:tr h="865994">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소송</a:t>
                      </a:r>
                      <a:endParaRPr lang="ko-KR" sz="1000" dirty="0">
                        <a:effectLst/>
                        <a:latin typeface="+mn-ea"/>
                        <a:ea typeface="+mn-ea"/>
                        <a:cs typeface="Times New Roman" panose="02020603050405020304" pitchFamily="18" charset="0"/>
                      </a:endParaRPr>
                    </a:p>
                  </a:txBody>
                  <a:tcPr marL="68580" marR="6858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lumMod val="75000"/>
                      </a:schemeClr>
                    </a:solidFill>
                  </a:tcPr>
                </a:tc>
                <a:tc>
                  <a:txBody>
                    <a:bodyPr/>
                    <a:lstStyle/>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상소 가능</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판결에 대한 집행 용이</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비용이 상대적으로 적게 소요</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제</a:t>
                      </a:r>
                      <a:r>
                        <a:rPr lang="en-US" sz="1000" dirty="0">
                          <a:effectLst/>
                          <a:latin typeface="+mn-ea"/>
                          <a:ea typeface="+mn-ea"/>
                          <a:cs typeface="Times New Roman" panose="02020603050405020304" pitchFamily="18" charset="0"/>
                        </a:rPr>
                        <a:t>3</a:t>
                      </a:r>
                      <a:r>
                        <a:rPr lang="ko-KR" sz="1000" dirty="0">
                          <a:effectLst/>
                          <a:latin typeface="+mn-ea"/>
                          <a:ea typeface="+mn-ea"/>
                          <a:cs typeface="Times New Roman" panose="02020603050405020304" pitchFamily="18" charset="0"/>
                        </a:rPr>
                        <a:t>자에 대한 증거 수집 가능</a:t>
                      </a:r>
                    </a:p>
                  </a:txBody>
                  <a:tcPr marL="68580" marR="6858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상소 절차로 인하여 분쟁 해결 지연</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담당 재판부의 전문성 결여 가능성</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변론 절차 및 판결문 공개</a:t>
                      </a:r>
                    </a:p>
                  </a:txBody>
                  <a:tcPr marL="68580" marR="6858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82014447"/>
                  </a:ext>
                </a:extLst>
              </a:tr>
              <a:tr h="1450730">
                <a:tc>
                  <a:txBody>
                    <a:bodyPr/>
                    <a:lstStyle/>
                    <a:p>
                      <a:pPr algn="ctr" latinLnBrk="1">
                        <a:lnSpc>
                          <a:spcPct val="115000"/>
                        </a:lnSpc>
                        <a:spcAft>
                          <a:spcPts val="0"/>
                        </a:spcAft>
                      </a:pPr>
                      <a:r>
                        <a:rPr lang="ko-KR" sz="1000" b="1" dirty="0">
                          <a:effectLst/>
                          <a:latin typeface="+mn-ea"/>
                          <a:ea typeface="+mn-ea"/>
                          <a:cs typeface="Times New Roman" panose="02020603050405020304" pitchFamily="18" charset="0"/>
                        </a:rPr>
                        <a:t>중재</a:t>
                      </a:r>
                      <a:endParaRPr lang="ko-KR" sz="1000" dirty="0">
                        <a:effectLst/>
                        <a:latin typeface="+mn-ea"/>
                        <a:ea typeface="+mn-ea"/>
                        <a:cs typeface="Times New Roman" panose="02020603050405020304" pitchFamily="18" charset="0"/>
                      </a:endParaRPr>
                    </a:p>
                  </a:txBody>
                  <a:tcPr marL="68580" marR="6858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소송</a:t>
                      </a:r>
                      <a:r>
                        <a:rPr lang="en-US" sz="1000" dirty="0">
                          <a:effectLst/>
                          <a:latin typeface="+mn-ea"/>
                          <a:ea typeface="+mn-ea"/>
                          <a:cs typeface="Times New Roman" panose="02020603050405020304" pitchFamily="18" charset="0"/>
                        </a:rPr>
                        <a:t>(3</a:t>
                      </a:r>
                      <a:r>
                        <a:rPr lang="ko-KR" sz="1000" dirty="0">
                          <a:effectLst/>
                          <a:latin typeface="+mn-ea"/>
                          <a:ea typeface="+mn-ea"/>
                          <a:cs typeface="Times New Roman" panose="02020603050405020304" pitchFamily="18" charset="0"/>
                        </a:rPr>
                        <a:t>심</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에 비하여 신속</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단심</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절차가 상대적으로 유연</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중재판정부의 전문성 기대</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심리</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판정의 기밀 유지</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증거조사의 범위가 넓음</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단</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이러한 이유로 신청인 측에 불리한 문서도 제출해야 할 수 있음</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tc>
                  <a:txBody>
                    <a:bodyPr/>
                    <a:lstStyle/>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상소 불가</a:t>
                      </a:r>
                    </a:p>
                    <a:p>
                      <a:pPr marL="171450" lvl="0" indent="-171450" algn="l" latinLnBrk="0">
                        <a:lnSpc>
                          <a:spcPct val="115000"/>
                        </a:lnSpc>
                        <a:spcAft>
                          <a:spcPts val="0"/>
                        </a:spcAft>
                        <a:buFont typeface="맑은 고딕" panose="020B0503020000020004" pitchFamily="50" charset="-127"/>
                        <a:buChar char="-"/>
                      </a:pPr>
                      <a:r>
                        <a:rPr lang="ko-KR" sz="1000" dirty="0" err="1">
                          <a:effectLst/>
                          <a:latin typeface="+mn-ea"/>
                          <a:ea typeface="+mn-ea"/>
                          <a:cs typeface="Times New Roman" panose="02020603050405020304" pitchFamily="18" charset="0"/>
                        </a:rPr>
                        <a:t>중재판정에</a:t>
                      </a:r>
                      <a:r>
                        <a:rPr lang="ko-KR" sz="1000" dirty="0">
                          <a:effectLst/>
                          <a:latin typeface="+mn-ea"/>
                          <a:ea typeface="+mn-ea"/>
                          <a:cs typeface="Times New Roman" panose="02020603050405020304" pitchFamily="18" charset="0"/>
                        </a:rPr>
                        <a:t> 대한 임의 이행 거절 시 별도 소송을 통한 </a:t>
                      </a:r>
                      <a:r>
                        <a:rPr lang="ko-KR" sz="1000" dirty="0" err="1">
                          <a:effectLst/>
                          <a:latin typeface="+mn-ea"/>
                          <a:ea typeface="+mn-ea"/>
                          <a:cs typeface="Times New Roman" panose="02020603050405020304" pitchFamily="18" charset="0"/>
                        </a:rPr>
                        <a:t>집행판결</a:t>
                      </a:r>
                      <a:r>
                        <a:rPr lang="ko-KR" sz="1000" dirty="0">
                          <a:effectLst/>
                          <a:latin typeface="+mn-ea"/>
                          <a:ea typeface="+mn-ea"/>
                          <a:cs typeface="Times New Roman" panose="02020603050405020304" pitchFamily="18" charset="0"/>
                        </a:rPr>
                        <a:t> 필요</a:t>
                      </a: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비용이 상대적으로 많이 소요</a:t>
                      </a:r>
                      <a:r>
                        <a:rPr lang="en-US" sz="1000" dirty="0">
                          <a:effectLst/>
                          <a:latin typeface="+mn-ea"/>
                          <a:ea typeface="+mn-ea"/>
                          <a:cs typeface="Times New Roman" panose="02020603050405020304" pitchFamily="18" charset="0"/>
                        </a:rPr>
                        <a:t>(</a:t>
                      </a:r>
                      <a:r>
                        <a:rPr lang="ko-KR" sz="1000" dirty="0">
                          <a:effectLst/>
                          <a:latin typeface="+mn-ea"/>
                          <a:ea typeface="+mn-ea"/>
                          <a:cs typeface="Times New Roman" panose="02020603050405020304" pitchFamily="18" charset="0"/>
                        </a:rPr>
                        <a:t>단</a:t>
                      </a:r>
                      <a:r>
                        <a:rPr lang="en-US" sz="1000" dirty="0">
                          <a:effectLst/>
                          <a:latin typeface="+mn-ea"/>
                          <a:ea typeface="+mn-ea"/>
                          <a:cs typeface="Times New Roman" panose="02020603050405020304" pitchFamily="18" charset="0"/>
                        </a:rPr>
                        <a:t>, </a:t>
                      </a:r>
                      <a:r>
                        <a:rPr lang="ko-KR" sz="1000" dirty="0">
                          <a:effectLst/>
                          <a:latin typeface="+mn-ea"/>
                          <a:ea typeface="+mn-ea"/>
                          <a:cs typeface="Times New Roman" panose="02020603050405020304" pitchFamily="18" charset="0"/>
                        </a:rPr>
                        <a:t>이러한 이유로 소송과 달리 중재 신청 남용 방지 가능</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p>
                      <a:pPr marL="171450" lvl="0" indent="-171450" algn="l" latinLnBrk="0">
                        <a:lnSpc>
                          <a:spcPct val="115000"/>
                        </a:lnSpc>
                        <a:spcAft>
                          <a:spcPts val="0"/>
                        </a:spcAft>
                        <a:buFont typeface="맑은 고딕" panose="020B0503020000020004" pitchFamily="50" charset="-127"/>
                        <a:buChar char="-"/>
                      </a:pPr>
                      <a:r>
                        <a:rPr lang="ko-KR" sz="1000" dirty="0">
                          <a:effectLst/>
                          <a:latin typeface="+mn-ea"/>
                          <a:ea typeface="+mn-ea"/>
                          <a:cs typeface="Times New Roman" panose="02020603050405020304" pitchFamily="18" charset="0"/>
                        </a:rPr>
                        <a:t>제</a:t>
                      </a:r>
                      <a:r>
                        <a:rPr lang="en-US" sz="1000" dirty="0">
                          <a:effectLst/>
                          <a:latin typeface="+mn-ea"/>
                          <a:ea typeface="+mn-ea"/>
                          <a:cs typeface="Times New Roman" panose="02020603050405020304" pitchFamily="18" charset="0"/>
                        </a:rPr>
                        <a:t>3</a:t>
                      </a:r>
                      <a:r>
                        <a:rPr lang="ko-KR" sz="1000" dirty="0">
                          <a:effectLst/>
                          <a:latin typeface="+mn-ea"/>
                          <a:ea typeface="+mn-ea"/>
                          <a:cs typeface="Times New Roman" panose="02020603050405020304" pitchFamily="18" charset="0"/>
                        </a:rPr>
                        <a:t>자에 대한 증거 수집이 어려움</a:t>
                      </a:r>
                      <a:r>
                        <a:rPr lang="en-US" sz="1000" dirty="0">
                          <a:effectLst/>
                          <a:latin typeface="+mn-ea"/>
                          <a:ea typeface="+mn-ea"/>
                          <a:cs typeface="Times New Roman" panose="02020603050405020304" pitchFamily="18" charset="0"/>
                        </a:rPr>
                        <a:t>(</a:t>
                      </a:r>
                      <a:r>
                        <a:rPr lang="ko-KR" sz="1000" dirty="0" err="1">
                          <a:effectLst/>
                          <a:latin typeface="+mn-ea"/>
                          <a:ea typeface="+mn-ea"/>
                          <a:cs typeface="Times New Roman" panose="02020603050405020304" pitchFamily="18" charset="0"/>
                        </a:rPr>
                        <a:t>중재법상</a:t>
                      </a:r>
                      <a:r>
                        <a:rPr lang="ko-KR" sz="1000" dirty="0">
                          <a:effectLst/>
                          <a:latin typeface="+mn-ea"/>
                          <a:ea typeface="+mn-ea"/>
                          <a:cs typeface="Times New Roman" panose="02020603050405020304" pitchFamily="18" charset="0"/>
                        </a:rPr>
                        <a:t> 원칙적으로는 허용되나 아직 선례가 없음</a:t>
                      </a:r>
                      <a:r>
                        <a:rPr lang="en-US" sz="1000" dirty="0">
                          <a:effectLst/>
                          <a:latin typeface="+mn-ea"/>
                          <a:ea typeface="+mn-ea"/>
                          <a:cs typeface="Times New Roman" panose="02020603050405020304" pitchFamily="18" charset="0"/>
                        </a:rPr>
                        <a:t>)</a:t>
                      </a:r>
                      <a:endParaRPr lang="ko-KR" sz="1000" dirty="0">
                        <a:effectLst/>
                        <a:latin typeface="+mn-ea"/>
                        <a:ea typeface="+mn-ea"/>
                        <a:cs typeface="Times New Roman" panose="02020603050405020304" pitchFamily="18" charset="0"/>
                      </a:endParaRPr>
                    </a:p>
                  </a:txBody>
                  <a:tcPr marL="68580" marR="6858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75944519"/>
                  </a:ext>
                </a:extLst>
              </a:tr>
            </a:tbl>
          </a:graphicData>
        </a:graphic>
      </p:graphicFrame>
    </p:spTree>
    <p:extLst>
      <p:ext uri="{BB962C8B-B14F-4D97-AF65-F5344CB8AC3E}">
        <p14:creationId xmlns:p14="http://schemas.microsoft.com/office/powerpoint/2010/main" val="2956554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2">
      <a:majorFont>
        <a:latin typeface="맑은 고딕"/>
        <a:ea typeface="맑은 고딕"/>
        <a:cs typeface=""/>
      </a:majorFont>
      <a:minorFont>
        <a:latin typeface="맑은 고딕"/>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a:noFill/>
        </a:ln>
      </a:spPr>
      <a:bodyPr rtlCol="0" anchor="ctr"/>
      <a:lstStyle>
        <a:defPPr algn="ctr">
          <a:defRPr dirty="0" err="1" smtClean="0">
            <a:solidFill>
              <a:schemeClr val="tx1"/>
            </a:solidFill>
            <a:latin typeface="LG스마트체 Regular" panose="020B0600000101010101" pitchFamily="50" charset="-127"/>
            <a:ea typeface="LG스마트체 Regular" panose="020B0600000101010101"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LG스마트체 Regular" panose="020B0600000101010101" pitchFamily="50" charset="-127"/>
            <a:ea typeface="LG스마트체 Regular" panose="020B0600000101010101" pitchFamily="50" charset="-127"/>
          </a:defRPr>
        </a:defPPr>
      </a:lstStyle>
    </a:txDef>
  </a:objectDefaults>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0</TotalTime>
  <Words>18817</Words>
  <Application>Microsoft Office PowerPoint</Application>
  <PresentationFormat>A4 용지(210x297mm)</PresentationFormat>
  <Paragraphs>657</Paragraphs>
  <Slides>50</Slides>
  <Notes>50</Notes>
  <HiddenSlides>0</HiddenSlides>
  <MMClips>0</MMClips>
  <ScaleCrop>false</ScaleCrop>
  <HeadingPairs>
    <vt:vector size="6" baseType="variant">
      <vt:variant>
        <vt:lpstr>사용한 글꼴</vt:lpstr>
      </vt:variant>
      <vt:variant>
        <vt:i4>14</vt:i4>
      </vt:variant>
      <vt:variant>
        <vt:lpstr>테마</vt:lpstr>
      </vt:variant>
      <vt:variant>
        <vt:i4>2</vt:i4>
      </vt:variant>
      <vt:variant>
        <vt:lpstr>슬라이드 제목</vt:lpstr>
      </vt:variant>
      <vt:variant>
        <vt:i4>50</vt:i4>
      </vt:variant>
    </vt:vector>
  </HeadingPairs>
  <TitlesOfParts>
    <vt:vector size="66" baseType="lpstr">
      <vt:lpstr>맑은 고딕</vt:lpstr>
      <vt:lpstr>MS Mincho</vt:lpstr>
      <vt:lpstr>Wingdings 2</vt:lpstr>
      <vt:lpstr>굴림</vt:lpstr>
      <vt:lpstr>바탕</vt:lpstr>
      <vt:lpstr>Wingdings</vt:lpstr>
      <vt:lpstr>Arial Narrow</vt:lpstr>
      <vt:lpstr>Arial</vt:lpstr>
      <vt:lpstr>LG Smart_H2.0 R</vt:lpstr>
      <vt:lpstr>LG스마트체2.0 SemiBold</vt:lpstr>
      <vt:lpstr>LG스마트체 Regular</vt:lpstr>
      <vt:lpstr>Times New Roman</vt:lpstr>
      <vt:lpstr>Arial Unicode MS</vt:lpstr>
      <vt:lpstr>LG스마트체2.0 Bold</vt:lpstr>
      <vt:lpstr>Office 테마</vt:lpstr>
      <vt:lpstr>디자인 사용자 지정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2024-12-18T06:30:11Z</dcterms:created>
  <dcterms:modified xsi:type="dcterms:W3CDTF">2025-01-13T13:38:20Z</dcterms:modified>
</cp:coreProperties>
</file>