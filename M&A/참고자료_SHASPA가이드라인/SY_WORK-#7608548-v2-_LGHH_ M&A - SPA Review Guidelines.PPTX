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embedTrueTypeFonts="1" saveSubsetFonts="1" bookmarkIdSeed="2">
  <p:sldMasterIdLst>
    <p:sldMasterId id="2147483735" r:id="rId1"/>
    <p:sldMasterId id="2147483741" r:id="rId2"/>
  </p:sldMasterIdLst>
  <p:notesMasterIdLst>
    <p:notesMasterId r:id="rId52"/>
  </p:notesMasterIdLst>
  <p:handoutMasterIdLst>
    <p:handoutMasterId r:id="rId53"/>
  </p:handoutMasterIdLst>
  <p:sldIdLst>
    <p:sldId id="3679" r:id="rId3"/>
    <p:sldId id="3795" r:id="rId4"/>
    <p:sldId id="3831" r:id="rId5"/>
    <p:sldId id="3848" r:id="rId6"/>
    <p:sldId id="3784" r:id="rId7"/>
    <p:sldId id="3801" r:id="rId8"/>
    <p:sldId id="3782" r:id="rId9"/>
    <p:sldId id="3802" r:id="rId10"/>
    <p:sldId id="3849" r:id="rId11"/>
    <p:sldId id="3803" r:id="rId12"/>
    <p:sldId id="3850" r:id="rId13"/>
    <p:sldId id="3805" r:id="rId14"/>
    <p:sldId id="3806" r:id="rId15"/>
    <p:sldId id="3852" r:id="rId16"/>
    <p:sldId id="3853" r:id="rId17"/>
    <p:sldId id="3854" r:id="rId18"/>
    <p:sldId id="3855" r:id="rId19"/>
    <p:sldId id="3856" r:id="rId20"/>
    <p:sldId id="3857" r:id="rId21"/>
    <p:sldId id="3858" r:id="rId22"/>
    <p:sldId id="3859" r:id="rId23"/>
    <p:sldId id="3860" r:id="rId24"/>
    <p:sldId id="3861" r:id="rId25"/>
    <p:sldId id="3862" r:id="rId26"/>
    <p:sldId id="3863" r:id="rId27"/>
    <p:sldId id="3864" r:id="rId28"/>
    <p:sldId id="3865" r:id="rId29"/>
    <p:sldId id="3866" r:id="rId30"/>
    <p:sldId id="3867" r:id="rId31"/>
    <p:sldId id="3868" r:id="rId32"/>
    <p:sldId id="3869" r:id="rId33"/>
    <p:sldId id="3870" r:id="rId34"/>
    <p:sldId id="3871" r:id="rId35"/>
    <p:sldId id="3872" r:id="rId36"/>
    <p:sldId id="3873" r:id="rId37"/>
    <p:sldId id="3874" r:id="rId38"/>
    <p:sldId id="3875" r:id="rId39"/>
    <p:sldId id="3876" r:id="rId40"/>
    <p:sldId id="3886" r:id="rId41"/>
    <p:sldId id="3877" r:id="rId42"/>
    <p:sldId id="3878" r:id="rId43"/>
    <p:sldId id="3879" r:id="rId44"/>
    <p:sldId id="3887" r:id="rId45"/>
    <p:sldId id="3880" r:id="rId46"/>
    <p:sldId id="3881" r:id="rId47"/>
    <p:sldId id="3882" r:id="rId48"/>
    <p:sldId id="3883" r:id="rId49"/>
    <p:sldId id="3884" r:id="rId50"/>
    <p:sldId id="3885" r:id="rId51"/>
  </p:sldIdLst>
  <p:sldSz cx="9906000" cy="6858000" type="A4"/>
  <p:notesSz cx="6807200" cy="9939338"/>
  <p:embeddedFontLst>
    <p:embeddedFont>
      <p:font typeface="맑은 고딕" panose="020B0503020000020004" pitchFamily="50" charset="-127"/>
      <p:regular r:id="rId54"/>
      <p:bold r:id="rId55"/>
    </p:embeddedFont>
  </p:embeddedFontLst>
  <p:defaultTextStyle>
    <a:defPPr>
      <a:defRPr lang="ko-KR"/>
    </a:defPPr>
    <a:lvl1pPr algn="l" rtl="0" fontAlgn="base" latinLnBrk="1">
      <a:spcBef>
        <a:spcPct val="0"/>
      </a:spcBef>
      <a:spcAft>
        <a:spcPct val="0"/>
      </a:spcAft>
      <a:defRPr sz="1200" b="1" kern="1200">
        <a:solidFill>
          <a:srgbClr val="000000"/>
        </a:solidFill>
        <a:latin typeface="Arial" charset="0"/>
        <a:ea typeface="맑은 고딕" pitchFamily="50" charset="-127"/>
        <a:cs typeface="+mn-cs"/>
      </a:defRPr>
    </a:lvl1pPr>
    <a:lvl2pPr marL="457200" algn="l" rtl="0" fontAlgn="base" latinLnBrk="1">
      <a:spcBef>
        <a:spcPct val="0"/>
      </a:spcBef>
      <a:spcAft>
        <a:spcPct val="0"/>
      </a:spcAft>
      <a:defRPr sz="1200" b="1" kern="1200">
        <a:solidFill>
          <a:srgbClr val="000000"/>
        </a:solidFill>
        <a:latin typeface="Arial" charset="0"/>
        <a:ea typeface="맑은 고딕" pitchFamily="50" charset="-127"/>
        <a:cs typeface="+mn-cs"/>
      </a:defRPr>
    </a:lvl2pPr>
    <a:lvl3pPr marL="914400" algn="l" rtl="0" fontAlgn="base" latinLnBrk="1">
      <a:spcBef>
        <a:spcPct val="0"/>
      </a:spcBef>
      <a:spcAft>
        <a:spcPct val="0"/>
      </a:spcAft>
      <a:defRPr sz="1200" b="1" kern="1200">
        <a:solidFill>
          <a:srgbClr val="000000"/>
        </a:solidFill>
        <a:latin typeface="Arial" charset="0"/>
        <a:ea typeface="맑은 고딕" pitchFamily="50" charset="-127"/>
        <a:cs typeface="+mn-cs"/>
      </a:defRPr>
    </a:lvl3pPr>
    <a:lvl4pPr marL="1371600" algn="l" rtl="0" fontAlgn="base" latinLnBrk="1">
      <a:spcBef>
        <a:spcPct val="0"/>
      </a:spcBef>
      <a:spcAft>
        <a:spcPct val="0"/>
      </a:spcAft>
      <a:defRPr sz="1200" b="1" kern="1200">
        <a:solidFill>
          <a:srgbClr val="000000"/>
        </a:solidFill>
        <a:latin typeface="Arial" charset="0"/>
        <a:ea typeface="맑은 고딕" pitchFamily="50" charset="-127"/>
        <a:cs typeface="+mn-cs"/>
      </a:defRPr>
    </a:lvl4pPr>
    <a:lvl5pPr marL="1828800" algn="l" rtl="0" fontAlgn="base" latinLnBrk="1">
      <a:spcBef>
        <a:spcPct val="0"/>
      </a:spcBef>
      <a:spcAft>
        <a:spcPct val="0"/>
      </a:spcAft>
      <a:defRPr sz="1200" b="1" kern="1200">
        <a:solidFill>
          <a:srgbClr val="000000"/>
        </a:solidFill>
        <a:latin typeface="Arial" charset="0"/>
        <a:ea typeface="맑은 고딕" pitchFamily="50" charset="-127"/>
        <a:cs typeface="+mn-cs"/>
      </a:defRPr>
    </a:lvl5pPr>
    <a:lvl6pPr marL="2286000" algn="l" defTabSz="914400" rtl="0" eaLnBrk="1" latinLnBrk="1" hangingPunct="1">
      <a:defRPr sz="1200" b="1" kern="1200">
        <a:solidFill>
          <a:srgbClr val="000000"/>
        </a:solidFill>
        <a:latin typeface="Arial" charset="0"/>
        <a:ea typeface="맑은 고딕" pitchFamily="50" charset="-127"/>
        <a:cs typeface="+mn-cs"/>
      </a:defRPr>
    </a:lvl6pPr>
    <a:lvl7pPr marL="2743200" algn="l" defTabSz="914400" rtl="0" eaLnBrk="1" latinLnBrk="1" hangingPunct="1">
      <a:defRPr sz="1200" b="1" kern="1200">
        <a:solidFill>
          <a:srgbClr val="000000"/>
        </a:solidFill>
        <a:latin typeface="Arial" charset="0"/>
        <a:ea typeface="맑은 고딕" pitchFamily="50" charset="-127"/>
        <a:cs typeface="+mn-cs"/>
      </a:defRPr>
    </a:lvl7pPr>
    <a:lvl8pPr marL="3200400" algn="l" defTabSz="914400" rtl="0" eaLnBrk="1" latinLnBrk="1" hangingPunct="1">
      <a:defRPr sz="1200" b="1" kern="1200">
        <a:solidFill>
          <a:srgbClr val="000000"/>
        </a:solidFill>
        <a:latin typeface="Arial" charset="0"/>
        <a:ea typeface="맑은 고딕" pitchFamily="50" charset="-127"/>
        <a:cs typeface="+mn-cs"/>
      </a:defRPr>
    </a:lvl8pPr>
    <a:lvl9pPr marL="3657600" algn="l" defTabSz="914400" rtl="0" eaLnBrk="1" latinLnBrk="1" hangingPunct="1">
      <a:defRPr sz="1200" b="1" kern="1200">
        <a:solidFill>
          <a:srgbClr val="000000"/>
        </a:solidFill>
        <a:latin typeface="Arial" charset="0"/>
        <a:ea typeface="맑은 고딕" pitchFamily="50" charset="-127"/>
        <a:cs typeface="+mn-cs"/>
      </a:defRPr>
    </a:lvl9pPr>
  </p:defaultTextStyle>
  <p:extLst>
    <p:ext uri="{EFAFB233-063F-42B5-8137-9DF3F51BA10A}">
      <p15:sldGuideLst xmlns:p15="http://schemas.microsoft.com/office/powerpoint/2012/main">
        <p15:guide id="1" orient="horz" pos="3746" userDrawn="1">
          <p15:clr>
            <a:srgbClr val="A4A3A4"/>
          </p15:clr>
        </p15:guide>
        <p15:guide id="2" orient="horz" pos="1329" userDrawn="1">
          <p15:clr>
            <a:srgbClr val="A4A3A4"/>
          </p15:clr>
        </p15:guide>
        <p15:guide id="5" pos="6065" userDrawn="1">
          <p15:clr>
            <a:srgbClr val="A4A3A4"/>
          </p15:clr>
        </p15:guide>
        <p15:guide id="6" pos="277" userDrawn="1">
          <p15:clr>
            <a:srgbClr val="A4A3A4"/>
          </p15:clr>
        </p15:guide>
        <p15:guide id="8" pos="819" userDrawn="1">
          <p15:clr>
            <a:srgbClr val="A4A3A4"/>
          </p15:clr>
        </p15:guide>
        <p15:guide id="9" orient="horz" pos="423" userDrawn="1">
          <p15:clr>
            <a:srgbClr val="A4A3A4"/>
          </p15:clr>
        </p15:guide>
        <p15:guide id="10" orient="horz" pos="650" userDrawn="1">
          <p15:clr>
            <a:srgbClr val="A4A3A4"/>
          </p15:clr>
        </p15:guide>
        <p15:guide id="11" pos="175" userDrawn="1">
          <p15:clr>
            <a:srgbClr val="A4A3A4"/>
          </p15:clr>
        </p15:guide>
        <p15:guide id="12" orient="horz" pos="801"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2" userDrawn="1">
          <p15:clr>
            <a:srgbClr val="A4A3A4"/>
          </p15:clr>
        </p15:guide>
        <p15:guide id="3" orient="horz" pos="3130" userDrawn="1">
          <p15:clr>
            <a:srgbClr val="A4A3A4"/>
          </p15:clr>
        </p15:guide>
        <p15:guide id="4" pos="2143"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만든 이" initials="오전"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FF0000"/>
    <a:srgbClr val="0000FF"/>
    <a:srgbClr val="C00000"/>
    <a:srgbClr val="A50034"/>
    <a:srgbClr val="C0504D"/>
    <a:srgbClr val="EAEAEA"/>
    <a:srgbClr val="DDDDDD"/>
    <a:srgbClr val="0080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보통 스타일 3 - 강조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밝은 스타일 1 - 강조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4B1156A-380E-4F78-BDF5-A606A8083BF9}" styleName="보통 스타일 4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78" autoAdjust="0"/>
    <p:restoredTop sz="96391" autoAdjust="0"/>
  </p:normalViewPr>
  <p:slideViewPr>
    <p:cSldViewPr snapToObjects="1" showGuides="1">
      <p:cViewPr varScale="1">
        <p:scale>
          <a:sx n="107" d="100"/>
          <a:sy n="107" d="100"/>
        </p:scale>
        <p:origin x="930" y="84"/>
      </p:cViewPr>
      <p:guideLst>
        <p:guide orient="horz" pos="3746"/>
        <p:guide orient="horz" pos="1329"/>
        <p:guide pos="6065"/>
        <p:guide pos="277"/>
        <p:guide pos="819"/>
        <p:guide orient="horz" pos="423"/>
        <p:guide orient="horz" pos="650"/>
        <p:guide pos="175"/>
        <p:guide orient="horz" pos="801"/>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napToObjects="1" showGuides="1">
      <p:cViewPr varScale="1">
        <p:scale>
          <a:sx n="75" d="100"/>
          <a:sy n="75" d="100"/>
        </p:scale>
        <p:origin x="4026" y="60"/>
      </p:cViewPr>
      <p:guideLst>
        <p:guide orient="horz" pos="3131"/>
        <p:guide pos="2142"/>
        <p:guide orient="horz" pos="3130"/>
        <p:guide pos="2143"/>
      </p:guideLst>
    </p:cSldViewPr>
  </p:notesViewPr>
  <p:gridSpacing cx="119895" cy="11989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62" name="Rectangle 2"/>
          <p:cNvSpPr>
            <a:spLocks noGrp="1" noChangeArrowheads="1"/>
          </p:cNvSpPr>
          <p:nvPr>
            <p:ph type="hdr" sz="quarter"/>
          </p:nvPr>
        </p:nvSpPr>
        <p:spPr bwMode="auto">
          <a:xfrm>
            <a:off x="3" y="0"/>
            <a:ext cx="2950529" cy="497445"/>
          </a:xfrm>
          <a:prstGeom prst="rect">
            <a:avLst/>
          </a:prstGeom>
          <a:noFill/>
          <a:ln w="9525">
            <a:noFill/>
            <a:miter lim="800000"/>
            <a:headEnd/>
            <a:tailEnd/>
          </a:ln>
          <a:effectLst/>
        </p:spPr>
        <p:txBody>
          <a:bodyPr vert="horz" wrap="square" lIns="92366" tIns="46183" rIns="92366" bIns="46183" numCol="1" anchor="t" anchorCtr="0" compatLnSpc="1">
            <a:prstTxWarp prst="textNoShape">
              <a:avLst/>
            </a:prstTxWarp>
          </a:bodyPr>
          <a:lstStyle>
            <a:lvl1pPr algn="l"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3" name="Rectangle 3"/>
          <p:cNvSpPr>
            <a:spLocks noGrp="1" noChangeArrowheads="1"/>
          </p:cNvSpPr>
          <p:nvPr>
            <p:ph type="dt" sz="quarter" idx="1"/>
          </p:nvPr>
        </p:nvSpPr>
        <p:spPr bwMode="auto">
          <a:xfrm>
            <a:off x="3855083" y="0"/>
            <a:ext cx="2950529" cy="497445"/>
          </a:xfrm>
          <a:prstGeom prst="rect">
            <a:avLst/>
          </a:prstGeom>
          <a:noFill/>
          <a:ln w="9525">
            <a:noFill/>
            <a:miter lim="800000"/>
            <a:headEnd/>
            <a:tailEnd/>
          </a:ln>
          <a:effectLst/>
        </p:spPr>
        <p:txBody>
          <a:bodyPr vert="horz" wrap="square" lIns="92366" tIns="46183" rIns="92366" bIns="46183" numCol="1" anchor="t" anchorCtr="0" compatLnSpc="1">
            <a:prstTxWarp prst="textNoShape">
              <a:avLst/>
            </a:prstTxWarp>
          </a:bodyPr>
          <a:lstStyle>
            <a:lvl1pPr algn="r"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4" name="Rectangle 4"/>
          <p:cNvSpPr>
            <a:spLocks noGrp="1" noChangeArrowheads="1"/>
          </p:cNvSpPr>
          <p:nvPr>
            <p:ph type="ftr" sz="quarter" idx="2"/>
          </p:nvPr>
        </p:nvSpPr>
        <p:spPr bwMode="auto">
          <a:xfrm>
            <a:off x="3" y="9440305"/>
            <a:ext cx="2950529" cy="497445"/>
          </a:xfrm>
          <a:prstGeom prst="rect">
            <a:avLst/>
          </a:prstGeom>
          <a:noFill/>
          <a:ln w="9525">
            <a:noFill/>
            <a:miter lim="800000"/>
            <a:headEnd/>
            <a:tailEnd/>
          </a:ln>
          <a:effectLst/>
        </p:spPr>
        <p:txBody>
          <a:bodyPr vert="horz" wrap="square" lIns="92366" tIns="46183" rIns="92366" bIns="46183" numCol="1" anchor="b" anchorCtr="0" compatLnSpc="1">
            <a:prstTxWarp prst="textNoShape">
              <a:avLst/>
            </a:prstTxWarp>
          </a:bodyPr>
          <a:lstStyle>
            <a:lvl1pPr algn="l"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5" name="Rectangle 5"/>
          <p:cNvSpPr>
            <a:spLocks noGrp="1" noChangeArrowheads="1"/>
          </p:cNvSpPr>
          <p:nvPr>
            <p:ph type="sldNum" sz="quarter" idx="3"/>
          </p:nvPr>
        </p:nvSpPr>
        <p:spPr bwMode="auto">
          <a:xfrm>
            <a:off x="3855083" y="9440305"/>
            <a:ext cx="2950529" cy="497445"/>
          </a:xfrm>
          <a:prstGeom prst="rect">
            <a:avLst/>
          </a:prstGeom>
          <a:noFill/>
          <a:ln w="9525">
            <a:noFill/>
            <a:miter lim="800000"/>
            <a:headEnd/>
            <a:tailEnd/>
          </a:ln>
          <a:effectLst/>
        </p:spPr>
        <p:txBody>
          <a:bodyPr vert="horz" wrap="square" lIns="92366" tIns="46183" rIns="92366" bIns="46183" numCol="1" anchor="b" anchorCtr="0" compatLnSpc="1">
            <a:prstTxWarp prst="textNoShape">
              <a:avLst/>
            </a:prstTxWarp>
          </a:bodyPr>
          <a:lstStyle>
            <a:lvl1pPr algn="r" defTabSz="924794" latinLnBrk="1">
              <a:defRPr kumimoji="1" sz="1200" b="0">
                <a:solidFill>
                  <a:schemeClr val="tx1"/>
                </a:solidFill>
                <a:latin typeface="굴림" pitchFamily="50" charset="-127"/>
                <a:ea typeface="굴림" pitchFamily="50" charset="-127"/>
              </a:defRPr>
            </a:lvl1pPr>
          </a:lstStyle>
          <a:p>
            <a:pPr>
              <a:defRPr/>
            </a:pPr>
            <a:fld id="{92727AB2-DBE6-4817-B7D3-07FE23D14A51}" type="slidenum">
              <a:rPr lang="en-US" altLang="ko-KR"/>
              <a:pPr>
                <a:defRPr/>
              </a:pPr>
              <a:t>‹#›</a:t>
            </a:fld>
            <a:endParaRPr lang="en-US" altLang="ko-KR" dirty="0"/>
          </a:p>
        </p:txBody>
      </p:sp>
    </p:spTree>
    <p:extLst>
      <p:ext uri="{BB962C8B-B14F-4D97-AF65-F5344CB8AC3E}">
        <p14:creationId xmlns:p14="http://schemas.microsoft.com/office/powerpoint/2010/main" val="148976029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3" y="0"/>
            <a:ext cx="2950529" cy="497445"/>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lvl1pPr algn="l"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0243" name="Rectangle 3"/>
          <p:cNvSpPr>
            <a:spLocks noGrp="1" noChangeArrowheads="1"/>
          </p:cNvSpPr>
          <p:nvPr>
            <p:ph type="dt" idx="1"/>
          </p:nvPr>
        </p:nvSpPr>
        <p:spPr bwMode="auto">
          <a:xfrm>
            <a:off x="3855083" y="0"/>
            <a:ext cx="2950529" cy="497445"/>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lvl1pPr algn="r"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92164" name="Rectangle 4"/>
          <p:cNvSpPr>
            <a:spLocks noGrp="1" noRot="1" noChangeAspect="1" noChangeArrowheads="1" noTextEdit="1"/>
          </p:cNvSpPr>
          <p:nvPr>
            <p:ph type="sldImg" idx="2"/>
          </p:nvPr>
        </p:nvSpPr>
        <p:spPr bwMode="auto">
          <a:xfrm>
            <a:off x="717550" y="746125"/>
            <a:ext cx="5384800" cy="3727450"/>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678817" y="4718567"/>
            <a:ext cx="5449575" cy="4476993"/>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10246" name="Rectangle 6"/>
          <p:cNvSpPr>
            <a:spLocks noGrp="1" noChangeArrowheads="1"/>
          </p:cNvSpPr>
          <p:nvPr>
            <p:ph type="ftr" sz="quarter" idx="4"/>
          </p:nvPr>
        </p:nvSpPr>
        <p:spPr bwMode="auto">
          <a:xfrm>
            <a:off x="3" y="9440305"/>
            <a:ext cx="2950529" cy="497445"/>
          </a:xfrm>
          <a:prstGeom prst="rect">
            <a:avLst/>
          </a:prstGeom>
          <a:noFill/>
          <a:ln w="9525">
            <a:noFill/>
            <a:miter lim="800000"/>
            <a:headEnd/>
            <a:tailEnd/>
          </a:ln>
          <a:effectLst/>
        </p:spPr>
        <p:txBody>
          <a:bodyPr vert="horz" wrap="square" lIns="91367" tIns="45684" rIns="91367" bIns="45684" numCol="1" anchor="b" anchorCtr="0" compatLnSpc="1">
            <a:prstTxWarp prst="textNoShape">
              <a:avLst/>
            </a:prstTxWarp>
          </a:bodyPr>
          <a:lstStyle>
            <a:lvl1pPr algn="l"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0247" name="Rectangle 7"/>
          <p:cNvSpPr>
            <a:spLocks noGrp="1" noChangeArrowheads="1"/>
          </p:cNvSpPr>
          <p:nvPr>
            <p:ph type="sldNum" sz="quarter" idx="5"/>
          </p:nvPr>
        </p:nvSpPr>
        <p:spPr bwMode="auto">
          <a:xfrm>
            <a:off x="3855083" y="9440305"/>
            <a:ext cx="2950529" cy="497445"/>
          </a:xfrm>
          <a:prstGeom prst="rect">
            <a:avLst/>
          </a:prstGeom>
          <a:noFill/>
          <a:ln w="9525">
            <a:noFill/>
            <a:miter lim="800000"/>
            <a:headEnd/>
            <a:tailEnd/>
          </a:ln>
          <a:effectLst/>
        </p:spPr>
        <p:txBody>
          <a:bodyPr vert="horz" wrap="square" lIns="91367" tIns="45684" rIns="91367" bIns="45684" numCol="1" anchor="b" anchorCtr="0" compatLnSpc="1">
            <a:prstTxWarp prst="textNoShape">
              <a:avLst/>
            </a:prstTxWarp>
          </a:bodyPr>
          <a:lstStyle>
            <a:lvl1pPr algn="r" latinLnBrk="1">
              <a:defRPr kumimoji="1" sz="1200" b="0">
                <a:solidFill>
                  <a:schemeClr val="tx1"/>
                </a:solidFill>
                <a:latin typeface="굴림" pitchFamily="50" charset="-127"/>
                <a:ea typeface="굴림" pitchFamily="50" charset="-127"/>
              </a:defRPr>
            </a:lvl1pPr>
          </a:lstStyle>
          <a:p>
            <a:pPr>
              <a:defRPr/>
            </a:pPr>
            <a:fld id="{F58AD39B-30E0-4E97-8A0D-948230F53372}" type="slidenum">
              <a:rPr lang="en-US" altLang="ko-KR"/>
              <a:pPr>
                <a:defRPr/>
              </a:pPr>
              <a:t>‹#›</a:t>
            </a:fld>
            <a:endParaRPr lang="en-US" altLang="ko-KR" dirty="0"/>
          </a:p>
        </p:txBody>
      </p:sp>
    </p:spTree>
    <p:extLst>
      <p:ext uri="{BB962C8B-B14F-4D97-AF65-F5344CB8AC3E}">
        <p14:creationId xmlns:p14="http://schemas.microsoft.com/office/powerpoint/2010/main" val="198342675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Tree>
    <p:extLst>
      <p:ext uri="{BB962C8B-B14F-4D97-AF65-F5344CB8AC3E}">
        <p14:creationId xmlns:p14="http://schemas.microsoft.com/office/powerpoint/2010/main" val="169441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2226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963649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43361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60813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945387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03206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607639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006997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033122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540733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477656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921722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963246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76429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222877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147355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57880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871193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6896578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805337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901101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41313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22545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98649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497586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43413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20263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2670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87737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1166898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651878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8828068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2102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39018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073053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89931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150882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641458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9298191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663291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508713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22068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8681591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719541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5392181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4952663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1034894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658884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p:spTree>
      <p:nvGrpSpPr>
        <p:cNvPr id="1" name=""/>
        <p:cNvGrpSpPr/>
        <p:nvPr/>
      </p:nvGrpSpPr>
      <p:grpSpPr>
        <a:xfrm>
          <a:off x="0" y="0"/>
          <a:ext cx="0" cy="0"/>
          <a:chOff x="0" y="0"/>
          <a:chExt cx="0" cy="0"/>
        </a:xfrm>
      </p:grpSpPr>
      <p:cxnSp>
        <p:nvCxnSpPr>
          <p:cNvPr id="12" name="직선 연결선 11"/>
          <p:cNvCxnSpPr/>
          <p:nvPr userDrawn="1"/>
        </p:nvCxnSpPr>
        <p:spPr bwMode="auto">
          <a:xfrm>
            <a:off x="847535" y="2646774"/>
            <a:ext cx="8191368" cy="0"/>
          </a:xfrm>
          <a:prstGeom prst="line">
            <a:avLst/>
          </a:prstGeom>
          <a:noFill/>
          <a:ln w="25400">
            <a:solidFill>
              <a:schemeClr val="tx1"/>
            </a:solidFill>
            <a:round/>
            <a:headEnd/>
            <a:tailEnd type="none" w="med" len="med"/>
          </a:ln>
        </p:spPr>
      </p:cxnSp>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4900" y="943323"/>
            <a:ext cx="2141404" cy="467746"/>
          </a:xfrm>
          <a:prstGeom prst="rect">
            <a:avLst/>
          </a:prstGeom>
        </p:spPr>
      </p:pic>
      <p:sp>
        <p:nvSpPr>
          <p:cNvPr id="15" name="제목 1"/>
          <p:cNvSpPr>
            <a:spLocks noGrp="1"/>
          </p:cNvSpPr>
          <p:nvPr>
            <p:ph type="title" hasCustomPrompt="1"/>
          </p:nvPr>
        </p:nvSpPr>
        <p:spPr>
          <a:xfrm>
            <a:off x="4927477" y="1023940"/>
            <a:ext cx="4673724" cy="3460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r">
              <a:defRPr kumimoji="1" lang="ko-KR" altLang="en-US" sz="1600" b="1">
                <a:latin typeface="LG스마트체 Regular" panose="020B0600000101010101" pitchFamily="50" charset="-127"/>
                <a:ea typeface="LG스마트체 Regular" panose="020B0600000101010101" pitchFamily="50" charset="-127"/>
                <a:cs typeface="+mn-cs"/>
              </a:defRPr>
            </a:lvl1pPr>
          </a:lstStyle>
          <a:p>
            <a:pPr lvl="0" algn="r" fontAlgn="base" latinLnBrk="0">
              <a:spcBef>
                <a:spcPct val="50000"/>
              </a:spcBef>
              <a:spcAft>
                <a:spcPct val="0"/>
              </a:spcAft>
            </a:pPr>
            <a:r>
              <a:rPr lang="ko-KR" altLang="en-US" dirty="0" smtClean="0"/>
              <a:t>프로젝트 명 편집</a:t>
            </a:r>
            <a:endParaRPr lang="ko-KR" altLang="en-US" dirty="0"/>
          </a:p>
        </p:txBody>
      </p:sp>
      <p:sp>
        <p:nvSpPr>
          <p:cNvPr id="22" name="내용 개체 틀 21"/>
          <p:cNvSpPr>
            <a:spLocks noGrp="1"/>
          </p:cNvSpPr>
          <p:nvPr>
            <p:ph sz="quarter" idx="10" hasCustomPrompt="1"/>
          </p:nvPr>
        </p:nvSpPr>
        <p:spPr>
          <a:xfrm>
            <a:off x="843493" y="2056467"/>
            <a:ext cx="7073552" cy="522000"/>
          </a:xfrm>
        </p:spPr>
        <p:txBody>
          <a:bodyPr>
            <a:normAutofit/>
          </a:bodyPr>
          <a:lstStyle>
            <a:lvl1pPr marL="0" indent="0">
              <a:buFontTx/>
              <a:buNone/>
              <a:defRPr kumimoji="1" lang="ko-KR" altLang="en-US" sz="2800" b="1" kern="1200" dirty="0">
                <a:solidFill>
                  <a:schemeClr val="tx1"/>
                </a:solidFill>
                <a:latin typeface="LG스마트체 Regular" panose="020B0600000101010101" pitchFamily="50" charset="-127"/>
                <a:ea typeface="LG스마트체 Regular" panose="020B0600000101010101" pitchFamily="50" charset="-127"/>
                <a:cs typeface="Arial Unicode MS" pitchFamily="50" charset="-127"/>
              </a:defRPr>
            </a:lvl1pPr>
          </a:lstStyle>
          <a:p>
            <a:pPr lvl="0"/>
            <a:r>
              <a:rPr lang="ko-KR" altLang="en-US" dirty="0" smtClean="0"/>
              <a:t>마스터 제목 편집</a:t>
            </a:r>
            <a:endParaRPr lang="ko-KR" altLang="en-US" dirty="0"/>
          </a:p>
        </p:txBody>
      </p:sp>
    </p:spTree>
    <p:extLst>
      <p:ext uri="{BB962C8B-B14F-4D97-AF65-F5344CB8AC3E}">
        <p14:creationId xmlns:p14="http://schemas.microsoft.com/office/powerpoint/2010/main" val="262958480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본문">
    <p:spTree>
      <p:nvGrpSpPr>
        <p:cNvPr id="1" name=""/>
        <p:cNvGrpSpPr/>
        <p:nvPr/>
      </p:nvGrpSpPr>
      <p:grpSpPr>
        <a:xfrm>
          <a:off x="0" y="0"/>
          <a:ext cx="0" cy="0"/>
          <a:chOff x="0" y="0"/>
          <a:chExt cx="0" cy="0"/>
        </a:xfrm>
      </p:grpSpPr>
      <p:sp>
        <p:nvSpPr>
          <p:cNvPr id="2" name="제목 1"/>
          <p:cNvSpPr>
            <a:spLocks noGrp="1"/>
          </p:cNvSpPr>
          <p:nvPr>
            <p:ph type="title"/>
          </p:nvPr>
        </p:nvSpPr>
        <p:spPr>
          <a:xfrm>
            <a:off x="171194" y="130622"/>
            <a:ext cx="4673724" cy="346050"/>
          </a:xfrm>
        </p:spPr>
        <p:txBody>
          <a:bodyPr>
            <a:noAutofit/>
          </a:bodyPr>
          <a:lstStyle>
            <a:lvl1pPr algn="l">
              <a:defRPr sz="2000" b="1"/>
            </a:lvl1pPr>
          </a:lstStyle>
          <a:p>
            <a:r>
              <a:rPr lang="ko-KR" altLang="en-US" smtClean="0"/>
              <a:t>마스터 제목 스타일 편집</a:t>
            </a:r>
            <a:endParaRPr lang="ko-KR" altLang="en-US"/>
          </a:p>
        </p:txBody>
      </p:sp>
      <p:sp>
        <p:nvSpPr>
          <p:cNvPr id="4" name="직선 연결선 7">
            <a:extLst>
              <a:ext uri="{FF2B5EF4-FFF2-40B4-BE49-F238E27FC236}">
                <a16:creationId xmlns:a16="http://schemas.microsoft.com/office/drawing/2014/main" id="{3959789E-1396-4E3D-AAD6-3123B61C9B94}"/>
              </a:ext>
            </a:extLst>
          </p:cNvPr>
          <p:cNvSpPr/>
          <p:nvPr userDrawn="1"/>
        </p:nvSpPr>
        <p:spPr>
          <a:xfrm>
            <a:off x="217592" y="490742"/>
            <a:ext cx="9470816" cy="0"/>
          </a:xfrm>
          <a:prstGeom prst="line">
            <a:avLst/>
          </a:prstGeom>
          <a:ln w="25400">
            <a:solidFill>
              <a:srgbClr val="000000"/>
            </a:solidFill>
          </a:ln>
        </p:spPr>
        <p:txBody>
          <a:bodyPr lIns="45719" rIns="45719"/>
          <a:lstStyle/>
          <a:p>
            <a:endParaRPr/>
          </a:p>
        </p:txBody>
      </p:sp>
      <p:sp>
        <p:nvSpPr>
          <p:cNvPr id="5" name="슬라이드 번호 개체 틀 5">
            <a:extLst>
              <a:ext uri="{FF2B5EF4-FFF2-40B4-BE49-F238E27FC236}">
                <a16:creationId xmlns:a16="http://schemas.microsoft.com/office/drawing/2014/main" id="{BC967B58-6B76-4496-B5BF-77C609D288E1}"/>
              </a:ext>
            </a:extLst>
          </p:cNvPr>
          <p:cNvSpPr txBox="1">
            <a:spLocks/>
          </p:cNvSpPr>
          <p:nvPr userDrawn="1"/>
        </p:nvSpPr>
        <p:spPr>
          <a:xfrm>
            <a:off x="8913440" y="6685388"/>
            <a:ext cx="864096" cy="13849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0000" tIns="0" rIns="90000" bIns="0" rtlCol="0" anchor="ctr">
            <a:spAutoFit/>
          </a:bodyPr>
          <a:lstStyle>
            <a:defPPr>
              <a:defRPr lang="ko-KR"/>
            </a:defPPr>
            <a:lvl1pPr algn="r">
              <a:defRPr sz="1000" baseline="0">
                <a:solidFill>
                  <a:srgbClr val="000000"/>
                </a:solidFill>
                <a:latin typeface="Arial Narrow" panose="020B0606020202030204" pitchFamily="34" charset="0"/>
                <a:ea typeface="LG스마트체2.0 Regular" panose="020B0600000101010101" pitchFamily="50" charset="-127"/>
                <a:cs typeface="LG Smart_H2.0 R"/>
              </a:defRPr>
            </a:lvl1pPr>
          </a:lstStyle>
          <a:p>
            <a:pPr lvl="0"/>
            <a:fld id="{86CB4B4D-7CA3-9044-876B-883B54F8677D}" type="slidenum">
              <a:rPr lang="en-US" altLang="ko-KR" sz="900" b="0" smtClean="0">
                <a:latin typeface="+mn-ea"/>
                <a:ea typeface="+mn-ea"/>
              </a:rPr>
              <a:pPr lvl="0"/>
              <a:t>‹#›</a:t>
            </a:fld>
            <a:endParaRPr lang="ko-KR" altLang="en-US" sz="900" b="0" dirty="0">
              <a:latin typeface="+mn-ea"/>
              <a:ea typeface="+mn-ea"/>
            </a:endParaRPr>
          </a:p>
        </p:txBody>
      </p:sp>
    </p:spTree>
    <p:extLst>
      <p:ext uri="{BB962C8B-B14F-4D97-AF65-F5344CB8AC3E}">
        <p14:creationId xmlns:p14="http://schemas.microsoft.com/office/powerpoint/2010/main" val="252489428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3" name="직선 연결선 7">
            <a:extLst>
              <a:ext uri="{FF2B5EF4-FFF2-40B4-BE49-F238E27FC236}">
                <a16:creationId xmlns:a16="http://schemas.microsoft.com/office/drawing/2014/main" id="{3959789E-1396-4E3D-AAD6-3123B61C9B94}"/>
              </a:ext>
            </a:extLst>
          </p:cNvPr>
          <p:cNvSpPr/>
          <p:nvPr userDrawn="1"/>
        </p:nvSpPr>
        <p:spPr>
          <a:xfrm>
            <a:off x="217592" y="490742"/>
            <a:ext cx="9470816" cy="0"/>
          </a:xfrm>
          <a:prstGeom prst="line">
            <a:avLst/>
          </a:prstGeom>
          <a:ln w="25400">
            <a:solidFill>
              <a:srgbClr val="000000"/>
            </a:solidFill>
          </a:ln>
        </p:spPr>
        <p:txBody>
          <a:bodyPr lIns="45719" rIns="45719"/>
          <a:lstStyle/>
          <a:p>
            <a:endParaRPr/>
          </a:p>
        </p:txBody>
      </p:sp>
    </p:spTree>
    <p:extLst>
      <p:ext uri="{BB962C8B-B14F-4D97-AF65-F5344CB8AC3E}">
        <p14:creationId xmlns:p14="http://schemas.microsoft.com/office/powerpoint/2010/main" val="245661696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8"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fontAlgn="auto" latinLnBrk="0" hangingPunct="1">
              <a:spcBef>
                <a:spcPct val="50000"/>
              </a:spcBef>
              <a:spcAft>
                <a:spcPts val="0"/>
              </a:spcAft>
            </a:pPr>
            <a:r>
              <a:rPr lang="ko-KR" altLang="en-US" sz="800" dirty="0">
                <a:solidFill>
                  <a:srgbClr val="A50034"/>
                </a:solidFill>
                <a:latin typeface="LG스마트체2.0 SemiBold" panose="020B0600000101010101" pitchFamily="50" charset="-127"/>
                <a:ea typeface="LG스마트체2.0 SemiBold" panose="020B0600000101010101" pitchFamily="50" charset="-127"/>
              </a:rPr>
              <a:t>｜</a:t>
            </a:r>
            <a:r>
              <a:rPr lang="en-US" altLang="ko-KR" sz="800" b="0" dirty="0">
                <a:solidFill>
                  <a:srgbClr val="A50034"/>
                </a:solidFill>
                <a:latin typeface="LG스마트체2.0 Bold" panose="020B0600000101010101" pitchFamily="50" charset="-127"/>
                <a:ea typeface="LG스마트체2.0 Bold" panose="020B0600000101010101" pitchFamily="50" charset="-127"/>
              </a:rPr>
              <a:t>CONFIDENTIAL</a:t>
            </a:r>
            <a:r>
              <a:rPr lang="ko-KR" altLang="en-US" sz="800" dirty="0">
                <a:solidFill>
                  <a:srgbClr val="A50034"/>
                </a:solidFill>
                <a:latin typeface="LG스마트체2.0 SemiBold" panose="020B0600000101010101" pitchFamily="50" charset="-127"/>
                <a:ea typeface="LG스마트체2.0 SemiBold" panose="020B0600000101010101" pitchFamily="50" charset="-127"/>
              </a:rPr>
              <a:t>｜</a:t>
            </a:r>
            <a:endParaRPr lang="en-US" altLang="ko-KR" sz="800" dirty="0">
              <a:solidFill>
                <a:srgbClr val="A50034"/>
              </a:solidFill>
              <a:latin typeface="LG스마트체2.0 SemiBold" panose="020B0600000101010101" pitchFamily="50" charset="-127"/>
              <a:ea typeface="LG스마트체2.0 SemiBold" panose="020B0600000101010101" pitchFamily="50" charset="-127"/>
            </a:endParaRPr>
          </a:p>
        </p:txBody>
      </p:sp>
      <p:grpSp>
        <p:nvGrpSpPr>
          <p:cNvPr id="12" name="그룹 11"/>
          <p:cNvGrpSpPr/>
          <p:nvPr/>
        </p:nvGrpSpPr>
        <p:grpSpPr>
          <a:xfrm>
            <a:off x="200025" y="188913"/>
            <a:ext cx="9505950" cy="6480175"/>
            <a:chOff x="200025" y="188913"/>
            <a:chExt cx="9505950" cy="6480175"/>
          </a:xfrm>
        </p:grpSpPr>
        <p:sp>
          <p:nvSpPr>
            <p:cNvPr id="14" name="직사각형 13"/>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fontAlgn="auto">
                <a:spcBef>
                  <a:spcPts val="0"/>
                </a:spcBef>
                <a:spcAft>
                  <a:spcPts val="0"/>
                </a:spcAft>
              </a:pPr>
              <a:endParaRPr kumimoji="0" lang="ko-KR" altLang="en-US" sz="1800">
                <a:solidFill>
                  <a:prstClr val="white"/>
                </a:solidFill>
              </a:endParaRPr>
            </a:p>
          </p:txBody>
        </p:sp>
        <p:pic>
          <p:nvPicPr>
            <p:cNvPr id="15"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9" name="그림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20223" y="5146837"/>
            <a:ext cx="1608868" cy="351425"/>
          </a:xfrm>
          <a:prstGeom prst="rect">
            <a:avLst/>
          </a:prstGeom>
        </p:spPr>
      </p:pic>
    </p:spTree>
    <p:extLst>
      <p:ext uri="{BB962C8B-B14F-4D97-AF65-F5344CB8AC3E}">
        <p14:creationId xmlns:p14="http://schemas.microsoft.com/office/powerpoint/2010/main" val="20304515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
        <p:nvSpPr>
          <p:cNvPr id="4" name="날짜 개체 틀 3"/>
          <p:cNvSpPr>
            <a:spLocks noGrp="1"/>
          </p:cNvSpPr>
          <p:nvPr>
            <p:ph type="dt" sz="half" idx="10"/>
          </p:nvPr>
        </p:nvSpPr>
        <p:spPr/>
        <p:txBody>
          <a:bodyPr/>
          <a:lstStyle/>
          <a:p>
            <a:fld id="{1E9C1F57-6407-4F9A-87B3-597B2D7E29F8}" type="datetime1">
              <a:rPr lang="ko-KR" altLang="en-US" smtClean="0">
                <a:solidFill>
                  <a:prstClr val="black">
                    <a:tint val="75000"/>
                  </a:prstClr>
                </a:solidFill>
              </a:rPr>
              <a:t>2024-12-18</a:t>
            </a:fld>
            <a:endParaRPr lang="ko-KR" altLang="en-US">
              <a:solidFill>
                <a:prstClr val="black">
                  <a:tint val="75000"/>
                </a:prstClr>
              </a:solidFill>
            </a:endParaRPr>
          </a:p>
        </p:txBody>
      </p:sp>
      <p:sp>
        <p:nvSpPr>
          <p:cNvPr id="5" name="바닥글 개체 틀 4"/>
          <p:cNvSpPr>
            <a:spLocks noGrp="1"/>
          </p:cNvSpPr>
          <p:nvPr>
            <p:ph type="ftr" sz="quarter" idx="11"/>
          </p:nvPr>
        </p:nvSpPr>
        <p:spPr>
          <a:xfrm>
            <a:off x="5601072" y="6356350"/>
            <a:ext cx="3136900" cy="365125"/>
          </a:xfr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2864768" y="6356351"/>
            <a:ext cx="2311400" cy="365125"/>
          </a:xfrm>
        </p:spPr>
        <p:txBody>
          <a:bodyPr/>
          <a:lstStyle/>
          <a:p>
            <a:fld id="{1D3BA075-CA25-46AB-8832-7464718604D1}"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16532218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136639653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113936796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47871660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1038" y="1825625"/>
            <a:ext cx="4195762"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5029200" y="1825625"/>
            <a:ext cx="4195763"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61350129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682625" y="2505075"/>
            <a:ext cx="4191000"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4089710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7169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57948215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1918715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49416290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76119078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8513139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Tree>
    <p:extLst>
      <p:ext uri="{BB962C8B-B14F-4D97-AF65-F5344CB8AC3E}">
        <p14:creationId xmlns:p14="http://schemas.microsoft.com/office/powerpoint/2010/main" val="2270098153"/>
      </p:ext>
    </p:extLst>
  </p:cSld>
  <p:clrMap bg1="lt1" tx1="dk1" bg2="lt2" tx2="dk2" accent1="accent1" accent2="accent2" accent3="accent3" accent4="accent4" accent5="accent5" accent6="accent6" hlink="hlink" folHlink="folHlink"/>
  <p:sldLayoutIdLst>
    <p:sldLayoutId id="2147483736" r:id="rId1"/>
    <p:sldLayoutId id="2147483740" r:id="rId2"/>
    <p:sldLayoutId id="2147483737" r:id="rId3"/>
    <p:sldLayoutId id="2147483753" r:id="rId4"/>
    <p:sldLayoutId id="2147483754" r:id="rId5"/>
  </p:sldLayoutIdLst>
  <p:timing>
    <p:tnLst>
      <p:par>
        <p:cTn id="1" dur="indefinite" restart="never" nodeType="tmRoot"/>
      </p:par>
    </p:tnLst>
  </p:timing>
  <p:hf sldNum="0" hdr="0" ftr="0" dt="0"/>
  <p:txStyles>
    <p:titleStyle>
      <a:lvl1pPr algn="ctr" defTabSz="914400" rtl="0" eaLnBrk="1" latinLnBrk="1" hangingPunct="1">
        <a:spcBef>
          <a:spcPct val="0"/>
        </a:spcBef>
        <a:buNone/>
        <a:defRPr sz="4400" kern="1200">
          <a:solidFill>
            <a:schemeClr val="tx1"/>
          </a:solidFill>
          <a:latin typeface="LG스마트체 Regular" panose="020B0600000101010101" pitchFamily="50" charset="-127"/>
          <a:ea typeface="LG스마트체 Regular" panose="020B0600000101010101" pitchFamily="50" charset="-127"/>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LG스마트체 Regular" panose="020B0600000101010101" pitchFamily="50" charset="-127"/>
          <a:ea typeface="LG스마트체 Regular" panose="020B0600000101010101" pitchFamily="50" charset="-127"/>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LG스마트체 Regular" panose="020B0600000101010101" pitchFamily="50" charset="-127"/>
          <a:ea typeface="LG스마트체 Regular" panose="020B0600000101010101" pitchFamily="50" charset="-127"/>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LG스마트체 Regular" panose="020B0600000101010101" pitchFamily="50" charset="-127"/>
          <a:ea typeface="LG스마트체 Regular" panose="020B0600000101010101" pitchFamily="50" charset="-127"/>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LG스마트체 Regular" panose="020B0600000101010101" pitchFamily="50" charset="-127"/>
          <a:ea typeface="LG스마트체 Regular" panose="020B0600000101010101" pitchFamily="50" charset="-127"/>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LG스마트체 Regular" panose="020B0600000101010101" pitchFamily="50" charset="-127"/>
          <a:ea typeface="LG스마트체 Regular" panose="020B0600000101010101" pitchFamily="50"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1BEB4-0766-4F86-8A6A-72EB12F049DF}" type="datetimeFigureOut">
              <a:rPr lang="ko-KR" altLang="en-US" smtClean="0"/>
              <a:t>2024-12-18</a:t>
            </a:fld>
            <a:endParaRPr lang="ko-KR" altLang="en-US"/>
          </a:p>
        </p:txBody>
      </p:sp>
      <p:sp>
        <p:nvSpPr>
          <p:cNvPr id="5" name="바닥글 개체 틀 4"/>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338903014"/>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25449" y="1963316"/>
            <a:ext cx="8502739" cy="584775"/>
          </a:xfrm>
          <a:prstGeom prst="rect">
            <a:avLst/>
          </a:prstGeom>
        </p:spPr>
        <p:txBody>
          <a:bodyPr/>
          <a:lstStyle>
            <a:lvl1pPr algn="ctr" defTabSz="914400" rtl="0" eaLnBrk="1" latinLnBrk="1" hangingPunct="1">
              <a:spcBef>
                <a:spcPct val="0"/>
              </a:spcBef>
              <a:buNone/>
              <a:defRPr sz="4400" kern="1200">
                <a:solidFill>
                  <a:schemeClr val="tx1"/>
                </a:solidFill>
                <a:latin typeface="+mj-lt"/>
                <a:ea typeface="+mj-ea"/>
                <a:cs typeface="+mj-cs"/>
              </a:defRPr>
            </a:lvl1pPr>
          </a:lstStyle>
          <a:p>
            <a:pPr lvl="0" algn="l" fontAlgn="auto">
              <a:spcAft>
                <a:spcPts val="0"/>
              </a:spcAft>
              <a:defRPr/>
            </a:pPr>
            <a:r>
              <a:rPr lang="en-US" altLang="ko-KR" sz="3000" dirty="0">
                <a:solidFill>
                  <a:prstClr val="black">
                    <a:lumMod val="65000"/>
                    <a:lumOff val="35000"/>
                  </a:prstClr>
                </a:solidFill>
                <a:latin typeface="+mn-ea"/>
                <a:ea typeface="+mn-ea"/>
              </a:rPr>
              <a:t>SPA Review Guidelines</a:t>
            </a:r>
            <a:endParaRPr lang="ko-KR" altLang="en-US" sz="3000" dirty="0">
              <a:solidFill>
                <a:prstClr val="black">
                  <a:lumMod val="65000"/>
                  <a:lumOff val="35000"/>
                </a:prstClr>
              </a:solidFill>
              <a:latin typeface="+mn-ea"/>
              <a:ea typeface="+mn-ea"/>
            </a:endParaRPr>
          </a:p>
        </p:txBody>
      </p:sp>
      <p:sp>
        <p:nvSpPr>
          <p:cNvPr id="14" name="내용 개체 틀 3"/>
          <p:cNvSpPr txBox="1">
            <a:spLocks/>
          </p:cNvSpPr>
          <p:nvPr/>
        </p:nvSpPr>
        <p:spPr>
          <a:xfrm>
            <a:off x="1208089" y="6149305"/>
            <a:ext cx="3744912" cy="307777"/>
          </a:xfrm>
          <a:prstGeom prst="rect">
            <a:avLst/>
          </a:prstGeom>
        </p:spPr>
        <p:txBody>
          <a:bodyPr/>
          <a:lst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ct val="20000"/>
              </a:spcBef>
              <a:spcAft>
                <a:spcPts val="0"/>
              </a:spcAft>
              <a:buClrTx/>
              <a:buSzTx/>
              <a:buFont typeface="Arial" panose="020B0604020202020204" pitchFamily="34" charset="0"/>
              <a:buNone/>
              <a:tabLst/>
              <a:defRPr/>
            </a:pPr>
            <a:r>
              <a:rPr lang="ko-KR" altLang="en-US" sz="1400" b="0" dirty="0" smtClean="0">
                <a:solidFill>
                  <a:schemeClr val="tx1">
                    <a:lumMod val="65000"/>
                    <a:lumOff val="35000"/>
                  </a:schemeClr>
                </a:solidFill>
                <a:latin typeface="+mn-ea"/>
              </a:rPr>
              <a:t>법무실</a:t>
            </a:r>
            <a:r>
              <a:rPr kumimoji="0" lang="ko-KR" altLang="en-US" sz="1400" b="0" i="0" u="none" strike="noStrike" kern="1200" cap="none" spc="0" normalizeH="0" baseline="0" noProof="0" dirty="0" smtClean="0">
                <a:ln>
                  <a:noFill/>
                </a:ln>
                <a:solidFill>
                  <a:schemeClr val="tx1">
                    <a:lumMod val="65000"/>
                    <a:lumOff val="35000"/>
                  </a:schemeClr>
                </a:solidFill>
                <a:effectLst/>
                <a:uLnTx/>
                <a:uFillTx/>
                <a:latin typeface="+mn-ea"/>
              </a:rPr>
              <a:t> </a:t>
            </a:r>
            <a:r>
              <a:rPr kumimoji="0" lang="ko-KR" altLang="en-US" sz="1400" b="0" i="0" u="none" strike="noStrike" kern="1200" cap="none" spc="0" normalizeH="0" baseline="0" noProof="0" dirty="0">
                <a:ln>
                  <a:noFill/>
                </a:ln>
                <a:solidFill>
                  <a:schemeClr val="tx1">
                    <a:lumMod val="65000"/>
                    <a:lumOff val="35000"/>
                  </a:schemeClr>
                </a:solidFill>
                <a:effectLst/>
                <a:uLnTx/>
                <a:uFillTx/>
                <a:latin typeface="+mn-ea"/>
              </a:rPr>
              <a:t>｜ </a:t>
            </a:r>
            <a:r>
              <a:rPr kumimoji="0" lang="en-US" altLang="ko-KR" sz="1400" b="0" i="0" u="none" strike="noStrike" kern="1200" cap="none" spc="0" normalizeH="0" baseline="0" noProof="0" dirty="0" smtClean="0">
                <a:ln>
                  <a:noFill/>
                </a:ln>
                <a:solidFill>
                  <a:schemeClr val="tx1">
                    <a:lumMod val="65000"/>
                    <a:lumOff val="35000"/>
                  </a:schemeClr>
                </a:solidFill>
                <a:effectLst/>
                <a:uLnTx/>
                <a:uFillTx/>
                <a:latin typeface="+mn-ea"/>
              </a:rPr>
              <a:t>2024. </a:t>
            </a:r>
            <a:r>
              <a:rPr lang="en-US" altLang="ko-KR" sz="1400" b="0" noProof="0" dirty="0" smtClean="0">
                <a:solidFill>
                  <a:schemeClr val="tx1">
                    <a:lumMod val="65000"/>
                    <a:lumOff val="35000"/>
                  </a:schemeClr>
                </a:solidFill>
                <a:latin typeface="+mn-ea"/>
              </a:rPr>
              <a:t>12.</a:t>
            </a:r>
            <a:endParaRPr kumimoji="0" lang="ko-KR" altLang="en-US" sz="1400" b="0" i="0" u="none" strike="noStrike" kern="1200" cap="none" spc="0" normalizeH="0" baseline="0" noProof="0" dirty="0">
              <a:ln>
                <a:noFill/>
              </a:ln>
              <a:solidFill>
                <a:schemeClr val="tx1">
                  <a:lumMod val="65000"/>
                  <a:lumOff val="35000"/>
                </a:schemeClr>
              </a:solidFill>
              <a:effectLst/>
              <a:uLnTx/>
              <a:uFillTx/>
              <a:latin typeface="+mn-ea"/>
            </a:endParaRPr>
          </a:p>
        </p:txBody>
      </p:sp>
      <p:sp>
        <p:nvSpPr>
          <p:cNvPr id="6" name="TextBox 5"/>
          <p:cNvSpPr txBox="1"/>
          <p:nvPr/>
        </p:nvSpPr>
        <p:spPr>
          <a:xfrm>
            <a:off x="1300164" y="2822404"/>
            <a:ext cx="7369582" cy="600164"/>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defRPr/>
            </a:pPr>
            <a:r>
              <a:rPr lang="ko-KR" altLang="en-US" sz="1400" b="0" dirty="0" smtClean="0">
                <a:solidFill>
                  <a:schemeClr val="tx1">
                    <a:lumMod val="65000"/>
                    <a:lumOff val="35000"/>
                  </a:schemeClr>
                </a:solidFill>
                <a:latin typeface="+mn-ea"/>
                <a:ea typeface="+mn-ea"/>
              </a:rPr>
              <a:t>가이드라인 전제사항</a:t>
            </a:r>
            <a:endParaRPr lang="en-US" altLang="ko-KR" sz="1400" b="0" dirty="0" smtClean="0">
              <a:solidFill>
                <a:schemeClr val="tx1">
                  <a:lumMod val="65000"/>
                  <a:lumOff val="35000"/>
                </a:schemeClr>
              </a:solidFill>
              <a:latin typeface="+mn-ea"/>
              <a:ea typeface="+mn-ea"/>
            </a:endParaRPr>
          </a:p>
          <a:p>
            <a:pPr marL="285750" indent="-285750">
              <a:spcBef>
                <a:spcPts val="300"/>
              </a:spcBef>
              <a:spcAft>
                <a:spcPts val="300"/>
              </a:spcAft>
              <a:buFont typeface="Wingdings" panose="05000000000000000000" pitchFamily="2" charset="2"/>
              <a:buChar char="§"/>
              <a:defRPr/>
            </a:pPr>
            <a:r>
              <a:rPr lang="ko-KR" altLang="en-US" sz="1400" b="0" dirty="0" smtClean="0">
                <a:solidFill>
                  <a:schemeClr val="tx1">
                    <a:lumMod val="65000"/>
                    <a:lumOff val="35000"/>
                  </a:schemeClr>
                </a:solidFill>
                <a:latin typeface="+mn-ea"/>
                <a:ea typeface="+mn-ea"/>
              </a:rPr>
              <a:t>목차</a:t>
            </a:r>
            <a:r>
              <a:rPr lang="en-US" altLang="ko-KR" sz="1400" b="0" dirty="0" smtClean="0">
                <a:solidFill>
                  <a:schemeClr val="tx1">
                    <a:lumMod val="65000"/>
                    <a:lumOff val="35000"/>
                  </a:schemeClr>
                </a:solidFill>
                <a:latin typeface="+mn-ea"/>
                <a:ea typeface="+mn-ea"/>
              </a:rPr>
              <a:t>(I~X)</a:t>
            </a:r>
          </a:p>
        </p:txBody>
      </p:sp>
    </p:spTree>
    <p:extLst>
      <p:ext uri="{BB962C8B-B14F-4D97-AF65-F5344CB8AC3E}">
        <p14:creationId xmlns:p14="http://schemas.microsoft.com/office/powerpoint/2010/main" val="810668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48" name="TextBox 47"/>
          <p:cNvSpPr txBox="1"/>
          <p:nvPr/>
        </p:nvSpPr>
        <p:spPr>
          <a:xfrm>
            <a:off x="636780" y="827170"/>
            <a:ext cx="4556011" cy="5539978"/>
          </a:xfrm>
          <a:prstGeom prst="rect">
            <a:avLst/>
          </a:prstGeom>
          <a:noFill/>
        </p:spPr>
        <p:txBody>
          <a:bodyPr wrap="square" rtlCol="0">
            <a:spAutoFit/>
          </a:bodyPr>
          <a:lstStyle/>
          <a:p>
            <a:pPr marL="322263" lvl="0" indent="-322263" latinLnBrk="0">
              <a:spcBef>
                <a:spcPts val="0"/>
              </a:spcBef>
              <a:spcAft>
                <a:spcPts val="0"/>
              </a:spcAft>
              <a:buFont typeface="Wingdings" panose="05000000000000000000" pitchFamily="2" charset="2"/>
              <a:buChar char="§"/>
              <a:defRPr/>
            </a:pPr>
            <a:r>
              <a:rPr lang="ko-KR" altLang="en-US" dirty="0" smtClean="0">
                <a:solidFill>
                  <a:schemeClr val="tx1"/>
                </a:solidFill>
                <a:latin typeface="+mn-ea"/>
                <a:ea typeface="+mn-ea"/>
              </a:rPr>
              <a:t>가이드라인 전제사항</a:t>
            </a:r>
            <a:endParaRPr lang="en-US" altLang="ko-KR" dirty="0" smtClean="0">
              <a:solidFill>
                <a:schemeClr val="tx1"/>
              </a:solidFill>
              <a:latin typeface="+mn-ea"/>
              <a:ea typeface="+mn-ea"/>
            </a:endParaRPr>
          </a:p>
          <a:p>
            <a:pPr lvl="0" latinLnBrk="0">
              <a:spcBef>
                <a:spcPts val="0"/>
              </a:spcBef>
              <a:spcAft>
                <a:spcPts val="0"/>
              </a:spcAft>
              <a:defRPr/>
            </a:pPr>
            <a:endParaRPr lang="en-US" altLang="ko-KR" b="0" dirty="0" smtClean="0">
              <a:solidFill>
                <a:schemeClr val="tx1"/>
              </a:solidFill>
              <a:latin typeface="+mn-ea"/>
              <a:ea typeface="+mn-ea"/>
            </a:endParaRPr>
          </a:p>
          <a:p>
            <a:pPr marL="322263" indent="-322263" latinLnBrk="0">
              <a:spcBef>
                <a:spcPts val="0"/>
              </a:spcBef>
              <a:spcAft>
                <a:spcPts val="0"/>
              </a:spcAft>
              <a:buAutoNum type="romanUcPeriod"/>
              <a:defRPr/>
            </a:pPr>
            <a:r>
              <a:rPr lang="en-US" altLang="ko-KR" dirty="0">
                <a:solidFill>
                  <a:schemeClr val="tx1"/>
                </a:solidFill>
                <a:latin typeface="+mn-ea"/>
                <a:ea typeface="+mn-ea"/>
              </a:rPr>
              <a:t>Parties </a:t>
            </a:r>
            <a:r>
              <a:rPr lang="ko-KR" altLang="en-US" dirty="0" smtClean="0">
                <a:solidFill>
                  <a:schemeClr val="tx1"/>
                </a:solidFill>
                <a:latin typeface="+mn-ea"/>
                <a:ea typeface="+mn-ea"/>
              </a:rPr>
              <a:t> </a:t>
            </a:r>
            <a:endParaRPr lang="en-US" altLang="ko-KR" dirty="0" smtClean="0">
              <a:solidFill>
                <a:schemeClr val="tx1"/>
              </a:solidFill>
              <a:latin typeface="+mn-ea"/>
              <a:ea typeface="+mn-ea"/>
            </a:endParaRPr>
          </a:p>
          <a:p>
            <a:pPr marL="233363" indent="-233363" latinLnBrk="0">
              <a:spcBef>
                <a:spcPts val="0"/>
              </a:spcBef>
              <a:spcAft>
                <a:spcPts val="0"/>
              </a:spcAft>
              <a:buAutoNum type="romanUcPeriod"/>
              <a:defRPr/>
            </a:pPr>
            <a:endParaRPr lang="ko-KR" altLang="en-US" b="0" dirty="0">
              <a:solidFill>
                <a:schemeClr val="tx1"/>
              </a:solidFill>
              <a:latin typeface="+mn-ea"/>
              <a:ea typeface="+mn-ea"/>
            </a:endParaRPr>
          </a:p>
          <a:p>
            <a:pPr marL="322263" indent="-322263" latinLnBrk="0">
              <a:spcBef>
                <a:spcPts val="0"/>
              </a:spcBef>
              <a:spcAft>
                <a:spcPts val="0"/>
              </a:spcAft>
              <a:buAutoNum type="romanUcPeriod"/>
              <a:defRPr/>
            </a:pPr>
            <a:r>
              <a:rPr lang="en-US" altLang="ko-KR" dirty="0">
                <a:solidFill>
                  <a:schemeClr val="tx1"/>
                </a:solidFill>
                <a:latin typeface="+mn-ea"/>
                <a:ea typeface="+mn-ea"/>
              </a:rPr>
              <a:t>Definitions</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“Escrow Agreement” / “Escrow Amount”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“Indebtedness”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“Liens”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“Material Adverse Effect” (MAE)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“Net Working Capital”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“Ordinary Course of Business” </a:t>
            </a:r>
            <a:endParaRPr lang="en-US" altLang="ko-KR" sz="1100" b="0" dirty="0" smtClean="0">
              <a:solidFill>
                <a:schemeClr val="tx1"/>
              </a:solidFill>
              <a:latin typeface="+mn-ea"/>
              <a:ea typeface="+mn-ea"/>
            </a:endParaRPr>
          </a:p>
          <a:p>
            <a:pPr marL="447675" lvl="1" indent="-228600" latinLnBrk="0">
              <a:spcBef>
                <a:spcPts val="0"/>
              </a:spcBef>
              <a:spcAft>
                <a:spcPts val="0"/>
              </a:spcAft>
              <a:buFont typeface="+mj-lt"/>
              <a:buAutoNum type="arabicPeriod"/>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3"/>
              <a:defRPr/>
            </a:pPr>
            <a:r>
              <a:rPr lang="en-US" altLang="ko-KR" dirty="0">
                <a:solidFill>
                  <a:schemeClr val="tx1"/>
                </a:solidFill>
                <a:latin typeface="+mn-ea"/>
                <a:ea typeface="+mn-ea"/>
              </a:rPr>
              <a:t>Purchase and Sale </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Evidence of Transfer / Closing Payments</a:t>
            </a:r>
          </a:p>
          <a:p>
            <a:pPr marL="447675" lvl="1" indent="-228600" latinLnBrk="0">
              <a:spcBef>
                <a:spcPts val="0"/>
              </a:spcBef>
              <a:spcAft>
                <a:spcPts val="0"/>
              </a:spcAft>
              <a:buFont typeface="+mj-lt"/>
              <a:buAutoNum type="arabicPeriod"/>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4"/>
              <a:defRPr/>
            </a:pPr>
            <a:r>
              <a:rPr lang="en-US" altLang="ko-KR" dirty="0">
                <a:solidFill>
                  <a:schemeClr val="tx1"/>
                </a:solidFill>
                <a:latin typeface="+mn-ea"/>
                <a:ea typeface="+mn-ea"/>
              </a:rPr>
              <a:t>Purchase Price </a:t>
            </a:r>
            <a:r>
              <a:rPr lang="en-US" altLang="ko-KR" dirty="0" smtClean="0">
                <a:solidFill>
                  <a:schemeClr val="tx1"/>
                </a:solidFill>
                <a:latin typeface="+mn-ea"/>
                <a:ea typeface="+mn-ea"/>
              </a:rPr>
              <a:t>Adjustment</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rPr>
              <a:t>Net Asset </a:t>
            </a:r>
            <a:r>
              <a:rPr lang="en-US" altLang="ko-KR" sz="1100" b="0" dirty="0">
                <a:solidFill>
                  <a:schemeClr val="tx1"/>
                </a:solidFill>
                <a:latin typeface="+mn-ea"/>
              </a:rPr>
              <a:t>/ </a:t>
            </a:r>
            <a:r>
              <a:rPr lang="en-US" altLang="ko-KR" sz="1100" b="0" dirty="0" smtClean="0">
                <a:solidFill>
                  <a:schemeClr val="tx1"/>
                </a:solidFill>
                <a:latin typeface="+mn-ea"/>
              </a:rPr>
              <a:t>Net </a:t>
            </a:r>
            <a:r>
              <a:rPr lang="en-US" altLang="ko-KR" sz="1100" b="0" dirty="0">
                <a:solidFill>
                  <a:schemeClr val="tx1"/>
                </a:solidFill>
                <a:latin typeface="+mn-ea"/>
              </a:rPr>
              <a:t>Working </a:t>
            </a:r>
            <a:r>
              <a:rPr lang="en-US" altLang="ko-KR" sz="1100" b="0" dirty="0" smtClean="0">
                <a:solidFill>
                  <a:schemeClr val="tx1"/>
                </a:solidFill>
                <a:latin typeface="+mn-ea"/>
              </a:rPr>
              <a:t>Capital</a:t>
            </a:r>
            <a:endParaRPr lang="en-US" altLang="ko-KR" sz="1100" b="0" dirty="0">
              <a:solidFill>
                <a:schemeClr val="tx1"/>
              </a:solidFill>
              <a:latin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rPr>
              <a:t>Locked Box </a:t>
            </a:r>
            <a:endParaRPr lang="en-US" altLang="ko-KR" sz="1100" b="0" dirty="0" smtClean="0">
              <a:solidFill>
                <a:schemeClr val="tx1"/>
              </a:solidFill>
              <a:latin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rPr>
              <a:t>Limitation</a:t>
            </a:r>
            <a:endParaRPr lang="en-US" altLang="ko-KR" sz="1100" dirty="0" smtClean="0">
              <a:solidFill>
                <a:schemeClr val="tx1"/>
              </a:solidFill>
              <a:latin typeface="+mn-ea"/>
              <a:ea typeface="+mn-ea"/>
            </a:endParaRPr>
          </a:p>
          <a:p>
            <a:pPr marL="285750" lvl="1" indent="-285750" latinLnBrk="0">
              <a:spcBef>
                <a:spcPts val="0"/>
              </a:spcBef>
              <a:spcAft>
                <a:spcPts val="0"/>
              </a:spcAft>
              <a:buFont typeface="+mj-lt"/>
              <a:buAutoNum type="romanUcPeriod" startAt="4"/>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5"/>
              <a:defRPr/>
            </a:pPr>
            <a:r>
              <a:rPr lang="en-US" altLang="ko-KR" dirty="0">
                <a:solidFill>
                  <a:schemeClr val="tx1"/>
                </a:solidFill>
                <a:latin typeface="+mn-ea"/>
                <a:ea typeface="+mn-ea"/>
              </a:rPr>
              <a:t>Representations and Warranties of the Seller</a:t>
            </a:r>
            <a:endParaRPr lang="en-US" altLang="ko-KR"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Fundamental </a:t>
            </a:r>
            <a:r>
              <a:rPr lang="en-US" altLang="ko-KR" sz="1100" b="0" dirty="0">
                <a:solidFill>
                  <a:schemeClr val="tx1"/>
                </a:solidFill>
                <a:latin typeface="+mn-ea"/>
                <a:ea typeface="+mn-ea"/>
              </a:rPr>
              <a:t>Reps / Company Reps </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Disclosure </a:t>
            </a:r>
            <a:r>
              <a:rPr lang="en-US" altLang="ko-KR" sz="1100" b="0" dirty="0" smtClean="0">
                <a:solidFill>
                  <a:schemeClr val="tx1"/>
                </a:solidFill>
                <a:latin typeface="+mn-ea"/>
                <a:ea typeface="+mn-ea"/>
              </a:rPr>
              <a:t>Schedule</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Financial </a:t>
            </a:r>
            <a:r>
              <a:rPr lang="en-US" altLang="ko-KR" sz="1100" b="0" dirty="0" smtClean="0">
                <a:solidFill>
                  <a:schemeClr val="tx1"/>
                </a:solidFill>
                <a:latin typeface="+mn-ea"/>
                <a:ea typeface="+mn-ea"/>
              </a:rPr>
              <a:t>Statement</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Capitalization / </a:t>
            </a:r>
            <a:r>
              <a:rPr lang="en-US" altLang="ko-KR" sz="1100" b="0" dirty="0" smtClean="0">
                <a:solidFill>
                  <a:schemeClr val="tx1"/>
                </a:solidFill>
                <a:latin typeface="+mn-ea"/>
                <a:ea typeface="+mn-ea"/>
              </a:rPr>
              <a:t>Subsidiary</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Consents and Approvals/ No </a:t>
            </a:r>
            <a:r>
              <a:rPr lang="en-US" altLang="ko-KR" sz="1100" b="0" dirty="0" smtClean="0">
                <a:solidFill>
                  <a:schemeClr val="tx1"/>
                </a:solidFill>
                <a:latin typeface="+mn-ea"/>
                <a:ea typeface="+mn-ea"/>
              </a:rPr>
              <a:t>Violation</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No Undisclosed Liabilities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Material </a:t>
            </a:r>
            <a:r>
              <a:rPr lang="en-US" altLang="ko-KR" sz="1100" b="0" dirty="0" smtClean="0">
                <a:solidFill>
                  <a:schemeClr val="tx1"/>
                </a:solidFill>
                <a:latin typeface="+mn-ea"/>
                <a:ea typeface="+mn-ea"/>
              </a:rPr>
              <a:t>Contracts</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Other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Individual Seller  </a:t>
            </a:r>
          </a:p>
        </p:txBody>
      </p:sp>
      <p:sp>
        <p:nvSpPr>
          <p:cNvPr id="21" name="TextBox 20"/>
          <p:cNvSpPr txBox="1"/>
          <p:nvPr/>
        </p:nvSpPr>
        <p:spPr>
          <a:xfrm>
            <a:off x="5396720" y="1204784"/>
            <a:ext cx="4147417" cy="4816703"/>
          </a:xfrm>
          <a:prstGeom prst="rect">
            <a:avLst/>
          </a:prstGeom>
          <a:noFill/>
        </p:spPr>
        <p:txBody>
          <a:bodyPr wrap="square" rtlCol="0">
            <a:spAutoFit/>
          </a:bodyPr>
          <a:lstStyle/>
          <a:p>
            <a:pPr marL="322263" lvl="1" indent="-322263" latinLnBrk="0">
              <a:spcBef>
                <a:spcPts val="0"/>
              </a:spcBef>
              <a:spcAft>
                <a:spcPts val="0"/>
              </a:spcAft>
              <a:buFont typeface="+mj-lt"/>
              <a:buAutoNum type="romanUcPeriod" startAt="6"/>
              <a:defRPr/>
            </a:pPr>
            <a:r>
              <a:rPr lang="en-US" altLang="ko-KR" dirty="0">
                <a:solidFill>
                  <a:schemeClr val="tx1"/>
                </a:solidFill>
                <a:latin typeface="+mn-ea"/>
                <a:ea typeface="+mn-ea"/>
              </a:rPr>
              <a:t>Covenant</a:t>
            </a:r>
            <a:endParaRPr lang="en-US" altLang="ko-KR"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Overview</a:t>
            </a:r>
            <a:r>
              <a:rPr lang="ko-KR" altLang="en-US" sz="1100" b="0" dirty="0" smtClean="0">
                <a:solidFill>
                  <a:schemeClr val="tx1"/>
                </a:solidFill>
                <a:latin typeface="+mn-ea"/>
                <a:ea typeface="+mn-ea"/>
              </a:rPr>
              <a:t> </a:t>
            </a:r>
            <a:endParaRPr lang="en-US" altLang="ko-KR" sz="1100" b="0" dirty="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Ordinary Course of Business</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Governmental Approval</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Transitional Services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endParaRPr lang="en-US" altLang="ko-KR" b="0" dirty="0" smtClean="0">
              <a:solidFill>
                <a:schemeClr val="tx1"/>
              </a:solidFill>
              <a:latin typeface="+mn-ea"/>
              <a:ea typeface="+mn-ea"/>
            </a:endParaRPr>
          </a:p>
          <a:p>
            <a:pPr marL="447675" lvl="1" indent="-228600" latinLnBrk="0">
              <a:spcBef>
                <a:spcPts val="0"/>
              </a:spcBef>
              <a:spcAft>
                <a:spcPts val="0"/>
              </a:spcAft>
              <a:buFont typeface="+mj-lt"/>
              <a:buAutoNum type="arabicPeriod"/>
              <a:defRPr/>
            </a:pPr>
            <a:endParaRPr lang="en-US" altLang="ko-KR" b="0" dirty="0">
              <a:solidFill>
                <a:schemeClr val="tx1"/>
              </a:solidFill>
              <a:latin typeface="+mn-ea"/>
              <a:ea typeface="+mn-ea"/>
            </a:endParaRPr>
          </a:p>
          <a:p>
            <a:pPr marL="322263" lvl="1" indent="-322263" latinLnBrk="0">
              <a:spcBef>
                <a:spcPts val="0"/>
              </a:spcBef>
              <a:spcAft>
                <a:spcPts val="0"/>
              </a:spcAft>
              <a:buFont typeface="+mj-lt"/>
              <a:buAutoNum type="romanUcPeriod" startAt="7"/>
              <a:defRPr/>
            </a:pPr>
            <a:r>
              <a:rPr lang="en-US" altLang="ko-KR" dirty="0">
                <a:solidFill>
                  <a:schemeClr val="tx1"/>
                </a:solidFill>
                <a:latin typeface="+mn-ea"/>
                <a:ea typeface="+mn-ea"/>
              </a:rPr>
              <a:t>Closing Conditions </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Rep bring down CP</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No </a:t>
            </a:r>
            <a:r>
              <a:rPr lang="en-US" altLang="ko-KR" sz="1100" b="0" dirty="0" smtClean="0">
                <a:solidFill>
                  <a:schemeClr val="tx1"/>
                </a:solidFill>
                <a:latin typeface="+mn-ea"/>
                <a:ea typeface="+mn-ea"/>
              </a:rPr>
              <a:t>MAE</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Other</a:t>
            </a:r>
            <a:endParaRPr lang="en-US" altLang="ko-KR" sz="1100" b="0" dirty="0" smtClean="0">
              <a:solidFill>
                <a:schemeClr val="tx1"/>
              </a:solidFill>
              <a:latin typeface="+mn-ea"/>
              <a:ea typeface="+mn-ea"/>
            </a:endParaRPr>
          </a:p>
          <a:p>
            <a:pPr marL="322263" lvl="1" indent="-322263" latinLnBrk="0">
              <a:spcBef>
                <a:spcPts val="0"/>
              </a:spcBef>
              <a:spcAft>
                <a:spcPts val="0"/>
              </a:spcAft>
              <a:buFont typeface="+mj-lt"/>
              <a:buAutoNum type="arabicPeriod"/>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8"/>
              <a:defRPr/>
            </a:pPr>
            <a:r>
              <a:rPr lang="en-US" altLang="ko-KR" dirty="0" smtClean="0">
                <a:solidFill>
                  <a:schemeClr val="tx1"/>
                </a:solidFill>
                <a:latin typeface="+mn-ea"/>
                <a:ea typeface="+mn-ea"/>
              </a:rPr>
              <a:t>Indemnification</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rPr>
              <a:t>Overview</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rPr>
              <a:t>W&amp;I </a:t>
            </a:r>
            <a:r>
              <a:rPr lang="en-US" altLang="ko-KR" sz="1100" b="0" dirty="0" smtClean="0">
                <a:solidFill>
                  <a:schemeClr val="tx1"/>
                </a:solidFill>
                <a:latin typeface="+mn-ea"/>
              </a:rPr>
              <a:t>Insurance</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rPr>
              <a:t>Survival Period </a:t>
            </a:r>
            <a:endParaRPr lang="en-US" altLang="ko-KR" sz="1100" b="0" dirty="0" smtClean="0">
              <a:solidFill>
                <a:schemeClr val="tx1"/>
              </a:solidFill>
              <a:latin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rPr>
              <a:t>Limitation of Liability</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rPr>
              <a:t>Anti-Sandbagging </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No </a:t>
            </a:r>
            <a:r>
              <a:rPr lang="en-US" altLang="ko-KR" sz="1100" b="0" dirty="0">
                <a:solidFill>
                  <a:schemeClr val="tx1"/>
                </a:solidFill>
                <a:latin typeface="+mn-ea"/>
                <a:ea typeface="+mn-ea"/>
              </a:rPr>
              <a:t>Indirect Damage</a:t>
            </a:r>
          </a:p>
          <a:p>
            <a:pPr marL="627063" lvl="1" indent="-261938" latinLnBrk="0">
              <a:spcBef>
                <a:spcPts val="0"/>
              </a:spcBef>
              <a:spcAft>
                <a:spcPts val="0"/>
              </a:spcAft>
              <a:buFont typeface="+mj-lt"/>
              <a:buAutoNum type="arabicPeriod"/>
              <a:defRPr/>
            </a:pPr>
            <a:endParaRPr lang="en-US" altLang="ko-KR" sz="1100" dirty="0" smtClean="0">
              <a:solidFill>
                <a:schemeClr val="tx1"/>
              </a:solidFill>
              <a:latin typeface="+mn-ea"/>
              <a:ea typeface="+mn-ea"/>
            </a:endParaRPr>
          </a:p>
          <a:p>
            <a:pPr marL="285750" lvl="1" indent="-285750" latinLnBrk="0">
              <a:spcBef>
                <a:spcPts val="0"/>
              </a:spcBef>
              <a:spcAft>
                <a:spcPts val="0"/>
              </a:spcAft>
              <a:buFont typeface="+mj-lt"/>
              <a:buAutoNum type="romanUcPeriod" startAt="8"/>
              <a:defRPr/>
            </a:pPr>
            <a:endParaRPr lang="en-US" altLang="ko-KR" b="0" dirty="0">
              <a:solidFill>
                <a:schemeClr val="tx1"/>
              </a:solidFill>
              <a:latin typeface="+mn-ea"/>
              <a:ea typeface="+mn-ea"/>
            </a:endParaRPr>
          </a:p>
          <a:p>
            <a:pPr marL="322263" lvl="1" indent="-322263" latinLnBrk="0">
              <a:spcBef>
                <a:spcPts val="0"/>
              </a:spcBef>
              <a:spcAft>
                <a:spcPts val="0"/>
              </a:spcAft>
              <a:buFont typeface="+mj-lt"/>
              <a:buAutoNum type="romanUcPeriod" startAt="9"/>
              <a:defRPr/>
            </a:pPr>
            <a:r>
              <a:rPr lang="en-US" altLang="ko-KR" dirty="0">
                <a:solidFill>
                  <a:schemeClr val="tx1"/>
                </a:solidFill>
                <a:latin typeface="+mn-ea"/>
                <a:ea typeface="+mn-ea"/>
              </a:rPr>
              <a:t>Termination </a:t>
            </a:r>
          </a:p>
          <a:p>
            <a:pPr marL="447675" lvl="1" indent="-228600" latinLnBrk="0">
              <a:spcBef>
                <a:spcPts val="0"/>
              </a:spcBef>
              <a:spcAft>
                <a:spcPts val="0"/>
              </a:spcAft>
              <a:buFont typeface="+mj-lt"/>
              <a:buAutoNum type="arabicPeriod"/>
              <a:defRPr/>
            </a:pPr>
            <a:endParaRPr lang="en-US" altLang="ko-KR" b="0" dirty="0">
              <a:solidFill>
                <a:schemeClr val="tx1"/>
              </a:solidFill>
              <a:latin typeface="+mn-ea"/>
              <a:ea typeface="+mn-ea"/>
            </a:endParaRPr>
          </a:p>
          <a:p>
            <a:pPr marL="322263" lvl="1" indent="-322263" latinLnBrk="0">
              <a:spcBef>
                <a:spcPts val="0"/>
              </a:spcBef>
              <a:spcAft>
                <a:spcPts val="0"/>
              </a:spcAft>
              <a:buFont typeface="+mj-lt"/>
              <a:buAutoNum type="romanUcPeriod" startAt="10"/>
              <a:defRPr/>
            </a:pPr>
            <a:r>
              <a:rPr lang="en-US" altLang="ko-KR" dirty="0" smtClean="0">
                <a:solidFill>
                  <a:schemeClr val="tx1"/>
                </a:solidFill>
                <a:latin typeface="+mn-ea"/>
                <a:ea typeface="+mn-ea"/>
              </a:rPr>
              <a:t>Others</a:t>
            </a:r>
            <a:r>
              <a:rPr lang="ko-KR" altLang="en-US" dirty="0" smtClean="0">
                <a:solidFill>
                  <a:schemeClr val="tx1"/>
                </a:solidFill>
                <a:latin typeface="+mn-ea"/>
                <a:ea typeface="+mn-ea"/>
              </a:rPr>
              <a:t>  </a:t>
            </a:r>
            <a:endParaRPr lang="en-US" altLang="ko-KR"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Dispute Resolution </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Knowledge</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Representative; Joint Liability </a:t>
            </a:r>
          </a:p>
        </p:txBody>
      </p:sp>
      <p:cxnSp>
        <p:nvCxnSpPr>
          <p:cNvPr id="3" name="직선 연결선 2"/>
          <p:cNvCxnSpPr/>
          <p:nvPr/>
        </p:nvCxnSpPr>
        <p:spPr>
          <a:xfrm>
            <a:off x="5126684" y="1226124"/>
            <a:ext cx="0" cy="505269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ko-KR" altLang="en-US" dirty="0" smtClean="0">
                <a:latin typeface="+mn-ea"/>
              </a:rPr>
              <a:t>목차</a:t>
            </a:r>
            <a:endParaRPr lang="ko-KR" altLang="en-US" dirty="0">
              <a:latin typeface="+mn-ea"/>
            </a:endParaRPr>
          </a:p>
        </p:txBody>
      </p:sp>
    </p:spTree>
    <p:extLst>
      <p:ext uri="{BB962C8B-B14F-4D97-AF65-F5344CB8AC3E}">
        <p14:creationId xmlns:p14="http://schemas.microsoft.com/office/powerpoint/2010/main" val="16799689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ko-KR" altLang="en-US" dirty="0" smtClean="0">
                <a:latin typeface="+mn-ea"/>
              </a:rPr>
              <a:t>가이드라인 전제사항</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48" name="TextBox 47"/>
          <p:cNvSpPr txBox="1"/>
          <p:nvPr/>
        </p:nvSpPr>
        <p:spPr>
          <a:xfrm>
            <a:off x="439739" y="1150995"/>
            <a:ext cx="9188449" cy="4358116"/>
          </a:xfrm>
          <a:prstGeom prst="rect">
            <a:avLst/>
          </a:prstGeom>
          <a:noFill/>
        </p:spPr>
        <p:txBody>
          <a:bodyPr wrap="square" rtlCol="0">
            <a:spAutoFit/>
          </a:bodyPr>
          <a:lstStyle/>
          <a:p>
            <a:pPr marL="268288" lvl="0" indent="-268288" latinLnBrk="0">
              <a:lnSpc>
                <a:spcPct val="110000"/>
              </a:lnSpc>
              <a:spcAft>
                <a:spcPts val="600"/>
              </a:spcAft>
              <a:buFont typeface="Wingdings" panose="05000000000000000000" pitchFamily="2" charset="2"/>
              <a:buChar char="§"/>
            </a:pPr>
            <a:r>
              <a:rPr lang="ko-KR" altLang="en-US" sz="1400" dirty="0" smtClean="0">
                <a:solidFill>
                  <a:schemeClr val="tx1"/>
                </a:solidFill>
                <a:latin typeface="+mn-ea"/>
                <a:ea typeface="+mn-ea"/>
              </a:rPr>
              <a:t>표준 </a:t>
            </a:r>
            <a:r>
              <a:rPr lang="en-US" altLang="ko-KR" sz="1400" dirty="0">
                <a:solidFill>
                  <a:schemeClr val="tx1"/>
                </a:solidFill>
                <a:latin typeface="+mn-ea"/>
                <a:ea typeface="+mn-ea"/>
              </a:rPr>
              <a:t>SPA</a:t>
            </a:r>
            <a:r>
              <a:rPr lang="ko-KR" altLang="en-US" sz="1400" dirty="0">
                <a:solidFill>
                  <a:schemeClr val="tx1"/>
                </a:solidFill>
                <a:latin typeface="+mn-ea"/>
                <a:ea typeface="+mn-ea"/>
              </a:rPr>
              <a:t>의 내용과 이하 가이드라인상의 관련 설명은 다음과 같은 사항을 전제로 </a:t>
            </a:r>
            <a:r>
              <a:rPr lang="ko-KR" altLang="en-US" sz="1400" dirty="0" smtClean="0">
                <a:solidFill>
                  <a:schemeClr val="tx1"/>
                </a:solidFill>
                <a:latin typeface="+mn-ea"/>
                <a:ea typeface="+mn-ea"/>
              </a:rPr>
              <a:t>합니다</a:t>
            </a:r>
            <a:r>
              <a:rPr lang="en-US" altLang="ko-KR" sz="1400" dirty="0">
                <a:solidFill>
                  <a:schemeClr val="tx1"/>
                </a:solidFill>
                <a:latin typeface="+mn-ea"/>
                <a:ea typeface="+mn-ea"/>
              </a:rPr>
              <a:t>.</a:t>
            </a:r>
            <a:endParaRPr lang="ko-KR" altLang="ko-KR" sz="1400" dirty="0" smtClean="0">
              <a:solidFill>
                <a:schemeClr val="tx1"/>
              </a:solidFill>
              <a:latin typeface="+mn-ea"/>
              <a:ea typeface="+mn-ea"/>
            </a:endParaRP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대상회사는 </a:t>
            </a:r>
            <a:r>
              <a:rPr lang="ko-KR" altLang="en-US" b="0" dirty="0">
                <a:solidFill>
                  <a:schemeClr val="tx1"/>
                </a:solidFill>
                <a:latin typeface="+mn-ea"/>
                <a:ea typeface="+mn-ea"/>
              </a:rPr>
              <a:t>비상장회사임</a:t>
            </a:r>
            <a:r>
              <a:rPr lang="en-US" altLang="ko-KR" b="0" dirty="0">
                <a:solidFill>
                  <a:schemeClr val="tx1"/>
                </a:solidFill>
                <a:latin typeface="+mn-ea"/>
                <a:ea typeface="+mn-ea"/>
              </a:rPr>
              <a:t>.</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대상회사의 </a:t>
            </a:r>
            <a:r>
              <a:rPr lang="ko-KR" altLang="en-US" b="0" dirty="0">
                <a:solidFill>
                  <a:schemeClr val="tx1"/>
                </a:solidFill>
                <a:latin typeface="+mn-ea"/>
                <a:ea typeface="+mn-ea"/>
              </a:rPr>
              <a:t>경영권 지분을 인수하는 </a:t>
            </a:r>
            <a:r>
              <a:rPr lang="en-US" altLang="ko-KR" b="0" dirty="0">
                <a:solidFill>
                  <a:schemeClr val="tx1"/>
                </a:solidFill>
                <a:latin typeface="+mn-ea"/>
                <a:ea typeface="+mn-ea"/>
              </a:rPr>
              <a:t>share deal </a:t>
            </a:r>
            <a:r>
              <a:rPr lang="ko-KR" altLang="en-US" b="0" dirty="0">
                <a:solidFill>
                  <a:schemeClr val="tx1"/>
                </a:solidFill>
                <a:latin typeface="+mn-ea"/>
                <a:ea typeface="+mn-ea"/>
              </a:rPr>
              <a:t>구조이며</a:t>
            </a:r>
            <a:r>
              <a:rPr lang="en-US" altLang="ko-KR" b="0" dirty="0">
                <a:solidFill>
                  <a:schemeClr val="tx1"/>
                </a:solidFill>
                <a:latin typeface="+mn-ea"/>
                <a:ea typeface="+mn-ea"/>
              </a:rPr>
              <a:t>, </a:t>
            </a:r>
            <a:r>
              <a:rPr lang="ko-KR" altLang="en-US" b="0" dirty="0">
                <a:solidFill>
                  <a:schemeClr val="tx1"/>
                </a:solidFill>
                <a:latin typeface="+mn-ea"/>
                <a:ea typeface="+mn-ea"/>
              </a:rPr>
              <a:t>법인 간의 </a:t>
            </a:r>
            <a:r>
              <a:rPr lang="en-US" altLang="ko-KR" b="0" dirty="0">
                <a:solidFill>
                  <a:schemeClr val="tx1"/>
                </a:solidFill>
                <a:latin typeface="+mn-ea"/>
                <a:ea typeface="+mn-ea"/>
              </a:rPr>
              <a:t>buy-out </a:t>
            </a:r>
            <a:r>
              <a:rPr lang="ko-KR" altLang="en-US" b="0" dirty="0">
                <a:solidFill>
                  <a:schemeClr val="tx1"/>
                </a:solidFill>
                <a:latin typeface="+mn-ea"/>
                <a:ea typeface="+mn-ea"/>
              </a:rPr>
              <a:t>거래임</a:t>
            </a:r>
            <a:r>
              <a:rPr lang="en-US" altLang="ko-KR" b="0" dirty="0">
                <a:solidFill>
                  <a:schemeClr val="tx1"/>
                </a:solidFill>
                <a:latin typeface="+mn-ea"/>
                <a:ea typeface="+mn-ea"/>
              </a:rPr>
              <a:t>.</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미국 </a:t>
            </a:r>
            <a:r>
              <a:rPr lang="ko-KR" altLang="en-US" b="0" dirty="0">
                <a:solidFill>
                  <a:schemeClr val="tx1"/>
                </a:solidFill>
                <a:latin typeface="+mn-ea"/>
                <a:ea typeface="+mn-ea"/>
              </a:rPr>
              <a:t>또는 그와 유사한 </a:t>
            </a:r>
            <a:r>
              <a:rPr lang="en-US" altLang="ko-KR" b="0" dirty="0">
                <a:solidFill>
                  <a:schemeClr val="tx1"/>
                </a:solidFill>
                <a:latin typeface="+mn-ea"/>
                <a:ea typeface="+mn-ea"/>
              </a:rPr>
              <a:t>M&amp;A practice</a:t>
            </a:r>
            <a:r>
              <a:rPr lang="ko-KR" altLang="en-US" b="0" dirty="0">
                <a:solidFill>
                  <a:schemeClr val="tx1"/>
                </a:solidFill>
                <a:latin typeface="+mn-ea"/>
                <a:ea typeface="+mn-ea"/>
              </a:rPr>
              <a:t>를 가지는 </a:t>
            </a:r>
            <a:r>
              <a:rPr lang="en-US" altLang="ko-KR" b="0" dirty="0">
                <a:solidFill>
                  <a:schemeClr val="tx1"/>
                </a:solidFill>
                <a:latin typeface="+mn-ea"/>
                <a:ea typeface="+mn-ea"/>
              </a:rPr>
              <a:t>jurisdiction</a:t>
            </a:r>
            <a:r>
              <a:rPr lang="ko-KR" altLang="en-US" b="0" dirty="0">
                <a:solidFill>
                  <a:schemeClr val="tx1"/>
                </a:solidFill>
                <a:latin typeface="+mn-ea"/>
                <a:ea typeface="+mn-ea"/>
              </a:rPr>
              <a:t>에서의 거래임 </a:t>
            </a:r>
            <a:r>
              <a:rPr lang="en-US" altLang="ko-KR" b="0" dirty="0">
                <a:solidFill>
                  <a:schemeClr val="tx1"/>
                </a:solidFill>
                <a:latin typeface="+mn-ea"/>
                <a:ea typeface="+mn-ea"/>
              </a:rPr>
              <a:t>(</a:t>
            </a:r>
            <a:r>
              <a:rPr lang="ko-KR" altLang="en-US" b="0" dirty="0">
                <a:solidFill>
                  <a:schemeClr val="tx1"/>
                </a:solidFill>
                <a:latin typeface="+mn-ea"/>
                <a:ea typeface="+mn-ea"/>
              </a:rPr>
              <a:t>표준 주식매매계약서의 </a:t>
            </a:r>
            <a:r>
              <a:rPr lang="ko-KR" altLang="en-US" b="0" dirty="0" smtClean="0">
                <a:solidFill>
                  <a:schemeClr val="tx1"/>
                </a:solidFill>
                <a:latin typeface="+mn-ea"/>
                <a:ea typeface="+mn-ea"/>
              </a:rPr>
              <a:t>준거법은 </a:t>
            </a:r>
            <a:r>
              <a:rPr lang="ko-KR" altLang="en-US" b="0" dirty="0">
                <a:solidFill>
                  <a:schemeClr val="tx1"/>
                </a:solidFill>
                <a:latin typeface="+mn-ea"/>
                <a:ea typeface="+mn-ea"/>
              </a:rPr>
              <a:t>미국 델라웨어 주법으로 되어있음</a:t>
            </a:r>
            <a:r>
              <a:rPr lang="en-US" altLang="ko-KR" b="0" dirty="0">
                <a:solidFill>
                  <a:schemeClr val="tx1"/>
                </a:solidFill>
                <a:latin typeface="+mn-ea"/>
                <a:ea typeface="+mn-ea"/>
              </a:rPr>
              <a:t>)</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주식매매계약 </a:t>
            </a:r>
            <a:r>
              <a:rPr lang="ko-KR" altLang="en-US" b="0" dirty="0">
                <a:solidFill>
                  <a:schemeClr val="tx1"/>
                </a:solidFill>
                <a:latin typeface="+mn-ea"/>
                <a:ea typeface="+mn-ea"/>
              </a:rPr>
              <a:t>체결과 거래종결이 동시에 이루어지지 </a:t>
            </a:r>
            <a:r>
              <a:rPr lang="ko-KR" altLang="en-US" b="0" dirty="0" smtClean="0">
                <a:solidFill>
                  <a:schemeClr val="tx1"/>
                </a:solidFill>
                <a:latin typeface="+mn-ea"/>
                <a:ea typeface="+mn-ea"/>
              </a:rPr>
              <a:t>않는 </a:t>
            </a:r>
            <a:r>
              <a:rPr lang="ko-KR" altLang="en-US" b="0" dirty="0">
                <a:solidFill>
                  <a:schemeClr val="tx1"/>
                </a:solidFill>
                <a:latin typeface="+mn-ea"/>
                <a:ea typeface="+mn-ea"/>
              </a:rPr>
              <a:t>거래임</a:t>
            </a:r>
            <a:r>
              <a:rPr lang="en-US" altLang="ko-KR" b="0" dirty="0">
                <a:solidFill>
                  <a:schemeClr val="tx1"/>
                </a:solidFill>
                <a:latin typeface="+mn-ea"/>
                <a:ea typeface="+mn-ea"/>
              </a:rPr>
              <a:t>. </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매매가격을 </a:t>
            </a:r>
            <a:r>
              <a:rPr lang="ko-KR" altLang="en-US" b="0" dirty="0">
                <a:solidFill>
                  <a:schemeClr val="tx1"/>
                </a:solidFill>
                <a:latin typeface="+mn-ea"/>
                <a:ea typeface="+mn-ea"/>
              </a:rPr>
              <a:t>거래종결 이후 </a:t>
            </a:r>
            <a:r>
              <a:rPr lang="en-US" altLang="ko-KR" b="0" dirty="0" smtClean="0">
                <a:solidFill>
                  <a:schemeClr val="tx1"/>
                </a:solidFill>
                <a:latin typeface="+mn-ea"/>
                <a:ea typeface="+mn-ea"/>
              </a:rPr>
              <a:t>Closing Accounts </a:t>
            </a:r>
            <a:r>
              <a:rPr lang="ko-KR" altLang="en-US" b="0" dirty="0" smtClean="0">
                <a:solidFill>
                  <a:schemeClr val="tx1"/>
                </a:solidFill>
                <a:latin typeface="+mn-ea"/>
                <a:ea typeface="+mn-ea"/>
              </a:rPr>
              <a:t>방식으로 조정하는 </a:t>
            </a:r>
            <a:r>
              <a:rPr lang="ko-KR" altLang="en-US" b="0" dirty="0">
                <a:solidFill>
                  <a:schemeClr val="tx1"/>
                </a:solidFill>
                <a:latin typeface="+mn-ea"/>
                <a:ea typeface="+mn-ea"/>
              </a:rPr>
              <a:t>방식의 거래임 </a:t>
            </a:r>
            <a:r>
              <a:rPr lang="en-US" altLang="ko-KR" b="0" dirty="0">
                <a:solidFill>
                  <a:schemeClr val="tx1"/>
                </a:solidFill>
                <a:latin typeface="+mn-ea"/>
                <a:ea typeface="+mn-ea"/>
              </a:rPr>
              <a:t>(Locked Box </a:t>
            </a:r>
            <a:r>
              <a:rPr lang="ko-KR" altLang="en-US" b="0" dirty="0">
                <a:solidFill>
                  <a:schemeClr val="tx1"/>
                </a:solidFill>
                <a:latin typeface="+mn-ea"/>
                <a:ea typeface="+mn-ea"/>
              </a:rPr>
              <a:t>거래와 관련하여서는 해당 부분에 별도 설명</a:t>
            </a:r>
            <a:r>
              <a:rPr lang="en-US" altLang="ko-KR" b="0" dirty="0">
                <a:solidFill>
                  <a:schemeClr val="tx1"/>
                </a:solidFill>
                <a:latin typeface="+mn-ea"/>
                <a:ea typeface="+mn-ea"/>
              </a:rPr>
              <a:t>).</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진술보장보험에 </a:t>
            </a:r>
            <a:r>
              <a:rPr lang="ko-KR" altLang="en-US" b="0" dirty="0">
                <a:solidFill>
                  <a:schemeClr val="tx1"/>
                </a:solidFill>
                <a:latin typeface="+mn-ea"/>
                <a:ea typeface="+mn-ea"/>
              </a:rPr>
              <a:t>가입하였음 </a:t>
            </a:r>
          </a:p>
          <a:p>
            <a:pPr marL="627063" lvl="1" indent="-268288" latinLnBrk="0">
              <a:lnSpc>
                <a:spcPct val="110000"/>
              </a:lnSpc>
              <a:spcAft>
                <a:spcPts val="600"/>
              </a:spcAft>
              <a:buFont typeface="Wingdings" panose="05000000000000000000" pitchFamily="2" charset="2"/>
              <a:buChar char="ü"/>
            </a:pPr>
            <a:r>
              <a:rPr lang="ko-KR" altLang="en-US" b="0" dirty="0" smtClean="0">
                <a:solidFill>
                  <a:schemeClr val="tx1"/>
                </a:solidFill>
                <a:latin typeface="+mn-ea"/>
                <a:ea typeface="+mn-ea"/>
              </a:rPr>
              <a:t>본 </a:t>
            </a:r>
            <a:r>
              <a:rPr lang="ko-KR" altLang="en-US" b="0" dirty="0">
                <a:solidFill>
                  <a:schemeClr val="tx1"/>
                </a:solidFill>
                <a:latin typeface="+mn-ea"/>
                <a:ea typeface="+mn-ea"/>
              </a:rPr>
              <a:t>표준 </a:t>
            </a:r>
            <a:r>
              <a:rPr lang="en-US" altLang="ko-KR" b="0" dirty="0">
                <a:solidFill>
                  <a:schemeClr val="tx1"/>
                </a:solidFill>
                <a:latin typeface="+mn-ea"/>
                <a:ea typeface="+mn-ea"/>
              </a:rPr>
              <a:t>SPA </a:t>
            </a:r>
            <a:r>
              <a:rPr lang="ko-KR" altLang="en-US" b="0" dirty="0">
                <a:solidFill>
                  <a:schemeClr val="tx1"/>
                </a:solidFill>
                <a:latin typeface="+mn-ea"/>
                <a:ea typeface="+mn-ea"/>
              </a:rPr>
              <a:t>문구는 </a:t>
            </a:r>
            <a:r>
              <a:rPr lang="en-US" altLang="ko-KR" b="0" dirty="0">
                <a:solidFill>
                  <a:schemeClr val="tx1"/>
                </a:solidFill>
                <a:latin typeface="+mn-ea"/>
                <a:ea typeface="+mn-ea"/>
              </a:rPr>
              <a:t>LG H&amp;H</a:t>
            </a:r>
            <a:r>
              <a:rPr lang="ko-KR" altLang="en-US" b="0" dirty="0">
                <a:solidFill>
                  <a:schemeClr val="tx1"/>
                </a:solidFill>
                <a:latin typeface="+mn-ea"/>
                <a:ea typeface="+mn-ea"/>
              </a:rPr>
              <a:t>의 </a:t>
            </a:r>
            <a:r>
              <a:rPr lang="en-US" altLang="ko-KR" b="0" dirty="0">
                <a:solidFill>
                  <a:schemeClr val="tx1"/>
                </a:solidFill>
                <a:latin typeface="+mn-ea"/>
                <a:ea typeface="+mn-ea"/>
              </a:rPr>
              <a:t>precedent </a:t>
            </a:r>
            <a:r>
              <a:rPr lang="en-US" altLang="ko-KR" b="0" dirty="0" smtClean="0">
                <a:solidFill>
                  <a:schemeClr val="tx1"/>
                </a:solidFill>
                <a:latin typeface="+mn-ea"/>
                <a:ea typeface="+mn-ea"/>
              </a:rPr>
              <a:t>SPA </a:t>
            </a:r>
            <a:r>
              <a:rPr lang="ko-KR" altLang="en-US" b="0" dirty="0" smtClean="0">
                <a:solidFill>
                  <a:schemeClr val="tx1"/>
                </a:solidFill>
                <a:latin typeface="+mn-ea"/>
                <a:ea typeface="+mn-ea"/>
              </a:rPr>
              <a:t>사례</a:t>
            </a:r>
            <a:r>
              <a:rPr lang="en-US" altLang="ko-KR" b="0" dirty="0" smtClean="0">
                <a:solidFill>
                  <a:schemeClr val="tx1"/>
                </a:solidFill>
                <a:latin typeface="+mn-ea"/>
                <a:ea typeface="+mn-ea"/>
              </a:rPr>
              <a:t> </a:t>
            </a:r>
            <a:r>
              <a:rPr lang="ko-KR" altLang="en-US" b="0" dirty="0">
                <a:solidFill>
                  <a:schemeClr val="tx1"/>
                </a:solidFill>
                <a:latin typeface="+mn-ea"/>
                <a:ea typeface="+mn-ea"/>
              </a:rPr>
              <a:t>중 </a:t>
            </a:r>
            <a:r>
              <a:rPr lang="en-US" altLang="ko-KR" b="0" dirty="0">
                <a:solidFill>
                  <a:schemeClr val="tx1"/>
                </a:solidFill>
                <a:latin typeface="+mn-ea"/>
                <a:ea typeface="+mn-ea"/>
              </a:rPr>
              <a:t>initial Buyer markup (</a:t>
            </a:r>
            <a:r>
              <a:rPr lang="ko-KR" altLang="en-US" b="0" dirty="0">
                <a:solidFill>
                  <a:schemeClr val="tx1"/>
                </a:solidFill>
                <a:latin typeface="+mn-ea"/>
                <a:ea typeface="+mn-ea"/>
              </a:rPr>
              <a:t>당시 </a:t>
            </a:r>
            <a:r>
              <a:rPr lang="en-US" altLang="ko-KR" b="0" dirty="0">
                <a:solidFill>
                  <a:schemeClr val="tx1"/>
                </a:solidFill>
                <a:latin typeface="+mn-ea"/>
                <a:ea typeface="+mn-ea"/>
              </a:rPr>
              <a:t>bidding </a:t>
            </a:r>
            <a:r>
              <a:rPr lang="ko-KR" altLang="en-US" b="0" dirty="0">
                <a:solidFill>
                  <a:schemeClr val="tx1"/>
                </a:solidFill>
                <a:latin typeface="+mn-ea"/>
                <a:ea typeface="+mn-ea"/>
              </a:rPr>
              <a:t>상황이었기 때문에 아주 </a:t>
            </a:r>
            <a:r>
              <a:rPr lang="en-US" altLang="ko-KR" b="0" dirty="0">
                <a:solidFill>
                  <a:schemeClr val="tx1"/>
                </a:solidFill>
                <a:latin typeface="+mn-ea"/>
                <a:ea typeface="+mn-ea"/>
              </a:rPr>
              <a:t>aggressive</a:t>
            </a:r>
            <a:r>
              <a:rPr lang="ko-KR" altLang="en-US" b="0" dirty="0">
                <a:solidFill>
                  <a:schemeClr val="tx1"/>
                </a:solidFill>
                <a:latin typeface="+mn-ea"/>
                <a:ea typeface="+mn-ea"/>
              </a:rPr>
              <a:t>한 문구</a:t>
            </a:r>
            <a:r>
              <a:rPr lang="en-US" altLang="ko-KR" b="0" dirty="0">
                <a:solidFill>
                  <a:schemeClr val="tx1"/>
                </a:solidFill>
                <a:latin typeface="+mn-ea"/>
                <a:ea typeface="+mn-ea"/>
              </a:rPr>
              <a:t>/</a:t>
            </a:r>
            <a:r>
              <a:rPr lang="ko-KR" altLang="en-US" b="0" dirty="0">
                <a:solidFill>
                  <a:schemeClr val="tx1"/>
                </a:solidFill>
                <a:latin typeface="+mn-ea"/>
                <a:ea typeface="+mn-ea"/>
              </a:rPr>
              <a:t>구조는 아님</a:t>
            </a:r>
            <a:r>
              <a:rPr lang="en-US" altLang="ko-KR" b="0" dirty="0">
                <a:solidFill>
                  <a:schemeClr val="tx1"/>
                </a:solidFill>
                <a:latin typeface="+mn-ea"/>
                <a:ea typeface="+mn-ea"/>
              </a:rPr>
              <a:t>)</a:t>
            </a:r>
            <a:r>
              <a:rPr lang="ko-KR" altLang="en-US" b="0" dirty="0">
                <a:solidFill>
                  <a:schemeClr val="tx1"/>
                </a:solidFill>
                <a:latin typeface="+mn-ea"/>
                <a:ea typeface="+mn-ea"/>
              </a:rPr>
              <a:t>을 기초로 일부 수정하여 작성됨</a:t>
            </a:r>
            <a:r>
              <a:rPr lang="en-US" altLang="ko-KR" b="0" dirty="0">
                <a:solidFill>
                  <a:schemeClr val="tx1"/>
                </a:solidFill>
                <a:latin typeface="+mn-ea"/>
                <a:ea typeface="+mn-ea"/>
              </a:rPr>
              <a:t>. </a:t>
            </a:r>
            <a:r>
              <a:rPr lang="ko-KR" altLang="en-US" b="0" dirty="0">
                <a:solidFill>
                  <a:schemeClr val="tx1"/>
                </a:solidFill>
                <a:latin typeface="+mn-ea"/>
                <a:ea typeface="+mn-ea"/>
              </a:rPr>
              <a:t>전체적으로 </a:t>
            </a:r>
            <a:r>
              <a:rPr lang="en-US" altLang="ko-KR" b="0" dirty="0">
                <a:solidFill>
                  <a:schemeClr val="tx1"/>
                </a:solidFill>
                <a:latin typeface="+mn-ea"/>
                <a:ea typeface="+mn-ea"/>
              </a:rPr>
              <a:t>Buyer-friendly</a:t>
            </a:r>
            <a:r>
              <a:rPr lang="ko-KR" altLang="en-US" b="0" dirty="0">
                <a:solidFill>
                  <a:schemeClr val="tx1"/>
                </a:solidFill>
                <a:latin typeface="+mn-ea"/>
                <a:ea typeface="+mn-ea"/>
              </a:rPr>
              <a:t>한 문구</a:t>
            </a:r>
            <a:r>
              <a:rPr lang="en-US" altLang="ko-KR" b="0" dirty="0">
                <a:solidFill>
                  <a:schemeClr val="tx1"/>
                </a:solidFill>
                <a:latin typeface="+mn-ea"/>
                <a:ea typeface="+mn-ea"/>
              </a:rPr>
              <a:t>/</a:t>
            </a:r>
            <a:r>
              <a:rPr lang="ko-KR" altLang="en-US" b="0" dirty="0">
                <a:solidFill>
                  <a:schemeClr val="tx1"/>
                </a:solidFill>
                <a:latin typeface="+mn-ea"/>
                <a:ea typeface="+mn-ea"/>
              </a:rPr>
              <a:t>구조로 구성하였음</a:t>
            </a:r>
          </a:p>
          <a:p>
            <a:pPr marL="627063" lvl="1" indent="-268288" latinLnBrk="0">
              <a:lnSpc>
                <a:spcPct val="110000"/>
              </a:lnSpc>
              <a:spcAft>
                <a:spcPts val="600"/>
              </a:spcAft>
              <a:buFont typeface="Wingdings" panose="05000000000000000000" pitchFamily="2" charset="2"/>
              <a:buChar char="ü"/>
            </a:pPr>
            <a:endParaRPr lang="ko-KR" altLang="ko-KR" b="0" dirty="0" smtClean="0">
              <a:solidFill>
                <a:schemeClr val="tx1"/>
              </a:solidFill>
              <a:latin typeface="+mn-ea"/>
              <a:ea typeface="+mn-ea"/>
            </a:endParaRPr>
          </a:p>
          <a:p>
            <a:pPr latinLnBrk="0">
              <a:lnSpc>
                <a:spcPct val="110000"/>
              </a:lnSpc>
              <a:spcAft>
                <a:spcPts val="600"/>
              </a:spcAft>
            </a:pPr>
            <a:r>
              <a:rPr lang="en-US" altLang="ko-KR" sz="1400" dirty="0" smtClean="0">
                <a:solidFill>
                  <a:schemeClr val="tx1"/>
                </a:solidFill>
                <a:latin typeface="+mn-ea"/>
                <a:ea typeface="+mn-ea"/>
              </a:rPr>
              <a:t> </a:t>
            </a:r>
          </a:p>
          <a:p>
            <a:pPr latinLnBrk="0">
              <a:lnSpc>
                <a:spcPct val="110000"/>
              </a:lnSpc>
              <a:spcAft>
                <a:spcPts val="600"/>
              </a:spcAft>
            </a:pPr>
            <a:endParaRPr lang="ko-KR" altLang="ko-KR" sz="1400" dirty="0" smtClean="0">
              <a:solidFill>
                <a:schemeClr val="tx1"/>
              </a:solidFill>
              <a:latin typeface="+mn-ea"/>
              <a:ea typeface="+mn-ea"/>
            </a:endParaRPr>
          </a:p>
          <a:p>
            <a:pPr marL="268288" indent="-268288" latinLnBrk="0">
              <a:lnSpc>
                <a:spcPct val="110000"/>
              </a:lnSpc>
              <a:spcAft>
                <a:spcPts val="600"/>
              </a:spcAft>
              <a:buFont typeface="Wingdings" panose="05000000000000000000" pitchFamily="2" charset="2"/>
              <a:buChar char="§"/>
            </a:pPr>
            <a:r>
              <a:rPr lang="ko-KR" altLang="en-US" sz="1400" dirty="0" smtClean="0">
                <a:solidFill>
                  <a:schemeClr val="tx1"/>
                </a:solidFill>
                <a:latin typeface="+mn-ea"/>
                <a:ea typeface="+mn-ea"/>
              </a:rPr>
              <a:t>표준 </a:t>
            </a:r>
            <a:r>
              <a:rPr lang="ko-KR" altLang="en-US" sz="1400" dirty="0">
                <a:solidFill>
                  <a:schemeClr val="tx1"/>
                </a:solidFill>
                <a:latin typeface="+mn-ea"/>
                <a:ea typeface="+mn-ea"/>
              </a:rPr>
              <a:t>주식매매계약서상의 문구는 ‘표준 </a:t>
            </a:r>
            <a:r>
              <a:rPr lang="en-US" altLang="ko-KR" sz="1400" dirty="0">
                <a:solidFill>
                  <a:schemeClr val="tx1"/>
                </a:solidFill>
                <a:latin typeface="+mn-ea"/>
                <a:ea typeface="+mn-ea"/>
              </a:rPr>
              <a:t>SPA </a:t>
            </a:r>
            <a:r>
              <a:rPr lang="ko-KR" altLang="en-US" sz="1400" dirty="0">
                <a:solidFill>
                  <a:schemeClr val="tx1"/>
                </a:solidFill>
                <a:latin typeface="+mn-ea"/>
                <a:ea typeface="+mn-ea"/>
              </a:rPr>
              <a:t>문구</a:t>
            </a:r>
            <a:r>
              <a:rPr lang="ko-KR" altLang="en-US" sz="1400" dirty="0" smtClean="0">
                <a:solidFill>
                  <a:schemeClr val="tx1"/>
                </a:solidFill>
                <a:latin typeface="+mn-ea"/>
                <a:ea typeface="+mn-ea"/>
              </a:rPr>
              <a:t>’ 란에 </a:t>
            </a:r>
            <a:r>
              <a:rPr lang="ko-KR" altLang="en-US" sz="1400" dirty="0">
                <a:solidFill>
                  <a:schemeClr val="tx1"/>
                </a:solidFill>
                <a:latin typeface="+mn-ea"/>
                <a:ea typeface="+mn-ea"/>
              </a:rPr>
              <a:t>기재하였고</a:t>
            </a:r>
            <a:r>
              <a:rPr lang="en-US" altLang="ko-KR" sz="1400" dirty="0">
                <a:solidFill>
                  <a:schemeClr val="tx1"/>
                </a:solidFill>
                <a:latin typeface="+mn-ea"/>
                <a:ea typeface="+mn-ea"/>
              </a:rPr>
              <a:t>, </a:t>
            </a:r>
            <a:r>
              <a:rPr lang="en-US" altLang="ko-KR" sz="1400" dirty="0" smtClean="0">
                <a:solidFill>
                  <a:schemeClr val="tx1"/>
                </a:solidFill>
                <a:latin typeface="+mn-ea"/>
                <a:ea typeface="+mn-ea"/>
              </a:rPr>
              <a:t>Checklist </a:t>
            </a:r>
            <a:r>
              <a:rPr lang="ko-KR" altLang="en-US" sz="1400" dirty="0" smtClean="0">
                <a:solidFill>
                  <a:schemeClr val="tx1"/>
                </a:solidFill>
                <a:latin typeface="+mn-ea"/>
                <a:ea typeface="+mn-ea"/>
              </a:rPr>
              <a:t>란에 </a:t>
            </a:r>
            <a:r>
              <a:rPr lang="ko-KR" altLang="en-US" sz="1400" dirty="0">
                <a:solidFill>
                  <a:schemeClr val="tx1"/>
                </a:solidFill>
                <a:latin typeface="+mn-ea"/>
                <a:ea typeface="+mn-ea"/>
              </a:rPr>
              <a:t>기재되어 있는 내용에 비추어 사용할 수 있는 문구는 ‘추가 </a:t>
            </a:r>
            <a:r>
              <a:rPr lang="en-US" altLang="ko-KR" sz="1400" dirty="0">
                <a:solidFill>
                  <a:schemeClr val="tx1"/>
                </a:solidFill>
                <a:latin typeface="+mn-ea"/>
                <a:ea typeface="+mn-ea"/>
              </a:rPr>
              <a:t>SPA </a:t>
            </a:r>
            <a:r>
              <a:rPr lang="ko-KR" altLang="en-US" sz="1400" dirty="0">
                <a:solidFill>
                  <a:schemeClr val="tx1"/>
                </a:solidFill>
                <a:latin typeface="+mn-ea"/>
                <a:ea typeface="+mn-ea"/>
              </a:rPr>
              <a:t>문구</a:t>
            </a:r>
            <a:r>
              <a:rPr lang="ko-KR" altLang="en-US" sz="1400" dirty="0" smtClean="0">
                <a:solidFill>
                  <a:schemeClr val="tx1"/>
                </a:solidFill>
                <a:latin typeface="+mn-ea"/>
                <a:ea typeface="+mn-ea"/>
              </a:rPr>
              <a:t>’ 란에 </a:t>
            </a:r>
            <a:r>
              <a:rPr lang="ko-KR" altLang="en-US" sz="1400" dirty="0">
                <a:solidFill>
                  <a:schemeClr val="tx1"/>
                </a:solidFill>
                <a:latin typeface="+mn-ea"/>
                <a:ea typeface="+mn-ea"/>
              </a:rPr>
              <a:t>기재하였습니다</a:t>
            </a:r>
            <a:r>
              <a:rPr lang="en-US" altLang="ko-KR" sz="1400" dirty="0">
                <a:solidFill>
                  <a:schemeClr val="tx1"/>
                </a:solidFill>
                <a:latin typeface="+mn-ea"/>
                <a:ea typeface="+mn-ea"/>
              </a:rPr>
              <a:t>.</a:t>
            </a:r>
          </a:p>
        </p:txBody>
      </p:sp>
    </p:spTree>
    <p:extLst>
      <p:ext uri="{BB962C8B-B14F-4D97-AF65-F5344CB8AC3E}">
        <p14:creationId xmlns:p14="http://schemas.microsoft.com/office/powerpoint/2010/main" val="23290306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 Parties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2353629844"/>
              </p:ext>
            </p:extLst>
          </p:nvPr>
        </p:nvGraphicFramePr>
        <p:xfrm>
          <a:off x="455696" y="671513"/>
          <a:ext cx="9188450" cy="2997277"/>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98009">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lvl1pPr>
                        <a:spcBef>
                          <a:spcPct val="20000"/>
                        </a:spcBef>
                        <a:defRPr kumimoji="1" sz="2800">
                          <a:solidFill>
                            <a:schemeClr val="tx1"/>
                          </a:solidFill>
                          <a:latin typeface="굴림" panose="020B0600000101010101" pitchFamily="50" charset="-127"/>
                          <a:ea typeface="굴림" panose="020B0600000101010101" pitchFamily="50" charset="-127"/>
                        </a:defRPr>
                      </a:lvl1pPr>
                      <a:lvl2pPr>
                        <a:spcBef>
                          <a:spcPct val="20000"/>
                        </a:spcBef>
                        <a:defRPr kumimoji="1" sz="2400">
                          <a:solidFill>
                            <a:schemeClr val="tx1"/>
                          </a:solidFill>
                          <a:latin typeface="굴림" panose="020B0600000101010101" pitchFamily="50" charset="-127"/>
                          <a:ea typeface="굴림" panose="020B0600000101010101" pitchFamily="50" charset="-127"/>
                        </a:defRPr>
                      </a:lvl2pPr>
                      <a:lvl3pPr>
                        <a:spcBef>
                          <a:spcPct val="20000"/>
                        </a:spcBef>
                        <a:defRPr kumimoji="1" sz="2000">
                          <a:solidFill>
                            <a:schemeClr val="tx1"/>
                          </a:solidFill>
                          <a:latin typeface="굴림" panose="020B0600000101010101" pitchFamily="50" charset="-127"/>
                          <a:ea typeface="굴림" panose="020B0600000101010101" pitchFamily="50" charset="-127"/>
                        </a:defRPr>
                      </a:lvl3pPr>
                      <a:lvl4pPr>
                        <a:spcBef>
                          <a:spcPct val="20000"/>
                        </a:spcBef>
                        <a:defRPr kumimoji="1">
                          <a:solidFill>
                            <a:schemeClr val="tx1"/>
                          </a:solidFill>
                          <a:latin typeface="굴림" panose="020B0600000101010101" pitchFamily="50" charset="-127"/>
                          <a:ea typeface="굴림" panose="020B0600000101010101" pitchFamily="50" charset="-127"/>
                        </a:defRPr>
                      </a:lvl4pPr>
                      <a:lvl5pPr>
                        <a:spcBef>
                          <a:spcPct val="20000"/>
                        </a:spcBef>
                        <a:defRPr kumimoji="1">
                          <a:solidFill>
                            <a:schemeClr val="tx1"/>
                          </a:solidFill>
                          <a:latin typeface="굴림" panose="020B0600000101010101" pitchFamily="50" charset="-127"/>
                          <a:ea typeface="굴림" panose="020B0600000101010101" pitchFamily="50" charset="-127"/>
                        </a:defRPr>
                      </a:lvl5pPr>
                      <a:lvl6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10000"/>
                        </a:lnSpc>
                        <a:spcBef>
                          <a:spcPct val="0"/>
                        </a:spcBef>
                        <a:spcAft>
                          <a:spcPct val="0"/>
                        </a:spcAft>
                        <a:buClrTx/>
                        <a:buSzTx/>
                        <a:buFont typeface="Wingdings" panose="05000000000000000000" pitchFamily="2" charset="2"/>
                        <a:buNone/>
                        <a:tabLst/>
                        <a:defRPr/>
                      </a:pPr>
                      <a:r>
                        <a:rPr kumimoji="1" lang="ko-KR" altLang="en-US" sz="1000" b="0" i="0" u="none" strike="noStrike" cap="none" normalizeH="0" baseline="0" dirty="0" smtClean="0">
                          <a:ln>
                            <a:noFill/>
                          </a:ln>
                          <a:solidFill>
                            <a:schemeClr val="tx1"/>
                          </a:solidFill>
                          <a:effectLst/>
                          <a:latin typeface="+mn-ea"/>
                          <a:ea typeface="+mn-ea"/>
                        </a:rPr>
                        <a:t>계약명</a:t>
                      </a:r>
                      <a:r>
                        <a:rPr kumimoji="1" lang="en-US" altLang="ko-KR" sz="1000" b="0" i="0" u="none" strike="noStrike" cap="none" normalizeH="0" baseline="0" dirty="0" smtClean="0">
                          <a:ln>
                            <a:noFill/>
                          </a:ln>
                          <a:solidFill>
                            <a:schemeClr val="tx1"/>
                          </a:solidFill>
                          <a:effectLst/>
                          <a:latin typeface="+mn-ea"/>
                          <a:ea typeface="+mn-ea"/>
                        </a:rPr>
                        <a:t>, </a:t>
                      </a:r>
                      <a:r>
                        <a:rPr kumimoji="1" lang="ko-KR" altLang="en-US" sz="1000" b="0" i="0" u="none" strike="noStrike" cap="none" normalizeH="0" baseline="0" dirty="0" smtClean="0">
                          <a:ln>
                            <a:noFill/>
                          </a:ln>
                          <a:solidFill>
                            <a:schemeClr val="tx1"/>
                          </a:solidFill>
                          <a:effectLst/>
                          <a:latin typeface="+mn-ea"/>
                          <a:ea typeface="+mn-ea"/>
                        </a:rPr>
                        <a:t>계약체결일</a:t>
                      </a:r>
                      <a:r>
                        <a:rPr kumimoji="1" lang="en-US" altLang="ko-KR" sz="1000" b="0" i="0" u="none" strike="noStrike" cap="none" normalizeH="0" baseline="0" dirty="0" smtClean="0">
                          <a:ln>
                            <a:noFill/>
                          </a:ln>
                          <a:solidFill>
                            <a:schemeClr val="tx1"/>
                          </a:solidFill>
                          <a:effectLst/>
                          <a:latin typeface="+mn-ea"/>
                          <a:ea typeface="+mn-ea"/>
                        </a:rPr>
                        <a:t>, </a:t>
                      </a:r>
                      <a:r>
                        <a:rPr kumimoji="1" lang="ko-KR" altLang="en-US" sz="1000" b="0" i="0" u="none" strike="noStrike" cap="none" normalizeH="0" baseline="0" dirty="0" smtClean="0">
                          <a:ln>
                            <a:noFill/>
                          </a:ln>
                          <a:solidFill>
                            <a:schemeClr val="tx1"/>
                          </a:solidFill>
                          <a:effectLst/>
                          <a:latin typeface="+mn-ea"/>
                          <a:ea typeface="+mn-ea"/>
                        </a:rPr>
                        <a:t>당사자명</a:t>
                      </a:r>
                      <a:r>
                        <a:rPr kumimoji="1" lang="en-US" altLang="ko-KR" sz="1000" b="0" i="0" u="none" strike="noStrike" cap="none" normalizeH="0" baseline="0" dirty="0" smtClean="0">
                          <a:ln>
                            <a:noFill/>
                          </a:ln>
                          <a:solidFill>
                            <a:schemeClr val="tx1"/>
                          </a:solidFill>
                          <a:effectLst/>
                          <a:latin typeface="+mn-ea"/>
                          <a:ea typeface="+mn-ea"/>
                        </a:rPr>
                        <a:t>, </a:t>
                      </a:r>
                      <a:r>
                        <a:rPr kumimoji="1" lang="ko-KR" altLang="en-US" sz="1000" b="0" i="0" u="none" strike="noStrike" cap="none" normalizeH="0" baseline="0" dirty="0" smtClean="0">
                          <a:ln>
                            <a:noFill/>
                          </a:ln>
                          <a:solidFill>
                            <a:schemeClr val="tx1"/>
                          </a:solidFill>
                          <a:effectLst/>
                          <a:latin typeface="+mn-ea"/>
                          <a:ea typeface="+mn-ea"/>
                        </a:rPr>
                        <a:t>당사자 특정 정보 등을 기재함</a:t>
                      </a: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660003">
                <a:tc>
                  <a:txBody>
                    <a:bodyPr/>
                    <a:lstStyle/>
                    <a:p>
                      <a:pPr algn="ctr"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0" indent="-228600" algn="l" defTabSz="914400" rtl="0" eaLnBrk="1" fontAlgn="base" latinLnBrk="1" hangingPunct="1">
                        <a:lnSpc>
                          <a:spcPct val="110000"/>
                        </a:lnSpc>
                        <a:spcBef>
                          <a:spcPct val="0"/>
                        </a:spcBef>
                        <a:spcAft>
                          <a:spcPct val="0"/>
                        </a:spcAft>
                        <a:buClrTx/>
                        <a:buSzTx/>
                        <a:buFont typeface="+mj-lt"/>
                        <a:buAutoNum type="arabicPeriod"/>
                        <a:tabLst/>
                      </a:pPr>
                      <a:r>
                        <a:rPr kumimoji="1" lang="ko-KR" altLang="ko-KR" sz="1000" b="1" i="0" u="none" strike="noStrike" kern="1200" cap="none" normalizeH="0" baseline="0" dirty="0" smtClean="0">
                          <a:ln>
                            <a:noFill/>
                          </a:ln>
                          <a:solidFill>
                            <a:schemeClr val="tx1"/>
                          </a:solidFill>
                          <a:effectLst/>
                          <a:latin typeface="+mn-ea"/>
                          <a:ea typeface="+mn-ea"/>
                          <a:cs typeface="+mn-cs"/>
                        </a:rPr>
                        <a:t>당사자</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매수인과 대상회사의 주주인 매도인이</a:t>
                      </a:r>
                      <a:r>
                        <a:rPr kumimoji="1" lang="en-US" altLang="ko-KR" sz="1000" b="0" i="0" u="none" strike="noStrike" kern="1200" cap="none" normalizeH="0" baseline="0" dirty="0" smtClean="0">
                          <a:ln>
                            <a:noFill/>
                          </a:ln>
                          <a:solidFill>
                            <a:schemeClr val="tx1"/>
                          </a:solidFill>
                          <a:effectLst/>
                          <a:latin typeface="+mn-ea"/>
                          <a:ea typeface="+mn-ea"/>
                          <a:cs typeface="+mn-cs"/>
                        </a:rPr>
                        <a:t> SPA</a:t>
                      </a:r>
                      <a:r>
                        <a:rPr kumimoji="1" lang="ko-KR" altLang="ko-KR" sz="1000" b="0" i="0" u="none" strike="noStrike" kern="1200" cap="none" normalizeH="0" baseline="0" dirty="0" smtClean="0">
                          <a:ln>
                            <a:noFill/>
                          </a:ln>
                          <a:solidFill>
                            <a:schemeClr val="tx1"/>
                          </a:solidFill>
                          <a:effectLst/>
                          <a:latin typeface="+mn-ea"/>
                          <a:ea typeface="+mn-ea"/>
                          <a:cs typeface="+mn-cs"/>
                        </a:rPr>
                        <a:t>를 체결</a:t>
                      </a:r>
                      <a:r>
                        <a:rPr kumimoji="1" lang="ko-KR" altLang="en-US" sz="1000" b="0" i="0" u="none" strike="noStrike" kern="1200" cap="none" normalizeH="0" baseline="0" dirty="0" smtClean="0">
                          <a:ln>
                            <a:noFill/>
                          </a:ln>
                          <a:solidFill>
                            <a:schemeClr val="tx1"/>
                          </a:solidFill>
                          <a:effectLst/>
                          <a:latin typeface="+mn-ea"/>
                          <a:ea typeface="+mn-ea"/>
                          <a:cs typeface="+mn-cs"/>
                        </a:rPr>
                        <a:t>하</a:t>
                      </a:r>
                      <a:r>
                        <a:rPr kumimoji="1" lang="ko-KR" altLang="ko-KR" sz="1000" b="0" i="0" u="none" strike="noStrike" kern="1200" cap="none" normalizeH="0" baseline="0" dirty="0" smtClean="0">
                          <a:ln>
                            <a:noFill/>
                          </a:ln>
                          <a:solidFill>
                            <a:schemeClr val="tx1"/>
                          </a:solidFill>
                          <a:effectLst/>
                          <a:latin typeface="+mn-ea"/>
                          <a:ea typeface="+mn-ea"/>
                          <a:cs typeface="+mn-cs"/>
                        </a:rPr>
                        <a:t>는 것이 일반적이지만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미국 등 해외에서는 대상회사가 당사자로 참여하는 경우도 있</a:t>
                      </a:r>
                      <a:r>
                        <a:rPr kumimoji="1" lang="ko-KR" altLang="en-US" sz="1000" b="0" i="0" u="none" strike="noStrike" kern="1200" cap="none" normalizeH="0" baseline="0" dirty="0" smtClean="0">
                          <a:ln>
                            <a:noFill/>
                          </a:ln>
                          <a:solidFill>
                            <a:schemeClr val="tx1"/>
                          </a:solidFill>
                          <a:effectLst/>
                          <a:latin typeface="+mn-ea"/>
                          <a:ea typeface="+mn-ea"/>
                          <a:cs typeface="+mn-cs"/>
                        </a:rPr>
                        <a:t>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매수인 입장에서는 대상회사로부터 직접 진술보장을 받을 수 있고</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거래종결이 되지 않았을 때</a:t>
                      </a:r>
                      <a:r>
                        <a:rPr kumimoji="1" lang="en-US" altLang="ko-KR" sz="1000" b="0" i="0" u="none" strike="noStrike" kern="1200" cap="none" normalizeH="0" baseline="0" dirty="0" smtClean="0">
                          <a:ln>
                            <a:noFill/>
                          </a:ln>
                          <a:solidFill>
                            <a:schemeClr val="tx1"/>
                          </a:solidFill>
                          <a:effectLst/>
                          <a:latin typeface="+mn-ea"/>
                          <a:ea typeface="+mn-ea"/>
                          <a:cs typeface="+mn-cs"/>
                        </a:rPr>
                        <a:t> claim</a:t>
                      </a:r>
                      <a:r>
                        <a:rPr kumimoji="1" lang="ko-KR" altLang="ko-KR" sz="1000" b="0" i="0" u="none" strike="noStrike" kern="1200" cap="none" normalizeH="0" baseline="0" dirty="0" smtClean="0">
                          <a:ln>
                            <a:noFill/>
                          </a:ln>
                          <a:solidFill>
                            <a:schemeClr val="tx1"/>
                          </a:solidFill>
                          <a:effectLst/>
                          <a:latin typeface="+mn-ea"/>
                          <a:ea typeface="+mn-ea"/>
                          <a:cs typeface="+mn-cs"/>
                        </a:rPr>
                        <a:t>을 제기할 상대방이 추가된다는 장점이 있으나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이 경우 거래종결 이후에는 본 계약 관련 모든 책임은 매도인이 지는 것으로 계약서에 명확히 하여야 거래종결 후 매수인 지배하에 있게 될 대상회사로부터의 자금유출을 방지할 수 </a:t>
                      </a:r>
                      <a:r>
                        <a:rPr kumimoji="1" lang="ko-KR" altLang="en-US" sz="1000" b="0" i="0" u="none" strike="noStrike" kern="1200" cap="none" normalizeH="0" baseline="0" dirty="0" smtClean="0">
                          <a:ln>
                            <a:noFill/>
                          </a:ln>
                          <a:solidFill>
                            <a:schemeClr val="tx1"/>
                          </a:solidFill>
                          <a:effectLst/>
                          <a:latin typeface="+mn-ea"/>
                          <a:ea typeface="+mn-ea"/>
                          <a:cs typeface="+mn-cs"/>
                        </a:rPr>
                        <a:t>있을 것임</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228600" marR="0" lvl="0" indent="-228600" algn="l" defTabSz="914400" rtl="0" eaLnBrk="1" fontAlgn="base" latinLnBrk="1" hangingPunct="1">
                        <a:lnSpc>
                          <a:spcPct val="110000"/>
                        </a:lnSpc>
                        <a:spcBef>
                          <a:spcPct val="0"/>
                        </a:spcBef>
                        <a:spcAft>
                          <a:spcPct val="0"/>
                        </a:spcAft>
                        <a:buClrTx/>
                        <a:buSzTx/>
                        <a:buFont typeface="+mj-lt"/>
                        <a:buAutoNum type="arabicPeriod"/>
                        <a:tabLst/>
                      </a:pPr>
                      <a:r>
                        <a:rPr kumimoji="1" lang="ko-KR" altLang="ko-KR" sz="1000" b="1" i="0" u="none" strike="noStrike" kern="1200" cap="none" normalizeH="0" baseline="0" dirty="0" smtClean="0">
                          <a:ln>
                            <a:noFill/>
                          </a:ln>
                          <a:solidFill>
                            <a:schemeClr val="tx1"/>
                          </a:solidFill>
                          <a:effectLst/>
                          <a:latin typeface="+mn-ea"/>
                          <a:ea typeface="+mn-ea"/>
                          <a:cs typeface="+mn-cs"/>
                        </a:rPr>
                        <a:t>매도인이 여러 명인 경우</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제</a:t>
                      </a:r>
                      <a:r>
                        <a:rPr kumimoji="1" lang="en-US" altLang="ko-KR" sz="1000" b="0" i="0" u="none" strike="noStrike" kern="1200" cap="none" normalizeH="0" baseline="0" dirty="0" smtClean="0">
                          <a:ln>
                            <a:noFill/>
                          </a:ln>
                          <a:solidFill>
                            <a:schemeClr val="tx1"/>
                          </a:solidFill>
                          <a:effectLst/>
                          <a:latin typeface="+mn-ea"/>
                          <a:ea typeface="+mn-ea"/>
                          <a:cs typeface="+mn-cs"/>
                        </a:rPr>
                        <a:t>11.20</a:t>
                      </a:r>
                      <a:r>
                        <a:rPr kumimoji="1" lang="ko-KR" altLang="ko-KR" sz="1000" b="0" i="0" u="none" strike="noStrike" kern="1200" cap="none" normalizeH="0" baseline="0" dirty="0" smtClean="0">
                          <a:ln>
                            <a:noFill/>
                          </a:ln>
                          <a:solidFill>
                            <a:schemeClr val="tx1"/>
                          </a:solidFill>
                          <a:effectLst/>
                          <a:latin typeface="+mn-ea"/>
                          <a:ea typeface="+mn-ea"/>
                          <a:cs typeface="+mn-cs"/>
                        </a:rPr>
                        <a:t>조 관련 노트 참조</a:t>
                      </a:r>
                      <a:r>
                        <a:rPr kumimoji="1" lang="en-US" altLang="ko-KR" sz="1000" b="0" i="0" u="none" strike="noStrike" kern="1200" cap="none" normalizeH="0" baseline="0" dirty="0" smtClean="0">
                          <a:ln>
                            <a:noFill/>
                          </a:ln>
                          <a:solidFill>
                            <a:schemeClr val="tx1"/>
                          </a:solidFill>
                          <a:effectLst/>
                          <a:latin typeface="+mn-ea"/>
                          <a:ea typeface="+mn-ea"/>
                          <a:cs typeface="+mn-cs"/>
                        </a:rPr>
                        <a:t>. </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839265">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SPA</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lvl1pPr>
                        <a:spcBef>
                          <a:spcPct val="20000"/>
                        </a:spcBef>
                        <a:defRPr kumimoji="1" sz="2800">
                          <a:solidFill>
                            <a:schemeClr val="tx1"/>
                          </a:solidFill>
                          <a:latin typeface="굴림" panose="020B0600000101010101" pitchFamily="50" charset="-127"/>
                          <a:ea typeface="굴림" panose="020B0600000101010101" pitchFamily="50" charset="-127"/>
                        </a:defRPr>
                      </a:lvl1pPr>
                      <a:lvl2pPr>
                        <a:spcBef>
                          <a:spcPct val="20000"/>
                        </a:spcBef>
                        <a:defRPr kumimoji="1" sz="2400">
                          <a:solidFill>
                            <a:schemeClr val="tx1"/>
                          </a:solidFill>
                          <a:latin typeface="굴림" panose="020B0600000101010101" pitchFamily="50" charset="-127"/>
                          <a:ea typeface="굴림" panose="020B0600000101010101" pitchFamily="50" charset="-127"/>
                        </a:defRPr>
                      </a:lvl2pPr>
                      <a:lvl3pPr>
                        <a:spcBef>
                          <a:spcPct val="20000"/>
                        </a:spcBef>
                        <a:defRPr kumimoji="1" sz="2000">
                          <a:solidFill>
                            <a:schemeClr val="tx1"/>
                          </a:solidFill>
                          <a:latin typeface="굴림" panose="020B0600000101010101" pitchFamily="50" charset="-127"/>
                          <a:ea typeface="굴림" panose="020B0600000101010101" pitchFamily="50" charset="-127"/>
                        </a:defRPr>
                      </a:lvl3pPr>
                      <a:lvl4pPr>
                        <a:spcBef>
                          <a:spcPct val="20000"/>
                        </a:spcBef>
                        <a:defRPr kumimoji="1">
                          <a:solidFill>
                            <a:schemeClr val="tx1"/>
                          </a:solidFill>
                          <a:latin typeface="굴림" panose="020B0600000101010101" pitchFamily="50" charset="-127"/>
                          <a:ea typeface="굴림" panose="020B0600000101010101" pitchFamily="50" charset="-127"/>
                        </a:defRPr>
                      </a:lvl4pPr>
                      <a:lvl5pPr>
                        <a:spcBef>
                          <a:spcPct val="20000"/>
                        </a:spcBef>
                        <a:defRPr kumimoji="1">
                          <a:solidFill>
                            <a:schemeClr val="tx1"/>
                          </a:solidFill>
                          <a:latin typeface="굴림" panose="020B0600000101010101" pitchFamily="50" charset="-127"/>
                          <a:ea typeface="굴림" panose="020B0600000101010101" pitchFamily="50" charset="-127"/>
                        </a:defRPr>
                      </a:lvl5pPr>
                      <a:lvl6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10000"/>
                        </a:lnSpc>
                        <a:spcBef>
                          <a:spcPct val="0"/>
                        </a:spcBef>
                        <a:spcAft>
                          <a:spcPct val="0"/>
                        </a:spcAft>
                        <a:buClrTx/>
                        <a:buSzTx/>
                        <a:buFont typeface="Arial" panose="020B0604020202020204" pitchFamily="34" charset="0"/>
                        <a:buNone/>
                        <a:tabLst/>
                      </a:pPr>
                      <a:r>
                        <a:rPr kumimoji="1" lang="en-US" altLang="ko-KR" sz="1000" b="0" i="0" u="none" strike="noStrike" cap="none" normalizeH="0" baseline="0" dirty="0" smtClean="0">
                          <a:ln>
                            <a:noFill/>
                          </a:ln>
                          <a:solidFill>
                            <a:schemeClr val="tx1"/>
                          </a:solidFill>
                          <a:effectLst/>
                          <a:latin typeface="+mn-ea"/>
                          <a:ea typeface="+mn-ea"/>
                        </a:rPr>
                        <a:t>This SHARE PURCHASE AGREEMENT (this “Agreement”), dated as of [•], is entered into by and among [Buyer], a [•] (“Buyer”), and [Seller], a [•] (“Seller”).</a:t>
                      </a: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839511996"/>
                  </a:ext>
                </a:extLst>
              </a:tr>
            </a:tbl>
          </a:graphicData>
        </a:graphic>
      </p:graphicFrame>
    </p:spTree>
    <p:extLst>
      <p:ext uri="{BB962C8B-B14F-4D97-AF65-F5344CB8AC3E}">
        <p14:creationId xmlns:p14="http://schemas.microsoft.com/office/powerpoint/2010/main" val="31447208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II. </a:t>
            </a:r>
            <a:r>
              <a:rPr lang="en-US" altLang="ko-KR" dirty="0">
                <a:latin typeface="+mn-ea"/>
              </a:rPr>
              <a:t>Definitions</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31" name="TextBox 30"/>
          <p:cNvSpPr txBox="1"/>
          <p:nvPr/>
        </p:nvSpPr>
        <p:spPr>
          <a:xfrm>
            <a:off x="277814" y="680478"/>
            <a:ext cx="5553818" cy="276999"/>
          </a:xfrm>
          <a:prstGeom prst="rect">
            <a:avLst/>
          </a:prstGeom>
          <a:noFill/>
        </p:spPr>
        <p:txBody>
          <a:bodyPr wrap="square" rtlCol="0">
            <a:spAutoFit/>
          </a:bodyPr>
          <a:lstStyle/>
          <a:p>
            <a:r>
              <a:rPr lang="en-US" altLang="ko-KR" dirty="0" smtClean="0">
                <a:solidFill>
                  <a:schemeClr val="tx1"/>
                </a:solidFill>
                <a:latin typeface="+mn-ea"/>
                <a:ea typeface="+mn-ea"/>
              </a:rPr>
              <a:t>1. </a:t>
            </a:r>
            <a:r>
              <a:rPr lang="en-US" altLang="ko-KR" dirty="0">
                <a:solidFill>
                  <a:schemeClr val="tx1"/>
                </a:solidFill>
                <a:latin typeface="+mn-ea"/>
                <a:ea typeface="+mn-ea"/>
              </a:rPr>
              <a:t>“Escrow Agreement” / “Escrow Amount” </a:t>
            </a:r>
            <a:endParaRPr lang="ko-KR" altLang="en-US" b="1"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1505163652"/>
              </p:ext>
            </p:extLst>
          </p:nvPr>
        </p:nvGraphicFramePr>
        <p:xfrm>
          <a:off x="439738" y="1038740"/>
          <a:ext cx="9188450" cy="2989735"/>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71940">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매도인에 대한 손해배상책임 등을 담보할 목적으로 매매대금의 일부를 </a:t>
                      </a:r>
                      <a:r>
                        <a:rPr lang="en-US" altLang="ko-KR" sz="1000" dirty="0" smtClean="0">
                          <a:solidFill>
                            <a:schemeClr val="tx1"/>
                          </a:solidFill>
                          <a:effectLst/>
                          <a:latin typeface="+mn-ea"/>
                          <a:ea typeface="+mn-ea"/>
                          <a:cs typeface="Times New Roman" panose="02020603050405020304" pitchFamily="18" charset="0"/>
                        </a:rPr>
                        <a:t>Escrow </a:t>
                      </a:r>
                      <a:r>
                        <a:rPr lang="ko-KR" altLang="en-US" sz="1000" dirty="0" smtClean="0">
                          <a:solidFill>
                            <a:schemeClr val="tx1"/>
                          </a:solidFill>
                          <a:effectLst/>
                          <a:latin typeface="+mn-ea"/>
                          <a:ea typeface="+mn-ea"/>
                          <a:cs typeface="Times New Roman" panose="02020603050405020304" pitchFamily="18" charset="0"/>
                        </a:rPr>
                        <a:t>할 경우</a:t>
                      </a:r>
                      <a:r>
                        <a:rPr lang="en-US" altLang="ko-KR" sz="1000" dirty="0" smtClean="0">
                          <a:solidFill>
                            <a:schemeClr val="tx1"/>
                          </a:solidFill>
                          <a:effectLst/>
                          <a:latin typeface="+mn-ea"/>
                          <a:ea typeface="+mn-ea"/>
                          <a:cs typeface="Times New Roman" panose="02020603050405020304" pitchFamily="18" charset="0"/>
                        </a:rPr>
                        <a:t>, Escrow Agreement</a:t>
                      </a:r>
                      <a:r>
                        <a:rPr lang="ko-KR" altLang="en-US" sz="1000" dirty="0" smtClean="0">
                          <a:solidFill>
                            <a:schemeClr val="tx1"/>
                          </a:solidFill>
                          <a:effectLst/>
                          <a:latin typeface="+mn-ea"/>
                          <a:ea typeface="+mn-ea"/>
                          <a:cs typeface="Times New Roman" panose="02020603050405020304" pitchFamily="18" charset="0"/>
                        </a:rPr>
                        <a:t>에 대한 정의도 필요함</a:t>
                      </a:r>
                      <a:r>
                        <a:rPr lang="en-US" altLang="ko-KR" sz="1000" dirty="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798425">
                <a:tc>
                  <a:txBody>
                    <a:bodyPr/>
                    <a:lstStyle/>
                    <a:p>
                      <a:pPr algn="ctr"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1" hangingPunct="1">
                        <a:lnSpc>
                          <a:spcPct val="110000"/>
                        </a:lnSpc>
                        <a:spcBef>
                          <a:spcPct val="0"/>
                        </a:spcBef>
                        <a:spcAft>
                          <a:spcPct val="0"/>
                        </a:spcAft>
                        <a:buClrTx/>
                        <a:buSzTx/>
                        <a:buFont typeface="+mj-lt"/>
                        <a:buNone/>
                        <a:tabLst/>
                      </a:pPr>
                      <a:r>
                        <a:rPr kumimoji="1" lang="en-US" altLang="ko-KR" sz="1000" b="1" i="0" u="none" strike="noStrike" kern="1200" cap="none" normalizeH="0" baseline="0" dirty="0" smtClean="0">
                          <a:ln>
                            <a:noFill/>
                          </a:ln>
                          <a:solidFill>
                            <a:schemeClr val="tx1"/>
                          </a:solidFill>
                          <a:effectLst/>
                          <a:latin typeface="+mn-ea"/>
                          <a:ea typeface="+mn-ea"/>
                          <a:cs typeface="+mn-cs"/>
                        </a:rPr>
                        <a:t>Escrow Amount</a:t>
                      </a:r>
                      <a:r>
                        <a:rPr kumimoji="1" lang="ko-KR" altLang="en-US" sz="1000" b="1" i="0" u="none" strike="noStrike" kern="1200" cap="none" normalizeH="0" baseline="0" dirty="0" smtClean="0">
                          <a:ln>
                            <a:noFill/>
                          </a:ln>
                          <a:solidFill>
                            <a:schemeClr val="tx1"/>
                          </a:solidFill>
                          <a:effectLst/>
                          <a:latin typeface="+mn-ea"/>
                          <a:ea typeface="+mn-ea"/>
                          <a:cs typeface="+mn-cs"/>
                        </a:rPr>
                        <a:t>는 대개 매매대금에 대한 일정한 비율로 규정하며</a:t>
                      </a:r>
                      <a:r>
                        <a:rPr kumimoji="1" lang="en-US" altLang="ko-KR" sz="1000" b="1" i="0" u="none" strike="noStrike" kern="1200" cap="none" normalizeH="0" baseline="0" dirty="0" smtClean="0">
                          <a:ln>
                            <a:noFill/>
                          </a:ln>
                          <a:solidFill>
                            <a:schemeClr val="tx1"/>
                          </a:solidFill>
                          <a:effectLst/>
                          <a:latin typeface="+mn-ea"/>
                          <a:ea typeface="+mn-ea"/>
                          <a:cs typeface="+mn-cs"/>
                        </a:rPr>
                        <a:t>, </a:t>
                      </a:r>
                      <a:r>
                        <a:rPr kumimoji="1" lang="ko-KR" altLang="en-US" sz="1000" b="1" i="0" u="none" strike="noStrike" kern="1200" cap="none" normalizeH="0" baseline="0" dirty="0" smtClean="0">
                          <a:ln>
                            <a:noFill/>
                          </a:ln>
                          <a:solidFill>
                            <a:schemeClr val="tx1"/>
                          </a:solidFill>
                          <a:effectLst/>
                          <a:latin typeface="+mn-ea"/>
                          <a:ea typeface="+mn-ea"/>
                          <a:cs typeface="+mn-cs"/>
                        </a:rPr>
                        <a:t>당사자들 사이의 협상력 및 대상회사에 발생할 수 있는 손해의 종류나 그 가능성의 정도에 따라 정해지고 있음</a:t>
                      </a:r>
                      <a:r>
                        <a:rPr kumimoji="1" lang="en-US" altLang="ko-KR" sz="1000" b="1" i="0" u="none" strike="noStrike" kern="1200" cap="none" normalizeH="0" baseline="0" dirty="0" smtClean="0">
                          <a:ln>
                            <a:noFill/>
                          </a:ln>
                          <a:solidFill>
                            <a:schemeClr val="tx1"/>
                          </a:solidFill>
                          <a:effectLst/>
                          <a:latin typeface="+mn-ea"/>
                          <a:ea typeface="+mn-ea"/>
                          <a:cs typeface="+mn-cs"/>
                        </a:rPr>
                        <a:t>. </a:t>
                      </a:r>
                      <a:endParaRPr kumimoji="1" lang="ko-KR" sz="1000" b="1" i="0" u="none" strike="noStrike" kern="1200" cap="none" normalizeH="0" baseline="0" dirty="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예를 들어</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실사 등 과정에서 거래종결 이후 대상회사에 발생할 수 있는 것으로 확실시되는 손해</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잠재적인 환경오염에 따른 배상의무 등</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가 존재하는 경우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그 손해배상을 충분히 담보할 수 있는 </a:t>
                      </a:r>
                      <a:r>
                        <a:rPr kumimoji="1" lang="en-US" altLang="ko-KR" sz="1000" b="0" i="0" u="none" strike="noStrike" kern="1200" cap="none" normalizeH="0" baseline="0" dirty="0" smtClean="0">
                          <a:ln>
                            <a:noFill/>
                          </a:ln>
                          <a:solidFill>
                            <a:schemeClr val="tx1"/>
                          </a:solidFill>
                          <a:effectLst/>
                          <a:latin typeface="+mn-ea"/>
                          <a:ea typeface="+mn-ea"/>
                          <a:cs typeface="+mn-cs"/>
                        </a:rPr>
                        <a:t>Escrow Amount</a:t>
                      </a:r>
                      <a:r>
                        <a:rPr kumimoji="1" lang="ko-KR" altLang="en-US" sz="1000" b="0" i="0" u="none" strike="noStrike" kern="1200" cap="none" normalizeH="0" baseline="0" dirty="0" smtClean="0">
                          <a:ln>
                            <a:noFill/>
                          </a:ln>
                          <a:solidFill>
                            <a:schemeClr val="tx1"/>
                          </a:solidFill>
                          <a:effectLst/>
                          <a:latin typeface="+mn-ea"/>
                          <a:ea typeface="+mn-ea"/>
                          <a:cs typeface="+mn-cs"/>
                        </a:rPr>
                        <a:t>를 특정하는 것이 필요함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Escrow Amount</a:t>
                      </a:r>
                      <a:r>
                        <a:rPr kumimoji="1" lang="ko-KR" altLang="en-US" sz="1000" b="0" i="0" u="none" strike="noStrike" kern="1200" cap="none" normalizeH="0" baseline="0" dirty="0" smtClean="0">
                          <a:ln>
                            <a:noFill/>
                          </a:ln>
                          <a:solidFill>
                            <a:schemeClr val="tx1"/>
                          </a:solidFill>
                          <a:effectLst/>
                          <a:latin typeface="+mn-ea"/>
                          <a:ea typeface="+mn-ea"/>
                          <a:cs typeface="+mn-cs"/>
                        </a:rPr>
                        <a:t>는 세부적인 </a:t>
                      </a:r>
                      <a:r>
                        <a:rPr kumimoji="1" lang="en-US" altLang="ko-KR" sz="1000" b="0" i="0" u="none" strike="noStrike" kern="1200" cap="none" normalizeH="0" baseline="0" dirty="0" smtClean="0">
                          <a:ln>
                            <a:noFill/>
                          </a:ln>
                          <a:solidFill>
                            <a:schemeClr val="tx1"/>
                          </a:solidFill>
                          <a:effectLst/>
                          <a:latin typeface="+mn-ea"/>
                          <a:ea typeface="+mn-ea"/>
                          <a:cs typeface="+mn-cs"/>
                        </a:rPr>
                        <a:t>Escrow Account</a:t>
                      </a:r>
                      <a:r>
                        <a:rPr kumimoji="1" lang="ko-KR" altLang="en-US" sz="1000" b="0" i="0" u="none" strike="noStrike" kern="1200" cap="none" normalizeH="0" baseline="0" dirty="0" smtClean="0">
                          <a:ln>
                            <a:noFill/>
                          </a:ln>
                          <a:solidFill>
                            <a:schemeClr val="tx1"/>
                          </a:solidFill>
                          <a:effectLst/>
                          <a:latin typeface="+mn-ea"/>
                          <a:ea typeface="+mn-ea"/>
                          <a:cs typeface="+mn-cs"/>
                        </a:rPr>
                        <a:t>로 각각 분산하여 </a:t>
                      </a:r>
                      <a:r>
                        <a:rPr kumimoji="1" lang="en-US" altLang="ko-KR" sz="1000" b="0" i="0" u="none" strike="noStrike" kern="1200" cap="none" normalizeH="0" baseline="0" dirty="0" smtClean="0">
                          <a:ln>
                            <a:noFill/>
                          </a:ln>
                          <a:solidFill>
                            <a:schemeClr val="tx1"/>
                          </a:solidFill>
                          <a:effectLst/>
                          <a:latin typeface="+mn-ea"/>
                          <a:ea typeface="+mn-ea"/>
                          <a:cs typeface="+mn-cs"/>
                        </a:rPr>
                        <a:t>Escrow</a:t>
                      </a:r>
                      <a:r>
                        <a:rPr kumimoji="1" lang="ko-KR" altLang="en-US" sz="1000" b="0" i="0" u="none" strike="noStrike" kern="1200" cap="none" normalizeH="0" baseline="0" dirty="0" smtClean="0">
                          <a:ln>
                            <a:noFill/>
                          </a:ln>
                          <a:solidFill>
                            <a:schemeClr val="tx1"/>
                          </a:solidFill>
                          <a:effectLst/>
                          <a:latin typeface="+mn-ea"/>
                          <a:ea typeface="+mn-ea"/>
                          <a:cs typeface="+mn-cs"/>
                        </a:rPr>
                        <a:t>하여</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특정 손해나 특정 시점 이후에 일부 </a:t>
                      </a:r>
                      <a:r>
                        <a:rPr kumimoji="1" lang="en-US" altLang="ko-KR" sz="1000" b="0" i="0" u="none" strike="noStrike" kern="1200" cap="none" normalizeH="0" baseline="0" dirty="0" smtClean="0">
                          <a:ln>
                            <a:noFill/>
                          </a:ln>
                          <a:solidFill>
                            <a:schemeClr val="tx1"/>
                          </a:solidFill>
                          <a:effectLst/>
                          <a:latin typeface="+mn-ea"/>
                          <a:ea typeface="+mn-ea"/>
                          <a:cs typeface="+mn-cs"/>
                        </a:rPr>
                        <a:t>Escrow Amount</a:t>
                      </a:r>
                      <a:r>
                        <a:rPr kumimoji="1" lang="ko-KR" altLang="en-US" sz="1000" b="0" i="0" u="none" strike="noStrike" kern="1200" cap="none" normalizeH="0" baseline="0" dirty="0" smtClean="0">
                          <a:ln>
                            <a:noFill/>
                          </a:ln>
                          <a:solidFill>
                            <a:schemeClr val="tx1"/>
                          </a:solidFill>
                          <a:effectLst/>
                          <a:latin typeface="+mn-ea"/>
                          <a:ea typeface="+mn-ea"/>
                          <a:cs typeface="+mn-cs"/>
                        </a:rPr>
                        <a:t>에 대하여 먼저 지급</a:t>
                      </a:r>
                      <a:r>
                        <a:rPr kumimoji="1" lang="en-US" altLang="ko-KR" sz="1000" b="0" i="0" u="none" strike="noStrike" kern="1200" cap="none" normalizeH="0" baseline="0" dirty="0" smtClean="0">
                          <a:ln>
                            <a:noFill/>
                          </a:ln>
                          <a:solidFill>
                            <a:schemeClr val="tx1"/>
                          </a:solidFill>
                          <a:effectLst/>
                          <a:latin typeface="+mn-ea"/>
                          <a:ea typeface="+mn-ea"/>
                          <a:cs typeface="+mn-cs"/>
                        </a:rPr>
                        <a:t>(release)</a:t>
                      </a:r>
                      <a:r>
                        <a:rPr kumimoji="1" lang="ko-KR" altLang="en-US" sz="1000" b="0" i="0" u="none" strike="noStrike" kern="1200" cap="none" normalizeH="0" baseline="0" dirty="0" smtClean="0">
                          <a:ln>
                            <a:noFill/>
                          </a:ln>
                          <a:solidFill>
                            <a:schemeClr val="tx1"/>
                          </a:solidFill>
                          <a:effectLst/>
                          <a:latin typeface="+mn-ea"/>
                          <a:ea typeface="+mn-ea"/>
                          <a:cs typeface="+mn-cs"/>
                        </a:rPr>
                        <a:t>을 하는 방식 등도 고려 가능함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통계에 의하면</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비교적 규모가 작은 거래에서는 매매대금의 약 </a:t>
                      </a:r>
                      <a:r>
                        <a:rPr kumimoji="1" lang="en-US" altLang="ko-KR" sz="1000" b="0" i="0" u="none" strike="noStrike" kern="1200" cap="none" normalizeH="0" baseline="0" dirty="0" smtClean="0">
                          <a:ln>
                            <a:noFill/>
                          </a:ln>
                          <a:solidFill>
                            <a:schemeClr val="tx1"/>
                          </a:solidFill>
                          <a:effectLst/>
                          <a:latin typeface="+mn-ea"/>
                          <a:ea typeface="+mn-ea"/>
                          <a:cs typeface="+mn-cs"/>
                        </a:rPr>
                        <a:t>10 ~ 15%, </a:t>
                      </a:r>
                      <a:r>
                        <a:rPr kumimoji="1" lang="ko-KR" altLang="en-US" sz="1000" b="0" i="0" u="none" strike="noStrike" kern="1200" cap="none" normalizeH="0" baseline="0" dirty="0" smtClean="0">
                          <a:ln>
                            <a:noFill/>
                          </a:ln>
                          <a:solidFill>
                            <a:schemeClr val="tx1"/>
                          </a:solidFill>
                          <a:effectLst/>
                          <a:latin typeface="+mn-ea"/>
                          <a:ea typeface="+mn-ea"/>
                          <a:cs typeface="+mn-cs"/>
                        </a:rPr>
                        <a:t>규모가 큰 거래에서는 매매대금의 약 </a:t>
                      </a:r>
                      <a:r>
                        <a:rPr kumimoji="1" lang="en-US" altLang="ko-KR" sz="1000" b="0" i="0" u="none" strike="noStrike" kern="1200" cap="none" normalizeH="0" baseline="0" dirty="0" smtClean="0">
                          <a:ln>
                            <a:noFill/>
                          </a:ln>
                          <a:solidFill>
                            <a:schemeClr val="tx1"/>
                          </a:solidFill>
                          <a:effectLst/>
                          <a:latin typeface="+mn-ea"/>
                          <a:ea typeface="+mn-ea"/>
                          <a:cs typeface="+mn-cs"/>
                        </a:rPr>
                        <a:t>1 ~ 5% </a:t>
                      </a:r>
                      <a:r>
                        <a:rPr kumimoji="1" lang="ko-KR" altLang="en-US" sz="1000" b="0" i="0" u="none" strike="noStrike" kern="1200" cap="none" normalizeH="0" baseline="0" dirty="0" smtClean="0">
                          <a:ln>
                            <a:noFill/>
                          </a:ln>
                          <a:solidFill>
                            <a:schemeClr val="tx1"/>
                          </a:solidFill>
                          <a:effectLst/>
                          <a:latin typeface="+mn-ea"/>
                          <a:ea typeface="+mn-ea"/>
                          <a:cs typeface="+mn-cs"/>
                        </a:rPr>
                        <a:t>정도로 </a:t>
                      </a:r>
                      <a:r>
                        <a:rPr kumimoji="1" lang="en-US" altLang="ko-KR" sz="1000" b="0" i="0" u="none" strike="noStrike" kern="1200" cap="none" normalizeH="0" baseline="0" dirty="0" smtClean="0">
                          <a:ln>
                            <a:noFill/>
                          </a:ln>
                          <a:solidFill>
                            <a:schemeClr val="tx1"/>
                          </a:solidFill>
                          <a:effectLst/>
                          <a:latin typeface="+mn-ea"/>
                          <a:ea typeface="+mn-ea"/>
                          <a:cs typeface="+mn-cs"/>
                        </a:rPr>
                        <a:t>Escrow Amount</a:t>
                      </a:r>
                      <a:r>
                        <a:rPr kumimoji="1" lang="ko-KR" altLang="en-US" sz="1000" b="0" i="0" u="none" strike="noStrike" kern="1200" cap="none" normalizeH="0" baseline="0" dirty="0" smtClean="0">
                          <a:ln>
                            <a:noFill/>
                          </a:ln>
                          <a:solidFill>
                            <a:schemeClr val="tx1"/>
                          </a:solidFill>
                          <a:effectLst/>
                          <a:latin typeface="+mn-ea"/>
                          <a:ea typeface="+mn-ea"/>
                          <a:cs typeface="+mn-cs"/>
                        </a:rPr>
                        <a:t>를 정하는 것이 통상적인 거래실무로 보임</a:t>
                      </a:r>
                      <a:endParaRPr 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719370">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SPA</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defTabSz="914400" rtl="0" eaLnBrk="1" latinLnBrk="1" hangingPunct="1">
                        <a:lnSpc>
                          <a:spcPct val="110000"/>
                        </a:lnSpc>
                        <a:spcAft>
                          <a:spcPts val="0"/>
                        </a:spcAft>
                        <a:buFont typeface="Wingdings" panose="05000000000000000000" pitchFamily="2" charset="2"/>
                        <a:buNone/>
                      </a:pPr>
                      <a:r>
                        <a:rPr lang="en-US" sz="1000" dirty="0" smtClean="0">
                          <a:solidFill>
                            <a:schemeClr val="tx1"/>
                          </a:solidFill>
                          <a:effectLst/>
                          <a:latin typeface="+mn-ea"/>
                          <a:ea typeface="+mn-ea"/>
                          <a:cs typeface="Times New Roman" panose="02020603050405020304" pitchFamily="18" charset="0"/>
                        </a:rPr>
                        <a:t>N/A</a:t>
                      </a:r>
                      <a:endParaRPr lang="ko-KR" sz="1000"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4716229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II. Definitions</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31" name="TextBox 30"/>
          <p:cNvSpPr txBox="1"/>
          <p:nvPr/>
        </p:nvSpPr>
        <p:spPr>
          <a:xfrm>
            <a:off x="289369" y="678461"/>
            <a:ext cx="5434641" cy="276999"/>
          </a:xfrm>
          <a:prstGeom prst="rect">
            <a:avLst/>
          </a:prstGeom>
          <a:noFill/>
        </p:spPr>
        <p:txBody>
          <a:bodyPr wrap="square" rtlCol="0">
            <a:spAutoFit/>
          </a:bodyPr>
          <a:lstStyle/>
          <a:p>
            <a:r>
              <a:rPr lang="en-US" altLang="ko-KR" dirty="0" smtClean="0">
                <a:solidFill>
                  <a:schemeClr val="tx1"/>
                </a:solidFill>
                <a:latin typeface="+mn-ea"/>
                <a:ea typeface="+mn-ea"/>
              </a:rPr>
              <a:t>2</a:t>
            </a:r>
            <a:r>
              <a:rPr lang="en-US" altLang="ko-KR" dirty="0">
                <a:solidFill>
                  <a:schemeClr val="tx1"/>
                </a:solidFill>
                <a:latin typeface="+mn-ea"/>
                <a:ea typeface="+mn-ea"/>
              </a:rPr>
              <a:t>. “Indebtedness” </a:t>
            </a:r>
            <a:endParaRPr lang="ko-KR" altLang="en-US" b="1" dirty="0">
              <a:solidFill>
                <a:schemeClr val="tx1"/>
              </a:solidFill>
              <a:latin typeface="+mn-ea"/>
              <a:ea typeface="+mn-ea"/>
            </a:endParaRPr>
          </a:p>
        </p:txBody>
      </p:sp>
      <p:graphicFrame>
        <p:nvGraphicFramePr>
          <p:cNvPr id="4" name="표 3"/>
          <p:cNvGraphicFramePr>
            <a:graphicFrameLocks noGrp="1"/>
          </p:cNvGraphicFramePr>
          <p:nvPr>
            <p:extLst>
              <p:ext uri="{D42A27DB-BD31-4B8C-83A1-F6EECF244321}">
                <p14:modId xmlns:p14="http://schemas.microsoft.com/office/powerpoint/2010/main" val="1055031836"/>
              </p:ext>
            </p:extLst>
          </p:nvPr>
        </p:nvGraphicFramePr>
        <p:xfrm>
          <a:off x="439738" y="1035388"/>
          <a:ext cx="9188450" cy="3542687"/>
        </p:xfrm>
        <a:graphic>
          <a:graphicData uri="http://schemas.openxmlformats.org/drawingml/2006/table">
            <a:tbl>
              <a:tblPr firstRow="1" firstCol="1" bandRow="1"/>
              <a:tblGrid>
                <a:gridCol w="853257">
                  <a:extLst>
                    <a:ext uri="{9D8B030D-6E8A-4147-A177-3AD203B41FA5}">
                      <a16:colId xmlns:a16="http://schemas.microsoft.com/office/drawing/2014/main" val="3242067063"/>
                    </a:ext>
                  </a:extLst>
                </a:gridCol>
                <a:gridCol w="8335193">
                  <a:extLst>
                    <a:ext uri="{9D8B030D-6E8A-4147-A177-3AD203B41FA5}">
                      <a16:colId xmlns:a16="http://schemas.microsoft.com/office/drawing/2014/main" val="2486949393"/>
                    </a:ext>
                  </a:extLst>
                </a:gridCol>
              </a:tblGrid>
              <a:tr h="475292">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원칙</a:t>
                      </a:r>
                      <a:r>
                        <a:rPr lang="en-US" sz="1000" b="1" dirty="0">
                          <a:effectLst/>
                          <a:latin typeface="+mn-ea"/>
                          <a:ea typeface="+mn-ea"/>
                          <a:cs typeface="Times New Roman" panose="02020603050405020304" pitchFamily="18" charset="0"/>
                        </a:rPr>
                        <a:t>/</a:t>
                      </a:r>
                      <a:r>
                        <a:rPr lang="ko-KR" sz="1000" b="1" dirty="0">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1" hangingPunct="1">
                        <a:lnSpc>
                          <a:spcPct val="110000"/>
                        </a:lnSpc>
                        <a:spcBef>
                          <a:spcPct val="0"/>
                        </a:spcBef>
                        <a:spcAft>
                          <a:spcPct val="0"/>
                        </a:spcAft>
                        <a:buClrTx/>
                        <a:buSzTx/>
                        <a:buFont typeface="+mj-lt"/>
                        <a:buNone/>
                        <a:tabLst/>
                      </a:pPr>
                      <a:r>
                        <a:rPr kumimoji="1" lang="ko-KR" altLang="en-US" sz="1000" b="0" i="0" u="none" strike="noStrike" kern="1200" cap="none" normalizeH="0" baseline="0" dirty="0" smtClean="0">
                          <a:ln>
                            <a:noFill/>
                          </a:ln>
                          <a:solidFill>
                            <a:schemeClr val="tx1"/>
                          </a:solidFill>
                          <a:effectLst/>
                          <a:latin typeface="+mn-ea"/>
                          <a:ea typeface="+mn-ea"/>
                          <a:cs typeface="+mn-cs"/>
                        </a:rPr>
                        <a:t>매매대금 조정시 전체 </a:t>
                      </a:r>
                      <a:r>
                        <a:rPr kumimoji="1" lang="en-US" altLang="ko-KR" sz="1000" b="0" i="0" u="none" strike="noStrike" kern="1200" cap="none" normalizeH="0" baseline="0" dirty="0" smtClean="0">
                          <a:ln>
                            <a:noFill/>
                          </a:ln>
                          <a:solidFill>
                            <a:schemeClr val="tx1"/>
                          </a:solidFill>
                          <a:effectLst/>
                          <a:latin typeface="+mn-ea"/>
                          <a:ea typeface="+mn-ea"/>
                          <a:cs typeface="+mn-cs"/>
                        </a:rPr>
                        <a:t>Enterprise Value</a:t>
                      </a:r>
                      <a:r>
                        <a:rPr kumimoji="1" lang="ko-KR" altLang="en-US" sz="1000" b="0" i="0" u="none" strike="noStrike" kern="1200" cap="none" normalizeH="0" baseline="0" dirty="0" smtClean="0">
                          <a:ln>
                            <a:noFill/>
                          </a:ln>
                          <a:solidFill>
                            <a:schemeClr val="tx1"/>
                          </a:solidFill>
                          <a:effectLst/>
                          <a:latin typeface="+mn-ea"/>
                          <a:ea typeface="+mn-ea"/>
                          <a:cs typeface="+mn-cs"/>
                        </a:rPr>
                        <a:t>에서 공제되는 부채의 개념으로 쓰임</a:t>
                      </a:r>
                      <a:r>
                        <a:rPr kumimoji="1" lang="en-US" altLang="ko-KR" sz="1000" b="0" i="0" u="none" strike="noStrike" kern="1200" cap="none" normalizeH="0" baseline="0" dirty="0" smtClean="0">
                          <a:ln>
                            <a:noFill/>
                          </a:ln>
                          <a:solidFill>
                            <a:schemeClr val="tx1"/>
                          </a:solidFill>
                          <a:effectLst/>
                          <a:latin typeface="+mn-ea"/>
                          <a:ea typeface="+mn-ea"/>
                          <a:cs typeface="+mn-cs"/>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070993791"/>
                  </a:ext>
                </a:extLst>
              </a:tr>
              <a:tr h="1438740">
                <a:tc>
                  <a:txBody>
                    <a:bodyPr/>
                    <a:lstStyle/>
                    <a:p>
                      <a:pPr algn="ctr" latinLnBrk="1">
                        <a:lnSpc>
                          <a:spcPct val="110000"/>
                        </a:lnSpc>
                        <a:spcAft>
                          <a:spcPts val="0"/>
                        </a:spcAft>
                      </a:pPr>
                      <a:r>
                        <a:rPr lang="en-US" sz="1000" b="1" dirty="0">
                          <a:effectLst/>
                          <a:latin typeface="+mn-ea"/>
                          <a:ea typeface="+mn-ea"/>
                          <a:cs typeface="Times New Roman" panose="02020603050405020304" pitchFamily="18" charset="0"/>
                        </a:rPr>
                        <a:t>Checklist</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endParaRPr kumimoji="1" lang="en-US" altLang="ko-KR" sz="1000" b="1" i="0" u="none" strike="noStrike" kern="1200" cap="none" normalizeH="0" baseline="0" dirty="0" smtClean="0">
                        <a:ln>
                          <a:noFill/>
                        </a:ln>
                        <a:solidFill>
                          <a:schemeClr val="tx1"/>
                        </a:solidFill>
                        <a:effectLst/>
                        <a:latin typeface="+mn-ea"/>
                        <a:ea typeface="+mn-ea"/>
                        <a:cs typeface="+mn-cs"/>
                      </a:endParaRPr>
                    </a:p>
                    <a:p>
                      <a:pPr marL="228600" marR="0" lvl="0" indent="-228600" algn="l" defTabSz="914400" rtl="0" eaLnBrk="1" fontAlgn="auto" latinLnBrk="1" hangingPunct="1">
                        <a:lnSpc>
                          <a:spcPct val="110000"/>
                        </a:lnSpc>
                        <a:spcBef>
                          <a:spcPts val="0"/>
                        </a:spcBef>
                        <a:spcAft>
                          <a:spcPts val="0"/>
                        </a:spcAft>
                        <a:buClrTx/>
                        <a:buSzTx/>
                        <a:buFont typeface="+mj-lt"/>
                        <a:buAutoNum type="arabicPeriod"/>
                        <a:tabLst/>
                        <a:defRPr/>
                      </a:pPr>
                      <a:r>
                        <a:rPr lang="ko-KR" altLang="ko-KR" sz="1000" b="1" dirty="0" smtClean="0">
                          <a:solidFill>
                            <a:schemeClr val="tx1"/>
                          </a:solidFill>
                          <a:effectLst/>
                          <a:latin typeface="+mn-ea"/>
                          <a:ea typeface="+mn-ea"/>
                          <a:cs typeface="Times New Roman" panose="02020603050405020304" pitchFamily="18" charset="0"/>
                        </a:rPr>
                        <a:t>매수인</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본 표준 </a:t>
                      </a:r>
                      <a:r>
                        <a:rPr lang="en-US" altLang="ko-KR" sz="1000" dirty="0" smtClean="0">
                          <a:solidFill>
                            <a:schemeClr val="tx1"/>
                          </a:solidFill>
                          <a:effectLst/>
                          <a:latin typeface="+mn-ea"/>
                          <a:ea typeface="+mn-ea"/>
                          <a:cs typeface="Times New Roman" panose="02020603050405020304" pitchFamily="18" charset="0"/>
                        </a:rPr>
                        <a:t>SPA</a:t>
                      </a:r>
                      <a:r>
                        <a:rPr lang="ko-KR" altLang="en-US" sz="1000" dirty="0" smtClean="0">
                          <a:solidFill>
                            <a:schemeClr val="tx1"/>
                          </a:solidFill>
                          <a:effectLst/>
                          <a:latin typeface="+mn-ea"/>
                          <a:ea typeface="+mn-ea"/>
                          <a:cs typeface="Times New Roman" panose="02020603050405020304" pitchFamily="18" charset="0"/>
                        </a:rPr>
                        <a:t>과 같이 </a:t>
                      </a:r>
                      <a:r>
                        <a:rPr lang="en-US" altLang="ko-KR" sz="1000" dirty="0" smtClean="0">
                          <a:solidFill>
                            <a:schemeClr val="tx1"/>
                          </a:solidFill>
                          <a:effectLst/>
                          <a:latin typeface="+mn-ea"/>
                          <a:ea typeface="+mn-ea"/>
                          <a:cs typeface="Times New Roman" panose="02020603050405020304" pitchFamily="18" charset="0"/>
                        </a:rPr>
                        <a:t>Closing Accounts</a:t>
                      </a:r>
                      <a:r>
                        <a:rPr lang="ko-KR" altLang="en-US" sz="1000" dirty="0" smtClean="0">
                          <a:solidFill>
                            <a:schemeClr val="tx1"/>
                          </a:solidFill>
                          <a:effectLst/>
                          <a:latin typeface="+mn-ea"/>
                          <a:ea typeface="+mn-ea"/>
                          <a:cs typeface="Times New Roman" panose="02020603050405020304" pitchFamily="18" charset="0"/>
                        </a:rPr>
                        <a:t>를 이용해서 매매대금을 조정하는 경우</a:t>
                      </a:r>
                      <a:r>
                        <a:rPr lang="en-US" altLang="ko-KR" sz="1000" dirty="0" smtClean="0">
                          <a:solidFill>
                            <a:schemeClr val="tx1"/>
                          </a:solidFill>
                          <a:effectLst/>
                          <a:latin typeface="+mn-ea"/>
                          <a:ea typeface="+mn-ea"/>
                          <a:cs typeface="Times New Roman" panose="02020603050405020304" pitchFamily="18" charset="0"/>
                        </a:rPr>
                        <a:t>, Indebtedness</a:t>
                      </a:r>
                      <a:r>
                        <a:rPr lang="ko-KR" altLang="en-US" sz="1000" dirty="0" smtClean="0">
                          <a:solidFill>
                            <a:schemeClr val="tx1"/>
                          </a:solidFill>
                          <a:effectLst/>
                          <a:latin typeface="+mn-ea"/>
                          <a:ea typeface="+mn-ea"/>
                          <a:cs typeface="Times New Roman" panose="02020603050405020304" pitchFamily="18" charset="0"/>
                        </a:rPr>
                        <a:t>의 정의가 넓을수록 유리하기 때문에 아래와 같이 넓은 범위의 </a:t>
                      </a:r>
                      <a:r>
                        <a:rPr lang="en-US" altLang="ko-KR" sz="1000" dirty="0" smtClean="0">
                          <a:solidFill>
                            <a:schemeClr val="tx1"/>
                          </a:solidFill>
                          <a:effectLst/>
                          <a:latin typeface="+mn-ea"/>
                          <a:ea typeface="+mn-ea"/>
                          <a:cs typeface="Times New Roman" panose="02020603050405020304" pitchFamily="18" charset="0"/>
                        </a:rPr>
                        <a:t>definition</a:t>
                      </a:r>
                      <a:r>
                        <a:rPr lang="ko-KR" altLang="en-US" sz="1000" dirty="0" smtClean="0">
                          <a:solidFill>
                            <a:schemeClr val="tx1"/>
                          </a:solidFill>
                          <a:effectLst/>
                          <a:latin typeface="+mn-ea"/>
                          <a:ea typeface="+mn-ea"/>
                          <a:cs typeface="Times New Roman" panose="02020603050405020304" pitchFamily="18" charset="0"/>
                        </a:rPr>
                        <a:t>을 고려해볼 수 있을 것임</a:t>
                      </a:r>
                      <a:r>
                        <a:rPr lang="en-US" altLang="ko-KR" sz="1000" dirty="0" smtClean="0">
                          <a:solidFill>
                            <a:schemeClr val="tx1"/>
                          </a:solidFill>
                          <a:effectLst/>
                          <a:latin typeface="+mn-ea"/>
                          <a:ea typeface="+mn-ea"/>
                          <a:cs typeface="Times New Roman" panose="02020603050405020304" pitchFamily="18" charset="0"/>
                        </a:rPr>
                        <a:t>.</a:t>
                      </a:r>
                    </a:p>
                    <a:p>
                      <a:pPr marL="228600" marR="0" lvl="0" indent="-228600" algn="l" defTabSz="914400" rtl="0" eaLnBrk="1" fontAlgn="auto" latinLnBrk="1" hangingPunct="1">
                        <a:lnSpc>
                          <a:spcPct val="110000"/>
                        </a:lnSpc>
                        <a:spcBef>
                          <a:spcPts val="0"/>
                        </a:spcBef>
                        <a:spcAft>
                          <a:spcPts val="0"/>
                        </a:spcAft>
                        <a:buClrTx/>
                        <a:buSzTx/>
                        <a:buFont typeface="+mj-lt"/>
                        <a:buAutoNum type="arabicPeriod"/>
                        <a:tabLst/>
                        <a:defRPr/>
                      </a:pPr>
                      <a:endParaRPr lang="ko-KR" altLang="ko-KR" sz="100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kumimoji="1" lang="ko-KR" sz="1000" b="1" i="0" u="none" strike="noStrike" kern="1200" cap="none" normalizeH="0" baseline="0" dirty="0" smtClean="0">
                          <a:ln>
                            <a:noFill/>
                          </a:ln>
                          <a:solidFill>
                            <a:schemeClr val="tx1"/>
                          </a:solidFill>
                          <a:effectLst/>
                          <a:latin typeface="+mn-ea"/>
                          <a:ea typeface="+mn-ea"/>
                          <a:cs typeface="+mn-cs"/>
                        </a:rPr>
                        <a:t>매도인</a:t>
                      </a:r>
                      <a:r>
                        <a:rPr lang="en-US" sz="1000" dirty="0" smtClean="0">
                          <a:solidFill>
                            <a:schemeClr val="tx1"/>
                          </a:solidFill>
                          <a:effectLst/>
                          <a:latin typeface="+mn-ea"/>
                          <a:ea typeface="+mn-ea"/>
                          <a:cs typeface="Times New Roman" panose="02020603050405020304" pitchFamily="18" charset="0"/>
                        </a:rPr>
                        <a:t>: </a:t>
                      </a:r>
                      <a:r>
                        <a:rPr lang="en-US" altLang="ko-KR" sz="1000" dirty="0" smtClean="0">
                          <a:solidFill>
                            <a:schemeClr val="tx1"/>
                          </a:solidFill>
                          <a:effectLst/>
                          <a:latin typeface="+mn-ea"/>
                          <a:ea typeface="+mn-ea"/>
                          <a:cs typeface="Times New Roman" panose="02020603050405020304" pitchFamily="18" charset="0"/>
                        </a:rPr>
                        <a:t>Indebtedness</a:t>
                      </a:r>
                      <a:r>
                        <a:rPr lang="ko-KR" altLang="en-US" sz="1000" dirty="0" smtClean="0">
                          <a:solidFill>
                            <a:schemeClr val="tx1"/>
                          </a:solidFill>
                          <a:effectLst/>
                          <a:latin typeface="+mn-ea"/>
                          <a:ea typeface="+mn-ea"/>
                          <a:cs typeface="Times New Roman" panose="02020603050405020304" pitchFamily="18" charset="0"/>
                        </a:rPr>
                        <a:t>의 정의가 좁을수록 유리하기 때문에 아래 </a:t>
                      </a:r>
                      <a:r>
                        <a:rPr lang="en-US" altLang="ko-KR" sz="1000" dirty="0" smtClean="0">
                          <a:solidFill>
                            <a:schemeClr val="tx1"/>
                          </a:solidFill>
                          <a:effectLst/>
                          <a:latin typeface="+mn-ea"/>
                          <a:ea typeface="+mn-ea"/>
                          <a:cs typeface="Times New Roman" panose="02020603050405020304" pitchFamily="18" charset="0"/>
                        </a:rPr>
                        <a:t>(g)</a:t>
                      </a:r>
                      <a:r>
                        <a:rPr lang="ko-KR" altLang="en-US" sz="1000" dirty="0" smtClean="0">
                          <a:solidFill>
                            <a:schemeClr val="tx1"/>
                          </a:solidFill>
                          <a:effectLst/>
                          <a:latin typeface="+mn-ea"/>
                          <a:ea typeface="+mn-ea"/>
                          <a:cs typeface="Times New Roman" panose="02020603050405020304" pitchFamily="18" charset="0"/>
                        </a:rPr>
                        <a:t>와 같이 확정되지 않은 항목을 삭제하거나</a:t>
                      </a:r>
                      <a:r>
                        <a:rPr lang="en-US" altLang="ko-KR" sz="1000" dirty="0" smtClean="0">
                          <a:solidFill>
                            <a:schemeClr val="tx1"/>
                          </a:solidFill>
                          <a:effectLst/>
                          <a:latin typeface="+mn-ea"/>
                          <a:ea typeface="+mn-ea"/>
                          <a:cs typeface="Times New Roman" panose="02020603050405020304" pitchFamily="18" charset="0"/>
                        </a:rPr>
                        <a:t>, (d)</a:t>
                      </a:r>
                      <a:r>
                        <a:rPr lang="ko-KR" altLang="en-US" sz="1000" dirty="0" smtClean="0">
                          <a:solidFill>
                            <a:schemeClr val="tx1"/>
                          </a:solidFill>
                          <a:effectLst/>
                          <a:latin typeface="+mn-ea"/>
                          <a:ea typeface="+mn-ea"/>
                          <a:cs typeface="Times New Roman" panose="02020603050405020304" pitchFamily="18" charset="0"/>
                        </a:rPr>
                        <a:t>를 명확하게 다음과 같이 수정하는 것을 요구할 수 있음</a:t>
                      </a:r>
                      <a:r>
                        <a:rPr lang="en-US" altLang="ko-KR" sz="1000" dirty="0" smtClean="0">
                          <a:solidFill>
                            <a:schemeClr val="tx1"/>
                          </a:solidFill>
                          <a:effectLst/>
                          <a:latin typeface="+mn-ea"/>
                          <a:ea typeface="+mn-ea"/>
                          <a:cs typeface="Times New Roman" panose="02020603050405020304" pitchFamily="18" charset="0"/>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a:t>
                      </a:r>
                      <a:r>
                        <a:rPr kumimoji="1" lang="en-US" altLang="ko-KR" sz="1000" b="0" i="0" u="none" strike="noStrike" kern="1200" cap="none" normalizeH="0" baseline="0" dirty="0" smtClean="0">
                          <a:ln>
                            <a:noFill/>
                          </a:ln>
                          <a:solidFill>
                            <a:schemeClr val="tx1"/>
                          </a:solidFill>
                          <a:effectLst/>
                          <a:latin typeface="+mn-ea"/>
                          <a:ea typeface="+mn-ea"/>
                          <a:cs typeface="+mn-cs"/>
                        </a:rPr>
                        <a:t>(d) obligations of such Person as lessee for a lease classified as a capital lease or finance lease in the Financial Statements or in accordance with GAAP”</a:t>
                      </a:r>
                      <a:endParaRPr lang="en-US" altLang="ko-KR" sz="100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lang="en-US" alt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590325436"/>
                  </a:ext>
                </a:extLst>
              </a:tr>
              <a:tr h="1558635">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표준</a:t>
                      </a:r>
                      <a:r>
                        <a:rPr lang="en-US" sz="1000" b="1" dirty="0">
                          <a:effectLst/>
                          <a:latin typeface="+mn-ea"/>
                          <a:ea typeface="+mn-ea"/>
                          <a:cs typeface="Times New Roman" panose="02020603050405020304" pitchFamily="18" charset="0"/>
                        </a:rPr>
                        <a:t> </a:t>
                      </a:r>
                      <a:r>
                        <a:rPr lang="en-US" sz="1000" b="1" dirty="0" smtClean="0">
                          <a:effectLst/>
                          <a:latin typeface="+mn-ea"/>
                          <a:ea typeface="+mn-ea"/>
                          <a:cs typeface="Times New Roman" panose="02020603050405020304" pitchFamily="18" charset="0"/>
                        </a:rPr>
                        <a:t>SPA</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sz="1000" dirty="0" smtClean="0">
                          <a:solidFill>
                            <a:schemeClr val="tx1"/>
                          </a:solidFill>
                          <a:effectLst/>
                          <a:latin typeface="+mn-ea"/>
                          <a:ea typeface="+mn-ea"/>
                          <a:cs typeface="Times New Roman" panose="02020603050405020304" pitchFamily="18" charset="0"/>
                        </a:rPr>
                        <a:t>“Indebtedness” of any Person at any date shall mean, without duplication (a) all indebtedness for borrowed money, including the amount of accrued and unpaid interest on such indebtedness and any fees, prepayment or other penalties payable in connection with the repayment of such indebtedness, (b) all obligations of such Person that are evidenced by a note, bond, debenture or similar instrument, (c) all obligations of such Person in respect of letters of credit or acceptances issued or created for the account of such Person (other than letters of credit and acceptances issued in the Ordinary Course of Business), but only to the extent drawn, (d) capital lease obligations, (f) all interest, fees, penalties and other expenses with respect to the indebtedness referred to above, and (g) all guarantees of any of the foregoing for the benefit of or on behalf of another Person.</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084564819"/>
                  </a:ext>
                </a:extLst>
              </a:tr>
            </a:tbl>
          </a:graphicData>
        </a:graphic>
      </p:graphicFrame>
    </p:spTree>
    <p:extLst>
      <p:ext uri="{BB962C8B-B14F-4D97-AF65-F5344CB8AC3E}">
        <p14:creationId xmlns:p14="http://schemas.microsoft.com/office/powerpoint/2010/main" val="5832736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 Definitions</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smtClean="0">
                <a:latin typeface="+mn-ea"/>
                <a:ea typeface="+mn-ea"/>
              </a:rPr>
              <a:t>3. </a:t>
            </a:r>
            <a:r>
              <a:rPr lang="en-US" altLang="ko-KR" dirty="0">
                <a:latin typeface="+mn-ea"/>
                <a:ea typeface="+mn-ea"/>
              </a:rPr>
              <a:t>“Liens” </a:t>
            </a:r>
            <a:endParaRPr lang="ko-KR" altLang="en-US" dirty="0">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119126489"/>
              </p:ext>
            </p:extLst>
          </p:nvPr>
        </p:nvGraphicFramePr>
        <p:xfrm>
          <a:off x="446540" y="1031875"/>
          <a:ext cx="9182365" cy="2397125"/>
        </p:xfrm>
        <a:graphic>
          <a:graphicData uri="http://schemas.openxmlformats.org/drawingml/2006/table">
            <a:tbl>
              <a:tblPr firstRow="1" firstCol="1" bandRow="1"/>
              <a:tblGrid>
                <a:gridCol w="852691">
                  <a:extLst>
                    <a:ext uri="{9D8B030D-6E8A-4147-A177-3AD203B41FA5}">
                      <a16:colId xmlns:a16="http://schemas.microsoft.com/office/drawing/2014/main" val="3235294585"/>
                    </a:ext>
                  </a:extLst>
                </a:gridCol>
                <a:gridCol w="8329674">
                  <a:extLst>
                    <a:ext uri="{9D8B030D-6E8A-4147-A177-3AD203B41FA5}">
                      <a16:colId xmlns:a16="http://schemas.microsoft.com/office/drawing/2014/main" val="4175779365"/>
                    </a:ext>
                  </a:extLst>
                </a:gridCol>
              </a:tblGrid>
              <a:tr h="598700">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원칙</a:t>
                      </a:r>
                      <a:r>
                        <a:rPr lang="en-US" sz="1000" b="1" dirty="0">
                          <a:effectLst/>
                          <a:latin typeface="+mn-ea"/>
                          <a:ea typeface="+mn-ea"/>
                          <a:cs typeface="Times New Roman" panose="02020603050405020304" pitchFamily="18" charset="0"/>
                        </a:rPr>
                        <a:t>/</a:t>
                      </a:r>
                      <a:r>
                        <a:rPr lang="ko-KR" sz="1000" b="1" dirty="0">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매매대상인 대상주식 및 대상회사의 자산의 소유</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사용 등에 있어 각종 제한이 없다는 점을 매수인에게 진술보장해주는 기능을 함</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86994568"/>
                  </a:ext>
                </a:extLst>
              </a:tr>
              <a:tr h="839265">
                <a:tc>
                  <a:txBody>
                    <a:bodyPr/>
                    <a:lstStyle/>
                    <a:p>
                      <a:pPr algn="ctr" latinLnBrk="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altLang="en-US" sz="1000" b="1" dirty="0" smtClean="0">
                          <a:effectLst/>
                          <a:latin typeface="+mn-ea"/>
                          <a:ea typeface="+mn-ea"/>
                          <a:cs typeface="Times New Roman" panose="02020603050405020304" pitchFamily="18" charset="0"/>
                        </a:rPr>
                        <a:t>매도인</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담보물권</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용익물권과 같이 등기부등본 등을 통해 확인 가능한 법률상 제한</a:t>
                      </a:r>
                      <a:r>
                        <a:rPr lang="en-US" altLang="ko-KR" sz="1000" b="0" dirty="0" smtClean="0">
                          <a:effectLst/>
                          <a:latin typeface="+mn-ea"/>
                          <a:ea typeface="+mn-ea"/>
                          <a:cs typeface="Times New Roman" panose="02020603050405020304" pitchFamily="18" charset="0"/>
                        </a:rPr>
                        <a:t>/</a:t>
                      </a:r>
                      <a:r>
                        <a:rPr lang="ko-KR" altLang="en-US" sz="1000" b="0" dirty="0" smtClean="0">
                          <a:effectLst/>
                          <a:latin typeface="+mn-ea"/>
                          <a:ea typeface="+mn-ea"/>
                          <a:cs typeface="Times New Roman" panose="02020603050405020304" pitchFamily="18" charset="0"/>
                        </a:rPr>
                        <a:t>제약으로 한정시키고자 함</a:t>
                      </a:r>
                      <a:endParaRPr lang="en-US" altLang="ko-KR" sz="1000" b="0"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lang="ko-KR" altLang="en-US" sz="1000" b="1"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altLang="en-US" sz="1000" b="1" dirty="0" smtClean="0">
                          <a:effectLst/>
                          <a:latin typeface="+mn-ea"/>
                          <a:ea typeface="+mn-ea"/>
                          <a:cs typeface="Times New Roman" panose="02020603050405020304" pitchFamily="18" charset="0"/>
                        </a:rPr>
                        <a:t>매수인</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각종 법률상 제한</a:t>
                      </a:r>
                      <a:r>
                        <a:rPr lang="en-US" altLang="ko-KR" sz="1000" b="0" dirty="0" smtClean="0">
                          <a:effectLst/>
                          <a:latin typeface="+mn-ea"/>
                          <a:ea typeface="+mn-ea"/>
                          <a:cs typeface="Times New Roman" panose="02020603050405020304" pitchFamily="18" charset="0"/>
                        </a:rPr>
                        <a:t>/</a:t>
                      </a:r>
                      <a:r>
                        <a:rPr lang="ko-KR" altLang="en-US" sz="1000" b="0" dirty="0" smtClean="0">
                          <a:effectLst/>
                          <a:latin typeface="+mn-ea"/>
                          <a:ea typeface="+mn-ea"/>
                          <a:cs typeface="Times New Roman" panose="02020603050405020304" pitchFamily="18" charset="0"/>
                        </a:rPr>
                        <a:t>제약은 물론</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계약상 제한</a:t>
                      </a:r>
                      <a:r>
                        <a:rPr lang="en-US" altLang="ko-KR" sz="1000" b="0" dirty="0" smtClean="0">
                          <a:effectLst/>
                          <a:latin typeface="+mn-ea"/>
                          <a:ea typeface="+mn-ea"/>
                          <a:cs typeface="Times New Roman" panose="02020603050405020304" pitchFamily="18" charset="0"/>
                        </a:rPr>
                        <a:t>/</a:t>
                      </a:r>
                      <a:r>
                        <a:rPr lang="ko-KR" altLang="en-US" sz="1000" b="0" dirty="0" smtClean="0">
                          <a:effectLst/>
                          <a:latin typeface="+mn-ea"/>
                          <a:ea typeface="+mn-ea"/>
                          <a:cs typeface="Times New Roman" panose="02020603050405020304" pitchFamily="18" charset="0"/>
                        </a:rPr>
                        <a:t>제약까지 포함시키고자 함 </a:t>
                      </a:r>
                      <a:r>
                        <a:rPr lang="en-US" altLang="ko-KR" sz="1000" b="0" dirty="0" smtClean="0">
                          <a:effectLst/>
                          <a:latin typeface="+mn-ea"/>
                          <a:ea typeface="+mn-ea"/>
                          <a:cs typeface="Times New Roman" panose="02020603050405020304" pitchFamily="18" charset="0"/>
                        </a:rPr>
                        <a:t>(</a:t>
                      </a:r>
                      <a:r>
                        <a:rPr lang="ko-KR" altLang="en-US" sz="1000" b="0" dirty="0" smtClean="0">
                          <a:effectLst/>
                          <a:latin typeface="+mn-ea"/>
                          <a:ea typeface="+mn-ea"/>
                          <a:cs typeface="Times New Roman" panose="02020603050405020304" pitchFamily="18" charset="0"/>
                        </a:rPr>
                        <a:t>아래 표준 </a:t>
                      </a:r>
                      <a:r>
                        <a:rPr lang="en-US" altLang="ko-KR" sz="1000" b="0" dirty="0" smtClean="0">
                          <a:effectLst/>
                          <a:latin typeface="+mn-ea"/>
                          <a:ea typeface="+mn-ea"/>
                          <a:cs typeface="Times New Roman" panose="02020603050405020304" pitchFamily="18" charset="0"/>
                        </a:rPr>
                        <a:t>SPA </a:t>
                      </a:r>
                      <a:r>
                        <a:rPr lang="ko-KR" altLang="en-US" sz="1000" b="0" dirty="0" smtClean="0">
                          <a:effectLst/>
                          <a:latin typeface="+mn-ea"/>
                          <a:ea typeface="+mn-ea"/>
                          <a:cs typeface="Times New Roman" panose="02020603050405020304" pitchFamily="18" charset="0"/>
                        </a:rPr>
                        <a:t>문구</a:t>
                      </a:r>
                      <a:r>
                        <a:rPr lang="en-US" altLang="ko-KR" sz="1000" b="0" dirty="0" smtClean="0">
                          <a:effectLst/>
                          <a:latin typeface="+mn-ea"/>
                          <a:ea typeface="+mn-ea"/>
                          <a:cs typeface="Times New Roman" panose="02020603050405020304" pitchFamily="18" charset="0"/>
                        </a:rPr>
                        <a:t>)</a:t>
                      </a:r>
                      <a:endParaRPr lang="ko-KR" sz="1000" b="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721433428"/>
                  </a:ext>
                </a:extLst>
              </a:tr>
              <a:tr h="959160">
                <a:tc>
                  <a:txBody>
                    <a:bodyPr/>
                    <a:lstStyle/>
                    <a:p>
                      <a:pPr algn="ctr" latinLnBrk="1">
                        <a:lnSpc>
                          <a:spcPct val="110000"/>
                        </a:lnSpc>
                        <a:spcAft>
                          <a:spcPts val="0"/>
                        </a:spcAft>
                      </a:pPr>
                      <a:r>
                        <a:rPr lang="ko-KR" altLang="ko-KR" sz="1000" b="1" dirty="0" smtClean="0">
                          <a:effectLst/>
                          <a:latin typeface="+mn-ea"/>
                          <a:ea typeface="+mn-ea"/>
                          <a:cs typeface="Times New Roman" panose="02020603050405020304" pitchFamily="18" charset="0"/>
                        </a:rPr>
                        <a:t>표준</a:t>
                      </a:r>
                      <a:r>
                        <a:rPr lang="en-US" altLang="ko-KR" sz="1000" b="1" dirty="0" smtClean="0">
                          <a:effectLst/>
                          <a:latin typeface="+mn-ea"/>
                          <a:ea typeface="+mn-ea"/>
                          <a:cs typeface="Times New Roman" panose="02020603050405020304" pitchFamily="18" charset="0"/>
                        </a:rPr>
                        <a:t> SPA</a:t>
                      </a:r>
                      <a:br>
                        <a:rPr lang="en-US" altLang="ko-KR" sz="1000" b="1" dirty="0" smtClean="0">
                          <a:effectLst/>
                          <a:latin typeface="+mn-ea"/>
                          <a:ea typeface="+mn-ea"/>
                          <a:cs typeface="Times New Roman" panose="02020603050405020304" pitchFamily="18" charset="0"/>
                        </a:rPr>
                      </a:br>
                      <a:r>
                        <a:rPr lang="ko-KR" altLang="ko-KR" sz="1000" b="1" dirty="0" smtClean="0">
                          <a:effectLst/>
                          <a:latin typeface="+mn-ea"/>
                          <a:ea typeface="+mn-ea"/>
                          <a:cs typeface="Times New Roman" panose="02020603050405020304" pitchFamily="18" charset="0"/>
                        </a:rPr>
                        <a:t>문구</a:t>
                      </a:r>
                      <a:endParaRPr lang="ko-KR" alt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0">
                        <a:lnSpc>
                          <a:spcPct val="110000"/>
                        </a:lnSpc>
                        <a:spcAft>
                          <a:spcPts val="0"/>
                        </a:spcAft>
                      </a:pPr>
                      <a:r>
                        <a:rPr lang="en-US" sz="1000" dirty="0" smtClean="0">
                          <a:effectLst/>
                          <a:latin typeface="+mn-ea"/>
                          <a:ea typeface="+mn-ea"/>
                          <a:cs typeface="Times New Roman" panose="02020603050405020304" pitchFamily="18" charset="0"/>
                        </a:rPr>
                        <a:t>“Liens” shall mean any charge, claim, condition, equitable interest, lien, option, security interest, mortgage, pledge, easement, encroachment, right of way, right of first refusal, or similar restriction of any kind, including any restriction on use, voting, transfer receipt of income or exercise of any other attribute of ownership.</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76177136"/>
                  </a:ext>
                </a:extLst>
              </a:tr>
            </a:tbl>
          </a:graphicData>
        </a:graphic>
      </p:graphicFrame>
    </p:spTree>
    <p:extLst>
      <p:ext uri="{BB962C8B-B14F-4D97-AF65-F5344CB8AC3E}">
        <p14:creationId xmlns:p14="http://schemas.microsoft.com/office/powerpoint/2010/main" val="15293842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 Definitions</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91480"/>
            <a:ext cx="3716745" cy="276999"/>
          </a:xfrm>
          <a:prstGeom prst="rect">
            <a:avLst/>
          </a:prstGeom>
          <a:noFill/>
        </p:spPr>
        <p:txBody>
          <a:bodyPr wrap="square" rtlCol="0">
            <a:spAutoFit/>
          </a:bodyPr>
          <a:lstStyle/>
          <a:p>
            <a:r>
              <a:rPr lang="en-US" altLang="ko-KR" dirty="0" smtClean="0">
                <a:latin typeface="+mn-ea"/>
                <a:ea typeface="+mn-ea"/>
              </a:rPr>
              <a:t>4. </a:t>
            </a:r>
            <a:r>
              <a:rPr lang="en-US" altLang="ko-KR" dirty="0">
                <a:latin typeface="+mn-ea"/>
                <a:ea typeface="+mn-ea"/>
              </a:rPr>
              <a:t>“Material Adverse Effect” (MAE</a:t>
            </a:r>
            <a:r>
              <a:rPr lang="en-US" altLang="ko-KR" dirty="0" smtClean="0">
                <a:latin typeface="+mn-ea"/>
                <a:ea typeface="+mn-ea"/>
              </a:rPr>
              <a:t>) (1) </a:t>
            </a:r>
            <a:endParaRPr lang="ko-KR" altLang="en-US" dirty="0">
              <a:latin typeface="+mn-ea"/>
              <a:ea typeface="+mn-ea"/>
            </a:endParaRPr>
          </a:p>
        </p:txBody>
      </p:sp>
      <p:graphicFrame>
        <p:nvGraphicFramePr>
          <p:cNvPr id="4" name="표 3"/>
          <p:cNvGraphicFramePr>
            <a:graphicFrameLocks noGrp="1"/>
          </p:cNvGraphicFramePr>
          <p:nvPr>
            <p:extLst>
              <p:ext uri="{D42A27DB-BD31-4B8C-83A1-F6EECF244321}">
                <p14:modId xmlns:p14="http://schemas.microsoft.com/office/powerpoint/2010/main" val="233104966"/>
              </p:ext>
            </p:extLst>
          </p:nvPr>
        </p:nvGraphicFramePr>
        <p:xfrm>
          <a:off x="439738" y="1031875"/>
          <a:ext cx="9188450" cy="5514395"/>
        </p:xfrm>
        <a:graphic>
          <a:graphicData uri="http://schemas.openxmlformats.org/drawingml/2006/table">
            <a:tbl>
              <a:tblPr firstRow="1" firstCol="1" bandRow="1"/>
              <a:tblGrid>
                <a:gridCol w="853257">
                  <a:extLst>
                    <a:ext uri="{9D8B030D-6E8A-4147-A177-3AD203B41FA5}">
                      <a16:colId xmlns:a16="http://schemas.microsoft.com/office/drawing/2014/main" val="1874141231"/>
                    </a:ext>
                  </a:extLst>
                </a:gridCol>
                <a:gridCol w="8335193">
                  <a:extLst>
                    <a:ext uri="{9D8B030D-6E8A-4147-A177-3AD203B41FA5}">
                      <a16:colId xmlns:a16="http://schemas.microsoft.com/office/drawing/2014/main" val="3951522846"/>
                    </a:ext>
                  </a:extLst>
                </a:gridCol>
              </a:tblGrid>
              <a:tr h="718595">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(i) </a:t>
                      </a:r>
                      <a:r>
                        <a:rPr lang="ko-KR" altLang="en-US" sz="1000" dirty="0" smtClean="0">
                          <a:solidFill>
                            <a:schemeClr val="tx1"/>
                          </a:solidFill>
                          <a:effectLst/>
                          <a:latin typeface="+mn-ea"/>
                          <a:ea typeface="+mn-ea"/>
                          <a:cs typeface="Times New Roman" panose="02020603050405020304" pitchFamily="18" charset="0"/>
                        </a:rPr>
                        <a:t>기준일 이후 대상회사에 중대한 부정적인 영향을 미치거나 미칠 것으로 우려되는 사정이 발생한 바 없다는 진술보장으로서의 기능</a:t>
                      </a:r>
                      <a:r>
                        <a:rPr lang="en-US" altLang="ko-KR" sz="1000" dirty="0" smtClean="0">
                          <a:solidFill>
                            <a:schemeClr val="tx1"/>
                          </a:solidFill>
                          <a:effectLst/>
                          <a:latin typeface="+mn-ea"/>
                          <a:ea typeface="+mn-ea"/>
                          <a:cs typeface="Times New Roman" panose="02020603050405020304" pitchFamily="18" charset="0"/>
                        </a:rPr>
                        <a:t>(rep bring down </a:t>
                      </a:r>
                      <a:r>
                        <a:rPr lang="ko-KR" altLang="en-US" sz="1000" dirty="0" smtClean="0">
                          <a:solidFill>
                            <a:schemeClr val="tx1"/>
                          </a:solidFill>
                          <a:effectLst/>
                          <a:latin typeface="+mn-ea"/>
                          <a:ea typeface="+mn-ea"/>
                          <a:cs typeface="Times New Roman" panose="02020603050405020304" pitchFamily="18" charset="0"/>
                        </a:rPr>
                        <a:t>기능</a:t>
                      </a:r>
                      <a:r>
                        <a:rPr lang="en-US" altLang="ko-KR" sz="1000" dirty="0" smtClean="0">
                          <a:solidFill>
                            <a:schemeClr val="tx1"/>
                          </a:solidFill>
                          <a:effectLst/>
                          <a:latin typeface="+mn-ea"/>
                          <a:ea typeface="+mn-ea"/>
                          <a:cs typeface="Times New Roman" panose="02020603050405020304" pitchFamily="18" charset="0"/>
                        </a:rPr>
                        <a:t>), (ii) </a:t>
                      </a:r>
                      <a:r>
                        <a:rPr lang="ko-KR" altLang="en-US" sz="1000" dirty="0" smtClean="0">
                          <a:solidFill>
                            <a:schemeClr val="tx1"/>
                          </a:solidFill>
                          <a:effectLst/>
                          <a:latin typeface="+mn-ea"/>
                          <a:ea typeface="+mn-ea"/>
                          <a:cs typeface="Times New Roman" panose="02020603050405020304" pitchFamily="18" charset="0"/>
                        </a:rPr>
                        <a:t>거래종결일 기준 대상회사에 중대한 부정적인 영향을 미치거나 미칠 것으로 우려되는 사정이 발생하였다면 거래종결을 거절</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이른바 </a:t>
                      </a:r>
                      <a:r>
                        <a:rPr lang="en-US" altLang="ko-KR" sz="1000" dirty="0" smtClean="0">
                          <a:solidFill>
                            <a:schemeClr val="tx1"/>
                          </a:solidFill>
                          <a:effectLst/>
                          <a:latin typeface="+mn-ea"/>
                          <a:ea typeface="+mn-ea"/>
                          <a:cs typeface="Times New Roman" panose="02020603050405020304" pitchFamily="18" charset="0"/>
                        </a:rPr>
                        <a:t>walk-away right)</a:t>
                      </a:r>
                      <a:r>
                        <a:rPr lang="ko-KR" altLang="en-US" sz="1000" dirty="0" smtClean="0">
                          <a:solidFill>
                            <a:schemeClr val="tx1"/>
                          </a:solidFill>
                          <a:effectLst/>
                          <a:latin typeface="+mn-ea"/>
                          <a:ea typeface="+mn-ea"/>
                          <a:cs typeface="Times New Roman" panose="02020603050405020304" pitchFamily="18" charset="0"/>
                        </a:rPr>
                        <a:t>할 수 있도록 해주는 </a:t>
                      </a:r>
                      <a:r>
                        <a:rPr lang="en-US" altLang="ko-KR" sz="1000" dirty="0" smtClean="0">
                          <a:solidFill>
                            <a:schemeClr val="tx1"/>
                          </a:solidFill>
                          <a:effectLst/>
                          <a:latin typeface="+mn-ea"/>
                          <a:ea typeface="+mn-ea"/>
                          <a:cs typeface="Times New Roman" panose="02020603050405020304" pitchFamily="18" charset="0"/>
                        </a:rPr>
                        <a:t>stand-alone </a:t>
                      </a:r>
                      <a:r>
                        <a:rPr lang="ko-KR" altLang="en-US" sz="1000" dirty="0" smtClean="0">
                          <a:solidFill>
                            <a:schemeClr val="tx1"/>
                          </a:solidFill>
                          <a:effectLst/>
                          <a:latin typeface="+mn-ea"/>
                          <a:ea typeface="+mn-ea"/>
                          <a:cs typeface="Times New Roman" panose="02020603050405020304" pitchFamily="18" charset="0"/>
                        </a:rPr>
                        <a:t>거래종결 선행조건으로서의 기능을 함</a:t>
                      </a:r>
                      <a:r>
                        <a:rPr lang="en-US" altLang="ko-KR" sz="1000" dirty="0" smtClean="0">
                          <a:solidFill>
                            <a:schemeClr val="tx1"/>
                          </a:solidFill>
                          <a:effectLst/>
                          <a:latin typeface="+mn-ea"/>
                          <a:ea typeface="+mn-ea"/>
                          <a:cs typeface="Times New Roman" panose="02020603050405020304" pitchFamily="18" charset="0"/>
                        </a:rPr>
                        <a:t>.</a:t>
                      </a:r>
                    </a:p>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주로 </a:t>
                      </a:r>
                      <a:r>
                        <a:rPr lang="en-US" altLang="ko-KR" sz="1000" dirty="0" smtClean="0">
                          <a:solidFill>
                            <a:schemeClr val="tx1"/>
                          </a:solidFill>
                          <a:effectLst/>
                          <a:latin typeface="+mn-ea"/>
                          <a:ea typeface="+mn-ea"/>
                          <a:cs typeface="Times New Roman" panose="02020603050405020304" pitchFamily="18" charset="0"/>
                        </a:rPr>
                        <a:t>(a) MAE </a:t>
                      </a:r>
                      <a:r>
                        <a:rPr lang="ko-KR" altLang="en-US" sz="1000" dirty="0" smtClean="0">
                          <a:solidFill>
                            <a:schemeClr val="tx1"/>
                          </a:solidFill>
                          <a:effectLst/>
                          <a:latin typeface="+mn-ea"/>
                          <a:ea typeface="+mn-ea"/>
                          <a:cs typeface="Times New Roman" panose="02020603050405020304" pitchFamily="18" charset="0"/>
                        </a:rPr>
                        <a:t>발생 판단의 객관적인 근거가 되는 기준</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항목 및 금액</a:t>
                      </a:r>
                      <a:r>
                        <a:rPr lang="en-US" altLang="ko-KR" sz="1000" dirty="0" smtClean="0">
                          <a:solidFill>
                            <a:schemeClr val="tx1"/>
                          </a:solidFill>
                          <a:effectLst/>
                          <a:latin typeface="+mn-ea"/>
                          <a:ea typeface="+mn-ea"/>
                          <a:cs typeface="Times New Roman" panose="02020603050405020304" pitchFamily="18" charset="0"/>
                        </a:rPr>
                        <a:t>), (b) MAE</a:t>
                      </a:r>
                      <a:r>
                        <a:rPr lang="ko-KR" altLang="en-US" sz="1000" dirty="0" smtClean="0">
                          <a:solidFill>
                            <a:schemeClr val="tx1"/>
                          </a:solidFill>
                          <a:effectLst/>
                          <a:latin typeface="+mn-ea"/>
                          <a:ea typeface="+mn-ea"/>
                          <a:cs typeface="Times New Roman" panose="02020603050405020304" pitchFamily="18" charset="0"/>
                        </a:rPr>
                        <a:t>의 예외 사유와 관련하여 문제가 됨</a:t>
                      </a:r>
                      <a:r>
                        <a:rPr lang="en-US" altLang="ko-KR" sz="1000" dirty="0" smtClean="0">
                          <a:solidFill>
                            <a:schemeClr val="tx1"/>
                          </a:solidFill>
                          <a:effectLst/>
                          <a:latin typeface="+mn-ea"/>
                          <a:ea typeface="+mn-ea"/>
                          <a:cs typeface="Times New Roman" panose="02020603050405020304" pitchFamily="18" charset="0"/>
                        </a:rPr>
                        <a:t>.</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67659684"/>
                  </a:ext>
                </a:extLst>
              </a:tr>
              <a:tr h="4795800">
                <a:tc>
                  <a:txBody>
                    <a:bodyPr/>
                    <a:lstStyle/>
                    <a:p>
                      <a:pPr algn="ctr" latinLnBrk="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sz="1000" b="1" dirty="0" smtClean="0">
                          <a:solidFill>
                            <a:schemeClr val="tx1"/>
                          </a:solidFill>
                          <a:effectLst/>
                          <a:latin typeface="+mn-ea"/>
                          <a:ea typeface="+mn-ea"/>
                          <a:cs typeface="Times New Roman" panose="02020603050405020304" pitchFamily="18" charset="0"/>
                        </a:rPr>
                        <a:t>매도인</a:t>
                      </a:r>
                      <a:r>
                        <a:rPr lang="en-US" sz="1000" dirty="0">
                          <a:solidFill>
                            <a:schemeClr val="tx1"/>
                          </a:solidFill>
                          <a:effectLst/>
                          <a:latin typeface="+mn-ea"/>
                          <a:ea typeface="+mn-ea"/>
                          <a:cs typeface="Times New Roman" panose="02020603050405020304" pitchFamily="18" charset="0"/>
                        </a:rPr>
                        <a:t>: </a:t>
                      </a:r>
                      <a:r>
                        <a:rPr lang="en-US" altLang="ko-KR" sz="1000" dirty="0" smtClean="0">
                          <a:solidFill>
                            <a:schemeClr val="tx1"/>
                          </a:solidFill>
                          <a:effectLst/>
                          <a:latin typeface="+mn-ea"/>
                          <a:ea typeface="+mn-ea"/>
                          <a:cs typeface="Times New Roman" panose="02020603050405020304" pitchFamily="18" charset="0"/>
                        </a:rPr>
                        <a:t>MAE</a:t>
                      </a:r>
                      <a:r>
                        <a:rPr lang="ko-KR" altLang="en-US" sz="1000" dirty="0" smtClean="0">
                          <a:solidFill>
                            <a:schemeClr val="tx1"/>
                          </a:solidFill>
                          <a:effectLst/>
                          <a:latin typeface="+mn-ea"/>
                          <a:ea typeface="+mn-ea"/>
                          <a:cs typeface="Times New Roman" panose="02020603050405020304" pitchFamily="18" charset="0"/>
                        </a:rPr>
                        <a:t>가 발동되는 영역을 좁게 만드는 것이 유리함</a:t>
                      </a:r>
                      <a:endParaRPr lang="en-US" altLang="ko-KR" sz="1000" dirty="0" smtClean="0">
                        <a:solidFill>
                          <a:schemeClr val="tx1"/>
                        </a:solidFill>
                        <a:effectLst/>
                        <a:latin typeface="+mn-ea"/>
                        <a:ea typeface="+mn-ea"/>
                        <a:cs typeface="Times New Roman" panose="02020603050405020304" pitchFamily="18" charset="0"/>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Forward looking standards (</a:t>
                      </a:r>
                      <a:r>
                        <a:rPr kumimoji="1" lang="ko-KR" altLang="en-US" sz="1000" b="0" i="0" u="none" strike="noStrike" kern="1200" cap="none" normalizeH="0" baseline="0" dirty="0" smtClean="0">
                          <a:ln>
                            <a:noFill/>
                          </a:ln>
                          <a:solidFill>
                            <a:schemeClr val="tx1"/>
                          </a:solidFill>
                          <a:effectLst/>
                          <a:latin typeface="+mn-ea"/>
                          <a:ea typeface="+mn-ea"/>
                          <a:cs typeface="+mn-cs"/>
                        </a:rPr>
                        <a:t>즉</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아래 표준 </a:t>
                      </a:r>
                      <a:r>
                        <a:rPr kumimoji="1" lang="en-US" altLang="ko-KR" sz="1000" b="0" i="0" u="none" strike="noStrike" kern="1200" cap="none" normalizeH="0" baseline="0" dirty="0" smtClean="0">
                          <a:ln>
                            <a:noFill/>
                          </a:ln>
                          <a:solidFill>
                            <a:schemeClr val="tx1"/>
                          </a:solidFill>
                          <a:effectLst/>
                          <a:latin typeface="+mn-ea"/>
                          <a:ea typeface="+mn-ea"/>
                          <a:cs typeface="+mn-cs"/>
                        </a:rPr>
                        <a:t>SPA</a:t>
                      </a:r>
                      <a:r>
                        <a:rPr kumimoji="1" lang="ko-KR" altLang="en-US" sz="1000" b="0" i="0" u="none" strike="noStrike" kern="1200" cap="none" normalizeH="0" baseline="0" dirty="0" smtClean="0">
                          <a:ln>
                            <a:noFill/>
                          </a:ln>
                          <a:solidFill>
                            <a:schemeClr val="tx1"/>
                          </a:solidFill>
                          <a:effectLst/>
                          <a:latin typeface="+mn-ea"/>
                          <a:ea typeface="+mn-ea"/>
                          <a:cs typeface="+mn-cs"/>
                        </a:rPr>
                        <a:t>문구에서 “</a:t>
                      </a:r>
                      <a:r>
                        <a:rPr kumimoji="1" lang="en-US" altLang="ko-KR" sz="1000" b="0" i="0" u="none" strike="noStrike" kern="1200" cap="none" normalizeH="0" baseline="0" dirty="0" smtClean="0">
                          <a:ln>
                            <a:noFill/>
                          </a:ln>
                          <a:solidFill>
                            <a:schemeClr val="tx1"/>
                          </a:solidFill>
                          <a:effectLst/>
                          <a:latin typeface="+mn-ea"/>
                          <a:ea typeface="+mn-ea"/>
                          <a:cs typeface="+mn-cs"/>
                        </a:rPr>
                        <a:t>would reasonably be likely to”)</a:t>
                      </a:r>
                      <a:r>
                        <a:rPr kumimoji="1" lang="ko-KR" altLang="en-US" sz="1000" b="0" i="0" u="none" strike="noStrike" kern="1200" cap="none" normalizeH="0" baseline="0" dirty="0" smtClean="0">
                          <a:ln>
                            <a:noFill/>
                          </a:ln>
                          <a:solidFill>
                            <a:schemeClr val="tx1"/>
                          </a:solidFill>
                          <a:effectLst/>
                          <a:latin typeface="+mn-ea"/>
                          <a:ea typeface="+mn-ea"/>
                          <a:cs typeface="+mn-cs"/>
                        </a:rPr>
                        <a:t>를 삭제하거나 더 명확한 </a:t>
                      </a:r>
                      <a:r>
                        <a:rPr kumimoji="1" lang="en-US" altLang="ko-KR" sz="1000" b="0" i="0" u="none" strike="noStrike" kern="1200" cap="none" normalizeH="0" baseline="0" dirty="0" smtClean="0">
                          <a:ln>
                            <a:noFill/>
                          </a:ln>
                          <a:solidFill>
                            <a:schemeClr val="tx1"/>
                          </a:solidFill>
                          <a:effectLst/>
                          <a:latin typeface="+mn-ea"/>
                          <a:ea typeface="+mn-ea"/>
                          <a:cs typeface="+mn-cs"/>
                        </a:rPr>
                        <a:t>standard (</a:t>
                      </a:r>
                      <a:r>
                        <a:rPr kumimoji="1" lang="ko-KR" altLang="en-US" sz="1000" b="0" i="0" u="none" strike="noStrike" kern="1200" cap="none" normalizeH="0" baseline="0" dirty="0" smtClean="0">
                          <a:ln>
                            <a:noFill/>
                          </a:ln>
                          <a:solidFill>
                            <a:schemeClr val="tx1"/>
                          </a:solidFill>
                          <a:effectLst/>
                          <a:latin typeface="+mn-ea"/>
                          <a:ea typeface="+mn-ea"/>
                          <a:cs typeface="+mn-cs"/>
                        </a:rPr>
                        <a:t>즉</a:t>
                      </a:r>
                      <a:r>
                        <a:rPr kumimoji="1" lang="en-US" altLang="ko-KR" sz="1000" b="0" i="0" u="none" strike="noStrike" kern="1200" cap="none" normalizeH="0" baseline="0" dirty="0" smtClean="0">
                          <a:ln>
                            <a:noFill/>
                          </a:ln>
                          <a:solidFill>
                            <a:schemeClr val="tx1"/>
                          </a:solidFill>
                          <a:effectLst/>
                          <a:latin typeface="+mn-ea"/>
                          <a:ea typeface="+mn-ea"/>
                          <a:cs typeface="+mn-cs"/>
                        </a:rPr>
                        <a:t>, “would”)</a:t>
                      </a:r>
                      <a:r>
                        <a:rPr kumimoji="1" lang="ko-KR" altLang="en-US" sz="1000" b="0" i="0" u="none" strike="noStrike" kern="1200" cap="none" normalizeH="0" baseline="0" dirty="0" smtClean="0">
                          <a:ln>
                            <a:noFill/>
                          </a:ln>
                          <a:solidFill>
                            <a:schemeClr val="tx1"/>
                          </a:solidFill>
                          <a:effectLst/>
                          <a:latin typeface="+mn-ea"/>
                          <a:ea typeface="+mn-ea"/>
                          <a:cs typeface="+mn-cs"/>
                        </a:rPr>
                        <a:t>에 대한 제안 </a:t>
                      </a:r>
                      <a:r>
                        <a:rPr kumimoji="1" lang="en-US" altLang="ko-KR" sz="1000" b="0" i="0" u="none" strike="noStrike" kern="1200" cap="none" normalizeH="0" baseline="0" dirty="0" smtClean="0">
                          <a:ln>
                            <a:noFill/>
                          </a:ln>
                          <a:solidFill>
                            <a:schemeClr val="tx1"/>
                          </a:solidFill>
                          <a:effectLst/>
                          <a:latin typeface="+mn-ea"/>
                          <a:ea typeface="+mn-ea"/>
                          <a:cs typeface="+mn-cs"/>
                        </a:rPr>
                        <a:t>(ABA Private Target Deal Points Study </a:t>
                      </a:r>
                      <a:r>
                        <a:rPr kumimoji="1" lang="ko-KR" altLang="en-US" sz="1000" b="0" i="0" u="none" strike="noStrike" kern="1200" cap="none" normalizeH="0" baseline="0" dirty="0" smtClean="0">
                          <a:ln>
                            <a:noFill/>
                          </a:ln>
                          <a:solidFill>
                            <a:schemeClr val="tx1"/>
                          </a:solidFill>
                          <a:effectLst/>
                          <a:latin typeface="+mn-ea"/>
                          <a:ea typeface="+mn-ea"/>
                          <a:cs typeface="+mn-cs"/>
                        </a:rPr>
                        <a:t>에 따르면 “</a:t>
                      </a:r>
                      <a:r>
                        <a:rPr kumimoji="1" lang="en-US" altLang="ko-KR" sz="1000" b="0" i="0" u="none" strike="noStrike" kern="1200" cap="none" normalizeH="0" baseline="0" dirty="0" smtClean="0">
                          <a:ln>
                            <a:noFill/>
                          </a:ln>
                          <a:solidFill>
                            <a:schemeClr val="tx1"/>
                          </a:solidFill>
                          <a:effectLst/>
                          <a:latin typeface="+mn-ea"/>
                          <a:ea typeface="+mn-ea"/>
                          <a:cs typeface="+mn-cs"/>
                        </a:rPr>
                        <a:t>would”</a:t>
                      </a:r>
                      <a:r>
                        <a:rPr kumimoji="1" lang="ko-KR" altLang="en-US" sz="1000" b="0" i="0" u="none" strike="noStrike" kern="1200" cap="none" normalizeH="0" baseline="0" dirty="0" smtClean="0">
                          <a:ln>
                            <a:noFill/>
                          </a:ln>
                          <a:solidFill>
                            <a:schemeClr val="tx1"/>
                          </a:solidFill>
                          <a:effectLst/>
                          <a:latin typeface="+mn-ea"/>
                          <a:ea typeface="+mn-ea"/>
                          <a:cs typeface="+mn-cs"/>
                        </a:rPr>
                        <a:t>가 더 많이 사용된다고 함</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MAE </a:t>
                      </a:r>
                      <a:r>
                        <a:rPr kumimoji="1" lang="ko-KR" altLang="en-US" sz="1000" b="0" i="0" u="none" strike="noStrike" kern="1200" cap="none" normalizeH="0" baseline="0" dirty="0" smtClean="0">
                          <a:ln>
                            <a:noFill/>
                          </a:ln>
                          <a:solidFill>
                            <a:schemeClr val="tx1"/>
                          </a:solidFill>
                          <a:effectLst/>
                          <a:latin typeface="+mn-ea"/>
                          <a:ea typeface="+mn-ea"/>
                          <a:cs typeface="+mn-cs"/>
                        </a:rPr>
                        <a:t>예외 사유를 가급적 늘려서 </a:t>
                      </a:r>
                      <a:r>
                        <a:rPr kumimoji="1" lang="en-US" altLang="ko-KR" sz="1000" b="0" i="0" u="none" strike="noStrike" kern="1200" cap="none" normalizeH="0" baseline="0" dirty="0" smtClean="0">
                          <a:ln>
                            <a:noFill/>
                          </a:ln>
                          <a:solidFill>
                            <a:schemeClr val="tx1"/>
                          </a:solidFill>
                          <a:effectLst/>
                          <a:latin typeface="+mn-ea"/>
                          <a:ea typeface="+mn-ea"/>
                          <a:cs typeface="+mn-cs"/>
                        </a:rPr>
                        <a:t>MAE </a:t>
                      </a:r>
                      <a:r>
                        <a:rPr kumimoji="1" lang="ko-KR" altLang="en-US" sz="1000" b="0" i="0" u="none" strike="noStrike" kern="1200" cap="none" normalizeH="0" baseline="0" dirty="0" smtClean="0">
                          <a:ln>
                            <a:noFill/>
                          </a:ln>
                          <a:solidFill>
                            <a:schemeClr val="tx1"/>
                          </a:solidFill>
                          <a:effectLst/>
                          <a:latin typeface="+mn-ea"/>
                          <a:ea typeface="+mn-ea"/>
                          <a:cs typeface="+mn-cs"/>
                        </a:rPr>
                        <a:t>발생 가능성을 축소</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매도인 입장에서는 아래와 같은 예외 사유를 추가할 수 있음</a:t>
                      </a:r>
                      <a:r>
                        <a:rPr kumimoji="1" lang="en-US" altLang="ko-KR" sz="1000" b="0" i="0" u="none" strike="noStrike" kern="1200" cap="none" normalizeH="0" baseline="0" dirty="0" smtClean="0">
                          <a:ln>
                            <a:noFill/>
                          </a:ln>
                          <a:solidFill>
                            <a:schemeClr val="tx1"/>
                          </a:solidFill>
                          <a:effectLst/>
                          <a:latin typeface="+mn-ea"/>
                          <a:ea typeface="+mn-ea"/>
                          <a:cs typeface="+mn-cs"/>
                        </a:rPr>
                        <a:t>. ABA Private Target Deal Points Study</a:t>
                      </a:r>
                      <a:r>
                        <a:rPr kumimoji="1" lang="ko-KR" altLang="en-US" sz="1000" b="0" i="0" u="none" strike="noStrike" kern="1200" cap="none" normalizeH="0" baseline="0" dirty="0" smtClean="0">
                          <a:ln>
                            <a:noFill/>
                          </a:ln>
                          <a:solidFill>
                            <a:schemeClr val="tx1"/>
                          </a:solidFill>
                          <a:effectLst/>
                          <a:latin typeface="+mn-ea"/>
                          <a:ea typeface="+mn-ea"/>
                          <a:cs typeface="+mn-cs"/>
                        </a:rPr>
                        <a:t>에 따르면 아래 예외 사유 중 </a:t>
                      </a:r>
                      <a:r>
                        <a:rPr kumimoji="1" lang="en-US" altLang="ko-KR" sz="1000" b="0" i="0" u="none" strike="noStrike" kern="1200" cap="none" normalizeH="0" baseline="0" dirty="0" smtClean="0">
                          <a:ln>
                            <a:noFill/>
                          </a:ln>
                          <a:solidFill>
                            <a:schemeClr val="tx1"/>
                          </a:solidFill>
                          <a:effectLst/>
                          <a:latin typeface="+mn-ea"/>
                          <a:ea typeface="+mn-ea"/>
                          <a:cs typeface="+mn-cs"/>
                        </a:rPr>
                        <a:t>(a)/(e) </a:t>
                      </a:r>
                      <a:r>
                        <a:rPr kumimoji="1" lang="ko-KR" altLang="en-US" sz="1000" b="0" i="0" u="none" strike="noStrike" kern="1200" cap="none" normalizeH="0" baseline="0" dirty="0" smtClean="0">
                          <a:ln>
                            <a:noFill/>
                          </a:ln>
                          <a:solidFill>
                            <a:schemeClr val="tx1"/>
                          </a:solidFill>
                          <a:effectLst/>
                          <a:latin typeface="+mn-ea"/>
                          <a:ea typeface="+mn-ea"/>
                          <a:cs typeface="+mn-cs"/>
                        </a:rPr>
                        <a:t>와 유사한 예외 사항은 </a:t>
                      </a:r>
                      <a:r>
                        <a:rPr kumimoji="1" lang="en-US" altLang="ko-KR" sz="1000" b="0" i="0" u="none" strike="noStrike" kern="1200" cap="none" normalizeH="0" baseline="0" dirty="0" smtClean="0">
                          <a:ln>
                            <a:noFill/>
                          </a:ln>
                          <a:solidFill>
                            <a:schemeClr val="tx1"/>
                          </a:solidFill>
                          <a:effectLst/>
                          <a:latin typeface="+mn-ea"/>
                          <a:ea typeface="+mn-ea"/>
                          <a:cs typeface="+mn-cs"/>
                        </a:rPr>
                        <a:t>50% </a:t>
                      </a:r>
                      <a:r>
                        <a:rPr kumimoji="1" lang="ko-KR" altLang="en-US" sz="1000" b="0" i="0" u="none" strike="noStrike" kern="1200" cap="none" normalizeH="0" baseline="0" dirty="0" smtClean="0">
                          <a:ln>
                            <a:noFill/>
                          </a:ln>
                          <a:solidFill>
                            <a:schemeClr val="tx1"/>
                          </a:solidFill>
                          <a:effectLst/>
                          <a:latin typeface="+mn-ea"/>
                          <a:ea typeface="+mn-ea"/>
                          <a:cs typeface="+mn-cs"/>
                        </a:rPr>
                        <a:t>이상의 딜에 들어간 것으로 보임</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Any action taken or omitted to be taken with the consent of Buyer or any of its Affiliates </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Any event, occurrence or circumstance with respect to which Buyer has knowledge of </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Any matter that is disclosed to Buyer</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Any matter that is cured by Seller prior to the Closing</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Announcement, pendency or performance of this Agreement or the other agreements contemplated hereby or the identity of Purchaser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대상회사에 자회사가 있는 경우</a:t>
                      </a:r>
                      <a:r>
                        <a:rPr kumimoji="1" lang="en-US" altLang="ko-KR" sz="1000" b="0" i="0" u="none" strike="noStrike" kern="1200" cap="none" normalizeH="0" baseline="0" dirty="0" smtClean="0">
                          <a:ln>
                            <a:noFill/>
                          </a:ln>
                          <a:solidFill>
                            <a:schemeClr val="tx1"/>
                          </a:solidFill>
                          <a:effectLst/>
                          <a:latin typeface="+mn-ea"/>
                          <a:ea typeface="+mn-ea"/>
                          <a:cs typeface="+mn-cs"/>
                        </a:rPr>
                        <a:t>, MAE</a:t>
                      </a:r>
                      <a:r>
                        <a:rPr kumimoji="1" lang="ko-KR" altLang="ko-KR" sz="1000" b="0" i="0" u="none" strike="noStrike" kern="1200" cap="none" normalizeH="0" baseline="0" dirty="0" smtClean="0">
                          <a:ln>
                            <a:noFill/>
                          </a:ln>
                          <a:solidFill>
                            <a:schemeClr val="tx1"/>
                          </a:solidFill>
                          <a:effectLst/>
                          <a:latin typeface="+mn-ea"/>
                          <a:ea typeface="+mn-ea"/>
                          <a:cs typeface="+mn-cs"/>
                        </a:rPr>
                        <a:t>를</a:t>
                      </a:r>
                      <a:r>
                        <a:rPr kumimoji="1" lang="en-US" altLang="ko-KR" sz="1000" b="0" i="0" u="none" strike="noStrike" kern="1200" cap="none" normalizeH="0" baseline="0" dirty="0" smtClean="0">
                          <a:ln>
                            <a:noFill/>
                          </a:ln>
                          <a:solidFill>
                            <a:schemeClr val="tx1"/>
                          </a:solidFill>
                          <a:effectLst/>
                          <a:latin typeface="+mn-ea"/>
                          <a:ea typeface="+mn-ea"/>
                          <a:cs typeface="+mn-cs"/>
                        </a:rPr>
                        <a:t> “the Company and its Subsidiaries as a whole”</a:t>
                      </a:r>
                      <a:r>
                        <a:rPr kumimoji="1" lang="ko-KR" altLang="ko-KR" sz="1000" b="0" i="0" u="none" strike="noStrike" kern="1200" cap="none" normalizeH="0" baseline="0" dirty="0" smtClean="0">
                          <a:ln>
                            <a:noFill/>
                          </a:ln>
                          <a:solidFill>
                            <a:schemeClr val="tx1"/>
                          </a:solidFill>
                          <a:effectLst/>
                          <a:latin typeface="+mn-ea"/>
                          <a:ea typeface="+mn-ea"/>
                          <a:cs typeface="+mn-cs"/>
                        </a:rPr>
                        <a:t>로 규정할 수 있음</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매수인의 경우</a:t>
                      </a:r>
                      <a:r>
                        <a:rPr kumimoji="1" lang="en-US" altLang="ko-KR" sz="1000" b="0" i="0" u="none" strike="noStrike" kern="1200" cap="none" normalizeH="0" baseline="0" dirty="0" smtClean="0">
                          <a:ln>
                            <a:noFill/>
                          </a:ln>
                          <a:solidFill>
                            <a:schemeClr val="tx1"/>
                          </a:solidFill>
                          <a:effectLst/>
                          <a:latin typeface="+mn-ea"/>
                          <a:ea typeface="+mn-ea"/>
                          <a:cs typeface="+mn-cs"/>
                        </a:rPr>
                        <a:t>, “the Company or any of its Subsidiaries”</a:t>
                      </a:r>
                      <a:r>
                        <a:rPr kumimoji="1" lang="ko-KR" altLang="ko-KR" sz="1000" b="0" i="0" u="none" strike="noStrike" kern="1200" cap="none" normalizeH="0" baseline="0" dirty="0" smtClean="0">
                          <a:ln>
                            <a:noFill/>
                          </a:ln>
                          <a:solidFill>
                            <a:schemeClr val="tx1"/>
                          </a:solidFill>
                          <a:effectLst/>
                          <a:latin typeface="+mn-ea"/>
                          <a:ea typeface="+mn-ea"/>
                          <a:cs typeface="+mn-cs"/>
                        </a:rPr>
                        <a:t>로 각각에 대한</a:t>
                      </a:r>
                      <a:r>
                        <a:rPr kumimoji="1" lang="en-US" altLang="ko-KR" sz="1000" b="0" i="0" u="none" strike="noStrike" kern="1200" cap="none" normalizeH="0" baseline="0" dirty="0" smtClean="0">
                          <a:ln>
                            <a:noFill/>
                          </a:ln>
                          <a:solidFill>
                            <a:schemeClr val="tx1"/>
                          </a:solidFill>
                          <a:effectLst/>
                          <a:latin typeface="+mn-ea"/>
                          <a:ea typeface="+mn-ea"/>
                          <a:cs typeface="+mn-cs"/>
                        </a:rPr>
                        <a:t> effect</a:t>
                      </a:r>
                      <a:r>
                        <a:rPr kumimoji="1" lang="ko-KR" altLang="ko-KR" sz="1000" b="0" i="0" u="none" strike="noStrike" kern="1200" cap="none" normalizeH="0" baseline="0" dirty="0" smtClean="0">
                          <a:ln>
                            <a:noFill/>
                          </a:ln>
                          <a:solidFill>
                            <a:schemeClr val="tx1"/>
                          </a:solidFill>
                          <a:effectLst/>
                          <a:latin typeface="+mn-ea"/>
                          <a:ea typeface="+mn-ea"/>
                          <a:cs typeface="+mn-cs"/>
                        </a:rPr>
                        <a:t>를</a:t>
                      </a:r>
                      <a:r>
                        <a:rPr kumimoji="1" lang="en-US" altLang="ko-KR" sz="1000" b="0" i="0" u="none" strike="noStrike" kern="1200" cap="none" normalizeH="0" baseline="0" dirty="0" smtClean="0">
                          <a:ln>
                            <a:noFill/>
                          </a:ln>
                          <a:solidFill>
                            <a:schemeClr val="tx1"/>
                          </a:solidFill>
                          <a:effectLst/>
                          <a:latin typeface="+mn-ea"/>
                          <a:ea typeface="+mn-ea"/>
                          <a:cs typeface="+mn-cs"/>
                        </a:rPr>
                        <a:t> test</a:t>
                      </a:r>
                      <a:r>
                        <a:rPr kumimoji="1" lang="ko-KR" altLang="ko-KR" sz="1000" b="0" i="0" u="none" strike="noStrike" kern="1200" cap="none" normalizeH="0" baseline="0" dirty="0" smtClean="0">
                          <a:ln>
                            <a:noFill/>
                          </a:ln>
                          <a:solidFill>
                            <a:schemeClr val="tx1"/>
                          </a:solidFill>
                          <a:effectLst/>
                          <a:latin typeface="+mn-ea"/>
                          <a:ea typeface="+mn-ea"/>
                          <a:cs typeface="+mn-cs"/>
                        </a:rPr>
                        <a:t>하도록 제안할 수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ABA Private Target Deal Points Study</a:t>
                      </a:r>
                      <a:r>
                        <a:rPr kumimoji="1" lang="ko-KR" altLang="ko-KR" sz="1000" b="0" i="0" u="none" strike="noStrike" kern="1200" cap="none" normalizeH="0" baseline="0" dirty="0" smtClean="0">
                          <a:ln>
                            <a:noFill/>
                          </a:ln>
                          <a:solidFill>
                            <a:schemeClr val="tx1"/>
                          </a:solidFill>
                          <a:effectLst/>
                          <a:latin typeface="+mn-ea"/>
                          <a:ea typeface="+mn-ea"/>
                          <a:cs typeface="+mn-cs"/>
                        </a:rPr>
                        <a:t>에 따르면</a:t>
                      </a:r>
                      <a:r>
                        <a:rPr kumimoji="1" lang="en-US" altLang="ko-KR" sz="1000" b="0" i="0" u="none" strike="noStrike" kern="1200" cap="none" normalizeH="0" baseline="0" dirty="0" smtClean="0">
                          <a:ln>
                            <a:noFill/>
                          </a:ln>
                          <a:solidFill>
                            <a:schemeClr val="tx1"/>
                          </a:solidFill>
                          <a:effectLst/>
                          <a:latin typeface="+mn-ea"/>
                          <a:ea typeface="+mn-ea"/>
                          <a:cs typeface="+mn-cs"/>
                        </a:rPr>
                        <a:t> 80% </a:t>
                      </a:r>
                      <a:r>
                        <a:rPr kumimoji="1" lang="ko-KR" altLang="ko-KR" sz="1000" b="0" i="0" u="none" strike="noStrike" kern="1200" cap="none" normalizeH="0" baseline="0" dirty="0" smtClean="0">
                          <a:ln>
                            <a:noFill/>
                          </a:ln>
                          <a:solidFill>
                            <a:schemeClr val="tx1"/>
                          </a:solidFill>
                          <a:effectLst/>
                          <a:latin typeface="+mn-ea"/>
                          <a:ea typeface="+mn-ea"/>
                          <a:cs typeface="+mn-cs"/>
                        </a:rPr>
                        <a:t>이상의 딜이</a:t>
                      </a:r>
                      <a:r>
                        <a:rPr kumimoji="1" lang="en-US" altLang="ko-KR" sz="1000" b="0" i="0" u="none" strike="noStrike" kern="1200" cap="none" normalizeH="0" baseline="0" dirty="0" smtClean="0">
                          <a:ln>
                            <a:noFill/>
                          </a:ln>
                          <a:solidFill>
                            <a:schemeClr val="tx1"/>
                          </a:solidFill>
                          <a:effectLst/>
                          <a:latin typeface="+mn-ea"/>
                          <a:ea typeface="+mn-ea"/>
                          <a:cs typeface="+mn-cs"/>
                        </a:rPr>
                        <a:t> “Company and Subsidiaries as a whole”</a:t>
                      </a:r>
                      <a:r>
                        <a:rPr kumimoji="1" lang="ko-KR" altLang="ko-KR" sz="1000" b="0" i="0" u="none" strike="noStrike" kern="1200" cap="none" normalizeH="0" baseline="0" dirty="0" smtClean="0">
                          <a:ln>
                            <a:noFill/>
                          </a:ln>
                          <a:solidFill>
                            <a:schemeClr val="tx1"/>
                          </a:solidFill>
                          <a:effectLst/>
                          <a:latin typeface="+mn-ea"/>
                          <a:ea typeface="+mn-ea"/>
                          <a:cs typeface="+mn-cs"/>
                        </a:rPr>
                        <a:t>을 사용함</a:t>
                      </a:r>
                      <a:r>
                        <a:rPr kumimoji="1" lang="en-US" altLang="ko-KR" sz="1000" b="0" i="0" u="none" strike="noStrike" kern="1200" cap="none" normalizeH="0" baseline="0" dirty="0" smtClean="0">
                          <a:ln>
                            <a:noFill/>
                          </a:ln>
                          <a:solidFill>
                            <a:schemeClr val="tx1"/>
                          </a:solidFill>
                          <a:effectLst/>
                          <a:latin typeface="+mn-ea"/>
                          <a:ea typeface="+mn-ea"/>
                          <a:cs typeface="+mn-cs"/>
                        </a:rPr>
                        <a:t>. </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MAE </a:t>
                      </a:r>
                      <a:r>
                        <a:rPr kumimoji="1" lang="ko-KR" altLang="ko-KR" sz="1000" b="0" i="0" u="none" strike="noStrike" kern="1200" cap="none" normalizeH="0" baseline="0" dirty="0" smtClean="0">
                          <a:ln>
                            <a:noFill/>
                          </a:ln>
                          <a:solidFill>
                            <a:schemeClr val="tx1"/>
                          </a:solidFill>
                          <a:effectLst/>
                          <a:latin typeface="+mn-ea"/>
                          <a:ea typeface="+mn-ea"/>
                          <a:cs typeface="+mn-cs"/>
                        </a:rPr>
                        <a:t>발생 판단의 객관적인 근거가 되는 기준</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아래 </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표준</a:t>
                      </a:r>
                      <a:r>
                        <a:rPr kumimoji="1" lang="en-US" altLang="ko-KR" sz="1000" b="0" i="0" u="none" strike="noStrike" kern="1200" cap="none" normalizeH="0" baseline="0" dirty="0" smtClean="0">
                          <a:ln>
                            <a:noFill/>
                          </a:ln>
                          <a:solidFill>
                            <a:schemeClr val="tx1"/>
                          </a:solidFill>
                          <a:effectLst/>
                          <a:latin typeface="+mn-ea"/>
                          <a:ea typeface="+mn-ea"/>
                          <a:cs typeface="+mn-cs"/>
                        </a:rPr>
                        <a:t> SPA </a:t>
                      </a:r>
                      <a:r>
                        <a:rPr kumimoji="1" lang="ko-KR" altLang="ko-KR" sz="1000" b="0" i="0" u="none" strike="noStrike" kern="1200" cap="none" normalizeH="0" baseline="0" dirty="0" smtClean="0">
                          <a:ln>
                            <a:noFill/>
                          </a:ln>
                          <a:solidFill>
                            <a:schemeClr val="tx1"/>
                          </a:solidFill>
                          <a:effectLst/>
                          <a:latin typeface="+mn-ea"/>
                          <a:ea typeface="+mn-ea"/>
                          <a:cs typeface="+mn-cs"/>
                        </a:rPr>
                        <a:t>문구</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에서의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전체 총자산의</a:t>
                      </a:r>
                      <a:r>
                        <a:rPr kumimoji="1" lang="en-US" altLang="ko-KR" sz="1000" b="0" i="0" u="none" strike="noStrike" kern="1200" cap="none" normalizeH="0" baseline="0" dirty="0" smtClean="0">
                          <a:ln>
                            <a:noFill/>
                          </a:ln>
                          <a:solidFill>
                            <a:schemeClr val="tx1"/>
                          </a:solidFill>
                          <a:effectLst/>
                          <a:latin typeface="+mn-ea"/>
                          <a:ea typeface="+mn-ea"/>
                          <a:cs typeface="+mn-cs"/>
                        </a:rPr>
                        <a:t> [•]% </a:t>
                      </a:r>
                      <a:r>
                        <a:rPr kumimoji="1" lang="ko-KR" altLang="ko-KR" sz="1000" b="0" i="0" u="none" strike="noStrike" kern="1200" cap="none" normalizeH="0" baseline="0" dirty="0" smtClean="0">
                          <a:ln>
                            <a:noFill/>
                          </a:ln>
                          <a:solidFill>
                            <a:schemeClr val="tx1"/>
                          </a:solidFill>
                          <a:effectLst/>
                          <a:latin typeface="+mn-ea"/>
                          <a:ea typeface="+mn-ea"/>
                          <a:cs typeface="+mn-cs"/>
                        </a:rPr>
                        <a:t>이상</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자체를 삭제하거나 기준 금액을 높임</a:t>
                      </a:r>
                      <a:r>
                        <a:rPr kumimoji="1" lang="en-US" altLang="ko-KR" sz="1000" b="0" i="0" u="none" strike="noStrike" kern="1200" cap="none" normalizeH="0" baseline="0" dirty="0" smtClean="0">
                          <a:ln>
                            <a:noFill/>
                          </a:ln>
                          <a:solidFill>
                            <a:schemeClr val="tx1"/>
                          </a:solidFill>
                          <a:effectLst/>
                          <a:latin typeface="+mn-ea"/>
                          <a:ea typeface="+mn-ea"/>
                          <a:cs typeface="+mn-cs"/>
                        </a:rPr>
                        <a:t>.</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228600" indent="-228600" algn="l" defTabSz="914400" rtl="0" eaLnBrk="1" latinLnBrk="1" hangingPunct="1">
                        <a:lnSpc>
                          <a:spcPct val="110000"/>
                        </a:lnSpc>
                        <a:spcAft>
                          <a:spcPts val="0"/>
                        </a:spcAft>
                        <a:buFont typeface="+mj-lt"/>
                        <a:buAutoNum type="arabicPeriod"/>
                      </a:pPr>
                      <a:r>
                        <a:rPr lang="ko-KR" altLang="ko-KR" sz="1000" b="1" kern="1200" dirty="0" smtClean="0">
                          <a:solidFill>
                            <a:schemeClr val="tx1"/>
                          </a:solidFill>
                          <a:effectLst/>
                          <a:latin typeface="+mn-ea"/>
                          <a:ea typeface="+mn-ea"/>
                          <a:cs typeface="Times New Roman" panose="02020603050405020304" pitchFamily="18" charset="0"/>
                        </a:rPr>
                        <a:t>매수인</a:t>
                      </a:r>
                      <a:r>
                        <a:rPr lang="en-US" altLang="ko-KR" sz="1000" b="0" kern="1200" dirty="0" smtClean="0">
                          <a:solidFill>
                            <a:schemeClr val="tx1"/>
                          </a:solidFill>
                          <a:effectLst/>
                          <a:latin typeface="+mn-ea"/>
                          <a:ea typeface="+mn-ea"/>
                          <a:cs typeface="Times New Roman" panose="02020603050405020304" pitchFamily="18" charset="0"/>
                        </a:rPr>
                        <a:t>: MAE</a:t>
                      </a:r>
                      <a:r>
                        <a:rPr lang="ko-KR" altLang="ko-KR" sz="1000" b="0" kern="1200" dirty="0" smtClean="0">
                          <a:solidFill>
                            <a:schemeClr val="tx1"/>
                          </a:solidFill>
                          <a:effectLst/>
                          <a:latin typeface="+mn-ea"/>
                          <a:ea typeface="+mn-ea"/>
                          <a:cs typeface="Times New Roman" panose="02020603050405020304" pitchFamily="18" charset="0"/>
                        </a:rPr>
                        <a:t>가 넓을수록 유리함</a:t>
                      </a:r>
                      <a:r>
                        <a:rPr lang="en-US" altLang="ko-KR" sz="1000" b="0" kern="1200" dirty="0" smtClean="0">
                          <a:solidFill>
                            <a:schemeClr val="tx1"/>
                          </a:solidFill>
                          <a:effectLst/>
                          <a:latin typeface="+mn-ea"/>
                          <a:ea typeface="+mn-ea"/>
                          <a:cs typeface="Times New Roman" panose="02020603050405020304" pitchFamily="18" charset="0"/>
                        </a:rPr>
                        <a:t>. </a:t>
                      </a:r>
                      <a:r>
                        <a:rPr lang="ko-KR" altLang="ko-KR" sz="1000" b="0" kern="1200" dirty="0" smtClean="0">
                          <a:solidFill>
                            <a:schemeClr val="tx1"/>
                          </a:solidFill>
                          <a:effectLst/>
                          <a:latin typeface="+mn-ea"/>
                          <a:ea typeface="+mn-ea"/>
                          <a:cs typeface="Times New Roman" panose="02020603050405020304" pitchFamily="18" charset="0"/>
                        </a:rPr>
                        <a:t>아래 표준 </a:t>
                      </a:r>
                      <a:r>
                        <a:rPr lang="en-US" altLang="ko-KR" sz="1000" b="0" kern="1200" dirty="0" smtClean="0">
                          <a:solidFill>
                            <a:schemeClr val="tx1"/>
                          </a:solidFill>
                          <a:effectLst/>
                          <a:latin typeface="+mn-ea"/>
                          <a:ea typeface="+mn-ea"/>
                          <a:cs typeface="Times New Roman" panose="02020603050405020304" pitchFamily="18" charset="0"/>
                        </a:rPr>
                        <a:t>SPA </a:t>
                      </a:r>
                      <a:r>
                        <a:rPr lang="ko-KR" altLang="ko-KR" sz="1000" b="0" kern="1200" dirty="0" smtClean="0">
                          <a:solidFill>
                            <a:schemeClr val="tx1"/>
                          </a:solidFill>
                          <a:effectLst/>
                          <a:latin typeface="+mn-ea"/>
                          <a:ea typeface="+mn-ea"/>
                          <a:cs typeface="Times New Roman" panose="02020603050405020304" pitchFamily="18" charset="0"/>
                        </a:rPr>
                        <a:t>문구가 매수인이 취할 수 있는 일반적인 정의임</a:t>
                      </a:r>
                      <a:r>
                        <a:rPr lang="en-US" altLang="ko-KR" sz="1000" b="0" kern="1200" dirty="0" smtClean="0">
                          <a:solidFill>
                            <a:schemeClr val="tx1"/>
                          </a:solidFill>
                          <a:effectLst/>
                          <a:latin typeface="+mn-ea"/>
                          <a:ea typeface="+mn-ea"/>
                          <a:cs typeface="Times New Roman" panose="02020603050405020304" pitchFamily="18" charset="0"/>
                        </a:rPr>
                        <a:t>.</a:t>
                      </a:r>
                      <a:endParaRPr lang="ko-KR" altLang="ko-KR" sz="1000" b="0" kern="1200" dirty="0" smtClean="0">
                        <a:solidFill>
                          <a:schemeClr val="tx1"/>
                        </a:solidFill>
                        <a:effectLst/>
                        <a:latin typeface="+mn-ea"/>
                        <a:ea typeface="+mn-ea"/>
                        <a:cs typeface="Times New Roman" panose="02020603050405020304" pitchFamily="18" charset="0"/>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MAE </a:t>
                      </a:r>
                      <a:r>
                        <a:rPr kumimoji="1" lang="ko-KR" altLang="ko-KR" sz="1000" b="0" i="0" u="none" strike="noStrike" kern="1200" cap="none" normalizeH="0" baseline="0" dirty="0" smtClean="0">
                          <a:ln>
                            <a:noFill/>
                          </a:ln>
                          <a:solidFill>
                            <a:schemeClr val="tx1"/>
                          </a:solidFill>
                          <a:effectLst/>
                          <a:latin typeface="+mn-ea"/>
                          <a:ea typeface="+mn-ea"/>
                          <a:cs typeface="+mn-cs"/>
                        </a:rPr>
                        <a:t>입증을 용이하게 하기 위해 더 명확하게 규정하고자</a:t>
                      </a:r>
                      <a:r>
                        <a:rPr kumimoji="1" lang="en-US" altLang="ko-KR" sz="1000" b="0" i="0" u="none" strike="noStrike" kern="1200" cap="none" normalizeH="0" baseline="0" dirty="0" smtClean="0">
                          <a:ln>
                            <a:noFill/>
                          </a:ln>
                          <a:solidFill>
                            <a:schemeClr val="tx1"/>
                          </a:solidFill>
                          <a:effectLst/>
                          <a:latin typeface="+mn-ea"/>
                          <a:ea typeface="+mn-ea"/>
                          <a:cs typeface="+mn-cs"/>
                        </a:rPr>
                        <a:t> MAE</a:t>
                      </a:r>
                      <a:r>
                        <a:rPr kumimoji="1" lang="ko-KR" altLang="ko-KR" sz="1000" b="0" i="0" u="none" strike="noStrike" kern="1200" cap="none" normalizeH="0" baseline="0" dirty="0" smtClean="0">
                          <a:ln>
                            <a:noFill/>
                          </a:ln>
                          <a:solidFill>
                            <a:schemeClr val="tx1"/>
                          </a:solidFill>
                          <a:effectLst/>
                          <a:latin typeface="+mn-ea"/>
                          <a:ea typeface="+mn-ea"/>
                          <a:cs typeface="+mn-cs"/>
                        </a:rPr>
                        <a:t>의 기준 금액</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예컨대 자산 또는 매출</a:t>
                      </a:r>
                      <a:r>
                        <a:rPr kumimoji="1" lang="en-US" altLang="ko-KR" sz="1000" b="0" i="0" u="none" strike="noStrike" kern="1200" cap="none" normalizeH="0" baseline="0" dirty="0" smtClean="0">
                          <a:ln>
                            <a:noFill/>
                          </a:ln>
                          <a:solidFill>
                            <a:schemeClr val="tx1"/>
                          </a:solidFill>
                          <a:effectLst/>
                          <a:latin typeface="+mn-ea"/>
                          <a:ea typeface="+mn-ea"/>
                          <a:cs typeface="+mn-cs"/>
                        </a:rPr>
                        <a:t> % </a:t>
                      </a:r>
                      <a:r>
                        <a:rPr kumimoji="1" lang="ko-KR" altLang="ko-KR" sz="1000" b="0" i="0" u="none" strike="noStrike" kern="1200" cap="none" normalizeH="0" baseline="0" dirty="0" smtClean="0">
                          <a:ln>
                            <a:noFill/>
                          </a:ln>
                          <a:solidFill>
                            <a:schemeClr val="tx1"/>
                          </a:solidFill>
                          <a:effectLst/>
                          <a:latin typeface="+mn-ea"/>
                          <a:ea typeface="+mn-ea"/>
                          <a:cs typeface="+mn-cs"/>
                        </a:rPr>
                        <a:t>감소</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을 추가하는 방안을 고려</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이와 관련하여</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ko-KR" sz="1000" b="0" i="0" u="none" strike="noStrike" kern="1200" cap="none" normalizeH="0" baseline="0" dirty="0" smtClean="0">
                          <a:ln>
                            <a:noFill/>
                          </a:ln>
                          <a:solidFill>
                            <a:schemeClr val="tx1"/>
                          </a:solidFill>
                          <a:effectLst/>
                          <a:latin typeface="+mn-ea"/>
                          <a:ea typeface="+mn-ea"/>
                          <a:cs typeface="+mn-cs"/>
                        </a:rPr>
                        <a:t>기준 금액의 설정에 있어서 아래와 같은 기준을 고려할 수 있음</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ko-KR" sz="1000" b="0" i="0" u="none" strike="noStrike" kern="1200" cap="none" normalizeH="0" baseline="0" dirty="0" smtClean="0">
                          <a:ln>
                            <a:noFill/>
                          </a:ln>
                          <a:solidFill>
                            <a:schemeClr val="tx1"/>
                          </a:solidFill>
                          <a:effectLst/>
                          <a:latin typeface="+mn-ea"/>
                          <a:ea typeface="+mn-ea"/>
                          <a:cs typeface="+mn-cs"/>
                        </a:rPr>
                        <a:t>기준 금액의 범위는 통상</a:t>
                      </a:r>
                      <a:r>
                        <a:rPr kumimoji="1" lang="en-US" altLang="ko-KR" sz="1000" b="0" i="0" u="none" strike="noStrike" kern="1200" cap="none" normalizeH="0" baseline="0" dirty="0" smtClean="0">
                          <a:ln>
                            <a:noFill/>
                          </a:ln>
                          <a:solidFill>
                            <a:schemeClr val="tx1"/>
                          </a:solidFill>
                          <a:effectLst/>
                          <a:latin typeface="+mn-ea"/>
                          <a:ea typeface="+mn-ea"/>
                          <a:cs typeface="+mn-cs"/>
                        </a:rPr>
                        <a:t> [20~50]% </a:t>
                      </a:r>
                      <a:r>
                        <a:rPr kumimoji="1" lang="ko-KR" altLang="ko-KR" sz="1000" b="0" i="0" u="none" strike="noStrike" kern="1200" cap="none" normalizeH="0" baseline="0" dirty="0" smtClean="0">
                          <a:ln>
                            <a:noFill/>
                          </a:ln>
                          <a:solidFill>
                            <a:schemeClr val="tx1"/>
                          </a:solidFill>
                          <a:effectLst/>
                          <a:latin typeface="+mn-ea"/>
                          <a:ea typeface="+mn-ea"/>
                          <a:cs typeface="+mn-cs"/>
                        </a:rPr>
                        <a:t>안에서 협의에 따라 결정됨</a:t>
                      </a:r>
                      <a:r>
                        <a:rPr kumimoji="1" lang="en-US" altLang="ko-KR" sz="1000" b="0" i="0" u="none" strike="noStrike" kern="1200" cap="none" normalizeH="0" baseline="0" dirty="0" smtClean="0">
                          <a:ln>
                            <a:noFill/>
                          </a:ln>
                          <a:solidFill>
                            <a:schemeClr val="tx1"/>
                          </a:solidFill>
                          <a:effectLst/>
                          <a:latin typeface="+mn-ea"/>
                          <a:ea typeface="+mn-ea"/>
                          <a:cs typeface="+mn-cs"/>
                        </a:rPr>
                        <a:t>).</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재무제표 기준일 대비 기업가치의</a:t>
                      </a:r>
                      <a:r>
                        <a:rPr kumimoji="1" lang="en-US" altLang="ko-KR" sz="1000" b="0" i="0" u="none" strike="noStrike" kern="1200" cap="none" normalizeH="0" baseline="0" dirty="0" smtClean="0">
                          <a:ln>
                            <a:noFill/>
                          </a:ln>
                          <a:solidFill>
                            <a:schemeClr val="tx1"/>
                          </a:solidFill>
                          <a:effectLst/>
                          <a:latin typeface="+mn-ea"/>
                          <a:ea typeface="+mn-ea"/>
                          <a:cs typeface="+mn-cs"/>
                        </a:rPr>
                        <a:t> [25]% </a:t>
                      </a:r>
                      <a:r>
                        <a:rPr kumimoji="1" lang="ko-KR" altLang="ko-KR" sz="1000" b="0" i="0" u="none" strike="noStrike" kern="1200" cap="none" normalizeH="0" baseline="0" dirty="0" smtClean="0">
                          <a:ln>
                            <a:noFill/>
                          </a:ln>
                          <a:solidFill>
                            <a:schemeClr val="tx1"/>
                          </a:solidFill>
                          <a:effectLst/>
                          <a:latin typeface="+mn-ea"/>
                          <a:ea typeface="+mn-ea"/>
                          <a:cs typeface="+mn-cs"/>
                        </a:rPr>
                        <a:t>이상 하락</a:t>
                      </a:r>
                      <a:r>
                        <a:rPr kumimoji="1" lang="en-US" altLang="ko-KR" sz="1000" b="0" i="0" u="none" strike="noStrike" kern="1200" cap="none" normalizeH="0" baseline="0" dirty="0" smtClean="0">
                          <a:ln>
                            <a:noFill/>
                          </a:ln>
                          <a:solidFill>
                            <a:schemeClr val="tx1"/>
                          </a:solidFill>
                          <a:effectLst/>
                          <a:latin typeface="+mn-ea"/>
                          <a:ea typeface="+mn-ea"/>
                          <a:cs typeface="+mn-cs"/>
                        </a:rPr>
                        <a:t>(Decrease in the enterprise value by [25]% since the Balance Sheet Date);</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연간 매출액의</a:t>
                      </a:r>
                      <a:r>
                        <a:rPr kumimoji="1" lang="en-US" altLang="ko-KR" sz="1000" b="0" i="0" u="none" strike="noStrike" kern="1200" cap="none" normalizeH="0" baseline="0" dirty="0" smtClean="0">
                          <a:ln>
                            <a:noFill/>
                          </a:ln>
                          <a:solidFill>
                            <a:schemeClr val="tx1"/>
                          </a:solidFill>
                          <a:effectLst/>
                          <a:latin typeface="+mn-ea"/>
                          <a:ea typeface="+mn-ea"/>
                          <a:cs typeface="+mn-cs"/>
                        </a:rPr>
                        <a:t> [25]% </a:t>
                      </a:r>
                      <a:r>
                        <a:rPr kumimoji="1" lang="ko-KR" altLang="ko-KR" sz="1000" b="0" i="0" u="none" strike="noStrike" kern="1200" cap="none" normalizeH="0" baseline="0" dirty="0" smtClean="0">
                          <a:ln>
                            <a:noFill/>
                          </a:ln>
                          <a:solidFill>
                            <a:schemeClr val="tx1"/>
                          </a:solidFill>
                          <a:effectLst/>
                          <a:latin typeface="+mn-ea"/>
                          <a:ea typeface="+mn-ea"/>
                          <a:cs typeface="+mn-cs"/>
                        </a:rPr>
                        <a:t>이상 하락</a:t>
                      </a:r>
                      <a:r>
                        <a:rPr kumimoji="1" lang="en-US" altLang="ko-KR" sz="1000" b="0" i="0" u="none" strike="noStrike" kern="1200" cap="none" normalizeH="0" baseline="0" dirty="0" smtClean="0">
                          <a:ln>
                            <a:noFill/>
                          </a:ln>
                          <a:solidFill>
                            <a:schemeClr val="tx1"/>
                          </a:solidFill>
                          <a:effectLst/>
                          <a:latin typeface="+mn-ea"/>
                          <a:ea typeface="+mn-ea"/>
                          <a:cs typeface="+mn-cs"/>
                        </a:rPr>
                        <a:t>(Reduction of annual sales by [25]%);</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altLang="ko-KR" sz="1000" b="0" i="0" u="none" strike="noStrike" kern="1200" cap="none" normalizeH="0" baseline="0" dirty="0" smtClean="0">
                          <a:ln>
                            <a:noFill/>
                          </a:ln>
                          <a:solidFill>
                            <a:schemeClr val="tx1"/>
                          </a:solidFill>
                          <a:effectLst/>
                          <a:latin typeface="+mn-ea"/>
                          <a:ea typeface="+mn-ea"/>
                          <a:cs typeface="+mn-cs"/>
                        </a:rPr>
                        <a:t>자산총액의</a:t>
                      </a:r>
                      <a:r>
                        <a:rPr kumimoji="1" lang="en-US" altLang="ko-KR" sz="1000" b="0" i="0" u="none" strike="noStrike" kern="1200" cap="none" normalizeH="0" baseline="0" dirty="0" smtClean="0">
                          <a:ln>
                            <a:noFill/>
                          </a:ln>
                          <a:solidFill>
                            <a:schemeClr val="tx1"/>
                          </a:solidFill>
                          <a:effectLst/>
                          <a:latin typeface="+mn-ea"/>
                          <a:ea typeface="+mn-ea"/>
                          <a:cs typeface="+mn-cs"/>
                        </a:rPr>
                        <a:t> [25]% </a:t>
                      </a:r>
                      <a:r>
                        <a:rPr kumimoji="1" lang="ko-KR" altLang="ko-KR" sz="1000" b="0" i="0" u="none" strike="noStrike" kern="1200" cap="none" normalizeH="0" baseline="0" dirty="0" smtClean="0">
                          <a:ln>
                            <a:noFill/>
                          </a:ln>
                          <a:solidFill>
                            <a:schemeClr val="tx1"/>
                          </a:solidFill>
                          <a:effectLst/>
                          <a:latin typeface="+mn-ea"/>
                          <a:ea typeface="+mn-ea"/>
                          <a:cs typeface="+mn-cs"/>
                        </a:rPr>
                        <a:t>이상 감소 또는 부채총액의</a:t>
                      </a:r>
                      <a:r>
                        <a:rPr kumimoji="1" lang="en-US" altLang="ko-KR" sz="1000" b="0" i="0" u="none" strike="noStrike" kern="1200" cap="none" normalizeH="0" baseline="0" dirty="0" smtClean="0">
                          <a:ln>
                            <a:noFill/>
                          </a:ln>
                          <a:solidFill>
                            <a:schemeClr val="tx1"/>
                          </a:solidFill>
                          <a:effectLst/>
                          <a:latin typeface="+mn-ea"/>
                          <a:ea typeface="+mn-ea"/>
                          <a:cs typeface="+mn-cs"/>
                        </a:rPr>
                        <a:t> [25]% </a:t>
                      </a:r>
                      <a:r>
                        <a:rPr kumimoji="1" lang="ko-KR" altLang="ko-KR" sz="1000" b="0" i="0" u="none" strike="noStrike" kern="1200" cap="none" normalizeH="0" baseline="0" dirty="0" smtClean="0">
                          <a:ln>
                            <a:noFill/>
                          </a:ln>
                          <a:solidFill>
                            <a:schemeClr val="tx1"/>
                          </a:solidFill>
                          <a:effectLst/>
                          <a:latin typeface="+mn-ea"/>
                          <a:ea typeface="+mn-ea"/>
                          <a:cs typeface="+mn-cs"/>
                        </a:rPr>
                        <a:t>이상 증가</a:t>
                      </a:r>
                      <a:r>
                        <a:rPr kumimoji="1" lang="en-US" altLang="ko-KR" sz="1000" b="0" i="0" u="none" strike="noStrike" kern="1200" cap="none" normalizeH="0" baseline="0" dirty="0" smtClean="0">
                          <a:ln>
                            <a:noFill/>
                          </a:ln>
                          <a:solidFill>
                            <a:schemeClr val="tx1"/>
                          </a:solidFill>
                          <a:effectLst/>
                          <a:latin typeface="+mn-ea"/>
                          <a:ea typeface="+mn-ea"/>
                          <a:cs typeface="+mn-cs"/>
                        </a:rPr>
                        <a:t>(Reduction of total assets or an increase in liabilities by [25]%)</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MAE</a:t>
                      </a:r>
                      <a:r>
                        <a:rPr kumimoji="1" lang="ko-KR" altLang="ko-KR" sz="1000" b="0" i="0" u="none" strike="noStrike" kern="1200" cap="none" normalizeH="0" baseline="0" dirty="0" smtClean="0">
                          <a:ln>
                            <a:noFill/>
                          </a:ln>
                          <a:solidFill>
                            <a:schemeClr val="tx1"/>
                          </a:solidFill>
                          <a:effectLst/>
                          <a:latin typeface="+mn-ea"/>
                          <a:ea typeface="+mn-ea"/>
                          <a:cs typeface="+mn-cs"/>
                        </a:rPr>
                        <a:t>의 예외 사유를 가급적 줄이고자 함</a:t>
                      </a:r>
                      <a:r>
                        <a:rPr kumimoji="1" lang="en-US" altLang="ko-KR" sz="1000" b="0" i="0" u="none" strike="noStrike" kern="1200" cap="none" normalizeH="0" baseline="0" dirty="0" smtClean="0">
                          <a:ln>
                            <a:noFill/>
                          </a:ln>
                          <a:solidFill>
                            <a:schemeClr val="tx1"/>
                          </a:solidFill>
                          <a:effectLst/>
                          <a:latin typeface="+mn-ea"/>
                          <a:ea typeface="+mn-ea"/>
                          <a:cs typeface="+mn-cs"/>
                        </a:rPr>
                        <a:t>.</a:t>
                      </a:r>
                      <a:endParaRPr kumimoji="1" lang="ko-KR" altLang="ko-KR" sz="1000" b="0" i="0" u="none" strike="noStrike" kern="1200" cap="none" normalizeH="0" baseline="0" dirty="0" smtClean="0">
                        <a:ln>
                          <a:noFill/>
                        </a:ln>
                        <a:solidFill>
                          <a:schemeClr val="tx1"/>
                        </a:solidFill>
                        <a:effectLst/>
                        <a:latin typeface="+mn-ea"/>
                        <a:ea typeface="+mn-ea"/>
                        <a:cs typeface="+mn-cs"/>
                      </a:endParaRPr>
                    </a:p>
                    <a:p>
                      <a:pPr marL="0" indent="0" algn="l" defTabSz="914400" rtl="0" eaLnBrk="1" latinLnBrk="1" hangingPunct="1">
                        <a:lnSpc>
                          <a:spcPct val="110000"/>
                        </a:lnSpc>
                        <a:spcAft>
                          <a:spcPts val="0"/>
                        </a:spcAft>
                        <a:buFont typeface="+mj-lt"/>
                        <a:buNone/>
                      </a:pPr>
                      <a:r>
                        <a:rPr lang="ko-KR" altLang="ko-KR" sz="1000" b="0" kern="1200" dirty="0" smtClean="0">
                          <a:solidFill>
                            <a:schemeClr val="tx1"/>
                          </a:solidFill>
                          <a:effectLst/>
                          <a:latin typeface="+mn-ea"/>
                          <a:ea typeface="+mn-ea"/>
                          <a:cs typeface="Times New Roman" panose="02020603050405020304" pitchFamily="18" charset="0"/>
                        </a:rPr>
                        <a:t>미국에서는 구체적인</a:t>
                      </a:r>
                      <a:r>
                        <a:rPr lang="en-US" altLang="ko-KR" sz="1000" b="0" kern="1200" dirty="0" smtClean="0">
                          <a:solidFill>
                            <a:schemeClr val="tx1"/>
                          </a:solidFill>
                          <a:effectLst/>
                          <a:latin typeface="+mn-ea"/>
                          <a:ea typeface="+mn-ea"/>
                          <a:cs typeface="Times New Roman" panose="02020603050405020304" pitchFamily="18" charset="0"/>
                        </a:rPr>
                        <a:t> numeric threshold </a:t>
                      </a:r>
                      <a:r>
                        <a:rPr lang="ko-KR" altLang="ko-KR" sz="1000" b="0" kern="1200" dirty="0" smtClean="0">
                          <a:solidFill>
                            <a:schemeClr val="tx1"/>
                          </a:solidFill>
                          <a:effectLst/>
                          <a:latin typeface="+mn-ea"/>
                          <a:ea typeface="+mn-ea"/>
                          <a:cs typeface="Times New Roman" panose="02020603050405020304" pitchFamily="18" charset="0"/>
                        </a:rPr>
                        <a:t>기준이 없는 상태에서는</a:t>
                      </a:r>
                      <a:r>
                        <a:rPr lang="en-US" altLang="ko-KR" sz="1000" b="0" kern="1200" dirty="0" smtClean="0">
                          <a:solidFill>
                            <a:schemeClr val="tx1"/>
                          </a:solidFill>
                          <a:effectLst/>
                          <a:latin typeface="+mn-ea"/>
                          <a:ea typeface="+mn-ea"/>
                          <a:cs typeface="Times New Roman" panose="02020603050405020304" pitchFamily="18" charset="0"/>
                        </a:rPr>
                        <a:t> MAE</a:t>
                      </a:r>
                      <a:r>
                        <a:rPr lang="ko-KR" altLang="ko-KR" sz="1000" b="0" kern="1200" dirty="0" smtClean="0">
                          <a:solidFill>
                            <a:schemeClr val="tx1"/>
                          </a:solidFill>
                          <a:effectLst/>
                          <a:latin typeface="+mn-ea"/>
                          <a:ea typeface="+mn-ea"/>
                          <a:cs typeface="Times New Roman" panose="02020603050405020304" pitchFamily="18" charset="0"/>
                        </a:rPr>
                        <a:t>에 해당함을 입증하기가 쉽지 않은 것으로 알려져 </a:t>
                      </a:r>
                      <a:r>
                        <a:rPr lang="ko-KR" altLang="en-US" sz="1000" b="0" kern="1200" dirty="0" smtClean="0">
                          <a:solidFill>
                            <a:schemeClr val="tx1"/>
                          </a:solidFill>
                          <a:effectLst/>
                          <a:latin typeface="+mn-ea"/>
                          <a:ea typeface="+mn-ea"/>
                          <a:cs typeface="Times New Roman" panose="02020603050405020304" pitchFamily="18" charset="0"/>
                        </a:rPr>
                        <a:t>있음</a:t>
                      </a:r>
                      <a:r>
                        <a:rPr lang="en-US" altLang="ko-KR" sz="1000" b="0" kern="1200" dirty="0" smtClean="0">
                          <a:solidFill>
                            <a:schemeClr val="tx1"/>
                          </a:solidFill>
                          <a:effectLst/>
                          <a:latin typeface="+mn-ea"/>
                          <a:ea typeface="+mn-ea"/>
                          <a:cs typeface="Times New Roman" panose="02020603050405020304" pitchFamily="18" charset="0"/>
                        </a:rPr>
                        <a:t>. </a:t>
                      </a:r>
                      <a:r>
                        <a:rPr lang="ko-KR" altLang="ko-KR" sz="1000" b="0" kern="1200" dirty="0" smtClean="0">
                          <a:solidFill>
                            <a:schemeClr val="tx1"/>
                          </a:solidFill>
                          <a:effectLst/>
                          <a:latin typeface="+mn-ea"/>
                          <a:ea typeface="+mn-ea"/>
                          <a:cs typeface="Times New Roman" panose="02020603050405020304" pitchFamily="18" charset="0"/>
                        </a:rPr>
                        <a:t>한국법에서는 미국</a:t>
                      </a:r>
                      <a:r>
                        <a:rPr lang="en-US" altLang="ko-KR" sz="1000" b="0" kern="1200" dirty="0" smtClean="0">
                          <a:solidFill>
                            <a:schemeClr val="tx1"/>
                          </a:solidFill>
                          <a:effectLst/>
                          <a:latin typeface="+mn-ea"/>
                          <a:ea typeface="+mn-ea"/>
                          <a:cs typeface="Times New Roman" panose="02020603050405020304" pitchFamily="18" charset="0"/>
                        </a:rPr>
                        <a:t> Delaware </a:t>
                      </a:r>
                      <a:r>
                        <a:rPr lang="ko-KR" altLang="ko-KR" sz="1000" b="0" kern="1200" dirty="0" smtClean="0">
                          <a:solidFill>
                            <a:schemeClr val="tx1"/>
                          </a:solidFill>
                          <a:effectLst/>
                          <a:latin typeface="+mn-ea"/>
                          <a:ea typeface="+mn-ea"/>
                          <a:cs typeface="Times New Roman" panose="02020603050405020304" pitchFamily="18" charset="0"/>
                        </a:rPr>
                        <a:t>법원과 비교하면 조금 더</a:t>
                      </a:r>
                      <a:r>
                        <a:rPr lang="en-US" altLang="ko-KR" sz="1000" b="0" kern="1200" dirty="0" smtClean="0">
                          <a:solidFill>
                            <a:schemeClr val="tx1"/>
                          </a:solidFill>
                          <a:effectLst/>
                          <a:latin typeface="+mn-ea"/>
                          <a:ea typeface="+mn-ea"/>
                          <a:cs typeface="Times New Roman" panose="02020603050405020304" pitchFamily="18" charset="0"/>
                        </a:rPr>
                        <a:t> relaxed standard </a:t>
                      </a:r>
                      <a:r>
                        <a:rPr lang="ko-KR" altLang="ko-KR" sz="1000" b="0" kern="1200" dirty="0" smtClean="0">
                          <a:solidFill>
                            <a:schemeClr val="tx1"/>
                          </a:solidFill>
                          <a:effectLst/>
                          <a:latin typeface="+mn-ea"/>
                          <a:ea typeface="+mn-ea"/>
                          <a:cs typeface="Times New Roman" panose="02020603050405020304" pitchFamily="18" charset="0"/>
                        </a:rPr>
                        <a:t>을 적용하여</a:t>
                      </a:r>
                      <a:r>
                        <a:rPr lang="en-US" altLang="ko-KR" sz="1000" b="0" kern="1200" dirty="0" smtClean="0">
                          <a:solidFill>
                            <a:schemeClr val="tx1"/>
                          </a:solidFill>
                          <a:effectLst/>
                          <a:latin typeface="+mn-ea"/>
                          <a:ea typeface="+mn-ea"/>
                          <a:cs typeface="Times New Roman" panose="02020603050405020304" pitchFamily="18" charset="0"/>
                        </a:rPr>
                        <a:t> MAE</a:t>
                      </a:r>
                      <a:r>
                        <a:rPr lang="ko-KR" altLang="ko-KR" sz="1000" b="0" kern="1200" dirty="0" smtClean="0">
                          <a:solidFill>
                            <a:schemeClr val="tx1"/>
                          </a:solidFill>
                          <a:effectLst/>
                          <a:latin typeface="+mn-ea"/>
                          <a:ea typeface="+mn-ea"/>
                          <a:cs typeface="Times New Roman" panose="02020603050405020304" pitchFamily="18" charset="0"/>
                        </a:rPr>
                        <a:t>를 인정한 사례도 있으나</a:t>
                      </a:r>
                      <a:r>
                        <a:rPr lang="en-US" altLang="ko-KR" sz="1000" b="0" kern="1200" dirty="0" smtClean="0">
                          <a:solidFill>
                            <a:schemeClr val="tx1"/>
                          </a:solidFill>
                          <a:effectLst/>
                          <a:latin typeface="+mn-ea"/>
                          <a:ea typeface="+mn-ea"/>
                          <a:cs typeface="Times New Roman" panose="02020603050405020304" pitchFamily="18" charset="0"/>
                        </a:rPr>
                        <a:t>, </a:t>
                      </a:r>
                      <a:r>
                        <a:rPr lang="ko-KR" altLang="ko-KR" sz="1000" b="0" kern="1200" dirty="0" smtClean="0">
                          <a:solidFill>
                            <a:schemeClr val="tx1"/>
                          </a:solidFill>
                          <a:effectLst/>
                          <a:latin typeface="+mn-ea"/>
                          <a:ea typeface="+mn-ea"/>
                          <a:cs typeface="Times New Roman" panose="02020603050405020304" pitchFamily="18" charset="0"/>
                        </a:rPr>
                        <a:t>통계적으로</a:t>
                      </a:r>
                      <a:r>
                        <a:rPr lang="en-US" altLang="ko-KR" sz="1000" b="0" kern="1200" dirty="0" smtClean="0">
                          <a:solidFill>
                            <a:schemeClr val="tx1"/>
                          </a:solidFill>
                          <a:effectLst/>
                          <a:latin typeface="+mn-ea"/>
                          <a:ea typeface="+mn-ea"/>
                          <a:cs typeface="Times New Roman" panose="02020603050405020304" pitchFamily="18" charset="0"/>
                        </a:rPr>
                        <a:t> numeric threshold </a:t>
                      </a:r>
                      <a:r>
                        <a:rPr lang="ko-KR" altLang="ko-KR" sz="1000" b="0" kern="1200" dirty="0" smtClean="0">
                          <a:solidFill>
                            <a:schemeClr val="tx1"/>
                          </a:solidFill>
                          <a:effectLst/>
                          <a:latin typeface="+mn-ea"/>
                          <a:ea typeface="+mn-ea"/>
                          <a:cs typeface="Times New Roman" panose="02020603050405020304" pitchFamily="18" charset="0"/>
                        </a:rPr>
                        <a:t>가 들어간</a:t>
                      </a:r>
                      <a:r>
                        <a:rPr lang="en-US" altLang="ko-KR" sz="1000" b="0" kern="1200" dirty="0" smtClean="0">
                          <a:solidFill>
                            <a:schemeClr val="tx1"/>
                          </a:solidFill>
                          <a:effectLst/>
                          <a:latin typeface="+mn-ea"/>
                          <a:ea typeface="+mn-ea"/>
                          <a:cs typeface="Times New Roman" panose="02020603050405020304" pitchFamily="18" charset="0"/>
                        </a:rPr>
                        <a:t> MAE </a:t>
                      </a:r>
                      <a:r>
                        <a:rPr lang="ko-KR" altLang="ko-KR" sz="1000" b="0" kern="1200" dirty="0" smtClean="0">
                          <a:solidFill>
                            <a:schemeClr val="tx1"/>
                          </a:solidFill>
                          <a:effectLst/>
                          <a:latin typeface="+mn-ea"/>
                          <a:ea typeface="+mn-ea"/>
                          <a:cs typeface="Times New Roman" panose="02020603050405020304" pitchFamily="18" charset="0"/>
                        </a:rPr>
                        <a:t>조항은 아직 매우 이례적으로 </a:t>
                      </a:r>
                      <a:r>
                        <a:rPr lang="ko-KR" altLang="en-US" sz="1000" b="0" kern="1200" dirty="0" smtClean="0">
                          <a:solidFill>
                            <a:schemeClr val="tx1"/>
                          </a:solidFill>
                          <a:effectLst/>
                          <a:latin typeface="+mn-ea"/>
                          <a:ea typeface="+mn-ea"/>
                          <a:cs typeface="Times New Roman" panose="02020603050405020304" pitchFamily="18" charset="0"/>
                        </a:rPr>
                        <a:t>보임</a:t>
                      </a:r>
                      <a:r>
                        <a:rPr lang="en-US" altLang="ko-KR" sz="1000" b="0" kern="1200" dirty="0" smtClean="0">
                          <a:solidFill>
                            <a:schemeClr val="tx1"/>
                          </a:solidFill>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443272002"/>
                  </a:ext>
                </a:extLst>
              </a:tr>
            </a:tbl>
          </a:graphicData>
        </a:graphic>
      </p:graphicFrame>
    </p:spTree>
    <p:extLst>
      <p:ext uri="{BB962C8B-B14F-4D97-AF65-F5344CB8AC3E}">
        <p14:creationId xmlns:p14="http://schemas.microsoft.com/office/powerpoint/2010/main" val="36622812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 Definitions</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91480"/>
            <a:ext cx="3716745" cy="276999"/>
          </a:xfrm>
          <a:prstGeom prst="rect">
            <a:avLst/>
          </a:prstGeom>
          <a:noFill/>
        </p:spPr>
        <p:txBody>
          <a:bodyPr wrap="square" rtlCol="0">
            <a:spAutoFit/>
          </a:bodyPr>
          <a:lstStyle/>
          <a:p>
            <a:r>
              <a:rPr lang="en-US" altLang="ko-KR" dirty="0" smtClean="0">
                <a:latin typeface="+mn-ea"/>
                <a:ea typeface="+mn-ea"/>
              </a:rPr>
              <a:t>4. </a:t>
            </a:r>
            <a:r>
              <a:rPr lang="en-US" altLang="ko-KR" dirty="0">
                <a:latin typeface="+mn-ea"/>
                <a:ea typeface="+mn-ea"/>
              </a:rPr>
              <a:t>“Material Adverse Effect” (MAE</a:t>
            </a:r>
            <a:r>
              <a:rPr lang="en-US" altLang="ko-KR" dirty="0" smtClean="0">
                <a:latin typeface="+mn-ea"/>
                <a:ea typeface="+mn-ea"/>
              </a:rPr>
              <a:t>) (2) </a:t>
            </a:r>
            <a:endParaRPr lang="ko-KR" altLang="en-US" dirty="0">
              <a:latin typeface="+mn-ea"/>
              <a:ea typeface="+mn-ea"/>
            </a:endParaRPr>
          </a:p>
        </p:txBody>
      </p:sp>
      <p:graphicFrame>
        <p:nvGraphicFramePr>
          <p:cNvPr id="4" name="표 3"/>
          <p:cNvGraphicFramePr>
            <a:graphicFrameLocks noGrp="1"/>
          </p:cNvGraphicFramePr>
          <p:nvPr>
            <p:extLst>
              <p:ext uri="{D42A27DB-BD31-4B8C-83A1-F6EECF244321}">
                <p14:modId xmlns:p14="http://schemas.microsoft.com/office/powerpoint/2010/main" val="1528095132"/>
              </p:ext>
            </p:extLst>
          </p:nvPr>
        </p:nvGraphicFramePr>
        <p:xfrm>
          <a:off x="439738" y="1031875"/>
          <a:ext cx="9188450" cy="3236390"/>
        </p:xfrm>
        <a:graphic>
          <a:graphicData uri="http://schemas.openxmlformats.org/drawingml/2006/table">
            <a:tbl>
              <a:tblPr firstRow="1" firstCol="1" bandRow="1"/>
              <a:tblGrid>
                <a:gridCol w="853257">
                  <a:extLst>
                    <a:ext uri="{9D8B030D-6E8A-4147-A177-3AD203B41FA5}">
                      <a16:colId xmlns:a16="http://schemas.microsoft.com/office/drawing/2014/main" val="1874141231"/>
                    </a:ext>
                  </a:extLst>
                </a:gridCol>
                <a:gridCol w="8335193">
                  <a:extLst>
                    <a:ext uri="{9D8B030D-6E8A-4147-A177-3AD203B41FA5}">
                      <a16:colId xmlns:a16="http://schemas.microsoft.com/office/drawing/2014/main" val="3951522846"/>
                    </a:ext>
                  </a:extLst>
                </a:gridCol>
              </a:tblGrid>
              <a:tr h="3236390">
                <a:tc>
                  <a:txBody>
                    <a:bodyPr/>
                    <a:lstStyle/>
                    <a:p>
                      <a:pPr algn="ctr" latinLnBrk="1">
                        <a:lnSpc>
                          <a:spcPct val="110000"/>
                        </a:lnSpc>
                        <a:spcAft>
                          <a:spcPts val="0"/>
                        </a:spcAft>
                      </a:pPr>
                      <a:r>
                        <a:rPr lang="ko-KR" altLang="en-US" sz="1000" b="1" dirty="0" smtClean="0">
                          <a:solidFill>
                            <a:schemeClr val="tx1"/>
                          </a:solidFill>
                          <a:effectLst/>
                          <a:latin typeface="+mn-ea"/>
                          <a:ea typeface="+mn-ea"/>
                          <a:cs typeface="Times New Roman" panose="02020603050405020304" pitchFamily="18" charset="0"/>
                        </a:rPr>
                        <a:t>표준 </a:t>
                      </a:r>
                      <a:r>
                        <a:rPr lang="en-US" altLang="ko-KR" sz="1000" b="1" dirty="0" smtClean="0">
                          <a:solidFill>
                            <a:schemeClr val="tx1"/>
                          </a:solidFill>
                          <a:effectLst/>
                          <a:latin typeface="+mn-ea"/>
                          <a:ea typeface="+mn-ea"/>
                          <a:cs typeface="Times New Roman" panose="02020603050405020304" pitchFamily="18" charset="0"/>
                        </a:rPr>
                        <a:t>SPA </a:t>
                      </a:r>
                      <a:br>
                        <a:rPr lang="en-US" altLang="ko-KR" sz="1000" b="1" dirty="0" smtClean="0">
                          <a:solidFill>
                            <a:schemeClr val="tx1"/>
                          </a:solidFill>
                          <a:effectLst/>
                          <a:latin typeface="+mn-ea"/>
                          <a:ea typeface="+mn-ea"/>
                          <a:cs typeface="Times New Roman" panose="02020603050405020304" pitchFamily="18" charset="0"/>
                        </a:rPr>
                      </a:br>
                      <a:r>
                        <a:rPr lang="ko-KR" altLang="en-US"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“Material Adverse Effect” shall mean any fact, event, circumstance, development, effect or change that, individually or in the aggregate, has had, or would reasonably be likely to have a material adverse effect on the business, results of operations, condition (financial or otherwise), assets, or Liabilities of the Company, but excluding any such fact, event or change to the extent resulting from, (a) changes after the date of this Agreement in general economic, financial, regulatory or geopolitical conditions globally, in the United States or in any other country in which the Company operates its business, (b) changes after the date of this Agreement in the credit, debt, financial or capital markets or changes in interest or exchange rates, in each case, globally, in the United States or in any other country in which the Company operates its business, (c) changes after the date of this Agreement in Laws affecting the Company or changes after the date of this Agreement in GAAP or any other generally accepted accounting principles, (d) disasters, calamities, epidemics, pandemics, cyberattacks, emergencies, similar events or any military conflict, outbreak or escalation of hostilities, (e) terrorism of any kind, (f) any action taken or omitted to be taken by, at the request of, Buyer or any of its Affiliates, or (g) any failure by the Company to meet projections, forecasts, estimates or financial analyses for the Company, including projections, forecasts, estimates or financial analyses prepared for, by or on behalf of Buyer or any of its Affiliates (provided, however, that any fact, event or change that caused such failure to meet projections, forecasts, estimates or financial analyses shall not be excluded under this clause (i)); provided, however, that, in the case of the foregoing clauses, (a), (b), (c), (d), or (e), any such fact, event or change shall not be deemed to be excluded solely to the extent it individually or in the aggregate has a disproportionate adverse effect on the business, results of operations, condition (financial or otherwise), assets, or Liabilities of the Company as compared to other Persons similarly situated in the same industry.</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67659684"/>
                  </a:ext>
                </a:extLst>
              </a:tr>
            </a:tbl>
          </a:graphicData>
        </a:graphic>
      </p:graphicFrame>
    </p:spTree>
    <p:extLst>
      <p:ext uri="{BB962C8B-B14F-4D97-AF65-F5344CB8AC3E}">
        <p14:creationId xmlns:p14="http://schemas.microsoft.com/office/powerpoint/2010/main" val="28284963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947098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 Definitions</a:t>
            </a:r>
            <a:endParaRPr lang="ko-KR" altLang="en-US" dirty="0">
              <a:solidFill>
                <a:srgbClr val="FF0000"/>
              </a:solidFill>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91230"/>
            <a:ext cx="9163776" cy="276999"/>
          </a:xfrm>
          <a:prstGeom prst="rect">
            <a:avLst/>
          </a:prstGeom>
          <a:noFill/>
        </p:spPr>
        <p:txBody>
          <a:bodyPr wrap="square" rtlCol="0">
            <a:spAutoFit/>
          </a:bodyPr>
          <a:lstStyle/>
          <a:p>
            <a:r>
              <a:rPr lang="en-US" altLang="ko-KR" dirty="0" smtClean="0">
                <a:latin typeface="+mn-ea"/>
                <a:ea typeface="+mn-ea"/>
              </a:rPr>
              <a:t>5</a:t>
            </a:r>
            <a:r>
              <a:rPr lang="en-US" altLang="ko-KR" dirty="0">
                <a:latin typeface="+mn-ea"/>
                <a:ea typeface="+mn-ea"/>
              </a:rPr>
              <a:t>. “Net Working Capital” </a:t>
            </a:r>
            <a:endParaRPr lang="ko-KR" altLang="en-US"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1742070631"/>
              </p:ext>
            </p:extLst>
          </p:nvPr>
        </p:nvGraphicFramePr>
        <p:xfrm>
          <a:off x="439738" y="1035800"/>
          <a:ext cx="9188450" cy="2632990"/>
        </p:xfrm>
        <a:graphic>
          <a:graphicData uri="http://schemas.openxmlformats.org/drawingml/2006/table">
            <a:tbl>
              <a:tblPr firstRow="1" firstCol="1" bandRow="1"/>
              <a:tblGrid>
                <a:gridCol w="853257">
                  <a:extLst>
                    <a:ext uri="{9D8B030D-6E8A-4147-A177-3AD203B41FA5}">
                      <a16:colId xmlns:a16="http://schemas.microsoft.com/office/drawing/2014/main" val="2592267081"/>
                    </a:ext>
                  </a:extLst>
                </a:gridCol>
                <a:gridCol w="8335193">
                  <a:extLst>
                    <a:ext uri="{9D8B030D-6E8A-4147-A177-3AD203B41FA5}">
                      <a16:colId xmlns:a16="http://schemas.microsoft.com/office/drawing/2014/main" val="2703969183"/>
                    </a:ext>
                  </a:extLst>
                </a:gridCol>
              </a:tblGrid>
              <a:tr h="714670">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원칙</a:t>
                      </a:r>
                      <a:r>
                        <a:rPr lang="en-US" sz="1000" b="1" dirty="0">
                          <a:effectLst/>
                          <a:latin typeface="+mn-ea"/>
                          <a:ea typeface="+mn-ea"/>
                          <a:cs typeface="Times New Roman" panose="02020603050405020304" pitchFamily="18" charset="0"/>
                        </a:rPr>
                        <a:t>/</a:t>
                      </a:r>
                      <a:r>
                        <a:rPr lang="ko-KR" sz="1000" b="1" dirty="0">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1" hangingPunct="1">
                        <a:lnSpc>
                          <a:spcPct val="110000"/>
                        </a:lnSpc>
                        <a:spcBef>
                          <a:spcPct val="0"/>
                        </a:spcBef>
                        <a:spcAft>
                          <a:spcPct val="0"/>
                        </a:spcAft>
                        <a:buClrTx/>
                        <a:buSzTx/>
                        <a:buFont typeface="+mj-lt"/>
                        <a:buNone/>
                        <a:tabLst/>
                      </a:pPr>
                      <a:r>
                        <a:rPr kumimoji="1" lang="ko-KR" altLang="en-US" sz="1000" b="0" i="0" u="none" strike="noStrike" kern="1200" cap="none" normalizeH="0" baseline="0" dirty="0" smtClean="0">
                          <a:ln>
                            <a:noFill/>
                          </a:ln>
                          <a:solidFill>
                            <a:schemeClr val="tx1"/>
                          </a:solidFill>
                          <a:effectLst/>
                          <a:latin typeface="+mn-ea"/>
                          <a:ea typeface="+mn-ea"/>
                          <a:cs typeface="+mn-cs"/>
                        </a:rPr>
                        <a:t>매매대금 조정시 중요한 요소로 쓰이며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원칙적으로 </a:t>
                      </a:r>
                      <a:r>
                        <a:rPr kumimoji="1" lang="en-US" altLang="ko-KR" sz="1000" b="0" i="0" u="none" strike="noStrike" kern="1200" cap="none" normalizeH="0" baseline="0" dirty="0" smtClean="0">
                          <a:ln>
                            <a:noFill/>
                          </a:ln>
                          <a:solidFill>
                            <a:schemeClr val="tx1"/>
                          </a:solidFill>
                          <a:effectLst/>
                          <a:latin typeface="+mn-ea"/>
                          <a:ea typeface="+mn-ea"/>
                          <a:cs typeface="+mn-cs"/>
                        </a:rPr>
                        <a:t>current assets minus current liabilities </a:t>
                      </a:r>
                      <a:r>
                        <a:rPr kumimoji="1" lang="ko-KR" altLang="en-US" sz="1000" b="0" i="0" u="none" strike="noStrike" kern="1200" cap="none" normalizeH="0" baseline="0" dirty="0" smtClean="0">
                          <a:ln>
                            <a:noFill/>
                          </a:ln>
                          <a:solidFill>
                            <a:schemeClr val="tx1"/>
                          </a:solidFill>
                          <a:effectLst/>
                          <a:latin typeface="+mn-ea"/>
                          <a:ea typeface="+mn-ea"/>
                          <a:cs typeface="+mn-cs"/>
                        </a:rPr>
                        <a:t>로 산정되지만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구체적인 범위에 대해서 분쟁이 발생하는 경우가 있음</a:t>
                      </a:r>
                      <a:r>
                        <a:rPr kumimoji="1" lang="en-US" altLang="ko-KR" sz="1000" b="0" i="0" u="none" strike="noStrike" kern="1200" cap="none" normalizeH="0" baseline="0" dirty="0" smtClean="0">
                          <a:ln>
                            <a:noFill/>
                          </a:ln>
                          <a:solidFill>
                            <a:schemeClr val="tx1"/>
                          </a:solidFill>
                          <a:effectLst/>
                          <a:latin typeface="+mn-ea"/>
                          <a:ea typeface="+mn-ea"/>
                          <a:cs typeface="+mn-cs"/>
                        </a:rPr>
                        <a:t>. </a:t>
                      </a:r>
                      <a:endParaRPr kumimoji="1" lang="ko-KR" sz="1000" b="0" i="0" u="none" strike="noStrike" kern="1200" cap="none" normalizeH="0" baseline="0" dirty="0">
                        <a:ln>
                          <a:noFill/>
                        </a:ln>
                        <a:solidFill>
                          <a:schemeClr val="tx1"/>
                        </a:solidFill>
                        <a:effectLst/>
                        <a:latin typeface="+mn-ea"/>
                        <a:ea typeface="+mn-ea"/>
                        <a:cs typeface="+mn-cs"/>
                      </a:endParaRPr>
                    </a:p>
                  </a:txBody>
                  <a:tcPr marL="46606" marR="46606"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818479322"/>
                  </a:ext>
                </a:extLst>
              </a:tr>
              <a:tr h="959160">
                <a:tc>
                  <a:txBody>
                    <a:bodyPr/>
                    <a:lstStyle/>
                    <a:p>
                      <a:pPr algn="ctr" latinLnBrk="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Arial" panose="020B0604020202020204" pitchFamily="34" charset="0"/>
                        <a:buNone/>
                      </a:pPr>
                      <a:r>
                        <a:rPr lang="ko-KR" altLang="en-US" sz="1000" b="0" dirty="0" smtClean="0">
                          <a:solidFill>
                            <a:schemeClr val="tx1"/>
                          </a:solidFill>
                          <a:effectLst/>
                          <a:latin typeface="+mn-ea"/>
                          <a:ea typeface="+mn-ea"/>
                          <a:cs typeface="Times New Roman" panose="02020603050405020304" pitchFamily="18" charset="0"/>
                        </a:rPr>
                        <a:t>매매대금 조정과 관련하여 중요한 이슈이므로 계약 체결 전에 회계법인 검토를 받을 필요가 있음</a:t>
                      </a:r>
                      <a:r>
                        <a:rPr lang="en-US" altLang="ko-KR" sz="1000" b="0" dirty="0" smtClean="0">
                          <a:solidFill>
                            <a:schemeClr val="tx1"/>
                          </a:solidFill>
                          <a:effectLst/>
                          <a:latin typeface="+mn-ea"/>
                          <a:ea typeface="+mn-ea"/>
                          <a:cs typeface="Times New Roman" panose="02020603050405020304" pitchFamily="18" charset="0"/>
                        </a:rPr>
                        <a:t>.</a:t>
                      </a:r>
                    </a:p>
                    <a:p>
                      <a:pPr marL="0" indent="0" algn="l" latinLnBrk="1">
                        <a:lnSpc>
                          <a:spcPct val="110000"/>
                        </a:lnSpc>
                        <a:spcAft>
                          <a:spcPts val="0"/>
                        </a:spcAft>
                        <a:buFont typeface="Arial" panose="020B0604020202020204" pitchFamily="34" charset="0"/>
                        <a:buNone/>
                      </a:pPr>
                      <a:endParaRPr lang="en-US" altLang="ko-KR" sz="1000" b="0" dirty="0" smtClean="0">
                        <a:solidFill>
                          <a:schemeClr val="tx1"/>
                        </a:solidFill>
                        <a:effectLst/>
                        <a:latin typeface="+mn-ea"/>
                        <a:ea typeface="+mn-ea"/>
                        <a:cs typeface="Times New Roman" panose="02020603050405020304" pitchFamily="18" charset="0"/>
                      </a:endParaRPr>
                    </a:p>
                    <a:p>
                      <a:pPr marL="0" indent="0" algn="l" latinLnBrk="1">
                        <a:lnSpc>
                          <a:spcPct val="110000"/>
                        </a:lnSpc>
                        <a:spcAft>
                          <a:spcPts val="0"/>
                        </a:spcAft>
                        <a:buFont typeface="Arial" panose="020B0604020202020204" pitchFamily="34" charset="0"/>
                        <a:buNone/>
                      </a:pPr>
                      <a:r>
                        <a:rPr lang="ko-KR" altLang="en-US" sz="1000" b="0" dirty="0" smtClean="0">
                          <a:solidFill>
                            <a:schemeClr val="tx1"/>
                          </a:solidFill>
                          <a:effectLst/>
                          <a:latin typeface="+mn-ea"/>
                          <a:ea typeface="+mn-ea"/>
                          <a:cs typeface="Times New Roman" panose="02020603050405020304" pitchFamily="18" charset="0"/>
                        </a:rPr>
                        <a:t>특히 </a:t>
                      </a:r>
                      <a:r>
                        <a:rPr lang="en-US" altLang="ko-KR" sz="1000" b="0" dirty="0" smtClean="0">
                          <a:solidFill>
                            <a:schemeClr val="tx1"/>
                          </a:solidFill>
                          <a:effectLst/>
                          <a:latin typeface="+mn-ea"/>
                          <a:ea typeface="+mn-ea"/>
                          <a:cs typeface="Times New Roman" panose="02020603050405020304" pitchFamily="18" charset="0"/>
                        </a:rPr>
                        <a:t>tax assets / tax liabilities </a:t>
                      </a:r>
                      <a:r>
                        <a:rPr lang="ko-KR" altLang="en-US" sz="1000" b="0" dirty="0" smtClean="0">
                          <a:solidFill>
                            <a:schemeClr val="tx1"/>
                          </a:solidFill>
                          <a:effectLst/>
                          <a:latin typeface="+mn-ea"/>
                          <a:ea typeface="+mn-ea"/>
                          <a:cs typeface="Times New Roman" panose="02020603050405020304" pitchFamily="18" charset="0"/>
                        </a:rPr>
                        <a:t>을 </a:t>
                      </a:r>
                      <a:r>
                        <a:rPr lang="en-US" altLang="ko-KR" sz="1000" b="0" dirty="0" smtClean="0">
                          <a:solidFill>
                            <a:schemeClr val="tx1"/>
                          </a:solidFill>
                          <a:effectLst/>
                          <a:latin typeface="+mn-ea"/>
                          <a:ea typeface="+mn-ea"/>
                          <a:cs typeface="Times New Roman" panose="02020603050405020304" pitchFamily="18" charset="0"/>
                        </a:rPr>
                        <a:t>Adjusted Working Capital </a:t>
                      </a:r>
                      <a:r>
                        <a:rPr lang="ko-KR" altLang="en-US" sz="1000" b="0" dirty="0" smtClean="0">
                          <a:solidFill>
                            <a:schemeClr val="tx1"/>
                          </a:solidFill>
                          <a:effectLst/>
                          <a:latin typeface="+mn-ea"/>
                          <a:ea typeface="+mn-ea"/>
                          <a:cs typeface="Times New Roman" panose="02020603050405020304" pitchFamily="18" charset="0"/>
                        </a:rPr>
                        <a:t>에서 제외하는 경우도 많음</a:t>
                      </a:r>
                      <a:r>
                        <a:rPr lang="en-US" altLang="ko-KR" sz="1000" b="0" dirty="0" smtClean="0">
                          <a:solidFill>
                            <a:schemeClr val="tx1"/>
                          </a:solidFill>
                          <a:effectLst/>
                          <a:latin typeface="+mn-ea"/>
                          <a:ea typeface="+mn-ea"/>
                          <a:cs typeface="Times New Roman" panose="02020603050405020304" pitchFamily="18" charset="0"/>
                        </a:rPr>
                        <a:t>.</a:t>
                      </a:r>
                      <a:endParaRPr lang="ko-KR" sz="1000" b="0" dirty="0">
                        <a:solidFill>
                          <a:schemeClr val="tx1"/>
                        </a:solidFill>
                        <a:effectLst/>
                        <a:latin typeface="+mj-lt"/>
                        <a:ea typeface="+mn-ea"/>
                        <a:cs typeface="Times New Roman" panose="02020603050405020304" pitchFamily="18" charset="0"/>
                      </a:endParaRPr>
                    </a:p>
                  </a:txBody>
                  <a:tcPr marL="46606" marR="46606"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46974886"/>
                  </a:ext>
                </a:extLst>
              </a:tr>
              <a:tr h="959160">
                <a:tc>
                  <a:txBody>
                    <a:bodyPr/>
                    <a:lstStyle/>
                    <a:p>
                      <a:pPr algn="ctr" latinLnBrk="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SPA</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Arial" panose="020B0604020202020204" pitchFamily="34" charset="0"/>
                        <a:buNone/>
                      </a:pPr>
                      <a:r>
                        <a:rPr lang="en-US" altLang="ko-KR" sz="1000" dirty="0" smtClean="0">
                          <a:solidFill>
                            <a:schemeClr val="tx1"/>
                          </a:solidFill>
                          <a:effectLst/>
                          <a:latin typeface="+mj-lt"/>
                          <a:ea typeface="+mn-ea"/>
                          <a:cs typeface="Times New Roman" panose="02020603050405020304" pitchFamily="18" charset="0"/>
                        </a:rPr>
                        <a:t>“Net Working Capital” shall mean (a) current assets (excluding any Closing Cash, vendor deposits and deferred Tax assets) of the Company, minus (b) current liabilities (excluding Seller Expenses, Indebtedness and deferred Tax liabilities) of the Company, in each case, as calculated in accordance with the Accounting Principles; provided, that Net Working Capital can</a:t>
                      </a:r>
                      <a:r>
                        <a:rPr lang="ko-KR" altLang="en-US" sz="1000" dirty="0" smtClean="0">
                          <a:solidFill>
                            <a:schemeClr val="tx1"/>
                          </a:solidFill>
                          <a:effectLst/>
                          <a:latin typeface="+mj-lt"/>
                          <a:ea typeface="+mn-ea"/>
                          <a:cs typeface="Times New Roman" panose="02020603050405020304" pitchFamily="18" charset="0"/>
                        </a:rPr>
                        <a:t> </a:t>
                      </a:r>
                      <a:r>
                        <a:rPr lang="en-US" altLang="ko-KR" sz="1000" dirty="0" smtClean="0">
                          <a:solidFill>
                            <a:schemeClr val="tx1"/>
                          </a:solidFill>
                          <a:effectLst/>
                          <a:latin typeface="+mj-lt"/>
                          <a:ea typeface="+mn-ea"/>
                          <a:cs typeface="Times New Roman" panose="02020603050405020304" pitchFamily="18" charset="0"/>
                        </a:rPr>
                        <a:t>be a negative number.</a:t>
                      </a:r>
                      <a:endParaRPr lang="ko-KR" sz="1000" dirty="0">
                        <a:solidFill>
                          <a:schemeClr val="tx1"/>
                        </a:solidFill>
                        <a:effectLst/>
                        <a:latin typeface="+mj-lt"/>
                        <a:ea typeface="+mn-ea"/>
                        <a:cs typeface="Times New Roman" panose="02020603050405020304" pitchFamily="18" charset="0"/>
                      </a:endParaRPr>
                    </a:p>
                  </a:txBody>
                  <a:tcPr marL="46606" marR="46606"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798147565"/>
                  </a:ext>
                </a:extLst>
              </a:tr>
            </a:tbl>
          </a:graphicData>
        </a:graphic>
      </p:graphicFrame>
    </p:spTree>
    <p:extLst>
      <p:ext uri="{BB962C8B-B14F-4D97-AF65-F5344CB8AC3E}">
        <p14:creationId xmlns:p14="http://schemas.microsoft.com/office/powerpoint/2010/main" val="20775517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 Definitions</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smtClean="0">
                <a:latin typeface="+mn-ea"/>
                <a:ea typeface="+mn-ea"/>
              </a:rPr>
              <a:t>6. </a:t>
            </a:r>
            <a:r>
              <a:rPr lang="en-US" altLang="ko-KR" dirty="0">
                <a:latin typeface="+mn-ea"/>
                <a:ea typeface="+mn-ea"/>
              </a:rPr>
              <a:t>“Ordinary Course of Business” </a:t>
            </a:r>
            <a:endParaRPr lang="ko-KR" altLang="en-US" dirty="0">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3360556492"/>
              </p:ext>
            </p:extLst>
          </p:nvPr>
        </p:nvGraphicFramePr>
        <p:xfrm>
          <a:off x="446540" y="1031875"/>
          <a:ext cx="9182365" cy="2756810"/>
        </p:xfrm>
        <a:graphic>
          <a:graphicData uri="http://schemas.openxmlformats.org/drawingml/2006/table">
            <a:tbl>
              <a:tblPr firstRow="1" firstCol="1" bandRow="1"/>
              <a:tblGrid>
                <a:gridCol w="852691">
                  <a:extLst>
                    <a:ext uri="{9D8B030D-6E8A-4147-A177-3AD203B41FA5}">
                      <a16:colId xmlns:a16="http://schemas.microsoft.com/office/drawing/2014/main" val="3235294585"/>
                    </a:ext>
                  </a:extLst>
                </a:gridCol>
                <a:gridCol w="8329674">
                  <a:extLst>
                    <a:ext uri="{9D8B030D-6E8A-4147-A177-3AD203B41FA5}">
                      <a16:colId xmlns:a16="http://schemas.microsoft.com/office/drawing/2014/main" val="4175779365"/>
                    </a:ext>
                  </a:extLst>
                </a:gridCol>
              </a:tblGrid>
              <a:tr h="958385">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원칙</a:t>
                      </a:r>
                      <a:r>
                        <a:rPr lang="en-US" sz="1000" b="1" dirty="0">
                          <a:effectLst/>
                          <a:latin typeface="+mn-ea"/>
                          <a:ea typeface="+mn-ea"/>
                          <a:cs typeface="Times New Roman" panose="02020603050405020304" pitchFamily="18" charset="0"/>
                        </a:rPr>
                        <a:t>/</a:t>
                      </a:r>
                      <a:r>
                        <a:rPr lang="ko-KR" sz="1000" b="1" dirty="0">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진술보장 및 확약과 관련하여</a:t>
                      </a:r>
                      <a:r>
                        <a:rPr lang="en-US" altLang="ko-KR" sz="1000" dirty="0" smtClean="0">
                          <a:effectLst/>
                          <a:latin typeface="+mn-ea"/>
                          <a:ea typeface="+mn-ea"/>
                          <a:cs typeface="Times New Roman" panose="02020603050405020304" pitchFamily="18" charset="0"/>
                        </a:rPr>
                        <a:t>, (i) </a:t>
                      </a:r>
                      <a:r>
                        <a:rPr lang="ko-KR" altLang="en-US" sz="1000" dirty="0" smtClean="0">
                          <a:effectLst/>
                          <a:latin typeface="+mn-ea"/>
                          <a:ea typeface="+mn-ea"/>
                          <a:cs typeface="Times New Roman" panose="02020603050405020304" pitchFamily="18" charset="0"/>
                        </a:rPr>
                        <a:t>기준일</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기준 재무제표의 일자</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이후 대상회사가 통상적인 사업과정에 따라 운영되었다는 진술보장으로서의 기능</a:t>
                      </a:r>
                      <a:r>
                        <a:rPr lang="en-US" altLang="ko-KR" sz="1000" dirty="0" smtClean="0">
                          <a:effectLst/>
                          <a:latin typeface="+mn-ea"/>
                          <a:ea typeface="+mn-ea"/>
                          <a:cs typeface="Times New Roman" panose="02020603050405020304" pitchFamily="18" charset="0"/>
                        </a:rPr>
                        <a:t>, (ii) </a:t>
                      </a:r>
                      <a:r>
                        <a:rPr lang="ko-KR" altLang="en-US" sz="1000" dirty="0" smtClean="0">
                          <a:effectLst/>
                          <a:latin typeface="+mn-ea"/>
                          <a:ea typeface="+mn-ea"/>
                          <a:cs typeface="Times New Roman" panose="02020603050405020304" pitchFamily="18" charset="0"/>
                        </a:rPr>
                        <a:t>계약체결일부터 거래종결일까지 대상회사가 통상적인 사업과정에 따라 운영해야 하고</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그렇지 않은 행위</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예</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중요계약의 체결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변경</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해지</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를 하기 위해서는 매수인의 동의를 받도록 하는 거래종결 전 확약으로서의 기능을 함</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주로 </a:t>
                      </a:r>
                      <a:r>
                        <a:rPr lang="en-US" altLang="ko-KR" sz="1000" dirty="0" smtClean="0">
                          <a:effectLst/>
                          <a:latin typeface="+mn-ea"/>
                          <a:ea typeface="+mn-ea"/>
                          <a:cs typeface="Times New Roman" panose="02020603050405020304" pitchFamily="18" charset="0"/>
                        </a:rPr>
                        <a:t>(a) </a:t>
                      </a:r>
                      <a:r>
                        <a:rPr lang="ko-KR" altLang="en-US" sz="1000" dirty="0" smtClean="0">
                          <a:effectLst/>
                          <a:latin typeface="+mn-ea"/>
                          <a:ea typeface="+mn-ea"/>
                          <a:cs typeface="Times New Roman" panose="02020603050405020304" pitchFamily="18" charset="0"/>
                        </a:rPr>
                        <a:t>통상적인 사업과정에 ‘적법’한 사업 운영까지 포함시킬지</a:t>
                      </a:r>
                      <a:r>
                        <a:rPr lang="en-US" altLang="ko-KR" sz="1000" dirty="0" smtClean="0">
                          <a:effectLst/>
                          <a:latin typeface="+mn-ea"/>
                          <a:ea typeface="+mn-ea"/>
                          <a:cs typeface="Times New Roman" panose="02020603050405020304" pitchFamily="18" charset="0"/>
                        </a:rPr>
                        <a:t>, (b) </a:t>
                      </a:r>
                      <a:r>
                        <a:rPr lang="ko-KR" altLang="en-US" sz="1000" dirty="0" smtClean="0">
                          <a:effectLst/>
                          <a:latin typeface="+mn-ea"/>
                          <a:ea typeface="+mn-ea"/>
                          <a:cs typeface="Times New Roman" panose="02020603050405020304" pitchFamily="18" charset="0"/>
                        </a:rPr>
                        <a:t>통상적인 사업운영의 기준점을 기준일보다 이른 시점</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예</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기준일 기준 과거 </a:t>
                      </a:r>
                      <a:r>
                        <a:rPr lang="en-US" altLang="ko-KR" sz="1000" dirty="0" smtClean="0">
                          <a:effectLst/>
                          <a:latin typeface="+mn-ea"/>
                          <a:ea typeface="+mn-ea"/>
                          <a:cs typeface="Times New Roman" panose="02020603050405020304" pitchFamily="18" charset="0"/>
                        </a:rPr>
                        <a:t>1</a:t>
                      </a:r>
                      <a:r>
                        <a:rPr lang="ko-KR" altLang="en-US" sz="1000" dirty="0" smtClean="0">
                          <a:effectLst/>
                          <a:latin typeface="+mn-ea"/>
                          <a:ea typeface="+mn-ea"/>
                          <a:cs typeface="Times New Roman" panose="02020603050405020304" pitchFamily="18" charset="0"/>
                        </a:rPr>
                        <a:t>년</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으로까지 넓힐지 여부와 관련하여 문제가 됨</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86994568"/>
                  </a:ext>
                </a:extLst>
              </a:tr>
              <a:tr h="994563">
                <a:tc>
                  <a:txBody>
                    <a:bodyPr/>
                    <a:lstStyle/>
                    <a:p>
                      <a:pPr algn="ctr" latinLnBrk="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altLang="en-US" sz="1000" b="1" dirty="0" smtClean="0">
                          <a:effectLst/>
                          <a:latin typeface="+mn-ea"/>
                          <a:ea typeface="+mn-ea"/>
                          <a:cs typeface="Times New Roman" panose="02020603050405020304" pitchFamily="18" charset="0"/>
                        </a:rPr>
                        <a:t>매도인</a:t>
                      </a:r>
                      <a:r>
                        <a:rPr lang="en-US" altLang="ko-KR" sz="1000" b="1" dirty="0" smtClean="0">
                          <a:effectLst/>
                          <a:latin typeface="+mn-ea"/>
                          <a:ea typeface="+mn-ea"/>
                          <a:cs typeface="Times New Roman" panose="02020603050405020304" pitchFamily="18" charset="0"/>
                        </a:rPr>
                        <a:t>:</a:t>
                      </a:r>
                      <a:r>
                        <a:rPr lang="en-US" altLang="ko-KR" sz="1000" b="0" dirty="0" smtClean="0">
                          <a:effectLst/>
                          <a:latin typeface="+mn-ea"/>
                          <a:ea typeface="+mn-ea"/>
                          <a:cs typeface="Times New Roman" panose="02020603050405020304" pitchFamily="18" charset="0"/>
                        </a:rPr>
                        <a:t> (a) ‘</a:t>
                      </a:r>
                      <a:r>
                        <a:rPr lang="ko-KR" altLang="en-US" sz="1000" b="0" dirty="0" smtClean="0">
                          <a:effectLst/>
                          <a:latin typeface="+mn-ea"/>
                          <a:ea typeface="+mn-ea"/>
                          <a:cs typeface="Times New Roman" panose="02020603050405020304" pitchFamily="18" charset="0"/>
                        </a:rPr>
                        <a:t>적법’한 사업 운영을 포함시키지 않고</a:t>
                      </a:r>
                      <a:r>
                        <a:rPr lang="en-US" altLang="ko-KR" sz="1000" b="0" dirty="0" smtClean="0">
                          <a:effectLst/>
                          <a:latin typeface="+mn-ea"/>
                          <a:ea typeface="+mn-ea"/>
                          <a:cs typeface="Times New Roman" panose="02020603050405020304" pitchFamily="18" charset="0"/>
                        </a:rPr>
                        <a:t>(</a:t>
                      </a:r>
                      <a:r>
                        <a:rPr lang="ko-KR" altLang="en-US" sz="1000" b="0" dirty="0" smtClean="0">
                          <a:effectLst/>
                          <a:latin typeface="+mn-ea"/>
                          <a:ea typeface="+mn-ea"/>
                          <a:cs typeface="Times New Roman" panose="02020603050405020304" pitchFamily="18" charset="0"/>
                        </a:rPr>
                        <a:t>법령준수 관련 진술보장으로 처리하려고 함</a:t>
                      </a:r>
                      <a:r>
                        <a:rPr lang="en-US" altLang="ko-KR" sz="1000" b="0" dirty="0" smtClean="0">
                          <a:effectLst/>
                          <a:latin typeface="+mn-ea"/>
                          <a:ea typeface="+mn-ea"/>
                          <a:cs typeface="Times New Roman" panose="02020603050405020304" pitchFamily="18" charset="0"/>
                        </a:rPr>
                        <a:t>), (b) </a:t>
                      </a:r>
                      <a:r>
                        <a:rPr lang="ko-KR" altLang="en-US" sz="1000" b="0" dirty="0" smtClean="0">
                          <a:effectLst/>
                          <a:latin typeface="+mn-ea"/>
                          <a:ea typeface="+mn-ea"/>
                          <a:cs typeface="Times New Roman" panose="02020603050405020304" pitchFamily="18" charset="0"/>
                        </a:rPr>
                        <a:t>기준점을 기준일로 설정하고자 함</a:t>
                      </a:r>
                      <a:endParaRPr lang="en-US" altLang="ko-KR" sz="1000" b="0"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lang="ko-KR" altLang="en-US" sz="1000" b="1"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altLang="en-US" sz="1000" b="1" dirty="0" smtClean="0">
                          <a:effectLst/>
                          <a:latin typeface="+mn-ea"/>
                          <a:ea typeface="+mn-ea"/>
                          <a:cs typeface="Times New Roman" panose="02020603050405020304" pitchFamily="18" charset="0"/>
                        </a:rPr>
                        <a:t>매수인</a:t>
                      </a:r>
                      <a:r>
                        <a:rPr lang="en-US" altLang="ko-KR" sz="1000" b="1" dirty="0" smtClean="0">
                          <a:effectLst/>
                          <a:latin typeface="+mn-ea"/>
                          <a:ea typeface="+mn-ea"/>
                          <a:cs typeface="Times New Roman" panose="02020603050405020304" pitchFamily="18" charset="0"/>
                        </a:rPr>
                        <a:t>: </a:t>
                      </a:r>
                      <a:r>
                        <a:rPr lang="en-US" altLang="ko-KR" sz="1000" b="0" dirty="0" smtClean="0">
                          <a:effectLst/>
                          <a:latin typeface="+mn-ea"/>
                          <a:ea typeface="+mn-ea"/>
                          <a:cs typeface="Times New Roman" panose="02020603050405020304" pitchFamily="18" charset="0"/>
                        </a:rPr>
                        <a:t>(a) ‘</a:t>
                      </a:r>
                      <a:r>
                        <a:rPr lang="ko-KR" altLang="en-US" sz="1000" b="0" dirty="0" smtClean="0">
                          <a:effectLst/>
                          <a:latin typeface="+mn-ea"/>
                          <a:ea typeface="+mn-ea"/>
                          <a:cs typeface="Times New Roman" panose="02020603050405020304" pitchFamily="18" charset="0"/>
                        </a:rPr>
                        <a:t>적법’한 사업 운영을 포함시켜서 통상적인 사업과정에 대해 좀 더 엄격한 보장을 받으려고 하고</a:t>
                      </a:r>
                      <a:r>
                        <a:rPr lang="en-US" altLang="ko-KR" sz="1000" b="0" dirty="0" smtClean="0">
                          <a:effectLst/>
                          <a:latin typeface="+mn-ea"/>
                          <a:ea typeface="+mn-ea"/>
                          <a:cs typeface="Times New Roman" panose="02020603050405020304" pitchFamily="18" charset="0"/>
                        </a:rPr>
                        <a:t>, (b) </a:t>
                      </a:r>
                      <a:r>
                        <a:rPr lang="ko-KR" altLang="en-US" sz="1000" b="0" dirty="0" smtClean="0">
                          <a:effectLst/>
                          <a:latin typeface="+mn-ea"/>
                          <a:ea typeface="+mn-ea"/>
                          <a:cs typeface="Times New Roman" panose="02020603050405020304" pitchFamily="18" charset="0"/>
                        </a:rPr>
                        <a:t>기준점을 기준일 전으로 설정하고자 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721433428"/>
                  </a:ext>
                </a:extLst>
              </a:tr>
              <a:tr h="803862">
                <a:tc>
                  <a:txBody>
                    <a:bodyPr/>
                    <a:lstStyle/>
                    <a:p>
                      <a:pPr algn="ctr" latinLnBrk="1">
                        <a:lnSpc>
                          <a:spcPct val="110000"/>
                        </a:lnSpc>
                        <a:spcAft>
                          <a:spcPts val="0"/>
                        </a:spcAft>
                      </a:pPr>
                      <a:r>
                        <a:rPr lang="ko-KR" altLang="ko-KR" sz="1000" b="1" dirty="0" smtClean="0">
                          <a:effectLst/>
                          <a:latin typeface="+mn-ea"/>
                          <a:ea typeface="+mn-ea"/>
                          <a:cs typeface="Times New Roman" panose="02020603050405020304" pitchFamily="18" charset="0"/>
                        </a:rPr>
                        <a:t>표준</a:t>
                      </a:r>
                      <a:r>
                        <a:rPr lang="en-US" altLang="ko-KR" sz="1000" b="1" dirty="0" smtClean="0">
                          <a:effectLst/>
                          <a:latin typeface="+mn-ea"/>
                          <a:ea typeface="+mn-ea"/>
                          <a:cs typeface="Times New Roman" panose="02020603050405020304" pitchFamily="18" charset="0"/>
                        </a:rPr>
                        <a:t> SPA</a:t>
                      </a:r>
                      <a:br>
                        <a:rPr lang="en-US" altLang="ko-KR" sz="1000" b="1" dirty="0" smtClean="0">
                          <a:effectLst/>
                          <a:latin typeface="+mn-ea"/>
                          <a:ea typeface="+mn-ea"/>
                          <a:cs typeface="Times New Roman" panose="02020603050405020304" pitchFamily="18" charset="0"/>
                        </a:rPr>
                      </a:br>
                      <a:r>
                        <a:rPr lang="ko-KR" altLang="ko-KR" sz="1000" b="1" dirty="0" smtClean="0">
                          <a:effectLst/>
                          <a:latin typeface="+mn-ea"/>
                          <a:ea typeface="+mn-ea"/>
                          <a:cs typeface="Times New Roman" panose="02020603050405020304" pitchFamily="18" charset="0"/>
                        </a:rPr>
                        <a:t>문구</a:t>
                      </a:r>
                      <a:endParaRPr lang="ko-KR" alt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0">
                        <a:lnSpc>
                          <a:spcPct val="110000"/>
                        </a:lnSpc>
                        <a:spcAft>
                          <a:spcPts val="0"/>
                        </a:spcAft>
                      </a:pPr>
                      <a:r>
                        <a:rPr lang="en-US" sz="1000" dirty="0" smtClean="0">
                          <a:effectLst/>
                          <a:latin typeface="+mn-ea"/>
                          <a:ea typeface="+mn-ea"/>
                          <a:cs typeface="Times New Roman" panose="02020603050405020304" pitchFamily="18" charset="0"/>
                        </a:rPr>
                        <a:t>“Ordinary Course of Business” means the conduct of the Business, consistent with the normal and past day-to-day customs, practices and procedures of the Company and in accordance with applicable Laws.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76177136"/>
                  </a:ext>
                </a:extLst>
              </a:tr>
            </a:tbl>
          </a:graphicData>
        </a:graphic>
      </p:graphicFrame>
    </p:spTree>
    <p:extLst>
      <p:ext uri="{BB962C8B-B14F-4D97-AF65-F5344CB8AC3E}">
        <p14:creationId xmlns:p14="http://schemas.microsoft.com/office/powerpoint/2010/main" val="38673832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Purchase and Sale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276999"/>
          </a:xfrm>
          <a:prstGeom prst="rect">
            <a:avLst/>
          </a:prstGeom>
          <a:noFill/>
        </p:spPr>
        <p:txBody>
          <a:bodyPr wrap="square" rtlCol="0">
            <a:spAutoFit/>
          </a:bodyPr>
          <a:lstStyle/>
          <a:p>
            <a:r>
              <a:rPr lang="en-US" altLang="ko-KR" dirty="0">
                <a:latin typeface="+mn-ea"/>
                <a:ea typeface="+mn-ea"/>
              </a:rPr>
              <a:t>1. Evidence of Transfer / Closing Payments</a:t>
            </a:r>
            <a:endParaRPr lang="ko-KR" altLang="en-US"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3588782962"/>
              </p:ext>
            </p:extLst>
          </p:nvPr>
        </p:nvGraphicFramePr>
        <p:xfrm>
          <a:off x="439738" y="1031875"/>
          <a:ext cx="9188450" cy="4754103"/>
        </p:xfrm>
        <a:graphic>
          <a:graphicData uri="http://schemas.openxmlformats.org/drawingml/2006/table">
            <a:tbl>
              <a:tblPr firstRow="1" firstCol="1" bandRow="1"/>
              <a:tblGrid>
                <a:gridCol w="853257">
                  <a:extLst>
                    <a:ext uri="{9D8B030D-6E8A-4147-A177-3AD203B41FA5}">
                      <a16:colId xmlns:a16="http://schemas.microsoft.com/office/drawing/2014/main" val="2592267081"/>
                    </a:ext>
                  </a:extLst>
                </a:gridCol>
                <a:gridCol w="8335193">
                  <a:extLst>
                    <a:ext uri="{9D8B030D-6E8A-4147-A177-3AD203B41FA5}">
                      <a16:colId xmlns:a16="http://schemas.microsoft.com/office/drawing/2014/main" val="2703969183"/>
                    </a:ext>
                  </a:extLst>
                </a:gridCol>
              </a:tblGrid>
              <a:tr h="478805">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매매대금은 매도인</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거래의 특성 등에 따라 아래와 같은 지급 방식도 고려할 수 있음</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818479322"/>
                  </a:ext>
                </a:extLst>
              </a:tr>
              <a:tr h="4275298">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mj-lt"/>
                        <a:buNone/>
                      </a:pPr>
                      <a:r>
                        <a:rPr lang="ko-KR" altLang="en-US" sz="1000" b="0" dirty="0" smtClean="0">
                          <a:effectLst/>
                          <a:latin typeface="+mn-ea"/>
                          <a:ea typeface="+mn-ea"/>
                          <a:cs typeface="Times New Roman" panose="02020603050405020304" pitchFamily="18" charset="0"/>
                        </a:rPr>
                        <a:t>거래종결일의 교부물로 미국 주식회사의 경우 주권 및 이에 별첨되는 </a:t>
                      </a:r>
                      <a:r>
                        <a:rPr lang="en-US" altLang="ko-KR" sz="1000" b="0" dirty="0" smtClean="0">
                          <a:effectLst/>
                          <a:latin typeface="+mn-ea"/>
                          <a:ea typeface="+mn-ea"/>
                          <a:cs typeface="Times New Roman" panose="02020603050405020304" pitchFamily="18" charset="0"/>
                        </a:rPr>
                        <a:t>Stock Power </a:t>
                      </a:r>
                      <a:r>
                        <a:rPr lang="ko-KR" altLang="en-US" sz="1000" b="0" dirty="0" smtClean="0">
                          <a:effectLst/>
                          <a:latin typeface="+mn-ea"/>
                          <a:ea typeface="+mn-ea"/>
                          <a:cs typeface="Times New Roman" panose="02020603050405020304" pitchFamily="18" charset="0"/>
                        </a:rPr>
                        <a:t>등 각 준거법령에 따라 적법하게 주식 </a:t>
                      </a:r>
                      <a:r>
                        <a:rPr lang="ko-KR" altLang="en-US" sz="1000" b="0" dirty="0" smtClean="0">
                          <a:solidFill>
                            <a:schemeClr val="tx1"/>
                          </a:solidFill>
                          <a:effectLst/>
                          <a:latin typeface="+mn-ea"/>
                          <a:ea typeface="+mn-ea"/>
                          <a:cs typeface="Times New Roman" panose="02020603050405020304" pitchFamily="18" charset="0"/>
                        </a:rPr>
                        <a:t>내지 지분이 이전되는 절차를 거치는 것이 필요하므로 실사 이후 현지 법률 자문사와 거래종결일의 교부물에 대한 면밀한 확인도 필요할</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것임</a:t>
                      </a:r>
                      <a:r>
                        <a:rPr lang="en-US" altLang="ko-KR" sz="1000" b="0" dirty="0" smtClean="0">
                          <a:solidFill>
                            <a:schemeClr val="tx1"/>
                          </a:solidFill>
                          <a:effectLst/>
                          <a:latin typeface="+mn-ea"/>
                          <a:ea typeface="+mn-ea"/>
                          <a:cs typeface="Times New Roman" panose="02020603050405020304" pitchFamily="18" charset="0"/>
                        </a:rPr>
                        <a:t>. </a:t>
                      </a:r>
                    </a:p>
                    <a:p>
                      <a:pPr marL="0" indent="0" algn="l" latinLnBrk="1">
                        <a:lnSpc>
                          <a:spcPct val="110000"/>
                        </a:lnSpc>
                        <a:spcAft>
                          <a:spcPts val="0"/>
                        </a:spcAft>
                        <a:buFont typeface="+mj-lt"/>
                        <a:buNone/>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en-US" altLang="ko-KR" sz="1000" b="1" dirty="0" smtClean="0">
                          <a:solidFill>
                            <a:schemeClr val="tx1"/>
                          </a:solidFill>
                          <a:effectLst/>
                          <a:latin typeface="+mn-ea"/>
                          <a:ea typeface="+mn-ea"/>
                          <a:cs typeface="Times New Roman" panose="02020603050405020304" pitchFamily="18" charset="0"/>
                        </a:rPr>
                        <a:t>Payment of Purchase Price</a:t>
                      </a:r>
                      <a:r>
                        <a:rPr lang="en-US" altLang="ko-KR" sz="1000" b="0" dirty="0" smtClean="0">
                          <a:solidFill>
                            <a:schemeClr val="tx1"/>
                          </a:solidFill>
                          <a:effectLst/>
                          <a:latin typeface="+mn-ea"/>
                          <a:ea typeface="+mn-ea"/>
                          <a:cs typeface="Times New Roman" panose="02020603050405020304" pitchFamily="18" charset="0"/>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매매대금 조정에 따른 매도인의 지급의무</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매도인의 면책의무의 이행</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또는 거래종결 이후에 발생 가능성이 높은 대상회사의 특정 </a:t>
                      </a:r>
                      <a:r>
                        <a:rPr kumimoji="1" lang="en-US" altLang="ko-KR" sz="1000" b="0" i="0" u="none" strike="noStrike" kern="1200" cap="none" normalizeH="0" baseline="0" dirty="0" smtClean="0">
                          <a:ln>
                            <a:noFill/>
                          </a:ln>
                          <a:solidFill>
                            <a:schemeClr val="tx1"/>
                          </a:solidFill>
                          <a:effectLst/>
                          <a:latin typeface="+mn-ea"/>
                          <a:ea typeface="+mn-ea"/>
                          <a:cs typeface="+mn-cs"/>
                        </a:rPr>
                        <a:t>liabilities</a:t>
                      </a:r>
                      <a:r>
                        <a:rPr kumimoji="1" lang="ko-KR" altLang="en-US" sz="1000" b="0" i="0" u="none" strike="noStrike" kern="1200" cap="none" normalizeH="0" baseline="0" dirty="0" smtClean="0">
                          <a:ln>
                            <a:noFill/>
                          </a:ln>
                          <a:solidFill>
                            <a:schemeClr val="tx1"/>
                          </a:solidFill>
                          <a:effectLst/>
                          <a:latin typeface="+mn-ea"/>
                          <a:ea typeface="+mn-ea"/>
                          <a:cs typeface="+mn-cs"/>
                        </a:rPr>
                        <a:t>를 </a:t>
                      </a:r>
                      <a:r>
                        <a:rPr kumimoji="1" lang="en-US" altLang="ko-KR" sz="1000" b="0" i="0" u="none" strike="noStrike" kern="1200" cap="none" normalizeH="0" baseline="0" dirty="0" smtClean="0">
                          <a:ln>
                            <a:noFill/>
                          </a:ln>
                          <a:solidFill>
                            <a:schemeClr val="tx1"/>
                          </a:solidFill>
                          <a:effectLst/>
                          <a:latin typeface="+mn-ea"/>
                          <a:ea typeface="+mn-ea"/>
                          <a:cs typeface="+mn-cs"/>
                        </a:rPr>
                        <a:t>cover</a:t>
                      </a:r>
                      <a:r>
                        <a:rPr kumimoji="1" lang="ko-KR" altLang="en-US" sz="1000" b="0" i="0" u="none" strike="noStrike" kern="1200" cap="none" normalizeH="0" baseline="0" dirty="0" smtClean="0">
                          <a:ln>
                            <a:noFill/>
                          </a:ln>
                          <a:solidFill>
                            <a:schemeClr val="tx1"/>
                          </a:solidFill>
                          <a:effectLst/>
                          <a:latin typeface="+mn-ea"/>
                          <a:ea typeface="+mn-ea"/>
                          <a:cs typeface="+mn-cs"/>
                        </a:rPr>
                        <a:t>하기 위해서 매매대금의 일부를 지급 유보하거나 </a:t>
                      </a:r>
                      <a:r>
                        <a:rPr kumimoji="1" lang="en-US" altLang="ko-KR" sz="1000" b="0" i="0" u="none" strike="noStrike" kern="1200" cap="none" normalizeH="0" baseline="0" dirty="0" smtClean="0">
                          <a:ln>
                            <a:noFill/>
                          </a:ln>
                          <a:solidFill>
                            <a:schemeClr val="tx1"/>
                          </a:solidFill>
                          <a:effectLst/>
                          <a:latin typeface="+mn-ea"/>
                          <a:ea typeface="+mn-ea"/>
                          <a:cs typeface="+mn-cs"/>
                        </a:rPr>
                        <a:t>escrow</a:t>
                      </a:r>
                      <a:r>
                        <a:rPr kumimoji="1" lang="ko-KR" altLang="en-US" sz="1000" b="0" i="0" u="none" strike="noStrike" kern="1200" cap="none" normalizeH="0" baseline="0" dirty="0" smtClean="0">
                          <a:ln>
                            <a:noFill/>
                          </a:ln>
                          <a:solidFill>
                            <a:schemeClr val="tx1"/>
                          </a:solidFill>
                          <a:effectLst/>
                          <a:latin typeface="+mn-ea"/>
                          <a:ea typeface="+mn-ea"/>
                          <a:cs typeface="+mn-cs"/>
                        </a:rPr>
                        <a:t>하는 방법을 고려해볼 수 있음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특별손해배상으로 매도인에게 손해배상을 받는 방법도 있으나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매도인의 현금유동성 이슈로 손해배상을 받지 못할 가능성이 있는 경우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매매대금의 지급을 유보하거나 </a:t>
                      </a:r>
                      <a:r>
                        <a:rPr kumimoji="1" lang="en-US" altLang="ko-KR" sz="1000" b="0" i="0" u="none" strike="noStrike" kern="1200" cap="none" normalizeH="0" baseline="0" dirty="0" smtClean="0">
                          <a:ln>
                            <a:noFill/>
                          </a:ln>
                          <a:solidFill>
                            <a:schemeClr val="tx1"/>
                          </a:solidFill>
                          <a:effectLst/>
                          <a:latin typeface="+mn-ea"/>
                          <a:ea typeface="+mn-ea"/>
                          <a:cs typeface="+mn-cs"/>
                        </a:rPr>
                        <a:t>escrow </a:t>
                      </a:r>
                      <a:r>
                        <a:rPr kumimoji="1" lang="ko-KR" altLang="en-US" sz="1000" b="0" i="0" u="none" strike="noStrike" kern="1200" cap="none" normalizeH="0" baseline="0" dirty="0" smtClean="0">
                          <a:ln>
                            <a:noFill/>
                          </a:ln>
                          <a:solidFill>
                            <a:schemeClr val="tx1"/>
                          </a:solidFill>
                          <a:effectLst/>
                          <a:latin typeface="+mn-ea"/>
                          <a:ea typeface="+mn-ea"/>
                          <a:cs typeface="+mn-cs"/>
                        </a:rPr>
                        <a:t>계좌에 예치하는 지급방식으로 고려할 수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altLang="en-US" sz="1000" b="1" i="0" u="sng" strike="noStrike" kern="1200" cap="none" normalizeH="0" baseline="0" dirty="0" smtClean="0">
                          <a:ln>
                            <a:noFill/>
                          </a:ln>
                          <a:solidFill>
                            <a:schemeClr val="tx1"/>
                          </a:solidFill>
                          <a:effectLst/>
                          <a:latin typeface="+mn-ea"/>
                          <a:ea typeface="+mn-ea"/>
                          <a:cs typeface="+mn-cs"/>
                        </a:rPr>
                        <a:t>매매대금 유보 방식</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매매대금의 지급을 일정 기간</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대개 현금유출이 발생할 것으로 예상되는 기간까지</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유보하고</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사전에 정한 조건 등이 충족한 경우 유보금을 지급하는 방식</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이른바 </a:t>
                      </a:r>
                      <a:r>
                        <a:rPr kumimoji="1" lang="en-US" altLang="ko-KR" sz="1000" b="0" i="0" u="none" strike="noStrike" kern="1200" cap="none" normalizeH="0" baseline="0" dirty="0" smtClean="0">
                          <a:ln>
                            <a:noFill/>
                          </a:ln>
                          <a:solidFill>
                            <a:schemeClr val="tx1"/>
                          </a:solidFill>
                          <a:effectLst/>
                          <a:latin typeface="+mn-ea"/>
                          <a:ea typeface="+mn-ea"/>
                          <a:cs typeface="+mn-cs"/>
                        </a:rPr>
                        <a:t>hold back </a:t>
                      </a:r>
                      <a:r>
                        <a:rPr kumimoji="1" lang="ko-KR" altLang="en-US" sz="1000" b="0" i="0" u="none" strike="noStrike" kern="1200" cap="none" normalizeH="0" baseline="0" dirty="0" smtClean="0">
                          <a:ln>
                            <a:noFill/>
                          </a:ln>
                          <a:solidFill>
                            <a:schemeClr val="tx1"/>
                          </a:solidFill>
                          <a:effectLst/>
                          <a:latin typeface="+mn-ea"/>
                          <a:ea typeface="+mn-ea"/>
                          <a:cs typeface="+mn-cs"/>
                        </a:rPr>
                        <a:t>방식</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altLang="en-US" sz="1000" b="1" i="0" u="sng" strike="noStrike" kern="1200" cap="none" normalizeH="0" baseline="0" dirty="0" smtClean="0">
                          <a:ln>
                            <a:noFill/>
                          </a:ln>
                          <a:solidFill>
                            <a:schemeClr val="tx1"/>
                          </a:solidFill>
                          <a:effectLst/>
                          <a:latin typeface="+mn-ea"/>
                          <a:ea typeface="+mn-ea"/>
                          <a:cs typeface="+mn-cs"/>
                        </a:rPr>
                        <a:t>에스크로우 방식</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에스크로우 계좌를 개설하고 매매대금을 에스크로우 계좌에 예치하는 방식</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매수인</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매도인 및 은행 간 에스크로우 계약을 체결하여야 하며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에스크로우 계좌 개설의 번거로움</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에스크로우 대금 인출의 복잡성 및 수수료 이슈는 존재</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매도인 입장에서는 매수인이 해당 금액에 대해 </a:t>
                      </a:r>
                      <a:r>
                        <a:rPr kumimoji="1" lang="en-US" altLang="ko-KR" sz="1000" b="0" i="0" u="none" strike="noStrike" kern="1200" cap="none" normalizeH="0" baseline="0" dirty="0" smtClean="0">
                          <a:ln>
                            <a:noFill/>
                          </a:ln>
                          <a:solidFill>
                            <a:schemeClr val="tx1"/>
                          </a:solidFill>
                          <a:effectLst/>
                          <a:latin typeface="+mn-ea"/>
                          <a:ea typeface="+mn-ea"/>
                          <a:cs typeface="+mn-cs"/>
                        </a:rPr>
                        <a:t>control</a:t>
                      </a:r>
                      <a:r>
                        <a:rPr kumimoji="1" lang="ko-KR" altLang="en-US" sz="1000" b="0" i="0" u="none" strike="noStrike" kern="1200" cap="none" normalizeH="0" baseline="0" dirty="0" smtClean="0">
                          <a:ln>
                            <a:noFill/>
                          </a:ln>
                          <a:solidFill>
                            <a:schemeClr val="tx1"/>
                          </a:solidFill>
                          <a:effectLst/>
                          <a:latin typeface="+mn-ea"/>
                          <a:ea typeface="+mn-ea"/>
                          <a:cs typeface="+mn-cs"/>
                        </a:rPr>
                        <a:t>을 가지는 유보방식 보다는 제</a:t>
                      </a:r>
                      <a:r>
                        <a:rPr kumimoji="1" lang="en-US" altLang="ko-KR" sz="1000" b="0" i="0" u="none" strike="noStrike" kern="1200" cap="none" normalizeH="0" baseline="0" dirty="0" smtClean="0">
                          <a:ln>
                            <a:noFill/>
                          </a:ln>
                          <a:solidFill>
                            <a:schemeClr val="tx1"/>
                          </a:solidFill>
                          <a:effectLst/>
                          <a:latin typeface="+mn-ea"/>
                          <a:ea typeface="+mn-ea"/>
                          <a:cs typeface="+mn-cs"/>
                        </a:rPr>
                        <a:t>3</a:t>
                      </a:r>
                      <a:r>
                        <a:rPr kumimoji="1" lang="ko-KR" altLang="en-US" sz="1000" b="0" i="0" u="none" strike="noStrike" kern="1200" cap="none" normalizeH="0" baseline="0" dirty="0" smtClean="0">
                          <a:ln>
                            <a:noFill/>
                          </a:ln>
                          <a:solidFill>
                            <a:schemeClr val="tx1"/>
                          </a:solidFill>
                          <a:effectLst/>
                          <a:latin typeface="+mn-ea"/>
                          <a:ea typeface="+mn-ea"/>
                          <a:cs typeface="+mn-cs"/>
                        </a:rPr>
                        <a:t>자인 </a:t>
                      </a:r>
                      <a:r>
                        <a:rPr kumimoji="1" lang="en-US" altLang="ko-KR" sz="1000" b="0" i="0" u="none" strike="noStrike" kern="1200" cap="none" normalizeH="0" baseline="0" dirty="0" smtClean="0">
                          <a:ln>
                            <a:noFill/>
                          </a:ln>
                          <a:solidFill>
                            <a:schemeClr val="tx1"/>
                          </a:solidFill>
                          <a:effectLst/>
                          <a:latin typeface="+mn-ea"/>
                          <a:ea typeface="+mn-ea"/>
                          <a:cs typeface="+mn-cs"/>
                        </a:rPr>
                        <a:t>escrow agent</a:t>
                      </a:r>
                      <a:r>
                        <a:rPr kumimoji="1" lang="ko-KR" altLang="en-US" sz="1000" b="0" i="0" u="none" strike="noStrike" kern="1200" cap="none" normalizeH="0" baseline="0" dirty="0" smtClean="0">
                          <a:ln>
                            <a:noFill/>
                          </a:ln>
                          <a:solidFill>
                            <a:schemeClr val="tx1"/>
                          </a:solidFill>
                          <a:effectLst/>
                          <a:latin typeface="+mn-ea"/>
                          <a:ea typeface="+mn-ea"/>
                          <a:cs typeface="+mn-cs"/>
                        </a:rPr>
                        <a:t>를 이용한 </a:t>
                      </a:r>
                      <a:r>
                        <a:rPr kumimoji="1" lang="en-US" altLang="ko-KR" sz="1000" b="0" i="0" u="none" strike="noStrike" kern="1200" cap="none" normalizeH="0" baseline="0" dirty="0" smtClean="0">
                          <a:ln>
                            <a:noFill/>
                          </a:ln>
                          <a:solidFill>
                            <a:schemeClr val="tx1"/>
                          </a:solidFill>
                          <a:effectLst/>
                          <a:latin typeface="+mn-ea"/>
                          <a:ea typeface="+mn-ea"/>
                          <a:cs typeface="+mn-cs"/>
                        </a:rPr>
                        <a:t>escrow account</a:t>
                      </a:r>
                      <a:r>
                        <a:rPr kumimoji="1" lang="ko-KR" altLang="en-US" sz="1000" b="0" i="0" u="none" strike="noStrike" kern="1200" cap="none" normalizeH="0" baseline="0" dirty="0" smtClean="0">
                          <a:ln>
                            <a:noFill/>
                          </a:ln>
                          <a:solidFill>
                            <a:schemeClr val="tx1"/>
                          </a:solidFill>
                          <a:effectLst/>
                          <a:latin typeface="+mn-ea"/>
                          <a:ea typeface="+mn-ea"/>
                          <a:cs typeface="+mn-cs"/>
                        </a:rPr>
                        <a:t>를 더 선호함</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금액은 </a:t>
                      </a:r>
                      <a:r>
                        <a:rPr kumimoji="1" lang="en-US" altLang="ko-KR" sz="1000" b="0" i="0" u="none" strike="noStrike" kern="1200" cap="none" normalizeH="0" baseline="0" dirty="0" smtClean="0">
                          <a:ln>
                            <a:noFill/>
                          </a:ln>
                          <a:solidFill>
                            <a:schemeClr val="tx1"/>
                          </a:solidFill>
                          <a:effectLst/>
                          <a:latin typeface="+mn-ea"/>
                          <a:ea typeface="+mn-ea"/>
                          <a:cs typeface="+mn-cs"/>
                        </a:rPr>
                        <a:t>ABA Private Target Deal Points Study</a:t>
                      </a:r>
                      <a:r>
                        <a:rPr kumimoji="1" lang="ko-KR" altLang="en-US" sz="1000" b="0" i="0" u="none" strike="noStrike" kern="1200" cap="none" normalizeH="0" baseline="0" dirty="0" smtClean="0">
                          <a:ln>
                            <a:noFill/>
                          </a:ln>
                          <a:solidFill>
                            <a:schemeClr val="tx1"/>
                          </a:solidFill>
                          <a:effectLst/>
                          <a:latin typeface="+mn-ea"/>
                          <a:ea typeface="+mn-ea"/>
                          <a:cs typeface="+mn-cs"/>
                        </a:rPr>
                        <a:t>에 따르면 </a:t>
                      </a:r>
                      <a:r>
                        <a:rPr kumimoji="1" lang="en-US" altLang="ko-KR" sz="1000" b="0" i="0" u="none" strike="noStrike" kern="1200" cap="none" normalizeH="0" baseline="0" dirty="0" smtClean="0">
                          <a:ln>
                            <a:noFill/>
                          </a:ln>
                          <a:solidFill>
                            <a:schemeClr val="tx1"/>
                          </a:solidFill>
                          <a:effectLst/>
                          <a:latin typeface="+mn-ea"/>
                          <a:ea typeface="+mn-ea"/>
                          <a:cs typeface="+mn-cs"/>
                        </a:rPr>
                        <a:t>deal </a:t>
                      </a:r>
                      <a:r>
                        <a:rPr kumimoji="1" lang="ko-KR" altLang="en-US" sz="1000" b="0" i="0" u="none" strike="noStrike" kern="1200" cap="none" normalizeH="0" baseline="0" dirty="0" smtClean="0">
                          <a:ln>
                            <a:noFill/>
                          </a:ln>
                          <a:solidFill>
                            <a:schemeClr val="tx1"/>
                          </a:solidFill>
                          <a:effectLst/>
                          <a:latin typeface="+mn-ea"/>
                          <a:ea typeface="+mn-ea"/>
                          <a:cs typeface="+mn-cs"/>
                        </a:rPr>
                        <a:t>규모에 따라 다르겠지만 </a:t>
                      </a:r>
                      <a:r>
                        <a:rPr kumimoji="1" lang="en-US" altLang="ko-KR" sz="1000" b="0" i="0" u="none" strike="noStrike" kern="1200" cap="none" normalizeH="0" baseline="0" dirty="0" smtClean="0">
                          <a:ln>
                            <a:noFill/>
                          </a:ln>
                          <a:solidFill>
                            <a:schemeClr val="tx1"/>
                          </a:solidFill>
                          <a:effectLst/>
                          <a:latin typeface="+mn-ea"/>
                          <a:ea typeface="+mn-ea"/>
                          <a:cs typeface="+mn-cs"/>
                        </a:rPr>
                        <a:t>5% </a:t>
                      </a:r>
                      <a:r>
                        <a:rPr kumimoji="1" lang="ko-KR" altLang="en-US" sz="1000" b="0" i="0" u="none" strike="noStrike" kern="1200" cap="none" normalizeH="0" baseline="0" dirty="0" smtClean="0">
                          <a:ln>
                            <a:noFill/>
                          </a:ln>
                          <a:solidFill>
                            <a:schemeClr val="tx1"/>
                          </a:solidFill>
                          <a:effectLst/>
                          <a:latin typeface="+mn-ea"/>
                          <a:ea typeface="+mn-ea"/>
                          <a:cs typeface="+mn-cs"/>
                        </a:rPr>
                        <a:t>미만으로 합의되는 경우가 </a:t>
                      </a:r>
                      <a:r>
                        <a:rPr kumimoji="1" lang="en-US" altLang="ko-KR" sz="1000" b="0" i="0" u="none" strike="noStrike" kern="1200" cap="none" normalizeH="0" baseline="0" dirty="0" smtClean="0">
                          <a:ln>
                            <a:noFill/>
                          </a:ln>
                          <a:solidFill>
                            <a:schemeClr val="tx1"/>
                          </a:solidFill>
                          <a:effectLst/>
                          <a:latin typeface="+mn-ea"/>
                          <a:ea typeface="+mn-ea"/>
                          <a:cs typeface="+mn-cs"/>
                        </a:rPr>
                        <a:t>escrow arrangement</a:t>
                      </a:r>
                      <a:r>
                        <a:rPr kumimoji="1" lang="ko-KR" altLang="en-US" sz="1000" b="0" i="0" u="none" strike="noStrike" kern="1200" cap="none" normalizeH="0" baseline="0" dirty="0" smtClean="0">
                          <a:ln>
                            <a:noFill/>
                          </a:ln>
                          <a:solidFill>
                            <a:schemeClr val="tx1"/>
                          </a:solidFill>
                          <a:effectLst/>
                          <a:latin typeface="+mn-ea"/>
                          <a:ea typeface="+mn-ea"/>
                          <a:cs typeface="+mn-cs"/>
                        </a:rPr>
                        <a:t>가 있는 </a:t>
                      </a:r>
                      <a:r>
                        <a:rPr kumimoji="1" lang="en-US" altLang="ko-KR" sz="1000" b="0" i="0" u="none" strike="noStrike" kern="1200" cap="none" normalizeH="0" baseline="0" dirty="0" smtClean="0">
                          <a:ln>
                            <a:noFill/>
                          </a:ln>
                          <a:solidFill>
                            <a:schemeClr val="tx1"/>
                          </a:solidFill>
                          <a:effectLst/>
                          <a:latin typeface="+mn-ea"/>
                          <a:ea typeface="+mn-ea"/>
                          <a:cs typeface="+mn-cs"/>
                        </a:rPr>
                        <a:t>deal</a:t>
                      </a:r>
                      <a:r>
                        <a:rPr kumimoji="1" lang="ko-KR" altLang="en-US" sz="1000" b="0" i="0" u="none" strike="noStrike" kern="1200" cap="none" normalizeH="0" baseline="0" dirty="0" smtClean="0">
                          <a:ln>
                            <a:noFill/>
                          </a:ln>
                          <a:solidFill>
                            <a:schemeClr val="tx1"/>
                          </a:solidFill>
                          <a:effectLst/>
                          <a:latin typeface="+mn-ea"/>
                          <a:ea typeface="+mn-ea"/>
                          <a:cs typeface="+mn-cs"/>
                        </a:rPr>
                        <a:t>의 </a:t>
                      </a:r>
                      <a:r>
                        <a:rPr kumimoji="1" lang="en-US" altLang="ko-KR" sz="1000" b="0" i="0" u="none" strike="noStrike" kern="1200" cap="none" normalizeH="0" baseline="0" dirty="0" smtClean="0">
                          <a:ln>
                            <a:noFill/>
                          </a:ln>
                          <a:solidFill>
                            <a:schemeClr val="tx1"/>
                          </a:solidFill>
                          <a:effectLst/>
                          <a:latin typeface="+mn-ea"/>
                          <a:ea typeface="+mn-ea"/>
                          <a:cs typeface="+mn-cs"/>
                        </a:rPr>
                        <a:t>50% </a:t>
                      </a:r>
                      <a:r>
                        <a:rPr kumimoji="1" lang="ko-KR" altLang="en-US" sz="1000" b="0" i="0" u="none" strike="noStrike" kern="1200" cap="none" normalizeH="0" baseline="0" dirty="0" smtClean="0">
                          <a:ln>
                            <a:noFill/>
                          </a:ln>
                          <a:solidFill>
                            <a:schemeClr val="tx1"/>
                          </a:solidFill>
                          <a:effectLst/>
                          <a:latin typeface="+mn-ea"/>
                          <a:ea typeface="+mn-ea"/>
                          <a:cs typeface="+mn-cs"/>
                        </a:rPr>
                        <a:t>이상이라고 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228600" indent="-228600" algn="l" latinLnBrk="1">
                        <a:lnSpc>
                          <a:spcPct val="110000"/>
                        </a:lnSpc>
                        <a:spcAft>
                          <a:spcPts val="0"/>
                        </a:spcAft>
                        <a:buFont typeface="+mj-lt"/>
                        <a:buAutoNum type="arabicPeriod"/>
                      </a:pPr>
                      <a:endParaRPr lang="en-US" altLang="ko-KR" sz="1000" b="0"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en-US" altLang="ko-KR" sz="1000" b="1" dirty="0" smtClean="0">
                          <a:effectLst/>
                          <a:latin typeface="+mn-ea"/>
                          <a:ea typeface="+mn-ea"/>
                          <a:cs typeface="Times New Roman" panose="02020603050405020304" pitchFamily="18" charset="0"/>
                        </a:rPr>
                        <a:t>Payment of Indebtedness</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Outbound </a:t>
                      </a:r>
                      <a:r>
                        <a:rPr kumimoji="1" lang="ko-KR" altLang="en-US" sz="1000" b="0" i="0" u="none" strike="noStrike" kern="1200" cap="none" normalizeH="0" baseline="0" dirty="0" smtClean="0">
                          <a:ln>
                            <a:noFill/>
                          </a:ln>
                          <a:solidFill>
                            <a:schemeClr val="tx1"/>
                          </a:solidFill>
                          <a:effectLst/>
                          <a:latin typeface="+mn-ea"/>
                          <a:ea typeface="+mn-ea"/>
                          <a:cs typeface="+mn-cs"/>
                        </a:rPr>
                        <a:t>딜의 경우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거래종결 에 매수인이 직접 매도인 또는 대상회사의 채무나 거래 비용</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예컨대 </a:t>
                      </a:r>
                      <a:r>
                        <a:rPr kumimoji="1" lang="en-US" altLang="ko-KR" sz="1000" b="0" i="0" u="none" strike="noStrike" kern="1200" cap="none" normalizeH="0" baseline="0" dirty="0" smtClean="0">
                          <a:ln>
                            <a:noFill/>
                          </a:ln>
                          <a:solidFill>
                            <a:schemeClr val="tx1"/>
                          </a:solidFill>
                          <a:effectLst/>
                          <a:latin typeface="+mn-ea"/>
                          <a:ea typeface="+mn-ea"/>
                          <a:cs typeface="+mn-cs"/>
                        </a:rPr>
                        <a:t>advisors’ fees) </a:t>
                      </a:r>
                      <a:r>
                        <a:rPr kumimoji="1" lang="ko-KR" altLang="en-US" sz="1000" b="0" i="0" u="none" strike="noStrike" kern="1200" cap="none" normalizeH="0" baseline="0" dirty="0" smtClean="0">
                          <a:ln>
                            <a:noFill/>
                          </a:ln>
                          <a:solidFill>
                            <a:schemeClr val="tx1"/>
                          </a:solidFill>
                          <a:effectLst/>
                          <a:latin typeface="+mn-ea"/>
                          <a:ea typeface="+mn-ea"/>
                          <a:cs typeface="+mn-cs"/>
                        </a:rPr>
                        <a:t>등을 매매대금에서 차감한 후 지불하는 </a:t>
                      </a:r>
                      <a:r>
                        <a:rPr kumimoji="1" lang="en-US" altLang="ko-KR" sz="1000" b="0" i="0" u="none" strike="noStrike" kern="1200" cap="none" normalizeH="0" baseline="0" dirty="0" smtClean="0">
                          <a:ln>
                            <a:noFill/>
                          </a:ln>
                          <a:solidFill>
                            <a:schemeClr val="tx1"/>
                          </a:solidFill>
                          <a:effectLst/>
                          <a:latin typeface="+mn-ea"/>
                          <a:ea typeface="+mn-ea"/>
                          <a:cs typeface="+mn-cs"/>
                        </a:rPr>
                        <a:t>mechanism</a:t>
                      </a:r>
                      <a:r>
                        <a:rPr kumimoji="1" lang="ko-KR" altLang="en-US" sz="1000" b="0" i="0" u="none" strike="noStrike" kern="1200" cap="none" normalizeH="0" baseline="0" dirty="0" smtClean="0">
                          <a:ln>
                            <a:noFill/>
                          </a:ln>
                          <a:solidFill>
                            <a:schemeClr val="tx1"/>
                          </a:solidFill>
                          <a:effectLst/>
                          <a:latin typeface="+mn-ea"/>
                          <a:ea typeface="+mn-ea"/>
                          <a:cs typeface="+mn-cs"/>
                        </a:rPr>
                        <a:t>이 포함되는 경우가 많음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그 목적으로 매도인이 위와 같이 </a:t>
                      </a:r>
                      <a:r>
                        <a:rPr kumimoji="1" lang="en-US" altLang="ko-KR" sz="1000" b="0" i="0" u="none" strike="noStrike" kern="1200" cap="none" normalizeH="0" baseline="0" dirty="0" smtClean="0">
                          <a:ln>
                            <a:noFill/>
                          </a:ln>
                          <a:solidFill>
                            <a:schemeClr val="tx1"/>
                          </a:solidFill>
                          <a:effectLst/>
                          <a:latin typeface="+mn-ea"/>
                          <a:ea typeface="+mn-ea"/>
                          <a:cs typeface="+mn-cs"/>
                        </a:rPr>
                        <a:t>Closing </a:t>
                      </a:r>
                      <a:r>
                        <a:rPr kumimoji="1" lang="ko-KR" altLang="en-US" sz="1000" b="0" i="0" u="none" strike="noStrike" kern="1200" cap="none" normalizeH="0" baseline="0" dirty="0" smtClean="0">
                          <a:ln>
                            <a:noFill/>
                          </a:ln>
                          <a:solidFill>
                            <a:schemeClr val="tx1"/>
                          </a:solidFill>
                          <a:effectLst/>
                          <a:latin typeface="+mn-ea"/>
                          <a:ea typeface="+mn-ea"/>
                          <a:cs typeface="+mn-cs"/>
                        </a:rPr>
                        <a:t>기준으로 상환해야 하는 금액을 기재한 </a:t>
                      </a:r>
                      <a:r>
                        <a:rPr kumimoji="1" lang="en-US" altLang="ko-KR" sz="1000" b="0" i="0" u="none" strike="noStrike" kern="1200" cap="none" normalizeH="0" baseline="0" dirty="0" smtClean="0">
                          <a:ln>
                            <a:noFill/>
                          </a:ln>
                          <a:solidFill>
                            <a:schemeClr val="tx1"/>
                          </a:solidFill>
                          <a:effectLst/>
                          <a:latin typeface="+mn-ea"/>
                          <a:ea typeface="+mn-ea"/>
                          <a:cs typeface="+mn-cs"/>
                        </a:rPr>
                        <a:t>pay-off letters</a:t>
                      </a:r>
                      <a:r>
                        <a:rPr kumimoji="1" lang="ko-KR" altLang="en-US" sz="1000" b="0" i="0" u="none" strike="noStrike" kern="1200" cap="none" normalizeH="0" baseline="0" dirty="0" smtClean="0">
                          <a:ln>
                            <a:noFill/>
                          </a:ln>
                          <a:solidFill>
                            <a:schemeClr val="tx1"/>
                          </a:solidFill>
                          <a:effectLst/>
                          <a:latin typeface="+mn-ea"/>
                          <a:ea typeface="+mn-ea"/>
                          <a:cs typeface="+mn-cs"/>
                        </a:rPr>
                        <a:t>를 채권자들로부터 받아서 매수인에게 전달할 의무가 들어있는 경우가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한국법인인 </a:t>
                      </a:r>
                      <a:r>
                        <a:rPr kumimoji="1" lang="en-US" altLang="ko-KR" sz="1000" b="0" i="0" u="none" strike="noStrike" kern="1200" cap="none" normalizeH="0" baseline="0" dirty="0" smtClean="0">
                          <a:ln>
                            <a:noFill/>
                          </a:ln>
                          <a:solidFill>
                            <a:schemeClr val="tx1"/>
                          </a:solidFill>
                          <a:effectLst/>
                          <a:latin typeface="+mn-ea"/>
                          <a:ea typeface="+mn-ea"/>
                          <a:cs typeface="+mn-cs"/>
                        </a:rPr>
                        <a:t>LG H&amp;H</a:t>
                      </a:r>
                      <a:r>
                        <a:rPr kumimoji="1" lang="ko-KR" altLang="en-US" sz="1000" b="0" i="0" u="none" strike="noStrike" kern="1200" cap="none" normalizeH="0" baseline="0" dirty="0" smtClean="0">
                          <a:ln>
                            <a:noFill/>
                          </a:ln>
                          <a:solidFill>
                            <a:schemeClr val="tx1"/>
                          </a:solidFill>
                          <a:effectLst/>
                          <a:latin typeface="+mn-ea"/>
                          <a:ea typeface="+mn-ea"/>
                          <a:cs typeface="+mn-cs"/>
                        </a:rPr>
                        <a:t>가 매수인인 경우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위와 같은 </a:t>
                      </a:r>
                      <a:r>
                        <a:rPr kumimoji="1" lang="en-US" altLang="ko-KR" sz="1000" b="0" i="0" u="none" strike="noStrike" kern="1200" cap="none" normalizeH="0" baseline="0" dirty="0" smtClean="0">
                          <a:ln>
                            <a:noFill/>
                          </a:ln>
                          <a:solidFill>
                            <a:schemeClr val="tx1"/>
                          </a:solidFill>
                          <a:effectLst/>
                          <a:latin typeface="+mn-ea"/>
                          <a:ea typeface="+mn-ea"/>
                          <a:cs typeface="+mn-cs"/>
                        </a:rPr>
                        <a:t>mechanism</a:t>
                      </a:r>
                      <a:r>
                        <a:rPr kumimoji="1" lang="ko-KR" altLang="en-US" sz="1000" b="0" i="0" u="none" strike="noStrike" kern="1200" cap="none" normalizeH="0" baseline="0" dirty="0" smtClean="0">
                          <a:ln>
                            <a:noFill/>
                          </a:ln>
                          <a:solidFill>
                            <a:schemeClr val="tx1"/>
                          </a:solidFill>
                          <a:effectLst/>
                          <a:latin typeface="+mn-ea"/>
                          <a:ea typeface="+mn-ea"/>
                          <a:cs typeface="+mn-cs"/>
                        </a:rPr>
                        <a:t>은 외국환거래법령상 상계의 방식에 따른 해외직접투자가 가능한지 여부에 대하여 외국환거래규정 제</a:t>
                      </a:r>
                      <a:r>
                        <a:rPr kumimoji="1" lang="en-US" altLang="ko-KR" sz="1000" b="0" i="0" u="none" strike="noStrike" kern="1200" cap="none" normalizeH="0" baseline="0" dirty="0" smtClean="0">
                          <a:ln>
                            <a:noFill/>
                          </a:ln>
                          <a:solidFill>
                            <a:schemeClr val="tx1"/>
                          </a:solidFill>
                          <a:effectLst/>
                          <a:latin typeface="+mn-ea"/>
                          <a:ea typeface="+mn-ea"/>
                          <a:cs typeface="+mn-cs"/>
                        </a:rPr>
                        <a:t>5-2</a:t>
                      </a:r>
                      <a:r>
                        <a:rPr kumimoji="1" lang="ko-KR" altLang="en-US" sz="1000" b="0" i="0" u="none" strike="noStrike" kern="1200" cap="none" normalizeH="0" baseline="0" dirty="0" smtClean="0">
                          <a:ln>
                            <a:noFill/>
                          </a:ln>
                          <a:solidFill>
                            <a:schemeClr val="tx1"/>
                          </a:solidFill>
                          <a:effectLst/>
                          <a:latin typeface="+mn-ea"/>
                          <a:ea typeface="+mn-ea"/>
                          <a:cs typeface="+mn-cs"/>
                        </a:rPr>
                        <a:t>조의 해석상 모호한 점이 존재하기 때문에 실행이 쉽지 않을 수 있으니 사전에 지정거래외국환은행과의 사전 협의 및 자문사의 확인이 필요하다는 점 참고 필요함</a:t>
                      </a:r>
                      <a:r>
                        <a:rPr kumimoji="1" lang="en-US" altLang="ko-KR" sz="1000" b="0" i="0" u="none" strike="noStrike" kern="1200" cap="none" normalizeH="0" baseline="0" dirty="0" smtClean="0">
                          <a:ln>
                            <a:noFill/>
                          </a:ln>
                          <a:solidFill>
                            <a:schemeClr val="tx1"/>
                          </a:solidFill>
                          <a:effectLst/>
                          <a:latin typeface="+mn-ea"/>
                          <a:ea typeface="+mn-ea"/>
                          <a:cs typeface="+mn-cs"/>
                        </a:rPr>
                        <a:t>.</a:t>
                      </a:r>
                      <a:endParaRPr lang="ko-KR" sz="1000" b="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46974886"/>
                  </a:ext>
                </a:extLst>
              </a:tr>
            </a:tbl>
          </a:graphicData>
        </a:graphic>
      </p:graphicFrame>
    </p:spTree>
    <p:extLst>
      <p:ext uri="{BB962C8B-B14F-4D97-AF65-F5344CB8AC3E}">
        <p14:creationId xmlns:p14="http://schemas.microsoft.com/office/powerpoint/2010/main" val="4341985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Purchase Price Adjustment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1. Net Asset </a:t>
            </a:r>
            <a:r>
              <a:rPr lang="en-US" altLang="ko-KR" dirty="0">
                <a:solidFill>
                  <a:schemeClr val="tx1"/>
                </a:solidFill>
                <a:latin typeface="+mn-ea"/>
                <a:ea typeface="+mn-ea"/>
              </a:rPr>
              <a:t>/ </a:t>
            </a:r>
            <a:r>
              <a:rPr lang="en-US" altLang="ko-KR" dirty="0" smtClean="0">
                <a:solidFill>
                  <a:schemeClr val="tx1"/>
                </a:solidFill>
                <a:latin typeface="+mn-ea"/>
                <a:ea typeface="+mn-ea"/>
              </a:rPr>
              <a:t>Net </a:t>
            </a:r>
            <a:r>
              <a:rPr lang="en-US" altLang="ko-KR" dirty="0">
                <a:solidFill>
                  <a:schemeClr val="tx1"/>
                </a:solidFill>
                <a:latin typeface="+mn-ea"/>
                <a:ea typeface="+mn-ea"/>
              </a:rPr>
              <a:t>Working </a:t>
            </a:r>
            <a:r>
              <a:rPr lang="en-US" altLang="ko-KR" dirty="0" smtClean="0">
                <a:solidFill>
                  <a:schemeClr val="tx1"/>
                </a:solidFill>
                <a:latin typeface="+mn-ea"/>
                <a:ea typeface="+mn-ea"/>
              </a:rPr>
              <a:t>Capital</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027756533"/>
              </p:ext>
            </p:extLst>
          </p:nvPr>
        </p:nvGraphicFramePr>
        <p:xfrm>
          <a:off x="439738" y="1043677"/>
          <a:ext cx="9188450" cy="5332486"/>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42616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altLang="en-US" sz="1000" dirty="0" smtClean="0">
                          <a:solidFill>
                            <a:schemeClr val="tx1"/>
                          </a:solidFill>
                          <a:effectLst/>
                          <a:latin typeface="+mn-ea"/>
                          <a:ea typeface="+mn-ea"/>
                          <a:cs typeface="Times New Roman" panose="02020603050405020304" pitchFamily="18" charset="0"/>
                        </a:rPr>
                        <a:t>매매대금의 조정 방식에는 크게 </a:t>
                      </a:r>
                      <a:r>
                        <a:rPr lang="en-US" altLang="ko-KR" sz="1000" dirty="0" smtClean="0">
                          <a:solidFill>
                            <a:schemeClr val="tx1"/>
                          </a:solidFill>
                          <a:effectLst/>
                          <a:latin typeface="+mn-ea"/>
                          <a:ea typeface="+mn-ea"/>
                          <a:cs typeface="Times New Roman" panose="02020603050405020304" pitchFamily="18" charset="0"/>
                        </a:rPr>
                        <a:t>(i) Closing Accounts </a:t>
                      </a:r>
                      <a:r>
                        <a:rPr lang="ko-KR" altLang="en-US" sz="1000" dirty="0" smtClean="0">
                          <a:solidFill>
                            <a:schemeClr val="tx1"/>
                          </a:solidFill>
                          <a:effectLst/>
                          <a:latin typeface="+mn-ea"/>
                          <a:ea typeface="+mn-ea"/>
                          <a:cs typeface="Times New Roman" panose="02020603050405020304" pitchFamily="18" charset="0"/>
                        </a:rPr>
                        <a:t>개념에 따라 순자산</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순운전자본 조정을 통해 일정 기준일을 기준으로 산정한 매매대금을 사후적으로 조정하는 방식과</a:t>
                      </a:r>
                      <a:r>
                        <a:rPr lang="en-US" altLang="ko-KR" sz="1000" dirty="0" smtClean="0">
                          <a:solidFill>
                            <a:schemeClr val="tx1"/>
                          </a:solidFill>
                          <a:effectLst/>
                          <a:latin typeface="+mn-ea"/>
                          <a:ea typeface="+mn-ea"/>
                          <a:cs typeface="Times New Roman" panose="02020603050405020304" pitchFamily="18" charset="0"/>
                        </a:rPr>
                        <a:t>, (ii) Locked Box </a:t>
                      </a:r>
                      <a:r>
                        <a:rPr lang="ko-KR" altLang="en-US" sz="1000" dirty="0" smtClean="0">
                          <a:solidFill>
                            <a:schemeClr val="tx1"/>
                          </a:solidFill>
                          <a:effectLst/>
                          <a:latin typeface="+mn-ea"/>
                          <a:ea typeface="+mn-ea"/>
                          <a:cs typeface="Times New Roman" panose="02020603050405020304" pitchFamily="18" charset="0"/>
                        </a:rPr>
                        <a:t>개념에 따라 특정 시점을 기준으로 매매대금을 산정하고 그 이후에 발생한 가치유출</a:t>
                      </a:r>
                      <a:r>
                        <a:rPr lang="en-US" altLang="ko-KR" sz="1000" dirty="0" smtClean="0">
                          <a:solidFill>
                            <a:schemeClr val="tx1"/>
                          </a:solidFill>
                          <a:effectLst/>
                          <a:latin typeface="+mn-ea"/>
                          <a:ea typeface="+mn-ea"/>
                          <a:cs typeface="Times New Roman" panose="02020603050405020304" pitchFamily="18" charset="0"/>
                        </a:rPr>
                        <a:t>(leakage)</a:t>
                      </a:r>
                      <a:r>
                        <a:rPr lang="ko-KR" altLang="en-US" sz="1000" dirty="0" smtClean="0">
                          <a:solidFill>
                            <a:schemeClr val="tx1"/>
                          </a:solidFill>
                          <a:effectLst/>
                          <a:latin typeface="+mn-ea"/>
                          <a:ea typeface="+mn-ea"/>
                          <a:cs typeface="Times New Roman" panose="02020603050405020304" pitchFamily="18" charset="0"/>
                        </a:rPr>
                        <a:t>에 한정하여 조정 대상으로 하는 방식이 있음 </a:t>
                      </a:r>
                    </a:p>
                    <a:p>
                      <a:pPr marL="171450" indent="-171450" algn="l" latinLnBrk="1">
                        <a:lnSpc>
                          <a:spcPct val="110000"/>
                        </a:lnSpc>
                        <a:spcAft>
                          <a:spcPts val="0"/>
                        </a:spcAft>
                        <a:buFont typeface="Wingdings" panose="05000000000000000000" pitchFamily="2" charset="2"/>
                        <a:buChar char="§"/>
                      </a:pPr>
                      <a:r>
                        <a:rPr lang="en-US" altLang="ko-KR" sz="1000" dirty="0" smtClean="0">
                          <a:solidFill>
                            <a:schemeClr val="tx1"/>
                          </a:solidFill>
                          <a:effectLst/>
                          <a:latin typeface="+mn-ea"/>
                          <a:ea typeface="+mn-ea"/>
                          <a:cs typeface="Times New Roman" panose="02020603050405020304" pitchFamily="18" charset="0"/>
                        </a:rPr>
                        <a:t>Valuation</a:t>
                      </a:r>
                      <a:r>
                        <a:rPr lang="ko-KR" altLang="en-US" sz="1000" dirty="0" smtClean="0">
                          <a:solidFill>
                            <a:schemeClr val="tx1"/>
                          </a:solidFill>
                          <a:effectLst/>
                          <a:latin typeface="+mn-ea"/>
                          <a:ea typeface="+mn-ea"/>
                          <a:cs typeface="Times New Roman" panose="02020603050405020304" pitchFamily="18" charset="0"/>
                        </a:rPr>
                        <a:t>을 담당한 재무자문사와 협의하여 조정 방식을 결정할 필요가 있으며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경우에 따라서는 매매대금 조정을 하지 않는 것이 매수인에게 유리할 수도 있는바</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예</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대상회사의 순자산이 계속 증가하는 경우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예상 시뮬레이션을 통해 의사 결정할 필요 있음</a:t>
                      </a:r>
                    </a:p>
                    <a:p>
                      <a:pPr marL="171450" indent="-171450" algn="l" latinLnBrk="1">
                        <a:lnSpc>
                          <a:spcPct val="110000"/>
                        </a:lnSpc>
                        <a:spcAft>
                          <a:spcPts val="0"/>
                        </a:spcAft>
                        <a:buFont typeface="Wingdings" panose="05000000000000000000" pitchFamily="2" charset="2"/>
                        <a:buChar char="§"/>
                      </a:pPr>
                      <a:r>
                        <a:rPr lang="en-US" altLang="ko-KR" sz="1000" dirty="0" smtClean="0">
                          <a:solidFill>
                            <a:schemeClr val="tx1"/>
                          </a:solidFill>
                          <a:effectLst/>
                          <a:latin typeface="+mn-ea"/>
                          <a:ea typeface="+mn-ea"/>
                          <a:cs typeface="Times New Roman" panose="02020603050405020304" pitchFamily="18" charset="0"/>
                        </a:rPr>
                        <a:t>ABA Private Target Deal Points Study</a:t>
                      </a:r>
                      <a:r>
                        <a:rPr lang="ko-KR" altLang="en-US" sz="1000" dirty="0" smtClean="0">
                          <a:solidFill>
                            <a:schemeClr val="tx1"/>
                          </a:solidFill>
                          <a:effectLst/>
                          <a:latin typeface="+mn-ea"/>
                          <a:ea typeface="+mn-ea"/>
                          <a:cs typeface="Times New Roman" panose="02020603050405020304" pitchFamily="18" charset="0"/>
                        </a:rPr>
                        <a:t>에 따르면 </a:t>
                      </a:r>
                      <a:r>
                        <a:rPr lang="en-US" altLang="ko-KR" sz="1000" dirty="0" smtClean="0">
                          <a:solidFill>
                            <a:schemeClr val="tx1"/>
                          </a:solidFill>
                          <a:effectLst/>
                          <a:latin typeface="+mn-ea"/>
                          <a:ea typeface="+mn-ea"/>
                          <a:cs typeface="Times New Roman" panose="02020603050405020304" pitchFamily="18" charset="0"/>
                        </a:rPr>
                        <a:t>(i) </a:t>
                      </a:r>
                      <a:r>
                        <a:rPr lang="ko-KR" altLang="en-US" sz="1000" dirty="0" smtClean="0">
                          <a:solidFill>
                            <a:schemeClr val="tx1"/>
                          </a:solidFill>
                          <a:effectLst/>
                          <a:latin typeface="+mn-ea"/>
                          <a:ea typeface="+mn-ea"/>
                          <a:cs typeface="Times New Roman" panose="02020603050405020304" pitchFamily="18" charset="0"/>
                        </a:rPr>
                        <a:t>순자산</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순운전자본 조정 방식이 가장 일반적으로 사용되고 있는 매매대금 조정 방식이라고 함</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표준 </a:t>
                      </a:r>
                      <a:r>
                        <a:rPr lang="en-US" altLang="ko-KR" sz="1000" dirty="0" smtClean="0">
                          <a:solidFill>
                            <a:schemeClr val="tx1"/>
                          </a:solidFill>
                          <a:effectLst/>
                          <a:latin typeface="+mn-ea"/>
                          <a:ea typeface="+mn-ea"/>
                          <a:cs typeface="Times New Roman" panose="02020603050405020304" pitchFamily="18" charset="0"/>
                        </a:rPr>
                        <a:t>SPA</a:t>
                      </a:r>
                      <a:r>
                        <a:rPr lang="ko-KR" altLang="en-US" sz="1000" dirty="0" smtClean="0">
                          <a:solidFill>
                            <a:schemeClr val="tx1"/>
                          </a:solidFill>
                          <a:effectLst/>
                          <a:latin typeface="+mn-ea"/>
                          <a:ea typeface="+mn-ea"/>
                          <a:cs typeface="Times New Roman" panose="02020603050405020304" pitchFamily="18" charset="0"/>
                        </a:rPr>
                        <a:t>에서는 </a:t>
                      </a:r>
                      <a:r>
                        <a:rPr lang="en-US" altLang="ko-KR" sz="1000" dirty="0" smtClean="0">
                          <a:solidFill>
                            <a:schemeClr val="tx1"/>
                          </a:solidFill>
                          <a:effectLst/>
                          <a:latin typeface="+mn-ea"/>
                          <a:ea typeface="+mn-ea"/>
                          <a:cs typeface="Times New Roman" panose="02020603050405020304" pitchFamily="18" charset="0"/>
                        </a:rPr>
                        <a:t>(i) </a:t>
                      </a:r>
                      <a:r>
                        <a:rPr lang="ko-KR" altLang="en-US" sz="1000" dirty="0" smtClean="0">
                          <a:solidFill>
                            <a:schemeClr val="tx1"/>
                          </a:solidFill>
                          <a:effectLst/>
                          <a:latin typeface="+mn-ea"/>
                          <a:ea typeface="+mn-ea"/>
                          <a:cs typeface="Times New Roman" panose="02020603050405020304" pitchFamily="18" charset="0"/>
                        </a:rPr>
                        <a:t>순자산</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순운전자본 조정 방식을 취함</a:t>
                      </a:r>
                      <a:r>
                        <a:rPr lang="en-US" altLang="ko-KR" sz="1000" dirty="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906323">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r>
                        <a:rPr lang="ko-KR" altLang="en-US" sz="1000" b="0" kern="1200" dirty="0" smtClean="0">
                          <a:solidFill>
                            <a:schemeClr val="tx1"/>
                          </a:solidFill>
                          <a:effectLst/>
                          <a:latin typeface="+mn-ea"/>
                          <a:ea typeface="+mn-ea"/>
                          <a:cs typeface="Times New Roman" panose="02020603050405020304" pitchFamily="18" charset="0"/>
                        </a:rPr>
                        <a:t>표준 </a:t>
                      </a:r>
                      <a:r>
                        <a:rPr lang="en-US" altLang="ko-KR" sz="1000" b="0" kern="1200" dirty="0" smtClean="0">
                          <a:solidFill>
                            <a:schemeClr val="tx1"/>
                          </a:solidFill>
                          <a:effectLst/>
                          <a:latin typeface="+mn-ea"/>
                          <a:ea typeface="+mn-ea"/>
                          <a:cs typeface="Times New Roman" panose="02020603050405020304" pitchFamily="18" charset="0"/>
                        </a:rPr>
                        <a:t>SPA </a:t>
                      </a:r>
                      <a:r>
                        <a:rPr lang="ko-KR" altLang="en-US" sz="1000" b="0" kern="1200" dirty="0" smtClean="0">
                          <a:solidFill>
                            <a:schemeClr val="tx1"/>
                          </a:solidFill>
                          <a:effectLst/>
                          <a:latin typeface="+mn-ea"/>
                          <a:ea typeface="+mn-ea"/>
                          <a:cs typeface="Times New Roman" panose="02020603050405020304" pitchFamily="18" charset="0"/>
                        </a:rPr>
                        <a:t>에서는 </a:t>
                      </a:r>
                      <a:r>
                        <a:rPr lang="en-US" altLang="ko-KR" sz="1000" b="0" kern="1200" dirty="0" smtClean="0">
                          <a:solidFill>
                            <a:schemeClr val="tx1"/>
                          </a:solidFill>
                          <a:effectLst/>
                          <a:latin typeface="+mn-ea"/>
                          <a:ea typeface="+mn-ea"/>
                          <a:cs typeface="Times New Roman" panose="02020603050405020304" pitchFamily="18" charset="0"/>
                        </a:rPr>
                        <a:t>Closing Date </a:t>
                      </a:r>
                      <a:r>
                        <a:rPr lang="ko-KR" altLang="en-US" sz="1000" b="0" kern="1200" dirty="0" smtClean="0">
                          <a:solidFill>
                            <a:schemeClr val="tx1"/>
                          </a:solidFill>
                          <a:effectLst/>
                          <a:latin typeface="+mn-ea"/>
                          <a:ea typeface="+mn-ea"/>
                          <a:cs typeface="Times New Roman" panose="02020603050405020304" pitchFamily="18" charset="0"/>
                        </a:rPr>
                        <a:t>기준 대상 회사의 </a:t>
                      </a:r>
                      <a:r>
                        <a:rPr lang="en-US" altLang="ko-KR" sz="1000" b="0" kern="1200" dirty="0" smtClean="0">
                          <a:solidFill>
                            <a:schemeClr val="tx1"/>
                          </a:solidFill>
                          <a:effectLst/>
                          <a:latin typeface="+mn-ea"/>
                          <a:ea typeface="+mn-ea"/>
                          <a:cs typeface="Times New Roman" panose="02020603050405020304" pitchFamily="18" charset="0"/>
                        </a:rPr>
                        <a:t>net debt / working capital</a:t>
                      </a:r>
                      <a:r>
                        <a:rPr lang="ko-KR" altLang="en-US" sz="1000" b="0" kern="1200" dirty="0" smtClean="0">
                          <a:solidFill>
                            <a:schemeClr val="tx1"/>
                          </a:solidFill>
                          <a:effectLst/>
                          <a:latin typeface="+mn-ea"/>
                          <a:ea typeface="+mn-ea"/>
                          <a:cs typeface="Times New Roman" panose="02020603050405020304" pitchFamily="18" charset="0"/>
                        </a:rPr>
                        <a:t>에 따른 매매대금 조정으로 거래 종결 후에 조정을 완료하는 방식을 취함</a:t>
                      </a:r>
                      <a:r>
                        <a:rPr lang="en-US" altLang="ko-KR" sz="1000" b="0" kern="1200" dirty="0" smtClean="0">
                          <a:solidFill>
                            <a:schemeClr val="tx1"/>
                          </a:solidFill>
                          <a:effectLst/>
                          <a:latin typeface="+mn-ea"/>
                          <a:ea typeface="+mn-ea"/>
                          <a:cs typeface="Times New Roman" panose="02020603050405020304" pitchFamily="18" charset="0"/>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이와 같은 방식은 매수인 입장에서는 거래 종결일</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즉 매수인이 회사의 </a:t>
                      </a:r>
                      <a:r>
                        <a:rPr kumimoji="1" lang="en-US" altLang="ko-KR" sz="1000" b="0" i="0" u="none" strike="noStrike" kern="1200" cap="none" normalizeH="0" baseline="0" dirty="0" smtClean="0">
                          <a:ln>
                            <a:noFill/>
                          </a:ln>
                          <a:solidFill>
                            <a:schemeClr val="tx1"/>
                          </a:solidFill>
                          <a:effectLst/>
                          <a:latin typeface="+mn-ea"/>
                          <a:ea typeface="+mn-ea"/>
                          <a:cs typeface="+mn-cs"/>
                        </a:rPr>
                        <a:t>control</a:t>
                      </a:r>
                      <a:r>
                        <a:rPr kumimoji="1" lang="ko-KR" altLang="en-US" sz="1000" b="0" i="0" u="none" strike="noStrike" kern="1200" cap="none" normalizeH="0" baseline="0" dirty="0" smtClean="0">
                          <a:ln>
                            <a:noFill/>
                          </a:ln>
                          <a:solidFill>
                            <a:schemeClr val="tx1"/>
                          </a:solidFill>
                          <a:effectLst/>
                          <a:latin typeface="+mn-ea"/>
                          <a:ea typeface="+mn-ea"/>
                          <a:cs typeface="+mn-cs"/>
                        </a:rPr>
                        <a:t>을 취득하는 시점</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을 기준으로 매매대금을 정할 수 있고</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거래종결 후에 매매대금을 조정하면 매수인이 대상회사의 </a:t>
                      </a:r>
                      <a:r>
                        <a:rPr kumimoji="1" lang="en-US" altLang="ko-KR" sz="1000" b="0" i="0" u="none" strike="noStrike" kern="1200" cap="none" normalizeH="0" baseline="0" dirty="0" smtClean="0">
                          <a:ln>
                            <a:noFill/>
                          </a:ln>
                          <a:solidFill>
                            <a:schemeClr val="tx1"/>
                          </a:solidFill>
                          <a:effectLst/>
                          <a:latin typeface="+mn-ea"/>
                          <a:ea typeface="+mn-ea"/>
                          <a:cs typeface="+mn-cs"/>
                        </a:rPr>
                        <a:t>control</a:t>
                      </a:r>
                      <a:r>
                        <a:rPr kumimoji="1" lang="ko-KR" altLang="en-US" sz="1000" b="0" i="0" u="none" strike="noStrike" kern="1200" cap="none" normalizeH="0" baseline="0" dirty="0" smtClean="0">
                          <a:ln>
                            <a:noFill/>
                          </a:ln>
                          <a:solidFill>
                            <a:schemeClr val="tx1"/>
                          </a:solidFill>
                          <a:effectLst/>
                          <a:latin typeface="+mn-ea"/>
                          <a:ea typeface="+mn-ea"/>
                          <a:cs typeface="+mn-cs"/>
                        </a:rPr>
                        <a:t>을 확보한 상태이기 때문에 보다 많은</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정확한 자료를 통하여 조정 항목을 가려낼 수 있다는 장점이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endParaRPr kumimoji="1" lang="en-US" altLang="ko-KR" sz="1000" b="0" i="0" u="none" strike="noStrike" kern="1200" cap="none" normalizeH="0" baseline="0" dirty="0" smtClean="0">
                        <a:ln>
                          <a:noFill/>
                        </a:ln>
                        <a:solidFill>
                          <a:schemeClr val="tx1"/>
                        </a:solidFill>
                        <a:effectLst/>
                        <a:latin typeface="+mn-ea"/>
                        <a:ea typeface="+mn-ea"/>
                        <a:cs typeface="+mn-cs"/>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2"/>
                        <a:tabLst/>
                        <a:defRPr/>
                      </a:pPr>
                      <a:r>
                        <a:rPr lang="ko-KR" altLang="en-US" sz="1000" b="0" kern="1200" dirty="0" smtClean="0">
                          <a:solidFill>
                            <a:schemeClr val="tx1"/>
                          </a:solidFill>
                          <a:effectLst/>
                          <a:latin typeface="+mn-ea"/>
                          <a:ea typeface="+mn-ea"/>
                          <a:cs typeface="Times New Roman" panose="02020603050405020304" pitchFamily="18" charset="0"/>
                        </a:rPr>
                        <a:t>순자산</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순운전자본액 산정 시 재무제표상의 어떤 세부 항목을 고려하거나 제외할 것인지에 대해 미리 확실히 정해두는 것이 바람직함</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순자산</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순운전자본 조정 방식은 위와 같은 장점에도 불구하고</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계약서가 복잡해지고</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예컨대 </a:t>
                      </a:r>
                      <a:r>
                        <a:rPr kumimoji="1" lang="en-US" altLang="ko-KR" sz="1000" b="0" i="0" u="none" strike="noStrike" kern="1200" cap="none" normalizeH="0" baseline="0" dirty="0" smtClean="0">
                          <a:ln>
                            <a:noFill/>
                          </a:ln>
                          <a:solidFill>
                            <a:schemeClr val="tx1"/>
                          </a:solidFill>
                          <a:effectLst/>
                          <a:latin typeface="+mn-ea"/>
                          <a:ea typeface="+mn-ea"/>
                          <a:cs typeface="+mn-cs"/>
                        </a:rPr>
                        <a:t>Cash, Indebtedness, Working Capital</a:t>
                      </a:r>
                      <a:r>
                        <a:rPr kumimoji="1" lang="ko-KR" altLang="en-US" sz="1000" b="0" i="0" u="none" strike="noStrike" kern="1200" cap="none" normalizeH="0" baseline="0" dirty="0" smtClean="0">
                          <a:ln>
                            <a:noFill/>
                          </a:ln>
                          <a:solidFill>
                            <a:schemeClr val="tx1"/>
                          </a:solidFill>
                          <a:effectLst/>
                          <a:latin typeface="+mn-ea"/>
                          <a:ea typeface="+mn-ea"/>
                          <a:cs typeface="+mn-cs"/>
                        </a:rPr>
                        <a:t>에 대한 정의에 대해 당사자들간의 치열하게 협상됨</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거래 종결 후 조정 과정에서 분쟁이 빈번히 발생한다는 단점이 있음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따라서 순자산 조정이나 순운전자본 조정의 기준이 되는 자산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부채</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운전자본 등에 대한 정의를 미리 확정해 두는 것이 분쟁 발생 가능성을 줄일 수 있음</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endParaRPr kumimoji="1" lang="en-US" altLang="ko-KR" sz="1000" b="0" i="0" u="none" strike="noStrike" kern="1200" cap="none" normalizeH="0" baseline="0" dirty="0" smtClean="0">
                        <a:ln>
                          <a:noFill/>
                        </a:ln>
                        <a:solidFill>
                          <a:schemeClr val="tx1"/>
                        </a:solidFill>
                        <a:effectLst/>
                        <a:latin typeface="+mn-ea"/>
                        <a:ea typeface="+mn-ea"/>
                        <a:cs typeface="+mn-cs"/>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3"/>
                        <a:tabLst/>
                        <a:defRPr/>
                      </a:pPr>
                      <a:r>
                        <a:rPr lang="ko-KR" altLang="en-US" sz="1000" b="0" kern="1200" dirty="0" smtClean="0">
                          <a:solidFill>
                            <a:schemeClr val="tx1"/>
                          </a:solidFill>
                          <a:effectLst/>
                          <a:latin typeface="+mn-ea"/>
                          <a:ea typeface="+mn-ea"/>
                          <a:cs typeface="Times New Roman" panose="02020603050405020304" pitchFamily="18" charset="0"/>
                        </a:rPr>
                        <a:t>표준 </a:t>
                      </a:r>
                      <a:r>
                        <a:rPr lang="en-US" altLang="ko-KR" sz="1000" b="0" kern="1200" dirty="0" smtClean="0">
                          <a:solidFill>
                            <a:schemeClr val="tx1"/>
                          </a:solidFill>
                          <a:effectLst/>
                          <a:latin typeface="+mn-ea"/>
                          <a:ea typeface="+mn-ea"/>
                          <a:cs typeface="Times New Roman" panose="02020603050405020304" pitchFamily="18" charset="0"/>
                        </a:rPr>
                        <a:t>SPA</a:t>
                      </a:r>
                      <a:r>
                        <a:rPr lang="ko-KR" altLang="en-US" sz="1000" b="0" kern="1200" dirty="0" smtClean="0">
                          <a:solidFill>
                            <a:schemeClr val="tx1"/>
                          </a:solidFill>
                          <a:effectLst/>
                          <a:latin typeface="+mn-ea"/>
                          <a:ea typeface="+mn-ea"/>
                          <a:cs typeface="Times New Roman" panose="02020603050405020304" pitchFamily="18" charset="0"/>
                        </a:rPr>
                        <a:t>에서는 매매대금 조정 관련해서 사용할 </a:t>
                      </a:r>
                      <a:r>
                        <a:rPr lang="en-US" altLang="ko-KR" sz="1000" b="0" kern="1200" dirty="0" smtClean="0">
                          <a:solidFill>
                            <a:schemeClr val="tx1"/>
                          </a:solidFill>
                          <a:effectLst/>
                          <a:latin typeface="+mn-ea"/>
                          <a:ea typeface="+mn-ea"/>
                          <a:cs typeface="Times New Roman" panose="02020603050405020304" pitchFamily="18" charset="0"/>
                        </a:rPr>
                        <a:t>Accounting Principles</a:t>
                      </a:r>
                      <a:r>
                        <a:rPr lang="ko-KR" altLang="en-US" sz="1000" b="0" kern="1200" dirty="0" smtClean="0">
                          <a:solidFill>
                            <a:schemeClr val="tx1"/>
                          </a:solidFill>
                          <a:effectLst/>
                          <a:latin typeface="+mn-ea"/>
                          <a:ea typeface="+mn-ea"/>
                          <a:cs typeface="Times New Roman" panose="02020603050405020304" pitchFamily="18" charset="0"/>
                        </a:rPr>
                        <a:t>을 </a:t>
                      </a:r>
                      <a:r>
                        <a:rPr lang="en-US" altLang="ko-KR" sz="1000" b="0" kern="1200" dirty="0" smtClean="0">
                          <a:solidFill>
                            <a:schemeClr val="tx1"/>
                          </a:solidFill>
                          <a:effectLst/>
                          <a:latin typeface="+mn-ea"/>
                          <a:ea typeface="+mn-ea"/>
                          <a:cs typeface="Times New Roman" panose="02020603050405020304" pitchFamily="18" charset="0"/>
                        </a:rPr>
                        <a:t>Exhibit</a:t>
                      </a:r>
                      <a:r>
                        <a:rPr lang="ko-KR" altLang="en-US" sz="1000" b="0" kern="1200" dirty="0" smtClean="0">
                          <a:solidFill>
                            <a:schemeClr val="tx1"/>
                          </a:solidFill>
                          <a:effectLst/>
                          <a:latin typeface="+mn-ea"/>
                          <a:ea typeface="+mn-ea"/>
                          <a:cs typeface="Times New Roman" panose="02020603050405020304" pitchFamily="18" charset="0"/>
                        </a:rPr>
                        <a:t>에서 세부적으로 정하게 되어 있고</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이러한 </a:t>
                      </a:r>
                      <a:r>
                        <a:rPr lang="en-US" altLang="ko-KR" sz="1000" b="0" kern="1200" dirty="0" smtClean="0">
                          <a:solidFill>
                            <a:schemeClr val="tx1"/>
                          </a:solidFill>
                          <a:effectLst/>
                          <a:latin typeface="+mn-ea"/>
                          <a:ea typeface="+mn-ea"/>
                          <a:cs typeface="Times New Roman" panose="02020603050405020304" pitchFamily="18" charset="0"/>
                        </a:rPr>
                        <a:t>Exhibit</a:t>
                      </a:r>
                      <a:r>
                        <a:rPr lang="ko-KR" altLang="en-US" sz="1000" b="0" kern="1200" dirty="0" smtClean="0">
                          <a:solidFill>
                            <a:schemeClr val="tx1"/>
                          </a:solidFill>
                          <a:effectLst/>
                          <a:latin typeface="+mn-ea"/>
                          <a:ea typeface="+mn-ea"/>
                          <a:cs typeface="Times New Roman" panose="02020603050405020304" pitchFamily="18" charset="0"/>
                        </a:rPr>
                        <a:t>에서 </a:t>
                      </a:r>
                      <a:r>
                        <a:rPr lang="en-US" altLang="ko-KR" sz="1000" b="0" kern="1200" dirty="0" smtClean="0">
                          <a:solidFill>
                            <a:schemeClr val="tx1"/>
                          </a:solidFill>
                          <a:effectLst/>
                          <a:latin typeface="+mn-ea"/>
                          <a:ea typeface="+mn-ea"/>
                          <a:cs typeface="Times New Roman" panose="02020603050405020304" pitchFamily="18" charset="0"/>
                        </a:rPr>
                        <a:t>Cash, Indebtedness, Working Capital</a:t>
                      </a:r>
                      <a:r>
                        <a:rPr lang="ko-KR" altLang="en-US" sz="1000" b="0" kern="1200" dirty="0" smtClean="0">
                          <a:solidFill>
                            <a:schemeClr val="tx1"/>
                          </a:solidFill>
                          <a:effectLst/>
                          <a:latin typeface="+mn-ea"/>
                          <a:ea typeface="+mn-ea"/>
                          <a:cs typeface="Times New Roman" panose="02020603050405020304" pitchFamily="18" charset="0"/>
                        </a:rPr>
                        <a:t>에 들어가는 항목과</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매매대금 조정 관련 계산 예시를 추가하는 것을 고려할 수 있음</a:t>
                      </a:r>
                      <a:r>
                        <a:rPr lang="en-US" altLang="ko-KR" sz="1000" b="0" kern="1200" dirty="0" smtClean="0">
                          <a:solidFill>
                            <a:schemeClr val="tx1"/>
                          </a:solidFill>
                          <a:effectLst/>
                          <a:latin typeface="+mn-ea"/>
                          <a:ea typeface="+mn-ea"/>
                          <a:cs typeface="Times New Roman" panose="02020603050405020304" pitchFamily="18" charset="0"/>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위와 같이 복잡한 규정이 필요 없다고 생각하는 경우 </a:t>
                      </a:r>
                      <a:r>
                        <a:rPr kumimoji="1" lang="en-US" altLang="ko-KR" sz="1000" b="0" i="0" u="none" strike="noStrike" kern="1200" cap="none" normalizeH="0" baseline="0" dirty="0" smtClean="0">
                          <a:ln>
                            <a:noFill/>
                          </a:ln>
                          <a:solidFill>
                            <a:schemeClr val="tx1"/>
                          </a:solidFill>
                          <a:effectLst/>
                          <a:latin typeface="+mn-ea"/>
                          <a:ea typeface="+mn-ea"/>
                          <a:cs typeface="+mn-cs"/>
                        </a:rPr>
                        <a:t>Accounting Principles</a:t>
                      </a:r>
                      <a:r>
                        <a:rPr kumimoji="1" lang="ko-KR" altLang="en-US" sz="1000" b="0" i="0" u="none" strike="noStrike" kern="1200" cap="none" normalizeH="0" baseline="0" dirty="0" smtClean="0">
                          <a:ln>
                            <a:noFill/>
                          </a:ln>
                          <a:solidFill>
                            <a:schemeClr val="tx1"/>
                          </a:solidFill>
                          <a:effectLst/>
                          <a:latin typeface="+mn-ea"/>
                          <a:ea typeface="+mn-ea"/>
                          <a:cs typeface="+mn-cs"/>
                        </a:rPr>
                        <a:t>은 “</a:t>
                      </a:r>
                      <a:r>
                        <a:rPr kumimoji="1" lang="en-US" altLang="ko-KR" sz="1000" b="0" i="0" u="none" strike="noStrike" kern="1200" cap="none" normalizeH="0" baseline="0" dirty="0" smtClean="0">
                          <a:ln>
                            <a:noFill/>
                          </a:ln>
                          <a:solidFill>
                            <a:schemeClr val="tx1"/>
                          </a:solidFill>
                          <a:effectLst/>
                          <a:latin typeface="+mn-ea"/>
                          <a:ea typeface="+mn-ea"/>
                          <a:cs typeface="+mn-cs"/>
                        </a:rPr>
                        <a:t>[GAAP]” </a:t>
                      </a:r>
                      <a:r>
                        <a:rPr kumimoji="1" lang="ko-KR" altLang="en-US" sz="1000" b="0" i="0" u="none" strike="noStrike" kern="1200" cap="none" normalizeH="0" baseline="0" dirty="0" smtClean="0">
                          <a:ln>
                            <a:noFill/>
                          </a:ln>
                          <a:solidFill>
                            <a:schemeClr val="tx1"/>
                          </a:solidFill>
                          <a:effectLst/>
                          <a:latin typeface="+mn-ea"/>
                          <a:ea typeface="+mn-ea"/>
                          <a:cs typeface="+mn-cs"/>
                        </a:rPr>
                        <a:t>정도로 규정하고 </a:t>
                      </a:r>
                      <a:r>
                        <a:rPr kumimoji="1" lang="en-US" altLang="ko-KR" sz="1000" b="0" i="0" u="none" strike="noStrike" kern="1200" cap="none" normalizeH="0" baseline="0" dirty="0" smtClean="0">
                          <a:ln>
                            <a:noFill/>
                          </a:ln>
                          <a:solidFill>
                            <a:schemeClr val="tx1"/>
                          </a:solidFill>
                          <a:effectLst/>
                          <a:latin typeface="+mn-ea"/>
                          <a:ea typeface="+mn-ea"/>
                          <a:cs typeface="+mn-cs"/>
                        </a:rPr>
                        <a:t>GAAP</a:t>
                      </a:r>
                      <a:r>
                        <a:rPr kumimoji="1" lang="ko-KR" altLang="en-US" sz="1000" b="0" i="0" u="none" strike="noStrike" kern="1200" cap="none" normalizeH="0" baseline="0" dirty="0" smtClean="0">
                          <a:ln>
                            <a:noFill/>
                          </a:ln>
                          <a:solidFill>
                            <a:schemeClr val="tx1"/>
                          </a:solidFill>
                          <a:effectLst/>
                          <a:latin typeface="+mn-ea"/>
                          <a:ea typeface="+mn-ea"/>
                          <a:cs typeface="+mn-cs"/>
                        </a:rPr>
                        <a:t>에서 </a:t>
                      </a:r>
                      <a:r>
                        <a:rPr kumimoji="1" lang="en-US" altLang="ko-KR" sz="1000" b="0" i="0" u="none" strike="noStrike" kern="1200" cap="none" normalizeH="0" baseline="0" dirty="0" smtClean="0">
                          <a:ln>
                            <a:noFill/>
                          </a:ln>
                          <a:solidFill>
                            <a:schemeClr val="tx1"/>
                          </a:solidFill>
                          <a:effectLst/>
                          <a:latin typeface="+mn-ea"/>
                          <a:ea typeface="+mn-ea"/>
                          <a:cs typeface="+mn-cs"/>
                        </a:rPr>
                        <a:t>deviation</a:t>
                      </a:r>
                      <a:r>
                        <a:rPr kumimoji="1" lang="ko-KR" altLang="en-US" sz="1000" b="0" i="0" u="none" strike="noStrike" kern="1200" cap="none" normalizeH="0" baseline="0" dirty="0" smtClean="0">
                          <a:ln>
                            <a:noFill/>
                          </a:ln>
                          <a:solidFill>
                            <a:schemeClr val="tx1"/>
                          </a:solidFill>
                          <a:effectLst/>
                          <a:latin typeface="+mn-ea"/>
                          <a:ea typeface="+mn-ea"/>
                          <a:cs typeface="+mn-cs"/>
                        </a:rPr>
                        <a:t>이 필요한 경우만 </a:t>
                      </a:r>
                      <a:r>
                        <a:rPr kumimoji="1" lang="en-US" altLang="ko-KR" sz="1000" b="0" i="0" u="none" strike="noStrike" kern="1200" cap="none" normalizeH="0" baseline="0" dirty="0" smtClean="0">
                          <a:ln>
                            <a:noFill/>
                          </a:ln>
                          <a:solidFill>
                            <a:schemeClr val="tx1"/>
                          </a:solidFill>
                          <a:effectLst/>
                          <a:latin typeface="+mn-ea"/>
                          <a:ea typeface="+mn-ea"/>
                          <a:cs typeface="+mn-cs"/>
                        </a:rPr>
                        <a:t>Exhibit</a:t>
                      </a:r>
                      <a:r>
                        <a:rPr kumimoji="1" lang="ko-KR" altLang="en-US" sz="1000" b="0" i="0" u="none" strike="noStrike" kern="1200" cap="none" normalizeH="0" baseline="0" dirty="0" smtClean="0">
                          <a:ln>
                            <a:noFill/>
                          </a:ln>
                          <a:solidFill>
                            <a:schemeClr val="tx1"/>
                          </a:solidFill>
                          <a:effectLst/>
                          <a:latin typeface="+mn-ea"/>
                          <a:ea typeface="+mn-ea"/>
                          <a:cs typeface="+mn-cs"/>
                        </a:rPr>
                        <a:t>에 따로 규정하는 것도 고려할 수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이 경우 매도인은 “</a:t>
                      </a:r>
                      <a:r>
                        <a:rPr kumimoji="1" lang="en-US" altLang="ko-KR" sz="1000" b="0" i="0" u="none" strike="noStrike" kern="1200" cap="none" normalizeH="0" baseline="0" dirty="0" smtClean="0">
                          <a:ln>
                            <a:noFill/>
                          </a:ln>
                          <a:solidFill>
                            <a:schemeClr val="tx1"/>
                          </a:solidFill>
                          <a:effectLst/>
                          <a:latin typeface="+mn-ea"/>
                          <a:ea typeface="+mn-ea"/>
                          <a:cs typeface="+mn-cs"/>
                        </a:rPr>
                        <a:t>[GAAP] applied using the same accounting methods, practices, principles, policies and procedures, with consistent classifications, judgments and valuation and estimation methodologies that were used in the preparation of the Audited Financial Statements”</a:t>
                      </a:r>
                      <a:r>
                        <a:rPr kumimoji="1" lang="ko-KR" altLang="en-US" sz="1000" b="0" i="0" u="none" strike="noStrike" kern="1200" cap="none" normalizeH="0" baseline="0" dirty="0" smtClean="0">
                          <a:ln>
                            <a:noFill/>
                          </a:ln>
                          <a:solidFill>
                            <a:schemeClr val="tx1"/>
                          </a:solidFill>
                          <a:effectLst/>
                          <a:latin typeface="+mn-ea"/>
                          <a:ea typeface="+mn-ea"/>
                          <a:cs typeface="+mn-cs"/>
                        </a:rPr>
                        <a:t>로 그 적용을 제한하려 할 수 있고</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이러한 경우 매수인은 실사 결과에 따라 수용여부를 결정</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endParaRPr kumimoji="1" lang="en-US" altLang="ko-KR" sz="1000" b="0" i="0" u="none" strike="noStrike" kern="1200" cap="none" normalizeH="0" baseline="0" dirty="0" smtClean="0">
                        <a:ln>
                          <a:noFill/>
                        </a:ln>
                        <a:solidFill>
                          <a:schemeClr val="tx1"/>
                        </a:solidFill>
                        <a:effectLst/>
                        <a:latin typeface="+mn-ea"/>
                        <a:ea typeface="+mn-ea"/>
                        <a:cs typeface="+mn-cs"/>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4"/>
                        <a:tabLst/>
                        <a:defRPr/>
                      </a:pPr>
                      <a:r>
                        <a:rPr lang="ko-KR" altLang="en-US" sz="1000" b="0" kern="1200" dirty="0" smtClean="0">
                          <a:solidFill>
                            <a:schemeClr val="tx1"/>
                          </a:solidFill>
                          <a:effectLst/>
                          <a:latin typeface="+mn-ea"/>
                          <a:ea typeface="+mn-ea"/>
                          <a:cs typeface="Times New Roman" panose="02020603050405020304" pitchFamily="18" charset="0"/>
                        </a:rPr>
                        <a:t>거래종결 후 매매대금 조정의 경우에는 매수인이 거래종결일 이후 특정 시점까지 조정 내역을 정리</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매도인이 매수인의 조정 내역에 대한 이의를 제기하고</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이를 제</a:t>
                      </a:r>
                      <a:r>
                        <a:rPr lang="en-US" altLang="ko-KR" sz="1000" b="0" kern="1200" dirty="0" smtClean="0">
                          <a:solidFill>
                            <a:schemeClr val="tx1"/>
                          </a:solidFill>
                          <a:effectLst/>
                          <a:latin typeface="+mn-ea"/>
                          <a:ea typeface="+mn-ea"/>
                          <a:cs typeface="Times New Roman" panose="02020603050405020304" pitchFamily="18" charset="0"/>
                        </a:rPr>
                        <a:t>3</a:t>
                      </a:r>
                      <a:r>
                        <a:rPr lang="ko-KR" altLang="en-US" sz="1000" b="0" kern="1200" dirty="0" smtClean="0">
                          <a:solidFill>
                            <a:schemeClr val="tx1"/>
                          </a:solidFill>
                          <a:effectLst/>
                          <a:latin typeface="+mn-ea"/>
                          <a:ea typeface="+mn-ea"/>
                          <a:cs typeface="Times New Roman" panose="02020603050405020304" pitchFamily="18" charset="0"/>
                        </a:rPr>
                        <a:t>의 독립된 회계법인을 통하여 검토를 받도록 하는 절차도 구성할 수 있고</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이 경우 관련 비용은 매도인과 매수인이 반분하거나</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매도인 또는 매수인 중 그 계산이 정확한 측이 관련 비용을 면제 받는 형식 등 여러 방식으로도 규정할 수 있음</a:t>
                      </a:r>
                      <a:r>
                        <a:rPr lang="en-US" altLang="ko-KR" sz="1000" b="0" kern="1200" dirty="0" smtClean="0">
                          <a:solidFill>
                            <a:schemeClr val="tx1"/>
                          </a:solidFill>
                          <a:effectLst/>
                          <a:latin typeface="+mn-ea"/>
                          <a:ea typeface="+mn-ea"/>
                          <a:cs typeface="Times New Roman" panose="02020603050405020304" pitchFamily="18" charset="0"/>
                        </a:rPr>
                        <a:t>.</a:t>
                      </a:r>
                      <a:endParaRPr kumimoji="1" lang="ko-KR" sz="1000" b="0" i="0" u="none" strike="noStrike" kern="1200" cap="none" normalizeH="0" baseline="0" dirty="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20218115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Purchase Price Adjustment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2. Locked </a:t>
            </a:r>
            <a:r>
              <a:rPr lang="en-US" altLang="ko-KR" dirty="0">
                <a:solidFill>
                  <a:schemeClr val="tx1"/>
                </a:solidFill>
                <a:latin typeface="+mn-ea"/>
                <a:ea typeface="+mn-ea"/>
              </a:rPr>
              <a:t>Box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2444392112"/>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306268">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altLang="en-US" sz="1000" dirty="0" smtClean="0">
                          <a:solidFill>
                            <a:schemeClr val="tx1"/>
                          </a:solidFill>
                          <a:effectLst/>
                          <a:latin typeface="+mn-ea"/>
                          <a:ea typeface="+mn-ea"/>
                          <a:cs typeface="Times New Roman" panose="02020603050405020304" pitchFamily="18" charset="0"/>
                        </a:rPr>
                        <a:t>매매대금의 조정 방식에는 크게 </a:t>
                      </a:r>
                      <a:r>
                        <a:rPr lang="en-US" altLang="ko-KR" sz="1000" dirty="0" smtClean="0">
                          <a:solidFill>
                            <a:schemeClr val="tx1"/>
                          </a:solidFill>
                          <a:effectLst/>
                          <a:latin typeface="+mn-ea"/>
                          <a:ea typeface="+mn-ea"/>
                          <a:cs typeface="Times New Roman" panose="02020603050405020304" pitchFamily="18" charset="0"/>
                        </a:rPr>
                        <a:t>(i) Closing Accounts </a:t>
                      </a:r>
                      <a:r>
                        <a:rPr lang="ko-KR" altLang="en-US" sz="1000" dirty="0" smtClean="0">
                          <a:solidFill>
                            <a:schemeClr val="tx1"/>
                          </a:solidFill>
                          <a:effectLst/>
                          <a:latin typeface="+mn-ea"/>
                          <a:ea typeface="+mn-ea"/>
                          <a:cs typeface="Times New Roman" panose="02020603050405020304" pitchFamily="18" charset="0"/>
                        </a:rPr>
                        <a:t>개념에 따라 순자산</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순운전자본 조정을 통해 일정 기준일을 기준으로 산정한 매매대금을 사후적으로 조정하는 방식과</a:t>
                      </a:r>
                      <a:r>
                        <a:rPr lang="en-US" altLang="ko-KR" sz="1000" dirty="0" smtClean="0">
                          <a:solidFill>
                            <a:schemeClr val="tx1"/>
                          </a:solidFill>
                          <a:effectLst/>
                          <a:latin typeface="+mn-ea"/>
                          <a:ea typeface="+mn-ea"/>
                          <a:cs typeface="Times New Roman" panose="02020603050405020304" pitchFamily="18" charset="0"/>
                        </a:rPr>
                        <a:t>, (ii) Locked Box </a:t>
                      </a:r>
                      <a:r>
                        <a:rPr lang="ko-KR" altLang="en-US" sz="1000" dirty="0" smtClean="0">
                          <a:solidFill>
                            <a:schemeClr val="tx1"/>
                          </a:solidFill>
                          <a:effectLst/>
                          <a:latin typeface="+mn-ea"/>
                          <a:ea typeface="+mn-ea"/>
                          <a:cs typeface="Times New Roman" panose="02020603050405020304" pitchFamily="18" charset="0"/>
                        </a:rPr>
                        <a:t>개념에 따라 특정 시점을 기준으로 매매대금을 산정하고 그 이후에 발생한 가치유출</a:t>
                      </a:r>
                      <a:r>
                        <a:rPr lang="en-US" altLang="ko-KR" sz="1000" dirty="0" smtClean="0">
                          <a:solidFill>
                            <a:schemeClr val="tx1"/>
                          </a:solidFill>
                          <a:effectLst/>
                          <a:latin typeface="+mn-ea"/>
                          <a:ea typeface="+mn-ea"/>
                          <a:cs typeface="Times New Roman" panose="02020603050405020304" pitchFamily="18" charset="0"/>
                        </a:rPr>
                        <a:t>(leakage)</a:t>
                      </a:r>
                      <a:r>
                        <a:rPr lang="ko-KR" altLang="en-US" sz="1000" dirty="0" smtClean="0">
                          <a:solidFill>
                            <a:schemeClr val="tx1"/>
                          </a:solidFill>
                          <a:effectLst/>
                          <a:latin typeface="+mn-ea"/>
                          <a:ea typeface="+mn-ea"/>
                          <a:cs typeface="Times New Roman" panose="02020603050405020304" pitchFamily="18" charset="0"/>
                        </a:rPr>
                        <a:t>에 한정하여 조정 대상으로 하는 방식이 있음 </a:t>
                      </a:r>
                    </a:p>
                    <a:p>
                      <a:pPr marL="171450" indent="-171450" algn="l" latinLnBrk="1">
                        <a:lnSpc>
                          <a:spcPct val="110000"/>
                        </a:lnSpc>
                        <a:spcAft>
                          <a:spcPts val="0"/>
                        </a:spcAft>
                        <a:buFont typeface="Wingdings" panose="05000000000000000000" pitchFamily="2" charset="2"/>
                        <a:buChar char="§"/>
                      </a:pPr>
                      <a:r>
                        <a:rPr lang="en-US" altLang="ko-KR" sz="1000" dirty="0" smtClean="0">
                          <a:solidFill>
                            <a:schemeClr val="tx1"/>
                          </a:solidFill>
                          <a:effectLst/>
                          <a:latin typeface="+mn-ea"/>
                          <a:ea typeface="+mn-ea"/>
                          <a:cs typeface="Times New Roman" panose="02020603050405020304" pitchFamily="18" charset="0"/>
                        </a:rPr>
                        <a:t>Valuation</a:t>
                      </a:r>
                      <a:r>
                        <a:rPr lang="ko-KR" altLang="en-US" sz="1000" dirty="0" smtClean="0">
                          <a:solidFill>
                            <a:schemeClr val="tx1"/>
                          </a:solidFill>
                          <a:effectLst/>
                          <a:latin typeface="+mn-ea"/>
                          <a:ea typeface="+mn-ea"/>
                          <a:cs typeface="Times New Roman" panose="02020603050405020304" pitchFamily="18" charset="0"/>
                        </a:rPr>
                        <a:t>을 담당한 재무자문사와 협의하여 조정 방식을 결정할 필요가 있으며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경우에 따라서는 매매대금 조정을 하지 않는 것이 매수인에게 유리할 수도 있는바</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예</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대상회사의 순자산이 계속 증가하는 경우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예상 시뮬레이션을 통해 의사결정을 할 필요 있음</a:t>
                      </a:r>
                    </a:p>
                    <a:p>
                      <a:pPr marL="171450" indent="-171450" algn="l" latinLnBrk="1">
                        <a:lnSpc>
                          <a:spcPct val="110000"/>
                        </a:lnSpc>
                        <a:spcAft>
                          <a:spcPts val="0"/>
                        </a:spcAft>
                        <a:buFont typeface="Wingdings" panose="05000000000000000000" pitchFamily="2" charset="2"/>
                        <a:buChar char="§"/>
                      </a:pPr>
                      <a:r>
                        <a:rPr lang="ko-KR" altLang="en-US" sz="1000" dirty="0" smtClean="0">
                          <a:solidFill>
                            <a:schemeClr val="tx1"/>
                          </a:solidFill>
                          <a:effectLst/>
                          <a:latin typeface="+mn-ea"/>
                          <a:ea typeface="+mn-ea"/>
                          <a:cs typeface="Times New Roman" panose="02020603050405020304" pitchFamily="18" charset="0"/>
                        </a:rPr>
                        <a:t>아래에서는 </a:t>
                      </a:r>
                      <a:r>
                        <a:rPr lang="en-US" altLang="ko-KR" sz="1000" dirty="0" smtClean="0">
                          <a:solidFill>
                            <a:schemeClr val="tx1"/>
                          </a:solidFill>
                          <a:effectLst/>
                          <a:latin typeface="+mn-ea"/>
                          <a:ea typeface="+mn-ea"/>
                          <a:cs typeface="Times New Roman" panose="02020603050405020304" pitchFamily="18" charset="0"/>
                        </a:rPr>
                        <a:t>Locked Box </a:t>
                      </a:r>
                      <a:r>
                        <a:rPr lang="ko-KR" altLang="en-US" sz="1000" dirty="0" smtClean="0">
                          <a:solidFill>
                            <a:schemeClr val="tx1"/>
                          </a:solidFill>
                          <a:effectLst/>
                          <a:latin typeface="+mn-ea"/>
                          <a:ea typeface="+mn-ea"/>
                          <a:cs typeface="Times New Roman" panose="02020603050405020304" pitchFamily="18" charset="0"/>
                        </a:rPr>
                        <a:t>방식을 살펴보도록 함</a:t>
                      </a:r>
                      <a:r>
                        <a:rPr lang="en-US" altLang="ko-KR" sz="1000" dirty="0" smtClean="0">
                          <a:solidFill>
                            <a:schemeClr val="tx1"/>
                          </a:solidFill>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47695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r>
                        <a:rPr lang="ko-KR" altLang="en-US" sz="1000" b="0" kern="1200" dirty="0" smtClean="0">
                          <a:solidFill>
                            <a:schemeClr val="tx1"/>
                          </a:solidFill>
                          <a:effectLst/>
                          <a:latin typeface="+mn-ea"/>
                          <a:ea typeface="+mn-ea"/>
                          <a:cs typeface="Times New Roman" panose="02020603050405020304" pitchFamily="18" charset="0"/>
                        </a:rPr>
                        <a:t>특정 시점</a:t>
                      </a:r>
                      <a:r>
                        <a:rPr lang="en-US" altLang="ko-KR" sz="1000" b="0" kern="1200" dirty="0" smtClean="0">
                          <a:solidFill>
                            <a:schemeClr val="tx1"/>
                          </a:solidFill>
                          <a:effectLst/>
                          <a:latin typeface="+mn-ea"/>
                          <a:ea typeface="+mn-ea"/>
                          <a:cs typeface="Times New Roman" panose="02020603050405020304" pitchFamily="18" charset="0"/>
                        </a:rPr>
                        <a:t>(Locked Box Date)</a:t>
                      </a:r>
                      <a:r>
                        <a:rPr lang="ko-KR" altLang="en-US" sz="1000" b="0" kern="1200" dirty="0" smtClean="0">
                          <a:solidFill>
                            <a:schemeClr val="tx1"/>
                          </a:solidFill>
                          <a:effectLst/>
                          <a:latin typeface="+mn-ea"/>
                          <a:ea typeface="+mn-ea"/>
                          <a:cs typeface="Times New Roman" panose="02020603050405020304" pitchFamily="18" charset="0"/>
                        </a:rPr>
                        <a:t>을 기준으로 결정한 기업가치평가액을 바탕으로 매매대금을 미리 정하고</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당사자들이 합의한 가치유출</a:t>
                      </a:r>
                      <a:r>
                        <a:rPr lang="en-US" altLang="ko-KR" sz="1000" b="0" kern="1200" dirty="0" smtClean="0">
                          <a:solidFill>
                            <a:schemeClr val="tx1"/>
                          </a:solidFill>
                          <a:effectLst/>
                          <a:latin typeface="+mn-ea"/>
                          <a:ea typeface="+mn-ea"/>
                          <a:cs typeface="Times New Roman" panose="02020603050405020304" pitchFamily="18" charset="0"/>
                        </a:rPr>
                        <a:t>(leakage) </a:t>
                      </a:r>
                      <a:r>
                        <a:rPr lang="ko-KR" altLang="en-US" sz="1000" b="0" kern="1200" dirty="0" smtClean="0">
                          <a:solidFill>
                            <a:schemeClr val="tx1"/>
                          </a:solidFill>
                          <a:effectLst/>
                          <a:latin typeface="+mn-ea"/>
                          <a:ea typeface="+mn-ea"/>
                          <a:cs typeface="Times New Roman" panose="02020603050405020304" pitchFamily="18" charset="0"/>
                        </a:rPr>
                        <a:t>사유가 발생한 경우를 제외하고는 매매대금의 조정을 허용하지 않는 방식</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매도인 입장에서는 매매대금이 확정적으로 정해져 있어 예측가능성이 높으며 분쟁가능성도 상대적으로 낮다는 장점이 있음</a:t>
                      </a:r>
                      <a:r>
                        <a:rPr lang="en-US" altLang="ko-KR" sz="1000" b="0" kern="1200" dirty="0" smtClean="0">
                          <a:solidFill>
                            <a:schemeClr val="tx1"/>
                          </a:solidFill>
                          <a:effectLst/>
                          <a:latin typeface="+mn-ea"/>
                          <a:ea typeface="+mn-ea"/>
                          <a:cs typeface="Times New Roman" panose="02020603050405020304" pitchFamily="18" charset="0"/>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Locked Box Date </a:t>
                      </a:r>
                      <a:r>
                        <a:rPr kumimoji="1" lang="ko-KR" altLang="en-US" sz="1000" b="0" i="0" u="none" strike="noStrike" kern="1200" cap="none" normalizeH="0" baseline="0" dirty="0" smtClean="0">
                          <a:ln>
                            <a:noFill/>
                          </a:ln>
                          <a:solidFill>
                            <a:schemeClr val="tx1"/>
                          </a:solidFill>
                          <a:effectLst/>
                          <a:latin typeface="+mn-ea"/>
                          <a:ea typeface="+mn-ea"/>
                          <a:cs typeface="+mn-cs"/>
                        </a:rPr>
                        <a:t>이후 대상회사의 위험과 효익은 경제적으로 매수인에게 귀속되나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법적 지배권은 거래종결 시점에 비로소 매수인에게 귀속됨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A&amp;O Shearman</a:t>
                      </a:r>
                      <a:r>
                        <a:rPr kumimoji="1" lang="ko-KR" altLang="en-US" sz="1000" b="0" i="0" u="none" strike="noStrike" kern="1200" cap="none" normalizeH="0" baseline="0" dirty="0" smtClean="0">
                          <a:ln>
                            <a:noFill/>
                          </a:ln>
                          <a:solidFill>
                            <a:schemeClr val="tx1"/>
                          </a:solidFill>
                          <a:effectLst/>
                          <a:latin typeface="+mn-ea"/>
                          <a:ea typeface="+mn-ea"/>
                          <a:cs typeface="+mn-cs"/>
                        </a:rPr>
                        <a:t>의 </a:t>
                      </a:r>
                      <a:r>
                        <a:rPr kumimoji="1" lang="en-US" altLang="ko-KR" sz="1000" b="0" i="0" u="none" strike="noStrike" kern="1200" cap="none" normalizeH="0" baseline="0" dirty="0" smtClean="0">
                          <a:ln>
                            <a:noFill/>
                          </a:ln>
                          <a:solidFill>
                            <a:schemeClr val="tx1"/>
                          </a:solidFill>
                          <a:effectLst/>
                          <a:latin typeface="+mn-ea"/>
                          <a:ea typeface="+mn-ea"/>
                          <a:cs typeface="+mn-cs"/>
                        </a:rPr>
                        <a:t>Global Markets &amp; Experts (October 23, 2024) (“Global Markets &amp; Experts”)</a:t>
                      </a:r>
                      <a:r>
                        <a:rPr kumimoji="1" lang="ko-KR" altLang="en-US" sz="1000" b="0" i="0" u="none" strike="noStrike" kern="1200" cap="none" normalizeH="0" baseline="0" dirty="0" smtClean="0">
                          <a:ln>
                            <a:noFill/>
                          </a:ln>
                          <a:solidFill>
                            <a:schemeClr val="tx1"/>
                          </a:solidFill>
                          <a:effectLst/>
                          <a:latin typeface="+mn-ea"/>
                          <a:ea typeface="+mn-ea"/>
                          <a:cs typeface="+mn-cs"/>
                        </a:rPr>
                        <a:t>에 따르면 </a:t>
                      </a:r>
                      <a:r>
                        <a:rPr kumimoji="1" lang="en-US" altLang="ko-KR" sz="1000" b="0" i="0" u="none" strike="noStrike" kern="1200" cap="none" normalizeH="0" baseline="0" dirty="0" smtClean="0">
                          <a:ln>
                            <a:noFill/>
                          </a:ln>
                          <a:solidFill>
                            <a:schemeClr val="tx1"/>
                          </a:solidFill>
                          <a:effectLst/>
                          <a:latin typeface="+mn-ea"/>
                          <a:ea typeface="+mn-ea"/>
                          <a:cs typeface="+mn-cs"/>
                        </a:rPr>
                        <a:t>Locked Box mechanism</a:t>
                      </a:r>
                      <a:r>
                        <a:rPr kumimoji="1" lang="ko-KR" altLang="en-US" sz="1000" b="0" i="0" u="none" strike="noStrike" kern="1200" cap="none" normalizeH="0" baseline="0" dirty="0" smtClean="0">
                          <a:ln>
                            <a:noFill/>
                          </a:ln>
                          <a:solidFill>
                            <a:schemeClr val="tx1"/>
                          </a:solidFill>
                          <a:effectLst/>
                          <a:latin typeface="+mn-ea"/>
                          <a:ea typeface="+mn-ea"/>
                          <a:cs typeface="+mn-cs"/>
                        </a:rPr>
                        <a:t>은 </a:t>
                      </a:r>
                      <a:r>
                        <a:rPr kumimoji="1" lang="en-US" altLang="ko-KR" sz="1000" b="0" i="0" u="none" strike="noStrike" kern="1200" cap="none" normalizeH="0" baseline="0" dirty="0" smtClean="0">
                          <a:ln>
                            <a:noFill/>
                          </a:ln>
                          <a:solidFill>
                            <a:schemeClr val="tx1"/>
                          </a:solidFill>
                          <a:effectLst/>
                          <a:latin typeface="+mn-ea"/>
                          <a:ea typeface="+mn-ea"/>
                          <a:cs typeface="+mn-cs"/>
                        </a:rPr>
                        <a:t>2023</a:t>
                      </a:r>
                      <a:r>
                        <a:rPr kumimoji="1" lang="ko-KR" altLang="en-US" sz="1000" b="0" i="0" u="none" strike="noStrike" kern="1200" cap="none" normalizeH="0" baseline="0" dirty="0" smtClean="0">
                          <a:ln>
                            <a:noFill/>
                          </a:ln>
                          <a:solidFill>
                            <a:schemeClr val="tx1"/>
                          </a:solidFill>
                          <a:effectLst/>
                          <a:latin typeface="+mn-ea"/>
                          <a:ea typeface="+mn-ea"/>
                          <a:cs typeface="+mn-cs"/>
                        </a:rPr>
                        <a:t>년 전체 딜의 약 </a:t>
                      </a:r>
                      <a:r>
                        <a:rPr kumimoji="1" lang="en-US" altLang="ko-KR" sz="1000" b="0" i="0" u="none" strike="noStrike" kern="1200" cap="none" normalizeH="0" baseline="0" dirty="0" smtClean="0">
                          <a:ln>
                            <a:noFill/>
                          </a:ln>
                          <a:solidFill>
                            <a:schemeClr val="tx1"/>
                          </a:solidFill>
                          <a:effectLst/>
                          <a:latin typeface="+mn-ea"/>
                          <a:ea typeface="+mn-ea"/>
                          <a:cs typeface="+mn-cs"/>
                        </a:rPr>
                        <a:t>54% </a:t>
                      </a:r>
                      <a:r>
                        <a:rPr kumimoji="1" lang="ko-KR" altLang="en-US" sz="1000" b="0" i="0" u="none" strike="noStrike" kern="1200" cap="none" normalizeH="0" baseline="0" dirty="0" smtClean="0">
                          <a:ln>
                            <a:noFill/>
                          </a:ln>
                          <a:solidFill>
                            <a:schemeClr val="tx1"/>
                          </a:solidFill>
                          <a:effectLst/>
                          <a:latin typeface="+mn-ea"/>
                          <a:ea typeface="+mn-ea"/>
                          <a:cs typeface="+mn-cs"/>
                        </a:rPr>
                        <a:t>정도에서 사용되었다고 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지역적으로는 미국보다 유럽 또는 </a:t>
                      </a:r>
                      <a:r>
                        <a:rPr kumimoji="1" lang="en-US" altLang="ko-KR" sz="1000" b="0" i="0" u="none" strike="noStrike" kern="1200" cap="none" normalizeH="0" baseline="0" dirty="0" smtClean="0">
                          <a:ln>
                            <a:noFill/>
                          </a:ln>
                          <a:solidFill>
                            <a:schemeClr val="tx1"/>
                          </a:solidFill>
                          <a:effectLst/>
                          <a:latin typeface="+mn-ea"/>
                          <a:ea typeface="+mn-ea"/>
                          <a:cs typeface="+mn-cs"/>
                        </a:rPr>
                        <a:t>UK practice</a:t>
                      </a:r>
                      <a:r>
                        <a:rPr kumimoji="1" lang="ko-KR" altLang="en-US" sz="1000" b="0" i="0" u="none" strike="noStrike" kern="1200" cap="none" normalizeH="0" baseline="0" dirty="0" smtClean="0">
                          <a:ln>
                            <a:noFill/>
                          </a:ln>
                          <a:solidFill>
                            <a:schemeClr val="tx1"/>
                          </a:solidFill>
                          <a:effectLst/>
                          <a:latin typeface="+mn-ea"/>
                          <a:ea typeface="+mn-ea"/>
                          <a:cs typeface="+mn-cs"/>
                        </a:rPr>
                        <a:t>를 따르는 </a:t>
                      </a:r>
                      <a:r>
                        <a:rPr kumimoji="1" lang="en-US" altLang="ko-KR" sz="1000" b="0" i="0" u="none" strike="noStrike" kern="1200" cap="none" normalizeH="0" baseline="0" dirty="0" smtClean="0">
                          <a:ln>
                            <a:noFill/>
                          </a:ln>
                          <a:solidFill>
                            <a:schemeClr val="tx1"/>
                          </a:solidFill>
                          <a:effectLst/>
                          <a:latin typeface="+mn-ea"/>
                          <a:ea typeface="+mn-ea"/>
                          <a:cs typeface="+mn-cs"/>
                        </a:rPr>
                        <a:t>jurisdiction</a:t>
                      </a:r>
                      <a:r>
                        <a:rPr kumimoji="1" lang="ko-KR" altLang="en-US" sz="1000" b="0" i="0" u="none" strike="noStrike" kern="1200" cap="none" normalizeH="0" baseline="0" dirty="0" smtClean="0">
                          <a:ln>
                            <a:noFill/>
                          </a:ln>
                          <a:solidFill>
                            <a:schemeClr val="tx1"/>
                          </a:solidFill>
                          <a:effectLst/>
                          <a:latin typeface="+mn-ea"/>
                          <a:ea typeface="+mn-ea"/>
                          <a:cs typeface="+mn-cs"/>
                        </a:rPr>
                        <a:t>에서 주로 사용됨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endParaRPr lang="en-US" altLang="ko-KR" sz="1000" b="0" kern="12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2"/>
                        <a:tabLst/>
                        <a:defRPr/>
                      </a:pPr>
                      <a:r>
                        <a:rPr lang="en-US" altLang="ko-KR" sz="1000" b="0" kern="1200" dirty="0" smtClean="0">
                          <a:solidFill>
                            <a:schemeClr val="tx1"/>
                          </a:solidFill>
                          <a:effectLst/>
                          <a:latin typeface="+mn-ea"/>
                          <a:ea typeface="+mn-ea"/>
                          <a:cs typeface="Times New Roman" panose="02020603050405020304" pitchFamily="18" charset="0"/>
                        </a:rPr>
                        <a:t>Locked Box Date</a:t>
                      </a:r>
                      <a:r>
                        <a:rPr lang="ko-KR" altLang="en-US" sz="1000" b="0" kern="1200" dirty="0" smtClean="0">
                          <a:solidFill>
                            <a:schemeClr val="tx1"/>
                          </a:solidFill>
                          <a:effectLst/>
                          <a:latin typeface="+mn-ea"/>
                          <a:ea typeface="+mn-ea"/>
                          <a:cs typeface="Times New Roman" panose="02020603050405020304" pitchFamily="18" charset="0"/>
                        </a:rPr>
                        <a:t>로부터 거래종결일까지 일정 수준의 이자를 합산하여 매매대금을 지급하는 경우도 있으며</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이때에는 이자율에 대한 합의가 필요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Global Markets Experts</a:t>
                      </a:r>
                      <a:r>
                        <a:rPr kumimoji="1" lang="ko-KR" altLang="en-US" sz="1000" b="0" i="0" u="none" strike="noStrike" kern="1200" cap="none" normalizeH="0" baseline="0" dirty="0" smtClean="0">
                          <a:ln>
                            <a:noFill/>
                          </a:ln>
                          <a:solidFill>
                            <a:schemeClr val="tx1"/>
                          </a:solidFill>
                          <a:effectLst/>
                          <a:latin typeface="+mn-ea"/>
                          <a:ea typeface="+mn-ea"/>
                          <a:cs typeface="+mn-cs"/>
                        </a:rPr>
                        <a:t>에 따르면 이러한 </a:t>
                      </a:r>
                      <a:r>
                        <a:rPr kumimoji="1" lang="en-US" altLang="ko-KR" sz="1000" b="0" i="0" u="none" strike="noStrike" kern="1200" cap="none" normalizeH="0" baseline="0" dirty="0" smtClean="0">
                          <a:ln>
                            <a:noFill/>
                          </a:ln>
                          <a:solidFill>
                            <a:schemeClr val="tx1"/>
                          </a:solidFill>
                          <a:effectLst/>
                          <a:latin typeface="+mn-ea"/>
                          <a:ea typeface="+mn-ea"/>
                          <a:cs typeface="+mn-cs"/>
                        </a:rPr>
                        <a:t>interest</a:t>
                      </a:r>
                      <a:r>
                        <a:rPr kumimoji="1" lang="ko-KR" altLang="en-US" sz="1000" b="0" i="0" u="none" strike="noStrike" kern="1200" cap="none" normalizeH="0" baseline="0" dirty="0" smtClean="0">
                          <a:ln>
                            <a:noFill/>
                          </a:ln>
                          <a:solidFill>
                            <a:schemeClr val="tx1"/>
                          </a:solidFill>
                          <a:effectLst/>
                          <a:latin typeface="+mn-ea"/>
                          <a:ea typeface="+mn-ea"/>
                          <a:cs typeface="+mn-cs"/>
                        </a:rPr>
                        <a:t>가 없는 경우가 전체 딜의 </a:t>
                      </a:r>
                      <a:r>
                        <a:rPr kumimoji="1" lang="en-US" altLang="ko-KR" sz="1000" b="0" i="0" u="none" strike="noStrike" kern="1200" cap="none" normalizeH="0" baseline="0" dirty="0" smtClean="0">
                          <a:ln>
                            <a:noFill/>
                          </a:ln>
                          <a:solidFill>
                            <a:schemeClr val="tx1"/>
                          </a:solidFill>
                          <a:effectLst/>
                          <a:latin typeface="+mn-ea"/>
                          <a:ea typeface="+mn-ea"/>
                          <a:cs typeface="+mn-cs"/>
                        </a:rPr>
                        <a:t>69% </a:t>
                      </a:r>
                      <a:r>
                        <a:rPr kumimoji="1" lang="ko-KR" altLang="en-US" sz="1000" b="0" i="0" u="none" strike="noStrike" kern="1200" cap="none" normalizeH="0" baseline="0" dirty="0" smtClean="0">
                          <a:ln>
                            <a:noFill/>
                          </a:ln>
                          <a:solidFill>
                            <a:schemeClr val="tx1"/>
                          </a:solidFill>
                          <a:effectLst/>
                          <a:latin typeface="+mn-ea"/>
                          <a:ea typeface="+mn-ea"/>
                          <a:cs typeface="+mn-cs"/>
                        </a:rPr>
                        <a:t>정도라고 함</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endParaRPr lang="en-US" altLang="ko-KR" sz="1000" b="0" kern="12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3"/>
                        <a:tabLst/>
                        <a:defRPr/>
                      </a:pPr>
                      <a:r>
                        <a:rPr lang="en-US" altLang="ko-KR" sz="1000" b="0" kern="1200" dirty="0" smtClean="0">
                          <a:solidFill>
                            <a:schemeClr val="tx1"/>
                          </a:solidFill>
                          <a:effectLst/>
                          <a:latin typeface="+mn-ea"/>
                          <a:ea typeface="+mn-ea"/>
                          <a:cs typeface="Times New Roman" panose="02020603050405020304" pitchFamily="18" charset="0"/>
                        </a:rPr>
                        <a:t>Locked Box Date </a:t>
                      </a:r>
                      <a:r>
                        <a:rPr lang="ko-KR" altLang="en-US" sz="1000" b="0" kern="1200" dirty="0" smtClean="0">
                          <a:solidFill>
                            <a:schemeClr val="tx1"/>
                          </a:solidFill>
                          <a:effectLst/>
                          <a:latin typeface="+mn-ea"/>
                          <a:ea typeface="+mn-ea"/>
                          <a:cs typeface="Times New Roman" panose="02020603050405020304" pitchFamily="18" charset="0"/>
                        </a:rPr>
                        <a:t>이후에는 대상회사로부터 주주 또는 그 특수관계자에 대하여 배당</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특수관계자 거래 등을 통한 가치유출</a:t>
                      </a:r>
                      <a:r>
                        <a:rPr lang="en-US" altLang="ko-KR" sz="1000" b="0" kern="1200" dirty="0" smtClean="0">
                          <a:solidFill>
                            <a:schemeClr val="tx1"/>
                          </a:solidFill>
                          <a:effectLst/>
                          <a:latin typeface="+mn-ea"/>
                          <a:ea typeface="+mn-ea"/>
                          <a:cs typeface="Times New Roman" panose="02020603050405020304" pitchFamily="18" charset="0"/>
                        </a:rPr>
                        <a:t>(leakage)</a:t>
                      </a:r>
                      <a:r>
                        <a:rPr lang="ko-KR" altLang="en-US" sz="1000" b="0" kern="1200" dirty="0" smtClean="0">
                          <a:solidFill>
                            <a:schemeClr val="tx1"/>
                          </a:solidFill>
                          <a:effectLst/>
                          <a:latin typeface="+mn-ea"/>
                          <a:ea typeface="+mn-ea"/>
                          <a:cs typeface="Times New Roman" panose="02020603050405020304" pitchFamily="18" charset="0"/>
                        </a:rPr>
                        <a:t>이 허용되지 않고</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그러한 가치유출이 있는 경우 이를 매매대금에서 감액하게 됨</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단</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당사자간 합의에 따라 일정한 한도에서 허용된 가치유출</a:t>
                      </a:r>
                      <a:r>
                        <a:rPr lang="en-US" altLang="ko-KR" sz="1000" b="0" kern="1200" dirty="0" smtClean="0">
                          <a:solidFill>
                            <a:schemeClr val="tx1"/>
                          </a:solidFill>
                          <a:effectLst/>
                          <a:latin typeface="+mn-ea"/>
                          <a:ea typeface="+mn-ea"/>
                          <a:cs typeface="Times New Roman" panose="02020603050405020304" pitchFamily="18" charset="0"/>
                        </a:rPr>
                        <a:t>(permitted leakage)</a:t>
                      </a:r>
                      <a:r>
                        <a:rPr lang="ko-KR" altLang="en-US" sz="1000" b="0" kern="1200" dirty="0" smtClean="0">
                          <a:solidFill>
                            <a:schemeClr val="tx1"/>
                          </a:solidFill>
                          <a:effectLst/>
                          <a:latin typeface="+mn-ea"/>
                          <a:ea typeface="+mn-ea"/>
                          <a:cs typeface="Times New Roman" panose="02020603050405020304" pitchFamily="18" charset="0"/>
                        </a:rPr>
                        <a:t>의 예외가 인정되는 경우</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예</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통상적인 사업과정에 따른 경상비용의 지출</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를 규정하는 것이 통상적임</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이러한 허용된 가치유출은 사후적인 매매대금의 조정사유에서 제외되므로</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최초 매매대금 산정시에 고려하는 것이 원칙임</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가치유출 및 허용된 가치유출의 범위가 당사자들 사이에서 치열하게 협상되는 주요 협상 포인트에 해당하며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통상적으로는 계약 체결 시부터 거래종결 시까지 매수인의 동의가 필요 없는 통상적인 사업과정의 범위를 제한하며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매수인의 동의를 요하는 대상회사의 행위를 광범위하게 규정함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79580">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SPA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1" indent="0" algn="l" defTabSz="914400" rtl="0" eaLnBrk="1" fontAlgn="base" latinLnBrk="1" hangingPunct="1">
                        <a:lnSpc>
                          <a:spcPct val="110000"/>
                        </a:lnSpc>
                        <a:spcBef>
                          <a:spcPct val="0"/>
                        </a:spcBef>
                        <a:spcAft>
                          <a:spcPct val="0"/>
                        </a:spcAft>
                        <a:buClrTx/>
                        <a:buSzTx/>
                        <a:buFont typeface="Wingdings" panose="05000000000000000000" pitchFamily="2" charset="2"/>
                        <a:buNone/>
                        <a:tabLst/>
                        <a:defRPr/>
                      </a:pPr>
                      <a:r>
                        <a:rPr kumimoji="1" lang="en-US" altLang="ko-KR" sz="1000" b="0" i="0" u="none" strike="noStrike" kern="1200" cap="none" normalizeH="0" baseline="0" dirty="0" smtClean="0">
                          <a:ln>
                            <a:noFill/>
                          </a:ln>
                          <a:solidFill>
                            <a:schemeClr val="tx1"/>
                          </a:solidFill>
                          <a:effectLst/>
                          <a:latin typeface="+mn-ea"/>
                          <a:ea typeface="+mn-ea"/>
                          <a:cs typeface="+mn-cs"/>
                        </a:rPr>
                        <a:t>Locked Box Mechanism </a:t>
                      </a:r>
                      <a:r>
                        <a:rPr kumimoji="1" lang="ko-KR" altLang="en-US" sz="1000" b="0" i="0" u="none" strike="noStrike" kern="1200" cap="none" normalizeH="0" baseline="0" dirty="0" smtClean="0">
                          <a:ln>
                            <a:noFill/>
                          </a:ln>
                          <a:solidFill>
                            <a:schemeClr val="tx1"/>
                          </a:solidFill>
                          <a:effectLst/>
                          <a:latin typeface="+mn-ea"/>
                          <a:ea typeface="+mn-ea"/>
                          <a:cs typeface="+mn-cs"/>
                        </a:rPr>
                        <a:t>관련 문구의 예시는 표준 </a:t>
                      </a:r>
                      <a:r>
                        <a:rPr kumimoji="1" lang="en-US" altLang="ko-KR" sz="1000" b="0" i="0" u="none" strike="noStrike" kern="1200" cap="none" normalizeH="0" baseline="0" dirty="0" smtClean="0">
                          <a:ln>
                            <a:noFill/>
                          </a:ln>
                          <a:solidFill>
                            <a:schemeClr val="tx1"/>
                          </a:solidFill>
                          <a:effectLst/>
                          <a:latin typeface="+mn-ea"/>
                          <a:ea typeface="+mn-ea"/>
                          <a:cs typeface="+mn-cs"/>
                        </a:rPr>
                        <a:t>SPA </a:t>
                      </a:r>
                      <a:r>
                        <a:rPr kumimoji="1" lang="en-US" altLang="ko-KR" sz="1000" b="1" i="0" u="sng" strike="noStrike" kern="1200" cap="none" normalizeH="0" baseline="0" dirty="0" smtClean="0">
                          <a:ln>
                            <a:noFill/>
                          </a:ln>
                          <a:solidFill>
                            <a:schemeClr val="tx1"/>
                          </a:solidFill>
                          <a:effectLst/>
                          <a:latin typeface="+mn-ea"/>
                          <a:ea typeface="+mn-ea"/>
                          <a:cs typeface="+mn-cs"/>
                        </a:rPr>
                        <a:t>Attachment 1</a:t>
                      </a:r>
                      <a:r>
                        <a:rPr kumimoji="1" lang="ko-KR" altLang="en-US" sz="1000" b="0" i="0" u="none" strike="noStrike" kern="1200" cap="none" normalizeH="0" baseline="0" dirty="0" smtClean="0">
                          <a:ln>
                            <a:noFill/>
                          </a:ln>
                          <a:solidFill>
                            <a:schemeClr val="tx1"/>
                          </a:solidFill>
                          <a:effectLst/>
                          <a:latin typeface="+mn-ea"/>
                          <a:ea typeface="+mn-ea"/>
                          <a:cs typeface="+mn-cs"/>
                        </a:rPr>
                        <a:t>을 참고</a:t>
                      </a:r>
                      <a:r>
                        <a:rPr kumimoji="1" lang="en-US" altLang="ko-KR" sz="1000" b="0" i="0" u="none" strike="noStrike" kern="1200" cap="none" normalizeH="0" baseline="0" dirty="0" smtClean="0">
                          <a:ln>
                            <a:noFill/>
                          </a:ln>
                          <a:solidFill>
                            <a:schemeClr val="tx1"/>
                          </a:solidFill>
                          <a:effectLst/>
                          <a:latin typeface="+mn-ea"/>
                          <a:ea typeface="+mn-ea"/>
                          <a:cs typeface="+mn-cs"/>
                        </a:rPr>
                        <a:t>.</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23160166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Purchase Price Adjustment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3. </a:t>
            </a:r>
            <a:r>
              <a:rPr lang="en-US" altLang="ko-KR" dirty="0">
                <a:solidFill>
                  <a:schemeClr val="tx1"/>
                </a:solidFill>
                <a:latin typeface="+mn-ea"/>
                <a:ea typeface="+mn-ea"/>
              </a:rPr>
              <a:t>Limitation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726983714"/>
              </p:ext>
            </p:extLst>
          </p:nvPr>
        </p:nvGraphicFramePr>
        <p:xfrm>
          <a:off x="439738" y="1043677"/>
          <a:ext cx="9188450" cy="202563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066478">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매매대금의 조정의 경우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다음과 같은 사항을 고려하여 제한을 둘 수 있음</a:t>
                      </a:r>
                      <a:r>
                        <a:rPr lang="en-US" altLang="ko-KR" sz="1000" dirty="0" smtClean="0">
                          <a:solidFill>
                            <a:schemeClr val="tx1"/>
                          </a:solidFill>
                          <a:effectLst/>
                          <a:latin typeface="+mn-ea"/>
                          <a:ea typeface="+mn-ea"/>
                          <a:cs typeface="Times New Roman" panose="02020603050405020304" pitchFamily="18" charset="0"/>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Cap – Post-Closing Adjustment Amount</a:t>
                      </a:r>
                      <a:r>
                        <a:rPr kumimoji="1" lang="ko-KR" altLang="en-US" sz="1000" b="0" i="0" u="none" strike="noStrike" kern="1200" cap="none" normalizeH="0" baseline="0" dirty="0" smtClean="0">
                          <a:ln>
                            <a:noFill/>
                          </a:ln>
                          <a:solidFill>
                            <a:schemeClr val="tx1"/>
                          </a:solidFill>
                          <a:effectLst/>
                          <a:latin typeface="+mn-ea"/>
                          <a:ea typeface="+mn-ea"/>
                          <a:cs typeface="+mn-cs"/>
                        </a:rPr>
                        <a:t>가 일정 금액을 넘지 않음</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Threshold – Post-Closing Adjustment Amount</a:t>
                      </a:r>
                      <a:r>
                        <a:rPr kumimoji="1" lang="ko-KR" altLang="en-US" sz="1000" b="0" i="0" u="none" strike="noStrike" kern="1200" cap="none" normalizeH="0" baseline="0" dirty="0" smtClean="0">
                          <a:ln>
                            <a:noFill/>
                          </a:ln>
                          <a:solidFill>
                            <a:schemeClr val="tx1"/>
                          </a:solidFill>
                          <a:effectLst/>
                          <a:latin typeface="+mn-ea"/>
                          <a:ea typeface="+mn-ea"/>
                          <a:cs typeface="+mn-cs"/>
                        </a:rPr>
                        <a:t>가 일정 금액을 넘지 않으면 지불 의무 없음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One-way adjustment – upward and/or downward adjustments </a:t>
                      </a:r>
                      <a:r>
                        <a:rPr kumimoji="1" lang="ko-KR" altLang="en-US" sz="1000" b="0" i="0" u="none" strike="noStrike" kern="1200" cap="none" normalizeH="0" baseline="0" dirty="0" smtClean="0">
                          <a:ln>
                            <a:noFill/>
                          </a:ln>
                          <a:solidFill>
                            <a:schemeClr val="tx1"/>
                          </a:solidFill>
                          <a:effectLst/>
                          <a:latin typeface="+mn-ea"/>
                          <a:ea typeface="+mn-ea"/>
                          <a:cs typeface="+mn-cs"/>
                        </a:rPr>
                        <a:t>두가지 모두</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또는 한가지만 가능</a:t>
                      </a:r>
                      <a:r>
                        <a:rPr kumimoji="1" lang="en-US" altLang="ko-KR" sz="1000" b="0" i="0" u="none" strike="noStrike" kern="1200" cap="none" normalizeH="0" baseline="0" dirty="0" smtClean="0">
                          <a:ln>
                            <a:noFill/>
                          </a:ln>
                          <a:solidFill>
                            <a:schemeClr val="tx1"/>
                          </a:solidFill>
                          <a:effectLst/>
                          <a:latin typeface="+mn-ea"/>
                          <a:ea typeface="+mn-ea"/>
                          <a:cs typeface="+mn-cs"/>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47958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1" indent="0" algn="l" defTabSz="914400" rtl="0" eaLnBrk="1" fontAlgn="base" latinLnBrk="1" hangingPunct="1">
                        <a:lnSpc>
                          <a:spcPct val="110000"/>
                        </a:lnSpc>
                        <a:spcBef>
                          <a:spcPct val="0"/>
                        </a:spcBef>
                        <a:spcAft>
                          <a:spcPts val="0"/>
                        </a:spcAft>
                        <a:buClrTx/>
                        <a:buSzTx/>
                        <a:buFont typeface="+mj-lt"/>
                        <a:buNone/>
                        <a:tabLst/>
                        <a:defRPr/>
                      </a:pPr>
                      <a:r>
                        <a:rPr lang="en-US" altLang="ko-KR" sz="1000" b="0" kern="1200" dirty="0" smtClean="0">
                          <a:solidFill>
                            <a:schemeClr val="tx1"/>
                          </a:solidFill>
                          <a:effectLst/>
                          <a:latin typeface="+mn-ea"/>
                          <a:ea typeface="+mn-ea"/>
                          <a:cs typeface="Times New Roman" panose="02020603050405020304" pitchFamily="18" charset="0"/>
                        </a:rPr>
                        <a:t>ABA Private Target Deal Points Study</a:t>
                      </a:r>
                      <a:r>
                        <a:rPr lang="ko-KR" altLang="en-US" sz="1000" b="0" kern="1200" dirty="0" smtClean="0">
                          <a:solidFill>
                            <a:schemeClr val="tx1"/>
                          </a:solidFill>
                          <a:effectLst/>
                          <a:latin typeface="+mn-ea"/>
                          <a:ea typeface="+mn-ea"/>
                          <a:cs typeface="Times New Roman" panose="02020603050405020304" pitchFamily="18" charset="0"/>
                        </a:rPr>
                        <a:t>에 따르면 이러한 제한을 두는 것이 일반적이지는 않은 것으로 보임</a:t>
                      </a:r>
                      <a:r>
                        <a:rPr lang="en-US" altLang="ko-KR" sz="1000" b="0" kern="1200" dirty="0" smtClean="0">
                          <a:solidFill>
                            <a:schemeClr val="tx1"/>
                          </a:solidFill>
                          <a:effectLst/>
                          <a:latin typeface="+mn-ea"/>
                          <a:ea typeface="+mn-ea"/>
                          <a:cs typeface="Times New Roman" panose="02020603050405020304" pitchFamily="18" charset="0"/>
                        </a:rPr>
                        <a:t>.</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79580">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SPA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1" indent="0" algn="l" defTabSz="914400" rtl="0" eaLnBrk="1" fontAlgn="base" latinLnBrk="1" hangingPunct="1">
                        <a:lnSpc>
                          <a:spcPct val="110000"/>
                        </a:lnSpc>
                        <a:spcBef>
                          <a:spcPct val="0"/>
                        </a:spcBef>
                        <a:spcAft>
                          <a:spcPct val="0"/>
                        </a:spcAft>
                        <a:buClrTx/>
                        <a:buSzTx/>
                        <a:buFont typeface="Wingdings" panose="05000000000000000000" pitchFamily="2" charset="2"/>
                        <a:buNone/>
                        <a:tabLst/>
                        <a:defRPr/>
                      </a:pPr>
                      <a:r>
                        <a:rPr kumimoji="1" lang="en-US" altLang="ko-KR" sz="1000" b="0" i="0" u="none" strike="noStrike" kern="1200" cap="none" normalizeH="0" baseline="0" dirty="0" smtClean="0">
                          <a:ln>
                            <a:noFill/>
                          </a:ln>
                          <a:solidFill>
                            <a:schemeClr val="tx1"/>
                          </a:solidFill>
                          <a:effectLst/>
                          <a:latin typeface="+mn-ea"/>
                          <a:ea typeface="+mn-ea"/>
                          <a:cs typeface="+mn-cs"/>
                        </a:rPr>
                        <a:t>N/A</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4562283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1. Fundamental Reps / Company </a:t>
            </a:r>
            <a:r>
              <a:rPr lang="en-US" altLang="ko-KR" dirty="0" smtClean="0">
                <a:solidFill>
                  <a:schemeClr val="tx1"/>
                </a:solidFill>
                <a:latin typeface="+mn-ea"/>
                <a:ea typeface="+mn-ea"/>
              </a:rPr>
              <a:t>Reps (1)</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2271732318"/>
              </p:ext>
            </p:extLst>
          </p:nvPr>
        </p:nvGraphicFramePr>
        <p:xfrm>
          <a:off x="439738" y="1043677"/>
          <a:ext cx="9188450" cy="514290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계약체결일 및 거래종결일 기준으로 </a:t>
                      </a:r>
                      <a:r>
                        <a:rPr lang="en-US" altLang="ko-KR" sz="1000" dirty="0" smtClean="0">
                          <a:solidFill>
                            <a:schemeClr val="tx1"/>
                          </a:solidFill>
                          <a:effectLst/>
                          <a:latin typeface="+mn-ea"/>
                          <a:ea typeface="+mn-ea"/>
                          <a:cs typeface="Times New Roman" panose="02020603050405020304" pitchFamily="18" charset="0"/>
                        </a:rPr>
                        <a:t>2</a:t>
                      </a:r>
                      <a:r>
                        <a:rPr lang="ko-KR" altLang="en-US" sz="1000" dirty="0" smtClean="0">
                          <a:solidFill>
                            <a:schemeClr val="tx1"/>
                          </a:solidFill>
                          <a:effectLst/>
                          <a:latin typeface="+mn-ea"/>
                          <a:ea typeface="+mn-ea"/>
                          <a:cs typeface="Times New Roman" panose="02020603050405020304" pitchFamily="18" charset="0"/>
                        </a:rPr>
                        <a:t>회</a:t>
                      </a:r>
                      <a:r>
                        <a:rPr lang="en-US" altLang="ko-KR" sz="1000" dirty="0" smtClean="0">
                          <a:solidFill>
                            <a:srgbClr val="C00000"/>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 로 매도인 및 이 매수인에게 하는 매도인</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매도인의 대상회사에 관한 진술보장 기재</a:t>
                      </a:r>
                      <a:endParaRPr kumimoji="1" lang="en-US" altLang="ko-KR"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467590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r>
                        <a:rPr lang="ko-KR" altLang="en-US" sz="1000" b="0" kern="1200" dirty="0" smtClean="0">
                          <a:solidFill>
                            <a:schemeClr val="tx1"/>
                          </a:solidFill>
                          <a:effectLst/>
                          <a:latin typeface="+mn-ea"/>
                          <a:ea typeface="+mn-ea"/>
                          <a:cs typeface="Times New Roman" panose="02020603050405020304" pitchFamily="18" charset="0"/>
                        </a:rPr>
                        <a:t>진술보장은 크게 </a:t>
                      </a:r>
                      <a:r>
                        <a:rPr lang="en-US" altLang="ko-KR" sz="1000" b="0" kern="1200" dirty="0" smtClean="0">
                          <a:solidFill>
                            <a:schemeClr val="tx1"/>
                          </a:solidFill>
                          <a:effectLst/>
                          <a:latin typeface="+mn-ea"/>
                          <a:ea typeface="+mn-ea"/>
                          <a:cs typeface="Times New Roman" panose="02020603050405020304" pitchFamily="18" charset="0"/>
                        </a:rPr>
                        <a:t>(i) </a:t>
                      </a:r>
                      <a:r>
                        <a:rPr lang="ko-KR" altLang="en-US" sz="1000" b="0" kern="1200" dirty="0" smtClean="0">
                          <a:solidFill>
                            <a:schemeClr val="tx1"/>
                          </a:solidFill>
                          <a:effectLst/>
                          <a:latin typeface="+mn-ea"/>
                          <a:ea typeface="+mn-ea"/>
                          <a:cs typeface="Times New Roman" panose="02020603050405020304" pitchFamily="18" charset="0"/>
                        </a:rPr>
                        <a:t>매도인 및 매도인의 대상회사 주식 소유와 관련된 근본적 진술보장</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이른바 </a:t>
                      </a:r>
                      <a:r>
                        <a:rPr lang="en-US" altLang="ko-KR" sz="1000" b="0" kern="1200" dirty="0" smtClean="0">
                          <a:solidFill>
                            <a:schemeClr val="tx1"/>
                          </a:solidFill>
                          <a:effectLst/>
                          <a:latin typeface="+mn-ea"/>
                          <a:ea typeface="+mn-ea"/>
                          <a:cs typeface="Times New Roman" panose="02020603050405020304" pitchFamily="18" charset="0"/>
                        </a:rPr>
                        <a:t>fundamental reps)</a:t>
                      </a:r>
                      <a:r>
                        <a:rPr lang="ko-KR" altLang="en-US" sz="1000" b="0" kern="1200" dirty="0" smtClean="0">
                          <a:solidFill>
                            <a:schemeClr val="tx1"/>
                          </a:solidFill>
                          <a:effectLst/>
                          <a:latin typeface="+mn-ea"/>
                          <a:ea typeface="+mn-ea"/>
                          <a:cs typeface="Times New Roman" panose="02020603050405020304" pitchFamily="18" charset="0"/>
                        </a:rPr>
                        <a:t>과 </a:t>
                      </a:r>
                      <a:r>
                        <a:rPr lang="en-US" altLang="ko-KR" sz="1000" b="0" kern="1200" dirty="0" smtClean="0">
                          <a:solidFill>
                            <a:schemeClr val="tx1"/>
                          </a:solidFill>
                          <a:effectLst/>
                          <a:latin typeface="+mn-ea"/>
                          <a:ea typeface="+mn-ea"/>
                          <a:cs typeface="Times New Roman" panose="02020603050405020304" pitchFamily="18" charset="0"/>
                        </a:rPr>
                        <a:t>(ii) </a:t>
                      </a:r>
                      <a:r>
                        <a:rPr lang="ko-KR" altLang="en-US" sz="1000" b="0" kern="1200" dirty="0" smtClean="0">
                          <a:solidFill>
                            <a:schemeClr val="tx1"/>
                          </a:solidFill>
                          <a:effectLst/>
                          <a:latin typeface="+mn-ea"/>
                          <a:ea typeface="+mn-ea"/>
                          <a:cs typeface="Times New Roman" panose="02020603050405020304" pitchFamily="18" charset="0"/>
                        </a:rPr>
                        <a:t>매각하는 대상인 대상회사의 상황과 관련된 진술보장으로 구분 가능</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각 </a:t>
                      </a:r>
                      <a:r>
                        <a:rPr lang="ko-KR" altLang="en-US" sz="1000" b="0" kern="1200" dirty="0" err="1" smtClean="0">
                          <a:solidFill>
                            <a:schemeClr val="tx1"/>
                          </a:solidFill>
                          <a:effectLst/>
                          <a:latin typeface="+mn-ea"/>
                          <a:ea typeface="+mn-ea"/>
                          <a:cs typeface="Times New Roman" panose="02020603050405020304" pitchFamily="18" charset="0"/>
                        </a:rPr>
                        <a:t>진술보장에</a:t>
                      </a:r>
                      <a:r>
                        <a:rPr lang="ko-KR" altLang="en-US" sz="1000" b="0" kern="1200" dirty="0" smtClean="0">
                          <a:solidFill>
                            <a:schemeClr val="tx1"/>
                          </a:solidFill>
                          <a:effectLst/>
                          <a:latin typeface="+mn-ea"/>
                          <a:ea typeface="+mn-ea"/>
                          <a:cs typeface="Times New Roman" panose="02020603050405020304" pitchFamily="18" charset="0"/>
                        </a:rPr>
                        <a:t> 포함되는 내용은 아래 ‘표준 </a:t>
                      </a:r>
                      <a:r>
                        <a:rPr lang="en-US" altLang="ko-KR" sz="1000" b="0" kern="1200" dirty="0" smtClean="0">
                          <a:solidFill>
                            <a:schemeClr val="tx1"/>
                          </a:solidFill>
                          <a:effectLst/>
                          <a:latin typeface="+mn-ea"/>
                          <a:ea typeface="+mn-ea"/>
                          <a:cs typeface="Times New Roman" panose="02020603050405020304" pitchFamily="18" charset="0"/>
                        </a:rPr>
                        <a:t>SPA </a:t>
                      </a:r>
                      <a:r>
                        <a:rPr lang="ko-KR" altLang="en-US" sz="1000" b="0" kern="1200" dirty="0" smtClean="0">
                          <a:solidFill>
                            <a:schemeClr val="tx1"/>
                          </a:solidFill>
                          <a:effectLst/>
                          <a:latin typeface="+mn-ea"/>
                          <a:ea typeface="+mn-ea"/>
                          <a:cs typeface="Times New Roman" panose="02020603050405020304" pitchFamily="18" charset="0"/>
                        </a:rPr>
                        <a:t>문구’ 부분 참조</a:t>
                      </a:r>
                      <a:endParaRPr lang="en-US" altLang="ko-KR" sz="1000" b="0" kern="12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endParaRPr lang="ko-KR" altLang="en-US" sz="1000" b="0" kern="1200" dirty="0" smtClean="0">
                        <a:solidFill>
                          <a:schemeClr val="tx1"/>
                        </a:solidFill>
                        <a:effectLst/>
                        <a:latin typeface="+mn-ea"/>
                        <a:ea typeface="+mn-ea"/>
                        <a:cs typeface="Times New Roman" panose="02020603050405020304" pitchFamily="18" charset="0"/>
                      </a:endParaRPr>
                    </a:p>
                    <a:p>
                      <a:pPr marL="268288" marR="0" lvl="1" indent="-268288" algn="l" defTabSz="914400" rtl="0" eaLnBrk="1" fontAlgn="base" latinLnBrk="1" hangingPunct="1">
                        <a:lnSpc>
                          <a:spcPct val="110000"/>
                        </a:lnSpc>
                        <a:spcBef>
                          <a:spcPct val="0"/>
                        </a:spcBef>
                        <a:spcAft>
                          <a:spcPts val="0"/>
                        </a:spcAft>
                        <a:buClrTx/>
                        <a:buSzTx/>
                        <a:buFont typeface="+mj-lt"/>
                        <a:buNone/>
                        <a:tabLst/>
                        <a:defRPr/>
                      </a:pPr>
                      <a:r>
                        <a:rPr lang="en-US" altLang="ko-KR" sz="1000" b="0" kern="1200" dirty="0" smtClean="0">
                          <a:solidFill>
                            <a:schemeClr val="tx1"/>
                          </a:solidFill>
                          <a:effectLst/>
                          <a:latin typeface="+mn-ea"/>
                          <a:ea typeface="+mn-ea"/>
                          <a:cs typeface="Times New Roman" panose="02020603050405020304" pitchFamily="18" charset="0"/>
                        </a:rPr>
                        <a:t>2-1. </a:t>
                      </a:r>
                      <a:r>
                        <a:rPr lang="ko-KR" altLang="en-US" sz="1000" b="1" kern="1200" dirty="0" smtClean="0">
                          <a:solidFill>
                            <a:schemeClr val="tx1"/>
                          </a:solidFill>
                          <a:effectLst/>
                          <a:latin typeface="+mn-ea"/>
                          <a:ea typeface="+mn-ea"/>
                          <a:cs typeface="Times New Roman" panose="02020603050405020304" pitchFamily="18" charset="0"/>
                        </a:rPr>
                        <a:t>매도인</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err="1" smtClean="0">
                          <a:solidFill>
                            <a:schemeClr val="tx1"/>
                          </a:solidFill>
                          <a:effectLst/>
                          <a:latin typeface="+mn-ea"/>
                          <a:ea typeface="+mn-ea"/>
                          <a:cs typeface="Times New Roman" panose="02020603050405020304" pitchFamily="18" charset="0"/>
                        </a:rPr>
                        <a:t>진술보장의</a:t>
                      </a:r>
                      <a:r>
                        <a:rPr lang="ko-KR" altLang="en-US" sz="1000" b="0" kern="1200" dirty="0" smtClean="0">
                          <a:solidFill>
                            <a:schemeClr val="tx1"/>
                          </a:solidFill>
                          <a:effectLst/>
                          <a:latin typeface="+mn-ea"/>
                          <a:ea typeface="+mn-ea"/>
                          <a:cs typeface="Times New Roman" panose="02020603050405020304" pitchFamily="18" charset="0"/>
                        </a:rPr>
                        <a:t> 범위를 좁히기 위해 </a:t>
                      </a:r>
                      <a:r>
                        <a:rPr lang="en-US" altLang="ko-KR" sz="1000" b="0" kern="1200" dirty="0" smtClean="0">
                          <a:solidFill>
                            <a:schemeClr val="tx1"/>
                          </a:solidFill>
                          <a:effectLst/>
                          <a:latin typeface="+mn-ea"/>
                          <a:ea typeface="+mn-ea"/>
                          <a:cs typeface="Times New Roman" panose="02020603050405020304" pitchFamily="18" charset="0"/>
                        </a:rPr>
                        <a:t>(</a:t>
                      </a:r>
                      <a:r>
                        <a:rPr lang="en-US" altLang="ko-KR" sz="1000" b="0" kern="1200" dirty="0" err="1" smtClean="0">
                          <a:solidFill>
                            <a:schemeClr val="tx1"/>
                          </a:solidFill>
                          <a:effectLst/>
                          <a:latin typeface="+mn-ea"/>
                          <a:ea typeface="+mn-ea"/>
                          <a:cs typeface="Times New Roman" panose="02020603050405020304" pitchFamily="18" charset="0"/>
                        </a:rPr>
                        <a:t>i</a:t>
                      </a:r>
                      <a:r>
                        <a:rPr lang="en-US" altLang="ko-KR" sz="1000" b="0" kern="1200" dirty="0" smtClean="0">
                          <a:solidFill>
                            <a:schemeClr val="tx1"/>
                          </a:solidFill>
                          <a:effectLst/>
                          <a:latin typeface="+mn-ea"/>
                          <a:ea typeface="+mn-ea"/>
                          <a:cs typeface="Times New Roman" panose="02020603050405020304" pitchFamily="18" charset="0"/>
                        </a:rPr>
                        <a:t>) materiality qualifier, knowledge qualifier, </a:t>
                      </a:r>
                      <a:r>
                        <a:rPr lang="ko-KR" altLang="en-US" sz="1000" b="0" kern="1200" dirty="0" smtClean="0">
                          <a:solidFill>
                            <a:schemeClr val="tx1"/>
                          </a:solidFill>
                          <a:effectLst/>
                          <a:latin typeface="+mn-ea"/>
                          <a:ea typeface="+mn-ea"/>
                          <a:cs typeface="Times New Roman" panose="02020603050405020304" pitchFamily="18" charset="0"/>
                        </a:rPr>
                        <a:t>및</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또는 </a:t>
                      </a:r>
                      <a:r>
                        <a:rPr lang="en-US" altLang="ko-KR" sz="1000" b="0" kern="1200" dirty="0" smtClean="0">
                          <a:solidFill>
                            <a:schemeClr val="tx1"/>
                          </a:solidFill>
                          <a:effectLst/>
                          <a:latin typeface="+mn-ea"/>
                          <a:ea typeface="+mn-ea"/>
                          <a:cs typeface="Times New Roman" panose="02020603050405020304" pitchFamily="18" charset="0"/>
                        </a:rPr>
                        <a:t>look back period</a:t>
                      </a:r>
                      <a:r>
                        <a:rPr lang="ko-KR" altLang="en-US" sz="1000" b="0" kern="1200" dirty="0" smtClean="0">
                          <a:solidFill>
                            <a:schemeClr val="tx1"/>
                          </a:solidFill>
                          <a:effectLst/>
                          <a:latin typeface="+mn-ea"/>
                          <a:ea typeface="+mn-ea"/>
                          <a:cs typeface="Times New Roman" panose="02020603050405020304" pitchFamily="18" charset="0"/>
                        </a:rPr>
                        <a:t>를 사용하여 진술보장으로 커버되는 기간을 지난 몇 년간으로 제한하거나 </a:t>
                      </a:r>
                      <a:r>
                        <a:rPr lang="en-US" altLang="ko-KR" sz="1000" b="0" kern="1200" dirty="0" smtClean="0">
                          <a:solidFill>
                            <a:schemeClr val="tx1"/>
                          </a:solidFill>
                          <a:effectLst/>
                          <a:latin typeface="+mn-ea"/>
                          <a:ea typeface="+mn-ea"/>
                          <a:cs typeface="Times New Roman" panose="02020603050405020304" pitchFamily="18" charset="0"/>
                        </a:rPr>
                        <a:t>(ii) </a:t>
                      </a:r>
                      <a:r>
                        <a:rPr lang="ko-KR" altLang="en-US" sz="1000" b="0" kern="1200" dirty="0" smtClean="0">
                          <a:solidFill>
                            <a:schemeClr val="tx1"/>
                          </a:solidFill>
                          <a:effectLst/>
                          <a:latin typeface="+mn-ea"/>
                          <a:ea typeface="+mn-ea"/>
                          <a:cs typeface="Times New Roman" panose="02020603050405020304" pitchFamily="18" charset="0"/>
                        </a:rPr>
                        <a:t>계약체결일</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거래종결일 모두가 아니라 어느 한 시점에 대해서만 진술보장을 제공하려고 함</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매수인의 협상 전략상 매수인 초안 </a:t>
                      </a:r>
                      <a:r>
                        <a:rPr lang="ko-KR" altLang="en-US" sz="1000" b="0" kern="1200" dirty="0" err="1" smtClean="0">
                          <a:solidFill>
                            <a:schemeClr val="tx1"/>
                          </a:solidFill>
                          <a:effectLst/>
                          <a:latin typeface="+mn-ea"/>
                          <a:ea typeface="+mn-ea"/>
                          <a:cs typeface="Times New Roman" panose="02020603050405020304" pitchFamily="18" charset="0"/>
                        </a:rPr>
                        <a:t>목적상으로</a:t>
                      </a:r>
                      <a:r>
                        <a:rPr lang="ko-KR" altLang="en-US" sz="1000" b="0" kern="1200" dirty="0" smtClean="0">
                          <a:solidFill>
                            <a:schemeClr val="tx1"/>
                          </a:solidFill>
                          <a:effectLst/>
                          <a:latin typeface="+mn-ea"/>
                          <a:ea typeface="+mn-ea"/>
                          <a:cs typeface="Times New Roman" panose="02020603050405020304" pitchFamily="18" charset="0"/>
                        </a:rPr>
                        <a:t> 위와 같은 제한은 되도록 설정하지 아니하고 강한 형태의 진술보장을 준비하는 방법도 고려할 수 있음</a:t>
                      </a:r>
                      <a:r>
                        <a:rPr lang="en-US" altLang="ko-KR" sz="1000" b="0" kern="1200" dirty="0" smtClean="0">
                          <a:solidFill>
                            <a:schemeClr val="tx1"/>
                          </a:solidFill>
                          <a:effectLst/>
                          <a:latin typeface="+mn-ea"/>
                          <a:ea typeface="+mn-ea"/>
                          <a:cs typeface="Times New Roman" panose="02020603050405020304" pitchFamily="18" charset="0"/>
                        </a:rPr>
                        <a:t>.</a:t>
                      </a:r>
                    </a:p>
                    <a:p>
                      <a:pPr marL="268288" marR="0" lvl="1" indent="-268288" algn="l" defTabSz="914400" rtl="0" eaLnBrk="1" fontAlgn="base" latinLnBrk="1" hangingPunct="1">
                        <a:lnSpc>
                          <a:spcPct val="110000"/>
                        </a:lnSpc>
                        <a:spcBef>
                          <a:spcPct val="0"/>
                        </a:spcBef>
                        <a:spcAft>
                          <a:spcPts val="0"/>
                        </a:spcAft>
                        <a:buClrTx/>
                        <a:buSzTx/>
                        <a:buFont typeface="+mj-lt"/>
                        <a:buNone/>
                        <a:tabLst/>
                        <a:defRPr/>
                      </a:pPr>
                      <a:r>
                        <a:rPr lang="en-US" altLang="ko-KR" sz="1000" b="0" kern="1200" dirty="0" smtClean="0">
                          <a:solidFill>
                            <a:schemeClr val="tx1"/>
                          </a:solidFill>
                          <a:effectLst/>
                          <a:latin typeface="+mn-ea"/>
                          <a:ea typeface="+mn-ea"/>
                          <a:cs typeface="Times New Roman" panose="02020603050405020304" pitchFamily="18" charset="0"/>
                        </a:rPr>
                        <a:t>2-2. </a:t>
                      </a:r>
                      <a:r>
                        <a:rPr lang="ko-KR" altLang="en-US" sz="1000" b="1" kern="1200" dirty="0" smtClean="0">
                          <a:solidFill>
                            <a:schemeClr val="tx1"/>
                          </a:solidFill>
                          <a:effectLst/>
                          <a:latin typeface="+mn-ea"/>
                          <a:ea typeface="+mn-ea"/>
                          <a:cs typeface="Times New Roman" panose="02020603050405020304" pitchFamily="18" charset="0"/>
                        </a:rPr>
                        <a:t>매수인</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err="1" smtClean="0">
                          <a:solidFill>
                            <a:schemeClr val="tx1"/>
                          </a:solidFill>
                          <a:effectLst/>
                          <a:latin typeface="+mn-ea"/>
                          <a:ea typeface="+mn-ea"/>
                          <a:cs typeface="Times New Roman" panose="02020603050405020304" pitchFamily="18" charset="0"/>
                        </a:rPr>
                        <a:t>진술보장의</a:t>
                      </a:r>
                      <a:r>
                        <a:rPr lang="ko-KR" altLang="en-US" sz="1000" b="0" kern="1200" dirty="0" smtClean="0">
                          <a:solidFill>
                            <a:schemeClr val="tx1"/>
                          </a:solidFill>
                          <a:effectLst/>
                          <a:latin typeface="+mn-ea"/>
                          <a:ea typeface="+mn-ea"/>
                          <a:cs typeface="Times New Roman" panose="02020603050405020304" pitchFamily="18" charset="0"/>
                        </a:rPr>
                        <a:t> 범위를 넓히기 위해 </a:t>
                      </a:r>
                      <a:r>
                        <a:rPr lang="en-US" altLang="ko-KR" sz="1000" b="0" kern="1200" dirty="0" smtClean="0">
                          <a:solidFill>
                            <a:schemeClr val="tx1"/>
                          </a:solidFill>
                          <a:effectLst/>
                          <a:latin typeface="+mn-ea"/>
                          <a:ea typeface="+mn-ea"/>
                          <a:cs typeface="Times New Roman" panose="02020603050405020304" pitchFamily="18" charset="0"/>
                        </a:rPr>
                        <a:t>(</a:t>
                      </a:r>
                      <a:r>
                        <a:rPr lang="en-US" altLang="ko-KR" sz="1000" b="0" kern="1200" dirty="0" err="1" smtClean="0">
                          <a:solidFill>
                            <a:schemeClr val="tx1"/>
                          </a:solidFill>
                          <a:effectLst/>
                          <a:latin typeface="+mn-ea"/>
                          <a:ea typeface="+mn-ea"/>
                          <a:cs typeface="Times New Roman" panose="02020603050405020304" pitchFamily="18" charset="0"/>
                        </a:rPr>
                        <a:t>i</a:t>
                      </a:r>
                      <a:r>
                        <a:rPr lang="en-US" altLang="ko-KR" sz="1000" b="0" kern="1200" dirty="0" smtClean="0">
                          <a:solidFill>
                            <a:schemeClr val="tx1"/>
                          </a:solidFill>
                          <a:effectLst/>
                          <a:latin typeface="+mn-ea"/>
                          <a:ea typeface="+mn-ea"/>
                          <a:cs typeface="Times New Roman" panose="02020603050405020304" pitchFamily="18" charset="0"/>
                        </a:rPr>
                        <a:t>) qualifier</a:t>
                      </a:r>
                      <a:r>
                        <a:rPr lang="ko-KR" altLang="en-US" sz="1000" b="0" kern="1200" dirty="0" smtClean="0">
                          <a:solidFill>
                            <a:schemeClr val="tx1"/>
                          </a:solidFill>
                          <a:effectLst/>
                          <a:latin typeface="+mn-ea"/>
                          <a:ea typeface="+mn-ea"/>
                          <a:cs typeface="Times New Roman" panose="02020603050405020304" pitchFamily="18" charset="0"/>
                        </a:rPr>
                        <a:t>를 사용하지 않도록 하고</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매수인 초안에도 넣지 않고</a:t>
                      </a:r>
                      <a:r>
                        <a:rPr lang="en-US" altLang="ko-KR" sz="1000" b="0" kern="1200" dirty="0" smtClean="0">
                          <a:solidFill>
                            <a:schemeClr val="tx1"/>
                          </a:solidFill>
                          <a:effectLst/>
                          <a:latin typeface="+mn-ea"/>
                          <a:ea typeface="+mn-ea"/>
                          <a:cs typeface="Times New Roman" panose="02020603050405020304" pitchFamily="18" charset="0"/>
                        </a:rPr>
                        <a:t>, qualifier</a:t>
                      </a:r>
                      <a:r>
                        <a:rPr lang="ko-KR" altLang="en-US" sz="1000" b="0" kern="1200" dirty="0" smtClean="0">
                          <a:solidFill>
                            <a:schemeClr val="tx1"/>
                          </a:solidFill>
                          <a:effectLst/>
                          <a:latin typeface="+mn-ea"/>
                          <a:ea typeface="+mn-ea"/>
                          <a:cs typeface="Times New Roman" panose="02020603050405020304" pitchFamily="18" charset="0"/>
                        </a:rPr>
                        <a:t>의 추가에 가급적 </a:t>
                      </a:r>
                      <a:r>
                        <a:rPr lang="en-US" altLang="ko-KR" sz="1000" b="0" kern="1200" dirty="0" smtClean="0">
                          <a:solidFill>
                            <a:schemeClr val="tx1"/>
                          </a:solidFill>
                          <a:effectLst/>
                          <a:latin typeface="+mn-ea"/>
                          <a:ea typeface="+mn-ea"/>
                          <a:cs typeface="Times New Roman" panose="02020603050405020304" pitchFamily="18" charset="0"/>
                        </a:rPr>
                        <a:t>push back) (ii) </a:t>
                      </a:r>
                      <a:r>
                        <a:rPr lang="ko-KR" altLang="en-US" sz="1000" b="0" kern="1200" dirty="0" smtClean="0">
                          <a:solidFill>
                            <a:schemeClr val="tx1"/>
                          </a:solidFill>
                          <a:effectLst/>
                          <a:latin typeface="+mn-ea"/>
                          <a:ea typeface="+mn-ea"/>
                          <a:cs typeface="Times New Roman" panose="02020603050405020304" pitchFamily="18" charset="0"/>
                        </a:rPr>
                        <a:t>계약체결일</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거래종결일 모두를 기준으로 진술보장을 제공 받고자 함</a:t>
                      </a:r>
                    </a:p>
                    <a:p>
                      <a:pPr marL="0" marR="0" lvl="1" indent="0" algn="l" defTabSz="914400" rtl="0" eaLnBrk="1" fontAlgn="base" latinLnBrk="1" hangingPunct="1">
                        <a:lnSpc>
                          <a:spcPct val="110000"/>
                        </a:lnSpc>
                        <a:spcBef>
                          <a:spcPct val="0"/>
                        </a:spcBef>
                        <a:spcAft>
                          <a:spcPts val="0"/>
                        </a:spcAft>
                        <a:buClrTx/>
                        <a:buSzTx/>
                        <a:buFont typeface="+mj-lt"/>
                        <a:buNone/>
                        <a:tabLst/>
                        <a:defRPr/>
                      </a:pPr>
                      <a:r>
                        <a:rPr lang="en-US" altLang="ko-KR" sz="1000" b="0" kern="1200" dirty="0" smtClean="0">
                          <a:solidFill>
                            <a:schemeClr val="tx1"/>
                          </a:solidFill>
                          <a:effectLst/>
                          <a:latin typeface="+mn-ea"/>
                          <a:ea typeface="+mn-ea"/>
                          <a:cs typeface="Times New Roman" panose="02020603050405020304" pitchFamily="18" charset="0"/>
                        </a:rPr>
                        <a:t>2.-3 </a:t>
                      </a:r>
                      <a:r>
                        <a:rPr lang="ko-KR" altLang="en-US" sz="1000" b="0" kern="1200" dirty="0" smtClean="0">
                          <a:solidFill>
                            <a:schemeClr val="tx1"/>
                          </a:solidFill>
                          <a:effectLst/>
                          <a:latin typeface="+mn-ea"/>
                          <a:ea typeface="+mn-ea"/>
                          <a:cs typeface="Times New Roman" panose="02020603050405020304" pitchFamily="18" charset="0"/>
                        </a:rPr>
                        <a:t>각 </a:t>
                      </a:r>
                      <a:r>
                        <a:rPr lang="en-US" altLang="ko-KR" sz="1000" b="0" kern="1200" dirty="0" smtClean="0">
                          <a:solidFill>
                            <a:schemeClr val="tx1"/>
                          </a:solidFill>
                          <a:effectLst/>
                          <a:latin typeface="+mn-ea"/>
                          <a:ea typeface="+mn-ea"/>
                          <a:cs typeface="Times New Roman" panose="02020603050405020304" pitchFamily="18" charset="0"/>
                        </a:rPr>
                        <a:t>qualifier</a:t>
                      </a:r>
                      <a:r>
                        <a:rPr lang="ko-KR" altLang="en-US" sz="1000" b="0" kern="1200" dirty="0" smtClean="0">
                          <a:solidFill>
                            <a:schemeClr val="tx1"/>
                          </a:solidFill>
                          <a:effectLst/>
                          <a:latin typeface="+mn-ea"/>
                          <a:ea typeface="+mn-ea"/>
                          <a:cs typeface="Times New Roman" panose="02020603050405020304" pitchFamily="18" charset="0"/>
                        </a:rPr>
                        <a:t>와 관련하여</a:t>
                      </a:r>
                      <a:r>
                        <a:rPr lang="en-US" altLang="ko-KR" sz="1000" b="0" kern="1200" dirty="0" smtClean="0">
                          <a:solidFill>
                            <a:schemeClr val="tx1"/>
                          </a:solidFill>
                          <a:effectLst/>
                          <a:latin typeface="+mn-ea"/>
                          <a:ea typeface="+mn-ea"/>
                          <a:cs typeface="Times New Roman" panose="02020603050405020304" pitchFamily="18" charset="0"/>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1" i="0" u="none" strike="noStrike" kern="1200" cap="none" normalizeH="0" baseline="0" dirty="0" smtClean="0">
                          <a:ln>
                            <a:noFill/>
                          </a:ln>
                          <a:solidFill>
                            <a:schemeClr val="tx1"/>
                          </a:solidFill>
                          <a:effectLst/>
                          <a:latin typeface="+mn-ea"/>
                          <a:ea typeface="+mn-ea"/>
                          <a:cs typeface="+mn-cs"/>
                        </a:rPr>
                        <a:t>Materiality</a:t>
                      </a:r>
                      <a:r>
                        <a:rPr kumimoji="1" lang="en-US" altLang="ko-KR" sz="1000" b="0" i="0" u="none" strike="noStrike" kern="1200" cap="none" normalizeH="0" baseline="0" dirty="0" smtClean="0">
                          <a:ln>
                            <a:noFill/>
                          </a:ln>
                          <a:solidFill>
                            <a:schemeClr val="tx1"/>
                          </a:solidFill>
                          <a:effectLst/>
                          <a:latin typeface="+mn-ea"/>
                          <a:ea typeface="+mn-ea"/>
                          <a:cs typeface="+mn-cs"/>
                        </a:rPr>
                        <a:t> – “</a:t>
                      </a:r>
                      <a:r>
                        <a:rPr kumimoji="1" lang="ko-KR" altLang="en-US" sz="1000" b="0" i="0" u="none" strike="noStrike" kern="1200" cap="none" normalizeH="0" baseline="0" dirty="0" smtClean="0">
                          <a:ln>
                            <a:noFill/>
                          </a:ln>
                          <a:solidFill>
                            <a:schemeClr val="tx1"/>
                          </a:solidFill>
                          <a:effectLst/>
                          <a:latin typeface="+mn-ea"/>
                          <a:ea typeface="+mn-ea"/>
                          <a:cs typeface="+mn-cs"/>
                        </a:rPr>
                        <a:t>관련 법령을 중요한 측면에서 준수하고 있음”과 같은 문구로</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각 </a:t>
                      </a:r>
                      <a:r>
                        <a:rPr kumimoji="1" lang="ko-KR" altLang="en-US" sz="1000" b="0" i="0" u="none" strike="noStrike" kern="1200" cap="none" normalizeH="0" baseline="0" dirty="0" err="1" smtClean="0">
                          <a:ln>
                            <a:noFill/>
                          </a:ln>
                          <a:solidFill>
                            <a:schemeClr val="tx1"/>
                          </a:solidFill>
                          <a:effectLst/>
                          <a:latin typeface="+mn-ea"/>
                          <a:ea typeface="+mn-ea"/>
                          <a:cs typeface="+mn-cs"/>
                        </a:rPr>
                        <a:t>진술보장에</a:t>
                      </a:r>
                      <a:r>
                        <a:rPr kumimoji="1" lang="ko-KR" altLang="en-US" sz="1000" b="0" i="0" u="none" strike="noStrike" kern="1200" cap="none" normalizeH="0" baseline="0" dirty="0" smtClean="0">
                          <a:ln>
                            <a:noFill/>
                          </a:ln>
                          <a:solidFill>
                            <a:schemeClr val="tx1"/>
                          </a:solidFill>
                          <a:effectLst/>
                          <a:latin typeface="+mn-ea"/>
                          <a:ea typeface="+mn-ea"/>
                          <a:cs typeface="+mn-cs"/>
                        </a:rPr>
                        <a:t> 적용되는지에 대해서 협상이 되지만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특정 </a:t>
                      </a:r>
                      <a:r>
                        <a:rPr kumimoji="1" lang="ko-KR" altLang="en-US" sz="1000" b="0" i="0" u="none" strike="noStrike" kern="1200" cap="none" normalizeH="0" baseline="0" dirty="0" err="1" smtClean="0">
                          <a:ln>
                            <a:noFill/>
                          </a:ln>
                          <a:solidFill>
                            <a:schemeClr val="tx1"/>
                          </a:solidFill>
                          <a:effectLst/>
                          <a:latin typeface="+mn-ea"/>
                          <a:ea typeface="+mn-ea"/>
                          <a:cs typeface="+mn-cs"/>
                        </a:rPr>
                        <a:t>진술보장에</a:t>
                      </a:r>
                      <a:r>
                        <a:rPr kumimoji="1" lang="ko-KR" altLang="en-US" sz="1000" b="0" i="0" u="none" strike="noStrike" kern="1200" cap="none" normalizeH="0" baseline="0" dirty="0" smtClean="0">
                          <a:ln>
                            <a:noFill/>
                          </a:ln>
                          <a:solidFill>
                            <a:schemeClr val="tx1"/>
                          </a:solidFill>
                          <a:effectLst/>
                          <a:latin typeface="+mn-ea"/>
                          <a:ea typeface="+mn-ea"/>
                          <a:cs typeface="+mn-cs"/>
                        </a:rPr>
                        <a:t> 대해서 매도인이 </a:t>
                      </a:r>
                      <a:r>
                        <a:rPr kumimoji="1" lang="en-US" altLang="ko-KR" sz="1000" b="0" i="0" u="none" strike="noStrike" kern="1200" cap="none" normalizeH="0" baseline="0" dirty="0" smtClean="0">
                          <a:ln>
                            <a:noFill/>
                          </a:ln>
                          <a:solidFill>
                            <a:schemeClr val="tx1"/>
                          </a:solidFill>
                          <a:effectLst/>
                          <a:latin typeface="+mn-ea"/>
                          <a:ea typeface="+mn-ea"/>
                          <a:cs typeface="+mn-cs"/>
                        </a:rPr>
                        <a:t>Material Adverse Effect (MAE) qualifier</a:t>
                      </a:r>
                      <a:r>
                        <a:rPr kumimoji="1" lang="ko-KR" altLang="en-US" sz="1000" b="0" i="0" u="none" strike="noStrike" kern="1200" cap="none" normalizeH="0" baseline="0" dirty="0" smtClean="0">
                          <a:ln>
                            <a:noFill/>
                          </a:ln>
                          <a:solidFill>
                            <a:schemeClr val="tx1"/>
                          </a:solidFill>
                          <a:effectLst/>
                          <a:latin typeface="+mn-ea"/>
                          <a:ea typeface="+mn-ea"/>
                          <a:cs typeface="+mn-cs"/>
                        </a:rPr>
                        <a:t>을 제안하는 경우도 있음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대안으로 금액을 특정하여 </a:t>
                      </a:r>
                      <a:r>
                        <a:rPr kumimoji="1" lang="en-US" altLang="ko-KR" sz="1000" b="0" i="0" u="none" strike="noStrike" kern="1200" cap="none" normalizeH="0" baseline="0" dirty="0" smtClean="0">
                          <a:ln>
                            <a:noFill/>
                          </a:ln>
                          <a:solidFill>
                            <a:schemeClr val="tx1"/>
                          </a:solidFill>
                          <a:effectLst/>
                          <a:latin typeface="+mn-ea"/>
                          <a:ea typeface="+mn-ea"/>
                          <a:cs typeface="+mn-cs"/>
                        </a:rPr>
                        <a:t>threshold</a:t>
                      </a:r>
                      <a:r>
                        <a:rPr kumimoji="1" lang="ko-KR" altLang="en-US" sz="1000" b="0" i="0" u="none" strike="noStrike" kern="1200" cap="none" normalizeH="0" baseline="0" dirty="0" smtClean="0">
                          <a:ln>
                            <a:noFill/>
                          </a:ln>
                          <a:solidFill>
                            <a:schemeClr val="tx1"/>
                          </a:solidFill>
                          <a:effectLst/>
                          <a:latin typeface="+mn-ea"/>
                          <a:ea typeface="+mn-ea"/>
                          <a:cs typeface="+mn-cs"/>
                        </a:rPr>
                        <a:t>를 추가하는 방법도 고려될 수 있음</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1" i="0" u="none" strike="noStrike" kern="1200" cap="none" normalizeH="0" baseline="0" dirty="0" smtClean="0">
                          <a:ln>
                            <a:noFill/>
                          </a:ln>
                          <a:solidFill>
                            <a:schemeClr val="tx1"/>
                          </a:solidFill>
                          <a:effectLst/>
                          <a:latin typeface="+mn-ea"/>
                          <a:ea typeface="+mn-ea"/>
                          <a:cs typeface="+mn-cs"/>
                        </a:rPr>
                        <a:t>Knowledge</a:t>
                      </a:r>
                      <a:r>
                        <a:rPr kumimoji="1" lang="en-US" altLang="ko-KR" sz="1000" b="0" i="0" u="none" strike="noStrike" kern="1200" cap="none" normalizeH="0" baseline="0" dirty="0" smtClean="0">
                          <a:ln>
                            <a:noFill/>
                          </a:ln>
                          <a:solidFill>
                            <a:schemeClr val="tx1"/>
                          </a:solidFill>
                          <a:effectLst/>
                          <a:latin typeface="+mn-ea"/>
                          <a:ea typeface="+mn-ea"/>
                          <a:cs typeface="+mn-cs"/>
                        </a:rPr>
                        <a:t> – “</a:t>
                      </a:r>
                      <a:r>
                        <a:rPr kumimoji="1" lang="ko-KR" altLang="en-US" sz="1000" b="0" i="0" u="none" strike="noStrike" kern="1200" cap="none" normalizeH="0" baseline="0" dirty="0" smtClean="0">
                          <a:ln>
                            <a:noFill/>
                          </a:ln>
                          <a:solidFill>
                            <a:schemeClr val="tx1"/>
                          </a:solidFill>
                          <a:effectLst/>
                          <a:latin typeface="+mn-ea"/>
                          <a:ea typeface="+mn-ea"/>
                          <a:cs typeface="+mn-cs"/>
                        </a:rPr>
                        <a:t>매도인이 알고 있는 한 관련 법령을 준수하고 있음”와 같은 문구로</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매도인이 알지 못한 </a:t>
                      </a:r>
                      <a:r>
                        <a:rPr kumimoji="1" lang="en-US" altLang="ko-KR" sz="1000" b="0" i="0" u="none" strike="noStrike" kern="1200" cap="none" normalizeH="0" baseline="0" dirty="0" smtClean="0">
                          <a:ln>
                            <a:noFill/>
                          </a:ln>
                          <a:solidFill>
                            <a:schemeClr val="tx1"/>
                          </a:solidFill>
                          <a:effectLst/>
                          <a:latin typeface="+mn-ea"/>
                          <a:ea typeface="+mn-ea"/>
                          <a:cs typeface="+mn-cs"/>
                        </a:rPr>
                        <a:t>breach</a:t>
                      </a:r>
                      <a:r>
                        <a:rPr kumimoji="1" lang="ko-KR" altLang="en-US" sz="1000" b="0" i="0" u="none" strike="noStrike" kern="1200" cap="none" normalizeH="0" baseline="0" dirty="0" smtClean="0">
                          <a:ln>
                            <a:noFill/>
                          </a:ln>
                          <a:solidFill>
                            <a:schemeClr val="tx1"/>
                          </a:solidFill>
                          <a:effectLst/>
                          <a:latin typeface="+mn-ea"/>
                          <a:ea typeface="+mn-ea"/>
                          <a:cs typeface="+mn-cs"/>
                        </a:rPr>
                        <a:t>에 대해서 매수인이 </a:t>
                      </a:r>
                      <a:r>
                        <a:rPr kumimoji="1" lang="en-US" altLang="ko-KR" sz="1000" b="0" i="0" u="none" strike="noStrike" kern="1200" cap="none" normalizeH="0" baseline="0" dirty="0" smtClean="0">
                          <a:ln>
                            <a:noFill/>
                          </a:ln>
                          <a:solidFill>
                            <a:schemeClr val="tx1"/>
                          </a:solidFill>
                          <a:effectLst/>
                          <a:latin typeface="+mn-ea"/>
                          <a:ea typeface="+mn-ea"/>
                          <a:cs typeface="+mn-cs"/>
                        </a:rPr>
                        <a:t>claim</a:t>
                      </a:r>
                      <a:r>
                        <a:rPr kumimoji="1" lang="ko-KR" altLang="en-US" sz="1000" b="0" i="0" u="none" strike="noStrike" kern="1200" cap="none" normalizeH="0" baseline="0" dirty="0" smtClean="0">
                          <a:ln>
                            <a:noFill/>
                          </a:ln>
                          <a:solidFill>
                            <a:schemeClr val="tx1"/>
                          </a:solidFill>
                          <a:effectLst/>
                          <a:latin typeface="+mn-ea"/>
                          <a:ea typeface="+mn-ea"/>
                          <a:cs typeface="+mn-cs"/>
                        </a:rPr>
                        <a:t>을 하지 못하게 되는 </a:t>
                      </a:r>
                      <a:r>
                        <a:rPr kumimoji="1" lang="en-US" altLang="ko-KR" sz="1000" b="0" i="0" u="none" strike="noStrike" kern="1200" cap="none" normalizeH="0" baseline="0" dirty="0" smtClean="0">
                          <a:ln>
                            <a:noFill/>
                          </a:ln>
                          <a:solidFill>
                            <a:schemeClr val="tx1"/>
                          </a:solidFill>
                          <a:effectLst/>
                          <a:latin typeface="+mn-ea"/>
                          <a:ea typeface="+mn-ea"/>
                          <a:cs typeface="+mn-cs"/>
                        </a:rPr>
                        <a:t>qualifier</a:t>
                      </a:r>
                      <a:r>
                        <a:rPr kumimoji="1" lang="ko-KR" altLang="en-US" sz="1000" b="0" i="0" u="none" strike="noStrike" kern="1200" cap="none" normalizeH="0" baseline="0" dirty="0" smtClean="0">
                          <a:ln>
                            <a:noFill/>
                          </a:ln>
                          <a:solidFill>
                            <a:schemeClr val="tx1"/>
                          </a:solidFill>
                          <a:effectLst/>
                          <a:latin typeface="+mn-ea"/>
                          <a:ea typeface="+mn-ea"/>
                          <a:cs typeface="+mn-cs"/>
                        </a:rPr>
                        <a:t>이므로 매수인 입장에서는 수용 여부를 신중하게 결정해야 함</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일반적으로 매도인이 </a:t>
                      </a:r>
                      <a:r>
                        <a:rPr kumimoji="1" lang="en-US" altLang="ko-KR" sz="1000" b="0" i="0" u="none" strike="noStrike" kern="1200" cap="none" normalizeH="0" baseline="0" dirty="0" smtClean="0">
                          <a:ln>
                            <a:noFill/>
                          </a:ln>
                          <a:solidFill>
                            <a:schemeClr val="tx1"/>
                          </a:solidFill>
                          <a:effectLst/>
                          <a:latin typeface="+mn-ea"/>
                          <a:ea typeface="+mn-ea"/>
                          <a:cs typeface="+mn-cs"/>
                        </a:rPr>
                        <a:t>control</a:t>
                      </a:r>
                      <a:r>
                        <a:rPr kumimoji="1" lang="ko-KR" altLang="en-US" sz="1000" b="0" i="0" u="none" strike="noStrike" kern="1200" cap="none" normalizeH="0" baseline="0" dirty="0" smtClean="0">
                          <a:ln>
                            <a:noFill/>
                          </a:ln>
                          <a:solidFill>
                            <a:schemeClr val="tx1"/>
                          </a:solidFill>
                          <a:effectLst/>
                          <a:latin typeface="+mn-ea"/>
                          <a:ea typeface="+mn-ea"/>
                          <a:cs typeface="+mn-cs"/>
                        </a:rPr>
                        <a:t>하지 못하는 제</a:t>
                      </a:r>
                      <a:r>
                        <a:rPr kumimoji="1" lang="en-US" altLang="ko-KR" sz="1000" b="0" i="0" u="none" strike="noStrike" kern="1200" cap="none" normalizeH="0" baseline="0" dirty="0" smtClean="0">
                          <a:ln>
                            <a:noFill/>
                          </a:ln>
                          <a:solidFill>
                            <a:schemeClr val="tx1"/>
                          </a:solidFill>
                          <a:effectLst/>
                          <a:latin typeface="+mn-ea"/>
                          <a:ea typeface="+mn-ea"/>
                          <a:cs typeface="+mn-cs"/>
                        </a:rPr>
                        <a:t>3</a:t>
                      </a:r>
                      <a:r>
                        <a:rPr kumimoji="1" lang="ko-KR" altLang="en-US" sz="1000" b="0" i="0" u="none" strike="noStrike" kern="1200" cap="none" normalizeH="0" baseline="0" dirty="0" smtClean="0">
                          <a:ln>
                            <a:noFill/>
                          </a:ln>
                          <a:solidFill>
                            <a:schemeClr val="tx1"/>
                          </a:solidFill>
                          <a:effectLst/>
                          <a:latin typeface="+mn-ea"/>
                          <a:ea typeface="+mn-ea"/>
                          <a:cs typeface="+mn-cs"/>
                        </a:rPr>
                        <a:t>자</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예</a:t>
                      </a:r>
                      <a:r>
                        <a:rPr kumimoji="1" lang="en-US" altLang="ko-KR" sz="1000" b="0" i="0" u="none" strike="noStrike" kern="1200" cap="none" normalizeH="0" baseline="0" dirty="0" smtClean="0">
                          <a:ln>
                            <a:noFill/>
                          </a:ln>
                          <a:solidFill>
                            <a:schemeClr val="tx1"/>
                          </a:solidFill>
                          <a:effectLst/>
                          <a:latin typeface="+mn-ea"/>
                          <a:ea typeface="+mn-ea"/>
                          <a:cs typeface="+mn-cs"/>
                        </a:rPr>
                        <a:t>. Material Contract</a:t>
                      </a:r>
                      <a:r>
                        <a:rPr kumimoji="1" lang="ko-KR" altLang="en-US" sz="1000" b="0" i="0" u="none" strike="noStrike" kern="1200" cap="none" normalizeH="0" baseline="0" dirty="0" smtClean="0">
                          <a:ln>
                            <a:noFill/>
                          </a:ln>
                          <a:solidFill>
                            <a:schemeClr val="tx1"/>
                          </a:solidFill>
                          <a:effectLst/>
                          <a:latin typeface="+mn-ea"/>
                          <a:ea typeface="+mn-ea"/>
                          <a:cs typeface="+mn-cs"/>
                        </a:rPr>
                        <a:t>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상대방</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의 </a:t>
                      </a:r>
                      <a:r>
                        <a:rPr kumimoji="1" lang="en-US" altLang="ko-KR" sz="1000" b="0" i="0" u="none" strike="noStrike" kern="1200" cap="none" normalizeH="0" baseline="0" dirty="0" smtClean="0">
                          <a:ln>
                            <a:noFill/>
                          </a:ln>
                          <a:solidFill>
                            <a:schemeClr val="tx1"/>
                          </a:solidFill>
                          <a:effectLst/>
                          <a:latin typeface="+mn-ea"/>
                          <a:ea typeface="+mn-ea"/>
                          <a:cs typeface="+mn-cs"/>
                        </a:rPr>
                        <a:t>action/inaction </a:t>
                      </a:r>
                      <a:r>
                        <a:rPr kumimoji="1" lang="ko-KR" altLang="en-US" sz="1000" b="0" i="0" u="none" strike="noStrike" kern="1200" cap="none" normalizeH="0" baseline="0" dirty="0" smtClean="0">
                          <a:ln>
                            <a:noFill/>
                          </a:ln>
                          <a:solidFill>
                            <a:schemeClr val="tx1"/>
                          </a:solidFill>
                          <a:effectLst/>
                          <a:latin typeface="+mn-ea"/>
                          <a:ea typeface="+mn-ea"/>
                          <a:cs typeface="+mn-cs"/>
                        </a:rPr>
                        <a:t>또는 </a:t>
                      </a:r>
                      <a:r>
                        <a:rPr kumimoji="1" lang="en-US" altLang="ko-KR" sz="1000" b="0" i="0" u="none" strike="noStrike" kern="1200" cap="none" normalizeH="0" baseline="0" dirty="0" smtClean="0">
                          <a:ln>
                            <a:noFill/>
                          </a:ln>
                          <a:solidFill>
                            <a:schemeClr val="tx1"/>
                          </a:solidFill>
                          <a:effectLst/>
                          <a:latin typeface="+mn-ea"/>
                          <a:ea typeface="+mn-ea"/>
                          <a:cs typeface="+mn-cs"/>
                        </a:rPr>
                        <a:t>threatened litigation </a:t>
                      </a:r>
                      <a:r>
                        <a:rPr kumimoji="1" lang="ko-KR" altLang="en-US" sz="1000" b="0" i="0" u="none" strike="noStrike" kern="1200" cap="none" normalizeH="0" baseline="0" dirty="0" smtClean="0">
                          <a:ln>
                            <a:noFill/>
                          </a:ln>
                          <a:solidFill>
                            <a:schemeClr val="tx1"/>
                          </a:solidFill>
                          <a:effectLst/>
                          <a:latin typeface="+mn-ea"/>
                          <a:ea typeface="+mn-ea"/>
                          <a:cs typeface="+mn-cs"/>
                        </a:rPr>
                        <a:t>등에 적용함</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1" i="0" u="none" strike="noStrike" kern="1200" cap="none" normalizeH="0" baseline="0" dirty="0" smtClean="0">
                          <a:ln>
                            <a:noFill/>
                          </a:ln>
                          <a:solidFill>
                            <a:schemeClr val="tx1"/>
                          </a:solidFill>
                          <a:effectLst/>
                          <a:latin typeface="+mn-ea"/>
                          <a:ea typeface="+mn-ea"/>
                          <a:cs typeface="+mn-cs"/>
                        </a:rPr>
                        <a:t>Lookback Period </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과거 </a:t>
                      </a:r>
                      <a:r>
                        <a:rPr kumimoji="1" lang="en-US" altLang="ko-KR" sz="1000" b="0" i="0" u="none" strike="noStrike" kern="1200" cap="none" normalizeH="0" baseline="0" dirty="0" smtClean="0">
                          <a:ln>
                            <a:noFill/>
                          </a:ln>
                          <a:solidFill>
                            <a:schemeClr val="tx1"/>
                          </a:solidFill>
                          <a:effectLst/>
                          <a:latin typeface="+mn-ea"/>
                          <a:ea typeface="+mn-ea"/>
                          <a:cs typeface="+mn-cs"/>
                        </a:rPr>
                        <a:t>event </a:t>
                      </a:r>
                      <a:r>
                        <a:rPr kumimoji="1" lang="ko-KR" altLang="en-US" sz="1000" b="0" i="0" u="none" strike="noStrike" kern="1200" cap="none" normalizeH="0" baseline="0" dirty="0" smtClean="0">
                          <a:ln>
                            <a:noFill/>
                          </a:ln>
                          <a:solidFill>
                            <a:schemeClr val="tx1"/>
                          </a:solidFill>
                          <a:effectLst/>
                          <a:latin typeface="+mn-ea"/>
                          <a:ea typeface="+mn-ea"/>
                          <a:cs typeface="+mn-cs"/>
                        </a:rPr>
                        <a:t>등에 대한 </a:t>
                      </a:r>
                      <a:r>
                        <a:rPr kumimoji="1" lang="ko-KR" altLang="en-US" sz="1000" b="0" i="0" u="none" strike="noStrike" kern="1200" cap="none" normalizeH="0" baseline="0" dirty="0" err="1" smtClean="0">
                          <a:ln>
                            <a:noFill/>
                          </a:ln>
                          <a:solidFill>
                            <a:schemeClr val="tx1"/>
                          </a:solidFill>
                          <a:effectLst/>
                          <a:latin typeface="+mn-ea"/>
                          <a:ea typeface="+mn-ea"/>
                          <a:cs typeface="+mn-cs"/>
                        </a:rPr>
                        <a:t>진술보장의</a:t>
                      </a:r>
                      <a:r>
                        <a:rPr kumimoji="1" lang="ko-KR" altLang="en-US" sz="1000" b="0" i="0" u="none" strike="noStrike" kern="1200" cap="none" normalizeH="0" baseline="0" dirty="0" smtClean="0">
                          <a:ln>
                            <a:noFill/>
                          </a:ln>
                          <a:solidFill>
                            <a:schemeClr val="tx1"/>
                          </a:solidFill>
                          <a:effectLst/>
                          <a:latin typeface="+mn-ea"/>
                          <a:ea typeface="+mn-ea"/>
                          <a:cs typeface="+mn-cs"/>
                        </a:rPr>
                        <a:t> 경우 그 기간을 제한하는 것이 일반적임</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예</a:t>
                      </a:r>
                      <a:r>
                        <a:rPr kumimoji="1" lang="en-US" altLang="ko-KR" sz="1000" b="0" i="0" u="none" strike="noStrike" kern="1200" cap="none" normalizeH="0" baseline="0" dirty="0" smtClean="0">
                          <a:ln>
                            <a:noFill/>
                          </a:ln>
                          <a:solidFill>
                            <a:schemeClr val="tx1"/>
                          </a:solidFill>
                          <a:effectLst/>
                          <a:latin typeface="+mn-ea"/>
                          <a:ea typeface="+mn-ea"/>
                          <a:cs typeface="+mn-cs"/>
                        </a:rPr>
                        <a:t>. for the past [3]-year period, the Company has complied with all applicable Law). </a:t>
                      </a:r>
                    </a:p>
                    <a:p>
                      <a:pPr marL="0" marR="0" lvl="1" indent="0" algn="l" defTabSz="914400" rtl="0" eaLnBrk="1" fontAlgn="base" latinLnBrk="1" hangingPunct="1">
                        <a:lnSpc>
                          <a:spcPct val="110000"/>
                        </a:lnSpc>
                        <a:spcBef>
                          <a:spcPct val="0"/>
                        </a:spcBef>
                        <a:spcAft>
                          <a:spcPts val="0"/>
                        </a:spcAft>
                        <a:buClrTx/>
                        <a:buSzTx/>
                        <a:buFont typeface="+mj-lt"/>
                        <a:buNone/>
                        <a:tabLst/>
                        <a:defRPr/>
                      </a:pPr>
                      <a:endParaRPr lang="en-US" altLang="ko-KR" sz="1000" b="0" kern="12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3"/>
                        <a:tabLst/>
                        <a:defRPr/>
                      </a:pPr>
                      <a:r>
                        <a:rPr lang="ko-KR" altLang="en-US" sz="1000" b="0" kern="1200" dirty="0" err="1" smtClean="0">
                          <a:solidFill>
                            <a:schemeClr val="tx1"/>
                          </a:solidFill>
                          <a:effectLst/>
                          <a:latin typeface="+mn-ea"/>
                          <a:ea typeface="+mn-ea"/>
                          <a:cs typeface="Times New Roman" panose="02020603050405020304" pitchFamily="18" charset="0"/>
                        </a:rPr>
                        <a:t>진술보장의</a:t>
                      </a:r>
                      <a:r>
                        <a:rPr lang="ko-KR" altLang="en-US" sz="1000" b="0" kern="1200" dirty="0" smtClean="0">
                          <a:solidFill>
                            <a:schemeClr val="tx1"/>
                          </a:solidFill>
                          <a:effectLst/>
                          <a:latin typeface="+mn-ea"/>
                          <a:ea typeface="+mn-ea"/>
                          <a:cs typeface="Times New Roman" panose="02020603050405020304" pitchFamily="18" charset="0"/>
                        </a:rPr>
                        <a:t> 구체적인 내용도 실사 및 협상 결과에 따라 매도인이 공개한 진술보장 위반사항을 </a:t>
                      </a:r>
                      <a:r>
                        <a:rPr lang="en-US" altLang="ko-KR" sz="1000" b="0" kern="1200" dirty="0" smtClean="0">
                          <a:solidFill>
                            <a:schemeClr val="tx1"/>
                          </a:solidFill>
                          <a:effectLst/>
                          <a:latin typeface="+mn-ea"/>
                          <a:ea typeface="+mn-ea"/>
                          <a:cs typeface="Times New Roman" panose="02020603050405020304" pitchFamily="18" charset="0"/>
                        </a:rPr>
                        <a:t>carve-out </a:t>
                      </a:r>
                      <a:r>
                        <a:rPr lang="ko-KR" altLang="en-US" sz="1000" b="0" kern="1200" dirty="0" smtClean="0">
                          <a:solidFill>
                            <a:schemeClr val="tx1"/>
                          </a:solidFill>
                          <a:effectLst/>
                          <a:latin typeface="+mn-ea"/>
                          <a:ea typeface="+mn-ea"/>
                          <a:cs typeface="Times New Roman" panose="02020603050405020304" pitchFamily="18" charset="0"/>
                        </a:rPr>
                        <a:t>해주거나 공개목록으로 기재하는 형식으로 진행 가능</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매수인 입장에서는 이와 같이 </a:t>
                      </a:r>
                      <a:r>
                        <a:rPr lang="ko-KR" altLang="en-US" sz="1000" b="0" kern="1200" dirty="0" err="1" smtClean="0">
                          <a:solidFill>
                            <a:schemeClr val="tx1"/>
                          </a:solidFill>
                          <a:effectLst/>
                          <a:latin typeface="+mn-ea"/>
                          <a:ea typeface="+mn-ea"/>
                          <a:cs typeface="Times New Roman" panose="02020603050405020304" pitchFamily="18" charset="0"/>
                        </a:rPr>
                        <a:t>공개목록에</a:t>
                      </a:r>
                      <a:r>
                        <a:rPr lang="ko-KR" altLang="en-US" sz="1000" b="0" kern="1200" dirty="0" smtClean="0">
                          <a:solidFill>
                            <a:schemeClr val="tx1"/>
                          </a:solidFill>
                          <a:effectLst/>
                          <a:latin typeface="+mn-ea"/>
                          <a:ea typeface="+mn-ea"/>
                          <a:cs typeface="Times New Roman" panose="02020603050405020304" pitchFamily="18" charset="0"/>
                        </a:rPr>
                        <a:t> 포함되는 항목에 대해서는 나중에 진술보장 위반에 따른 계약 해제</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손해배상 청구 등을 할 수 없으므로</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err="1" smtClean="0">
                          <a:solidFill>
                            <a:schemeClr val="tx1"/>
                          </a:solidFill>
                          <a:effectLst/>
                          <a:latin typeface="+mn-ea"/>
                          <a:ea typeface="+mn-ea"/>
                          <a:cs typeface="Times New Roman" panose="02020603050405020304" pitchFamily="18" charset="0"/>
                        </a:rPr>
                        <a:t>공개목록에</a:t>
                      </a:r>
                      <a:r>
                        <a:rPr lang="ko-KR" altLang="en-US" sz="1000" b="0" kern="1200" dirty="0" smtClean="0">
                          <a:solidFill>
                            <a:schemeClr val="tx1"/>
                          </a:solidFill>
                          <a:effectLst/>
                          <a:latin typeface="+mn-ea"/>
                          <a:ea typeface="+mn-ea"/>
                          <a:cs typeface="Times New Roman" panose="02020603050405020304" pitchFamily="18" charset="0"/>
                        </a:rPr>
                        <a:t> 어떤 항목이 포함되는지에 대해 </a:t>
                      </a:r>
                      <a:r>
                        <a:rPr lang="ko-KR" altLang="en-US" sz="1000" b="0" kern="1200" dirty="0" err="1" smtClean="0">
                          <a:solidFill>
                            <a:schemeClr val="tx1"/>
                          </a:solidFill>
                          <a:effectLst/>
                          <a:latin typeface="+mn-ea"/>
                          <a:ea typeface="+mn-ea"/>
                          <a:cs typeface="Times New Roman" panose="02020603050405020304" pitchFamily="18" charset="0"/>
                        </a:rPr>
                        <a:t>주의깊게</a:t>
                      </a:r>
                      <a:r>
                        <a:rPr lang="ko-KR" altLang="en-US" sz="1000" b="0" kern="1200" dirty="0" smtClean="0">
                          <a:solidFill>
                            <a:schemeClr val="tx1"/>
                          </a:solidFill>
                          <a:effectLst/>
                          <a:latin typeface="+mn-ea"/>
                          <a:ea typeface="+mn-ea"/>
                          <a:cs typeface="Times New Roman" panose="02020603050405020304" pitchFamily="18" charset="0"/>
                        </a:rPr>
                        <a:t> 검토할 필요가 있으며</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실사 과정에서 파악된 주요 리스크 요인에 대해서는</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해당 항목이 이미 가격에 반영된 것이 아니라면 </a:t>
                      </a:r>
                      <a:r>
                        <a:rPr lang="ko-KR" altLang="en-US" sz="1000" b="0" kern="1200" dirty="0" err="1" smtClean="0">
                          <a:solidFill>
                            <a:schemeClr val="tx1"/>
                          </a:solidFill>
                          <a:effectLst/>
                          <a:latin typeface="+mn-ea"/>
                          <a:ea typeface="+mn-ea"/>
                          <a:cs typeface="Times New Roman" panose="02020603050405020304" pitchFamily="18" charset="0"/>
                        </a:rPr>
                        <a:t>공개목록에</a:t>
                      </a:r>
                      <a:r>
                        <a:rPr lang="ko-KR" altLang="en-US" sz="1000" b="0" kern="1200" dirty="0" smtClean="0">
                          <a:solidFill>
                            <a:schemeClr val="tx1"/>
                          </a:solidFill>
                          <a:effectLst/>
                          <a:latin typeface="+mn-ea"/>
                          <a:ea typeface="+mn-ea"/>
                          <a:cs typeface="Times New Roman" panose="02020603050405020304" pitchFamily="18" charset="0"/>
                        </a:rPr>
                        <a:t> 포함되지 않도록 협상을 할 필요가 있음</a:t>
                      </a: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3"/>
                        <a:tabLst/>
                        <a:defRPr/>
                      </a:pPr>
                      <a:endParaRPr lang="ko-KR" altLang="en-US" sz="1000" b="0" kern="12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3"/>
                        <a:tabLst/>
                        <a:defRPr/>
                      </a:pPr>
                      <a:r>
                        <a:rPr lang="ko-KR" altLang="en-US" sz="1000" b="0" kern="1200" dirty="0" smtClean="0">
                          <a:solidFill>
                            <a:schemeClr val="tx1"/>
                          </a:solidFill>
                          <a:effectLst/>
                          <a:latin typeface="+mn-ea"/>
                          <a:ea typeface="+mn-ea"/>
                          <a:cs typeface="Times New Roman" panose="02020603050405020304" pitchFamily="18" charset="0"/>
                        </a:rPr>
                        <a:t>진술보장보험</a:t>
                      </a:r>
                      <a:r>
                        <a:rPr lang="en-US" altLang="ko-KR" sz="1000" b="0" kern="1200" dirty="0" smtClean="0">
                          <a:solidFill>
                            <a:schemeClr val="tx1"/>
                          </a:solidFill>
                          <a:effectLst/>
                          <a:latin typeface="+mn-ea"/>
                          <a:ea typeface="+mn-ea"/>
                          <a:cs typeface="Times New Roman" panose="02020603050405020304" pitchFamily="18" charset="0"/>
                        </a:rPr>
                        <a:t>(W&amp;I insurance)</a:t>
                      </a:r>
                      <a:r>
                        <a:rPr lang="ko-KR" altLang="en-US" sz="1000" b="0" kern="1200" dirty="0" smtClean="0">
                          <a:solidFill>
                            <a:schemeClr val="tx1"/>
                          </a:solidFill>
                          <a:effectLst/>
                          <a:latin typeface="+mn-ea"/>
                          <a:ea typeface="+mn-ea"/>
                          <a:cs typeface="Times New Roman" panose="02020603050405020304" pitchFamily="18" charset="0"/>
                        </a:rPr>
                        <a:t>에 가입하는 경우</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err="1" smtClean="0">
                          <a:solidFill>
                            <a:schemeClr val="tx1"/>
                          </a:solidFill>
                          <a:effectLst/>
                          <a:latin typeface="+mn-ea"/>
                          <a:ea typeface="+mn-ea"/>
                          <a:cs typeface="Times New Roman" panose="02020603050405020304" pitchFamily="18" charset="0"/>
                        </a:rPr>
                        <a:t>진술보장의</a:t>
                      </a:r>
                      <a:r>
                        <a:rPr lang="ko-KR" altLang="en-US" sz="1000" b="0" kern="1200" dirty="0" smtClean="0">
                          <a:solidFill>
                            <a:schemeClr val="tx1"/>
                          </a:solidFill>
                          <a:effectLst/>
                          <a:latin typeface="+mn-ea"/>
                          <a:ea typeface="+mn-ea"/>
                          <a:cs typeface="Times New Roman" panose="02020603050405020304" pitchFamily="18" charset="0"/>
                        </a:rPr>
                        <a:t> 내용에 더하여 진술보장보험의 보험증권에 따라 보험으로 보장되지 않는 사항</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예</a:t>
                      </a:r>
                      <a:r>
                        <a:rPr lang="en-US" altLang="ko-KR" sz="1000" b="0" kern="1200" dirty="0" smtClean="0">
                          <a:solidFill>
                            <a:schemeClr val="tx1"/>
                          </a:solidFill>
                          <a:effectLst/>
                          <a:latin typeface="+mn-ea"/>
                          <a:ea typeface="+mn-ea"/>
                          <a:cs typeface="Times New Roman" panose="02020603050405020304" pitchFamily="18" charset="0"/>
                        </a:rPr>
                        <a:t>: </a:t>
                      </a:r>
                      <a:r>
                        <a:rPr lang="ko-KR" altLang="en-US" sz="1000" b="0" kern="1200" dirty="0" smtClean="0">
                          <a:solidFill>
                            <a:schemeClr val="tx1"/>
                          </a:solidFill>
                          <a:effectLst/>
                          <a:latin typeface="+mn-ea"/>
                          <a:ea typeface="+mn-ea"/>
                          <a:cs typeface="Times New Roman" panose="02020603050405020304" pitchFamily="18" charset="0"/>
                        </a:rPr>
                        <a:t>매수인이 알고 있는 사항</a:t>
                      </a:r>
                      <a:r>
                        <a:rPr lang="en-US" altLang="ko-KR" sz="1000" b="0" kern="1200" dirty="0" smtClean="0">
                          <a:solidFill>
                            <a:schemeClr val="tx1"/>
                          </a:solidFill>
                          <a:effectLst/>
                          <a:latin typeface="+mn-ea"/>
                          <a:ea typeface="+mn-ea"/>
                          <a:cs typeface="Times New Roman" panose="02020603050405020304" pitchFamily="18" charset="0"/>
                        </a:rPr>
                        <a:t>)</a:t>
                      </a:r>
                      <a:r>
                        <a:rPr lang="ko-KR" altLang="en-US" sz="1000" b="0" kern="1200" dirty="0" smtClean="0">
                          <a:solidFill>
                            <a:schemeClr val="tx1"/>
                          </a:solidFill>
                          <a:effectLst/>
                          <a:latin typeface="+mn-ea"/>
                          <a:ea typeface="+mn-ea"/>
                          <a:cs typeface="Times New Roman" panose="02020603050405020304" pitchFamily="18" charset="0"/>
                        </a:rPr>
                        <a:t>이 있을 수 있으므로 진술보장보험이 아닌 </a:t>
                      </a:r>
                      <a:r>
                        <a:rPr lang="ko-KR" altLang="en-US" sz="1000" b="0" kern="1200" dirty="0" err="1" smtClean="0">
                          <a:solidFill>
                            <a:schemeClr val="tx1"/>
                          </a:solidFill>
                          <a:effectLst/>
                          <a:latin typeface="+mn-ea"/>
                          <a:ea typeface="+mn-ea"/>
                          <a:cs typeface="Times New Roman" panose="02020603050405020304" pitchFamily="18" charset="0"/>
                        </a:rPr>
                        <a:t>특별면책</a:t>
                      </a:r>
                      <a:r>
                        <a:rPr lang="ko-KR" altLang="en-US" sz="1000" b="0" kern="1200" dirty="0" smtClean="0">
                          <a:solidFill>
                            <a:schemeClr val="tx1"/>
                          </a:solidFill>
                          <a:effectLst/>
                          <a:latin typeface="+mn-ea"/>
                          <a:ea typeface="+mn-ea"/>
                          <a:cs typeface="Times New Roman" panose="02020603050405020304" pitchFamily="18" charset="0"/>
                        </a:rPr>
                        <a:t> 조항</a:t>
                      </a:r>
                      <a:r>
                        <a:rPr lang="en-US" altLang="ko-KR" sz="1000" b="0" kern="1200" dirty="0" smtClean="0">
                          <a:solidFill>
                            <a:schemeClr val="tx1"/>
                          </a:solidFill>
                          <a:effectLst/>
                          <a:latin typeface="+mn-ea"/>
                          <a:ea typeface="+mn-ea"/>
                          <a:cs typeface="Times New Roman" panose="02020603050405020304" pitchFamily="18" charset="0"/>
                        </a:rPr>
                        <a:t>(special indemnity) </a:t>
                      </a:r>
                      <a:r>
                        <a:rPr lang="ko-KR" altLang="en-US" sz="1000" b="0" kern="1200" dirty="0" smtClean="0">
                          <a:solidFill>
                            <a:schemeClr val="tx1"/>
                          </a:solidFill>
                          <a:effectLst/>
                          <a:latin typeface="+mn-ea"/>
                          <a:ea typeface="+mn-ea"/>
                          <a:cs typeface="Times New Roman" panose="02020603050405020304" pitchFamily="18" charset="0"/>
                        </a:rPr>
                        <a:t>등을 통해 본 계약에 따른 일반 손해배상이 가능하도록 규정하는 방안 고려 가능</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
        <p:nvSpPr>
          <p:cNvPr id="2" name="직사각형 1"/>
          <p:cNvSpPr/>
          <p:nvPr/>
        </p:nvSpPr>
        <p:spPr>
          <a:xfrm>
            <a:off x="451671" y="6215160"/>
            <a:ext cx="9176518" cy="369332"/>
          </a:xfrm>
          <a:prstGeom prst="rect">
            <a:avLst/>
          </a:prstGeom>
        </p:spPr>
        <p:txBody>
          <a:bodyPr wrap="square">
            <a:spAutoFit/>
          </a:bodyPr>
          <a:lstStyle/>
          <a:p>
            <a:r>
              <a:rPr lang="en-US" altLang="ko-KR" sz="900" b="0" dirty="0" smtClean="0">
                <a:solidFill>
                  <a:srgbClr val="C00000"/>
                </a:solidFill>
                <a:latin typeface="+mn-ea"/>
                <a:ea typeface="+mn-ea"/>
                <a:cs typeface="Times New Roman" panose="02020603050405020304" pitchFamily="18" charset="0"/>
              </a:rPr>
              <a:t>* </a:t>
            </a:r>
            <a:r>
              <a:rPr lang="en-US" altLang="ko-KR" sz="900" b="0" dirty="0" smtClean="0">
                <a:latin typeface="+mn-ea"/>
                <a:ea typeface="+mn-ea"/>
                <a:cs typeface="Times New Roman" panose="02020603050405020304" pitchFamily="18" charset="0"/>
              </a:rPr>
              <a:t>UK </a:t>
            </a:r>
            <a:r>
              <a:rPr lang="en-US" altLang="ko-KR" sz="900" b="0" dirty="0">
                <a:latin typeface="+mn-ea"/>
                <a:ea typeface="+mn-ea"/>
                <a:cs typeface="Times New Roman" panose="02020603050405020304" pitchFamily="18" charset="0"/>
              </a:rPr>
              <a:t>practice</a:t>
            </a:r>
            <a:r>
              <a:rPr lang="ko-KR" altLang="ko-KR" sz="900" b="0" dirty="0">
                <a:latin typeface="+mn-ea"/>
                <a:ea typeface="+mn-ea"/>
                <a:cs typeface="Times New Roman" panose="02020603050405020304" pitchFamily="18" charset="0"/>
              </a:rPr>
              <a:t>를 따르는 </a:t>
            </a:r>
            <a:r>
              <a:rPr lang="ko-KR" altLang="ko-KR" sz="900" b="0" dirty="0" smtClean="0">
                <a:latin typeface="+mn-ea"/>
                <a:ea typeface="+mn-ea"/>
                <a:cs typeface="Times New Roman" panose="02020603050405020304" pitchFamily="18" charset="0"/>
              </a:rPr>
              <a:t>계약서</a:t>
            </a:r>
            <a:r>
              <a:rPr lang="en-US" altLang="ko-KR" sz="900" b="0" dirty="0" smtClean="0">
                <a:latin typeface="+mn-ea"/>
                <a:ea typeface="+mn-ea"/>
                <a:cs typeface="Times New Roman" panose="02020603050405020304" pitchFamily="18" charset="0"/>
              </a:rPr>
              <a:t>(</a:t>
            </a:r>
            <a:r>
              <a:rPr lang="ko-KR" altLang="en-US" sz="900" b="0" dirty="0" smtClean="0">
                <a:latin typeface="+mn-ea"/>
                <a:ea typeface="+mn-ea"/>
                <a:cs typeface="Times New Roman" panose="02020603050405020304" pitchFamily="18" charset="0"/>
              </a:rPr>
              <a:t>특히 </a:t>
            </a:r>
            <a:r>
              <a:rPr lang="en-US" altLang="ko-KR" sz="900" b="0" dirty="0" smtClean="0">
                <a:latin typeface="+mn-ea"/>
                <a:ea typeface="+mn-ea"/>
                <a:cs typeface="Times New Roman" panose="02020603050405020304" pitchFamily="18" charset="0"/>
              </a:rPr>
              <a:t>locked box</a:t>
            </a:r>
            <a:r>
              <a:rPr lang="ko-KR" altLang="en-US" sz="900" b="0" dirty="0" smtClean="0">
                <a:latin typeface="+mn-ea"/>
                <a:ea typeface="+mn-ea"/>
                <a:cs typeface="Times New Roman" panose="02020603050405020304" pitchFamily="18" charset="0"/>
              </a:rPr>
              <a:t>의 경우</a:t>
            </a:r>
            <a:r>
              <a:rPr lang="en-US" altLang="ko-KR" sz="900" b="0" dirty="0" smtClean="0">
                <a:latin typeface="+mn-ea"/>
                <a:ea typeface="+mn-ea"/>
                <a:cs typeface="Times New Roman" panose="02020603050405020304" pitchFamily="18" charset="0"/>
              </a:rPr>
              <a:t>)</a:t>
            </a:r>
            <a:r>
              <a:rPr lang="ko-KR" altLang="ko-KR" sz="900" b="0" dirty="0" smtClean="0">
                <a:latin typeface="+mn-ea"/>
                <a:ea typeface="+mn-ea"/>
                <a:cs typeface="Times New Roman" panose="02020603050405020304" pitchFamily="18" charset="0"/>
              </a:rPr>
              <a:t>에서는 </a:t>
            </a:r>
            <a:r>
              <a:rPr lang="ko-KR" altLang="ko-KR" sz="900" b="0" dirty="0">
                <a:latin typeface="+mn-ea"/>
                <a:ea typeface="+mn-ea"/>
                <a:cs typeface="Times New Roman" panose="02020603050405020304" pitchFamily="18" charset="0"/>
              </a:rPr>
              <a:t>회사의</a:t>
            </a:r>
            <a:r>
              <a:rPr lang="en-US" altLang="ko-KR" sz="900" b="0" dirty="0">
                <a:latin typeface="+mn-ea"/>
                <a:ea typeface="+mn-ea"/>
                <a:cs typeface="Times New Roman" panose="02020603050405020304" pitchFamily="18" charset="0"/>
              </a:rPr>
              <a:t> business </a:t>
            </a:r>
            <a:r>
              <a:rPr lang="ko-KR" altLang="ko-KR" sz="900" b="0" dirty="0">
                <a:latin typeface="+mn-ea"/>
                <a:ea typeface="+mn-ea"/>
                <a:cs typeface="Times New Roman" panose="02020603050405020304" pitchFamily="18" charset="0"/>
              </a:rPr>
              <a:t>관련</a:t>
            </a:r>
            <a:r>
              <a:rPr lang="en-US" altLang="ko-KR" sz="900" b="0" dirty="0">
                <a:latin typeface="+mn-ea"/>
                <a:ea typeface="+mn-ea"/>
                <a:cs typeface="Times New Roman" panose="02020603050405020304" pitchFamily="18" charset="0"/>
              </a:rPr>
              <a:t> </a:t>
            </a:r>
            <a:r>
              <a:rPr lang="ko-KR" altLang="en-US" sz="900" b="0" dirty="0" smtClean="0">
                <a:latin typeface="+mn-ea"/>
                <a:ea typeface="+mn-ea"/>
                <a:cs typeface="Times New Roman" panose="02020603050405020304" pitchFamily="18" charset="0"/>
              </a:rPr>
              <a:t>리스크</a:t>
            </a:r>
            <a:r>
              <a:rPr lang="ko-KR" altLang="ko-KR" sz="900" b="0" dirty="0" smtClean="0">
                <a:latin typeface="+mn-ea"/>
                <a:ea typeface="+mn-ea"/>
                <a:cs typeface="Times New Roman" panose="02020603050405020304" pitchFamily="18" charset="0"/>
              </a:rPr>
              <a:t>가 </a:t>
            </a:r>
            <a:r>
              <a:rPr lang="ko-KR" altLang="ko-KR" sz="900" b="0" dirty="0" err="1">
                <a:latin typeface="+mn-ea"/>
                <a:ea typeface="+mn-ea"/>
                <a:cs typeface="Times New Roman" panose="02020603050405020304" pitchFamily="18" charset="0"/>
              </a:rPr>
              <a:t>체결일에</a:t>
            </a:r>
            <a:r>
              <a:rPr lang="ko-KR" altLang="ko-KR" sz="900" b="0" dirty="0">
                <a:latin typeface="+mn-ea"/>
                <a:ea typeface="+mn-ea"/>
                <a:cs typeface="Times New Roman" panose="02020603050405020304" pitchFamily="18" charset="0"/>
              </a:rPr>
              <a:t> 매수인에게 넘어간다고 보기 때문에 일반적으로</a:t>
            </a:r>
            <a:r>
              <a:rPr lang="en-US" altLang="ko-KR" sz="900" b="0" dirty="0">
                <a:latin typeface="+mn-ea"/>
                <a:ea typeface="+mn-ea"/>
                <a:cs typeface="Times New Roman" panose="02020603050405020304" pitchFamily="18" charset="0"/>
              </a:rPr>
              <a:t> operational reps and warranties</a:t>
            </a:r>
            <a:r>
              <a:rPr lang="ko-KR" altLang="ko-KR" sz="900" b="0" dirty="0">
                <a:latin typeface="+mn-ea"/>
                <a:ea typeface="+mn-ea"/>
                <a:cs typeface="Times New Roman" panose="02020603050405020304" pitchFamily="18" charset="0"/>
              </a:rPr>
              <a:t>의 경우 체결일 기준으로만 제공되며</a:t>
            </a:r>
            <a:r>
              <a:rPr lang="en-US" altLang="ko-KR" sz="900" b="0" dirty="0">
                <a:latin typeface="+mn-ea"/>
                <a:ea typeface="+mn-ea"/>
                <a:cs typeface="Times New Roman" panose="02020603050405020304" pitchFamily="18" charset="0"/>
              </a:rPr>
              <a:t>, </a:t>
            </a:r>
            <a:r>
              <a:rPr lang="ko-KR" altLang="ko-KR" sz="900" b="0" dirty="0" err="1">
                <a:latin typeface="+mn-ea"/>
                <a:ea typeface="+mn-ea"/>
                <a:cs typeface="Times New Roman" panose="02020603050405020304" pitchFamily="18" charset="0"/>
              </a:rPr>
              <a:t>면책관련</a:t>
            </a:r>
            <a:r>
              <a:rPr lang="ko-KR" altLang="ko-KR" sz="900" b="0" dirty="0">
                <a:latin typeface="+mn-ea"/>
                <a:ea typeface="+mn-ea"/>
                <a:cs typeface="Times New Roman" panose="02020603050405020304" pitchFamily="18" charset="0"/>
              </a:rPr>
              <a:t> 목적으로</a:t>
            </a:r>
            <a:r>
              <a:rPr lang="en-US" altLang="ko-KR" sz="900" b="0" dirty="0">
                <a:latin typeface="+mn-ea"/>
                <a:ea typeface="+mn-ea"/>
                <a:cs typeface="Times New Roman" panose="02020603050405020304" pitchFamily="18" charset="0"/>
              </a:rPr>
              <a:t> Fundamental Warranties</a:t>
            </a:r>
            <a:r>
              <a:rPr lang="ko-KR" altLang="ko-KR" sz="900" b="0" dirty="0">
                <a:latin typeface="+mn-ea"/>
                <a:ea typeface="+mn-ea"/>
                <a:cs typeface="Times New Roman" panose="02020603050405020304" pitchFamily="18" charset="0"/>
              </a:rPr>
              <a:t>에 대해서는</a:t>
            </a:r>
            <a:r>
              <a:rPr lang="en-US" altLang="ko-KR" sz="900" b="0" dirty="0">
                <a:latin typeface="+mn-ea"/>
                <a:ea typeface="+mn-ea"/>
                <a:cs typeface="Times New Roman" panose="02020603050405020304" pitchFamily="18" charset="0"/>
              </a:rPr>
              <a:t> Closing</a:t>
            </a:r>
            <a:r>
              <a:rPr lang="ko-KR" altLang="ko-KR" sz="900" b="0" dirty="0">
                <a:latin typeface="+mn-ea"/>
                <a:ea typeface="+mn-ea"/>
                <a:cs typeface="Times New Roman" panose="02020603050405020304" pitchFamily="18" charset="0"/>
              </a:rPr>
              <a:t>에 제공되는 경우가 있음</a:t>
            </a:r>
            <a:r>
              <a:rPr lang="en-US" altLang="ko-KR" sz="900" b="0" dirty="0">
                <a:latin typeface="+mn-ea"/>
                <a:ea typeface="+mn-ea"/>
                <a:cs typeface="Times New Roman" panose="02020603050405020304" pitchFamily="18" charset="0"/>
              </a:rPr>
              <a:t>.</a:t>
            </a:r>
            <a:endParaRPr lang="ko-KR" altLang="en-US" sz="900" b="0" dirty="0">
              <a:latin typeface="+mn-ea"/>
              <a:ea typeface="+mn-ea"/>
            </a:endParaRPr>
          </a:p>
        </p:txBody>
      </p:sp>
    </p:spTree>
    <p:extLst>
      <p:ext uri="{BB962C8B-B14F-4D97-AF65-F5344CB8AC3E}">
        <p14:creationId xmlns:p14="http://schemas.microsoft.com/office/powerpoint/2010/main" val="11590328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1. Fundamental Reps / Company </a:t>
            </a:r>
            <a:r>
              <a:rPr lang="en-US" altLang="ko-KR" dirty="0" smtClean="0">
                <a:solidFill>
                  <a:schemeClr val="tx1"/>
                </a:solidFill>
                <a:latin typeface="+mn-ea"/>
                <a:ea typeface="+mn-ea"/>
              </a:rPr>
              <a:t>Reps (2)</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992635359"/>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262803">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SPA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1" indent="-228600" algn="l" defTabSz="914400" rtl="0" eaLnBrk="1" fontAlgn="base" latinLnBrk="1" hangingPunct="1">
                        <a:lnSpc>
                          <a:spcPct val="110000"/>
                        </a:lnSpc>
                        <a:spcBef>
                          <a:spcPct val="0"/>
                        </a:spcBef>
                        <a:spcAft>
                          <a:spcPts val="0"/>
                        </a:spcAft>
                        <a:buClrTx/>
                        <a:buSzTx/>
                        <a:buFont typeface="+mj-lt"/>
                        <a:buAutoNum type="arabicPeriod"/>
                        <a:tabLst/>
                        <a:defRPr/>
                      </a:pPr>
                      <a:r>
                        <a:rPr lang="ko-KR" altLang="en-US" sz="1000" b="1" kern="1200" dirty="0" smtClean="0">
                          <a:solidFill>
                            <a:schemeClr val="tx1"/>
                          </a:solidFill>
                          <a:effectLst/>
                          <a:latin typeface="+mn-ea"/>
                          <a:ea typeface="+mn-ea"/>
                          <a:cs typeface="Times New Roman" panose="02020603050405020304" pitchFamily="18" charset="0"/>
                        </a:rPr>
                        <a:t>근본적 진술보장 </a:t>
                      </a:r>
                      <a:r>
                        <a:rPr lang="en-US" altLang="ko-KR" sz="1000" b="1" kern="1200" dirty="0" smtClean="0">
                          <a:solidFill>
                            <a:schemeClr val="tx1"/>
                          </a:solidFill>
                          <a:effectLst/>
                          <a:latin typeface="+mn-ea"/>
                          <a:ea typeface="+mn-ea"/>
                          <a:cs typeface="Times New Roman" panose="02020603050405020304" pitchFamily="18" charset="0"/>
                        </a:rPr>
                        <a:t>(</a:t>
                      </a:r>
                      <a:r>
                        <a:rPr lang="ko-KR" altLang="en-US" sz="1000" b="1" kern="1200" dirty="0" smtClean="0">
                          <a:solidFill>
                            <a:schemeClr val="tx1"/>
                          </a:solidFill>
                          <a:effectLst/>
                          <a:latin typeface="+mn-ea"/>
                          <a:ea typeface="+mn-ea"/>
                          <a:cs typeface="Times New Roman" panose="02020603050405020304" pitchFamily="18" charset="0"/>
                        </a:rPr>
                        <a:t>제</a:t>
                      </a:r>
                      <a:r>
                        <a:rPr lang="en-US" altLang="ko-KR" sz="1000" b="1" kern="1200" dirty="0" smtClean="0">
                          <a:solidFill>
                            <a:schemeClr val="tx1"/>
                          </a:solidFill>
                          <a:effectLst/>
                          <a:latin typeface="+mn-ea"/>
                          <a:ea typeface="+mn-ea"/>
                          <a:cs typeface="Times New Roman" panose="02020603050405020304" pitchFamily="18" charset="0"/>
                        </a:rPr>
                        <a:t>4</a:t>
                      </a:r>
                      <a:r>
                        <a:rPr lang="ko-KR" altLang="en-US" sz="1000" b="1" kern="1200" dirty="0" smtClean="0">
                          <a:solidFill>
                            <a:schemeClr val="tx1"/>
                          </a:solidFill>
                          <a:effectLst/>
                          <a:latin typeface="+mn-ea"/>
                          <a:ea typeface="+mn-ea"/>
                          <a:cs typeface="Times New Roman" panose="02020603050405020304" pitchFamily="18" charset="0"/>
                        </a:rPr>
                        <a:t>조</a:t>
                      </a:r>
                      <a:r>
                        <a:rPr lang="en-US" altLang="ko-KR" sz="1000" b="1" kern="1200" dirty="0" smtClean="0">
                          <a:solidFill>
                            <a:schemeClr val="tx1"/>
                          </a:solidFill>
                          <a:effectLst/>
                          <a:latin typeface="+mn-ea"/>
                          <a:ea typeface="+mn-ea"/>
                          <a:cs typeface="Times New Roman" panose="02020603050405020304" pitchFamily="18" charset="0"/>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권리 능력</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계약 체결 권한</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계약 체결 및 본건 거래가 법령</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정관 기타 계약에 반하지 아니하는지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계약 체결 및 본건 거래가 매도인 및</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또는 대상회사가 당사자인 계약의 상대방 및</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또는 정부기관의 승인이나 제</a:t>
                      </a:r>
                      <a:r>
                        <a:rPr kumimoji="1" lang="en-US" altLang="ko-KR" sz="1000" b="0" i="0" u="none" strike="noStrike" kern="1200" cap="none" normalizeH="0" baseline="0" dirty="0" smtClean="0">
                          <a:ln>
                            <a:noFill/>
                          </a:ln>
                          <a:solidFill>
                            <a:schemeClr val="tx1"/>
                          </a:solidFill>
                          <a:effectLst/>
                          <a:latin typeface="+mn-ea"/>
                          <a:ea typeface="+mn-ea"/>
                          <a:cs typeface="+mn-cs"/>
                        </a:rPr>
                        <a:t>3</a:t>
                      </a:r>
                      <a:r>
                        <a:rPr kumimoji="1" lang="ko-KR" altLang="en-US" sz="1000" b="0" i="0" u="none" strike="noStrike" kern="1200" cap="none" normalizeH="0" baseline="0" dirty="0" smtClean="0">
                          <a:ln>
                            <a:noFill/>
                          </a:ln>
                          <a:solidFill>
                            <a:schemeClr val="tx1"/>
                          </a:solidFill>
                          <a:effectLst/>
                          <a:latin typeface="+mn-ea"/>
                          <a:ea typeface="+mn-ea"/>
                          <a:cs typeface="+mn-cs"/>
                        </a:rPr>
                        <a:t>자 동의가 필요한지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계약 체결 및 거래를 이행하는 것을 금지하는 정부기관의 판결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명령</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결정 등이 있는지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회생 또는 파산 절차에 있는지 여부</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 매매대상 주식의 적법 발행 여부 및 유효한 소유권 등 </a:t>
                      </a:r>
                    </a:p>
                    <a:p>
                      <a:pPr algn="l" latinLnBrk="1">
                        <a:lnSpc>
                          <a:spcPct val="110000"/>
                        </a:lnSpc>
                        <a:spcAft>
                          <a:spcPts val="0"/>
                        </a:spcAft>
                      </a:pPr>
                      <a:endParaRPr lang="ko-KR" altLang="en-US" sz="1000" dirty="0" smtClean="0">
                        <a:solidFill>
                          <a:schemeClr val="tx1"/>
                        </a:solidFill>
                        <a:effectLst/>
                        <a:latin typeface="+mn-ea"/>
                        <a:ea typeface="+mn-ea"/>
                        <a:cs typeface="Times New Roman" panose="02020603050405020304" pitchFamily="18" charset="0"/>
                      </a:endParaRPr>
                    </a:p>
                    <a:p>
                      <a:pPr marL="228600" marR="0" lvl="1" indent="-228600" algn="l" defTabSz="914400" rtl="0" eaLnBrk="1" fontAlgn="base" latinLnBrk="1" hangingPunct="1">
                        <a:lnSpc>
                          <a:spcPct val="110000"/>
                        </a:lnSpc>
                        <a:spcBef>
                          <a:spcPct val="0"/>
                        </a:spcBef>
                        <a:spcAft>
                          <a:spcPts val="0"/>
                        </a:spcAft>
                        <a:buClrTx/>
                        <a:buSzTx/>
                        <a:buFont typeface="+mj-lt"/>
                        <a:buAutoNum type="arabicPeriod" startAt="2"/>
                        <a:tabLst/>
                        <a:defRPr/>
                      </a:pPr>
                      <a:r>
                        <a:rPr lang="ko-KR" altLang="en-US" sz="1000" b="1" kern="1200" dirty="0" smtClean="0">
                          <a:solidFill>
                            <a:schemeClr val="tx1"/>
                          </a:solidFill>
                          <a:effectLst/>
                          <a:latin typeface="+mn-ea"/>
                          <a:ea typeface="+mn-ea"/>
                          <a:cs typeface="Times New Roman" panose="02020603050405020304" pitchFamily="18" charset="0"/>
                        </a:rPr>
                        <a:t>대상회사에 관한 진술보장 </a:t>
                      </a:r>
                      <a:r>
                        <a:rPr lang="en-US" altLang="ko-KR" sz="1000" b="1" kern="1200" dirty="0" smtClean="0">
                          <a:solidFill>
                            <a:schemeClr val="tx1"/>
                          </a:solidFill>
                          <a:effectLst/>
                          <a:latin typeface="+mn-ea"/>
                          <a:ea typeface="+mn-ea"/>
                          <a:cs typeface="Times New Roman" panose="02020603050405020304" pitchFamily="18" charset="0"/>
                        </a:rPr>
                        <a:t>(</a:t>
                      </a:r>
                      <a:r>
                        <a:rPr lang="ko-KR" altLang="en-US" sz="1000" b="1" kern="1200" dirty="0" smtClean="0">
                          <a:solidFill>
                            <a:schemeClr val="tx1"/>
                          </a:solidFill>
                          <a:effectLst/>
                          <a:latin typeface="+mn-ea"/>
                          <a:ea typeface="+mn-ea"/>
                          <a:cs typeface="Times New Roman" panose="02020603050405020304" pitchFamily="18" charset="0"/>
                        </a:rPr>
                        <a:t>제</a:t>
                      </a:r>
                      <a:r>
                        <a:rPr lang="en-US" altLang="ko-KR" sz="1000" b="1" kern="1200" dirty="0" smtClean="0">
                          <a:solidFill>
                            <a:schemeClr val="tx1"/>
                          </a:solidFill>
                          <a:effectLst/>
                          <a:latin typeface="+mn-ea"/>
                          <a:ea typeface="+mn-ea"/>
                          <a:cs typeface="Times New Roman" panose="02020603050405020304" pitchFamily="18" charset="0"/>
                        </a:rPr>
                        <a:t>4</a:t>
                      </a:r>
                      <a:r>
                        <a:rPr lang="ko-KR" altLang="en-US" sz="1000" b="1" kern="1200" dirty="0" smtClean="0">
                          <a:solidFill>
                            <a:schemeClr val="tx1"/>
                          </a:solidFill>
                          <a:effectLst/>
                          <a:latin typeface="+mn-ea"/>
                          <a:ea typeface="+mn-ea"/>
                          <a:cs typeface="Times New Roman" panose="02020603050405020304" pitchFamily="18" charset="0"/>
                        </a:rPr>
                        <a:t>조</a:t>
                      </a:r>
                      <a:r>
                        <a:rPr lang="en-US" altLang="ko-KR" sz="1000" b="1" kern="1200" dirty="0" smtClean="0">
                          <a:solidFill>
                            <a:schemeClr val="tx1"/>
                          </a:solidFill>
                          <a:effectLst/>
                          <a:latin typeface="+mn-ea"/>
                          <a:ea typeface="+mn-ea"/>
                          <a:cs typeface="Times New Roman" panose="02020603050405020304" pitchFamily="18" charset="0"/>
                        </a:rPr>
                        <a:t>)</a:t>
                      </a:r>
                    </a:p>
                    <a:p>
                      <a:pPr marL="241300" indent="0"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실사를 통해 확인된 사실관계를 바탕으로 가감 가능</a:t>
                      </a:r>
                      <a:r>
                        <a:rPr lang="en-US" altLang="ko-KR" sz="1000" dirty="0" smtClean="0">
                          <a:solidFill>
                            <a:schemeClr val="tx1"/>
                          </a:solidFill>
                          <a:effectLst/>
                          <a:latin typeface="+mn-ea"/>
                          <a:ea typeface="+mn-ea"/>
                          <a:cs typeface="Times New Roman" panose="02020603050405020304" pitchFamily="18" charset="0"/>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대상회사의 설립과 유효하게 존속하고 있는지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본건 거래가 정부기관 또는 제</a:t>
                      </a:r>
                      <a:r>
                        <a:rPr kumimoji="1" lang="en-US" altLang="ko-KR" sz="1000" b="0" i="0" u="none" strike="noStrike" kern="1200" cap="none" normalizeH="0" baseline="0" dirty="0" smtClean="0">
                          <a:ln>
                            <a:noFill/>
                          </a:ln>
                          <a:solidFill>
                            <a:schemeClr val="tx1"/>
                          </a:solidFill>
                          <a:effectLst/>
                          <a:latin typeface="+mn-ea"/>
                          <a:ea typeface="+mn-ea"/>
                          <a:cs typeface="+mn-cs"/>
                        </a:rPr>
                        <a:t>3</a:t>
                      </a:r>
                      <a:r>
                        <a:rPr kumimoji="1" lang="ko-KR" altLang="en-US" sz="1000" b="0" i="0" u="none" strike="noStrike" kern="1200" cap="none" normalizeH="0" baseline="0" dirty="0" smtClean="0">
                          <a:ln>
                            <a:noFill/>
                          </a:ln>
                          <a:solidFill>
                            <a:schemeClr val="tx1"/>
                          </a:solidFill>
                          <a:effectLst/>
                          <a:latin typeface="+mn-ea"/>
                          <a:ea typeface="+mn-ea"/>
                          <a:cs typeface="+mn-cs"/>
                        </a:rPr>
                        <a:t>자의 승인 내지 동의가 필요한지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본건 거래가 대상회사의 정관</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법령</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정부승인</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인허가</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내지 </a:t>
                      </a:r>
                      <a:r>
                        <a:rPr kumimoji="1" lang="ko-KR" altLang="en-US" sz="1000" b="0" i="0" u="none" strike="noStrike" kern="1200" cap="none" normalizeH="0" baseline="0" dirty="0" err="1" smtClean="0">
                          <a:ln>
                            <a:noFill/>
                          </a:ln>
                          <a:solidFill>
                            <a:schemeClr val="tx1"/>
                          </a:solidFill>
                          <a:effectLst/>
                          <a:latin typeface="+mn-ea"/>
                          <a:ea typeface="+mn-ea"/>
                          <a:cs typeface="+mn-cs"/>
                        </a:rPr>
                        <a:t>중요계약에</a:t>
                      </a:r>
                      <a:r>
                        <a:rPr kumimoji="1" lang="ko-KR" altLang="en-US" sz="1000" b="0" i="0" u="none" strike="noStrike" kern="1200" cap="none" normalizeH="0" baseline="0" dirty="0" smtClean="0">
                          <a:ln>
                            <a:noFill/>
                          </a:ln>
                          <a:solidFill>
                            <a:schemeClr val="tx1"/>
                          </a:solidFill>
                          <a:effectLst/>
                          <a:latin typeface="+mn-ea"/>
                          <a:ea typeface="+mn-ea"/>
                          <a:cs typeface="+mn-cs"/>
                        </a:rPr>
                        <a:t> 위반되는지 여부</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대상회사의 자본 구성</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대상회사의 기준재무제표</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중대한 부정적인 영향의 </a:t>
                      </a:r>
                      <a:r>
                        <a:rPr kumimoji="1" lang="ko-KR" altLang="en-US" sz="1000" b="0" i="0" u="none" strike="noStrike" kern="1200" cap="none" normalizeH="0" baseline="0" dirty="0" err="1" smtClean="0">
                          <a:ln>
                            <a:noFill/>
                          </a:ln>
                          <a:solidFill>
                            <a:schemeClr val="tx1"/>
                          </a:solidFill>
                          <a:effectLst/>
                          <a:latin typeface="+mn-ea"/>
                          <a:ea typeface="+mn-ea"/>
                          <a:cs typeface="+mn-cs"/>
                        </a:rPr>
                        <a:t>부존재</a:t>
                      </a:r>
                      <a:endParaRPr kumimoji="1" lang="ko-KR" altLang="en-US" sz="1000" b="0" i="0" u="none" strike="noStrike" kern="1200" cap="none" normalizeH="0" baseline="0" dirty="0" smtClean="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특수관계인 거래</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법령준수</a:t>
                      </a:r>
                      <a:r>
                        <a:rPr kumimoji="1" lang="en-US" altLang="ko-KR" sz="1000" b="0" i="0" u="none" strike="noStrike" kern="1200" cap="none" normalizeH="0" baseline="0" dirty="0" smtClean="0">
                          <a:ln>
                            <a:noFill/>
                          </a:ln>
                          <a:solidFill>
                            <a:schemeClr val="tx1"/>
                          </a:solidFill>
                          <a:effectLst/>
                          <a:latin typeface="+mn-ea"/>
                          <a:ea typeface="+mn-ea"/>
                          <a:cs typeface="+mn-cs"/>
                        </a:rPr>
                        <a:t>(</a:t>
                      </a:r>
                      <a:r>
                        <a:rPr kumimoji="1" lang="ko-KR" altLang="en-US" sz="1000" b="0" i="0" u="none" strike="noStrike" kern="1200" cap="none" normalizeH="0" baseline="0" dirty="0" smtClean="0">
                          <a:ln>
                            <a:noFill/>
                          </a:ln>
                          <a:solidFill>
                            <a:schemeClr val="tx1"/>
                          </a:solidFill>
                          <a:effectLst/>
                          <a:latin typeface="+mn-ea"/>
                          <a:ea typeface="+mn-ea"/>
                          <a:cs typeface="+mn-cs"/>
                        </a:rPr>
                        <a:t>인허가</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Disclose</a:t>
                      </a:r>
                      <a:r>
                        <a:rPr kumimoji="1" lang="ko-KR" altLang="en-US" sz="1000" b="0" i="0" u="none" strike="noStrike" kern="1200" cap="none" normalizeH="0" baseline="0" dirty="0" smtClean="0">
                          <a:ln>
                            <a:noFill/>
                          </a:ln>
                          <a:solidFill>
                            <a:schemeClr val="tx1"/>
                          </a:solidFill>
                          <a:effectLst/>
                          <a:latin typeface="+mn-ea"/>
                          <a:ea typeface="+mn-ea"/>
                          <a:cs typeface="+mn-cs"/>
                        </a:rPr>
                        <a:t>되지 않은 부채의 </a:t>
                      </a:r>
                      <a:r>
                        <a:rPr kumimoji="1" lang="ko-KR" altLang="en-US" sz="1000" b="0" i="0" u="none" strike="noStrike" kern="1200" cap="none" normalizeH="0" baseline="0" dirty="0" err="1" smtClean="0">
                          <a:ln>
                            <a:noFill/>
                          </a:ln>
                          <a:solidFill>
                            <a:schemeClr val="tx1"/>
                          </a:solidFill>
                          <a:effectLst/>
                          <a:latin typeface="+mn-ea"/>
                          <a:ea typeface="+mn-ea"/>
                          <a:cs typeface="+mn-cs"/>
                        </a:rPr>
                        <a:t>부존재</a:t>
                      </a:r>
                      <a:endParaRPr kumimoji="1" lang="ko-KR" altLang="en-US" sz="1000" b="0" i="0" u="none" strike="noStrike" kern="1200" cap="none" normalizeH="0" baseline="0" dirty="0" smtClean="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인사노무</a:t>
                      </a:r>
                      <a:r>
                        <a:rPr kumimoji="1" lang="en-US" altLang="ko-KR" sz="1000" b="0" i="0" u="none" strike="noStrike" kern="1200" cap="none" normalizeH="0" baseline="0" dirty="0" smtClean="0">
                          <a:ln>
                            <a:noFill/>
                          </a:ln>
                          <a:solidFill>
                            <a:schemeClr val="tx1"/>
                          </a:solidFill>
                          <a:effectLst/>
                          <a:latin typeface="+mn-ea"/>
                          <a:ea typeface="+mn-ea"/>
                          <a:cs typeface="+mn-cs"/>
                        </a:rPr>
                        <a:t>/Employee Benefit Plans/ERISA</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err="1" smtClean="0">
                          <a:ln>
                            <a:noFill/>
                          </a:ln>
                          <a:solidFill>
                            <a:schemeClr val="tx1"/>
                          </a:solidFill>
                          <a:effectLst/>
                          <a:latin typeface="+mn-ea"/>
                          <a:ea typeface="+mn-ea"/>
                          <a:cs typeface="+mn-cs"/>
                        </a:rPr>
                        <a:t>중요계약</a:t>
                      </a:r>
                      <a:endParaRPr kumimoji="1" lang="ko-KR" altLang="en-US" sz="1000" b="0" i="0" u="none" strike="noStrike" kern="1200" cap="none" normalizeH="0" baseline="0" dirty="0" smtClean="0">
                        <a:ln>
                          <a:noFill/>
                        </a:ln>
                        <a:solidFill>
                          <a:schemeClr val="tx1"/>
                        </a:solidFill>
                        <a:effectLst/>
                        <a:latin typeface="+mn-ea"/>
                        <a:ea typeface="+mn-ea"/>
                        <a:cs typeface="+mn-cs"/>
                      </a:endParaRP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환경</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보전</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안전</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부동산</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지식재산권</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조세</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보험</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Anti-corruption laws, </a:t>
                      </a:r>
                      <a:r>
                        <a:rPr kumimoji="1" lang="ko-KR" altLang="en-US" sz="1000" b="0" i="0" u="none" strike="noStrike" kern="1200" cap="none" normalizeH="0" baseline="0" dirty="0" smtClean="0">
                          <a:ln>
                            <a:noFill/>
                          </a:ln>
                          <a:solidFill>
                            <a:schemeClr val="tx1"/>
                          </a:solidFill>
                          <a:effectLst/>
                          <a:latin typeface="+mn-ea"/>
                          <a:ea typeface="+mn-ea"/>
                          <a:cs typeface="+mn-cs"/>
                        </a:rPr>
                        <a:t>수출통제</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ko-KR" altLang="en-US" sz="1000" b="0" i="0" u="none" strike="noStrike" kern="1200" cap="none" normalizeH="0" baseline="0" dirty="0" smtClean="0">
                          <a:ln>
                            <a:noFill/>
                          </a:ln>
                          <a:solidFill>
                            <a:schemeClr val="tx1"/>
                          </a:solidFill>
                          <a:effectLst/>
                          <a:latin typeface="+mn-ea"/>
                          <a:ea typeface="+mn-ea"/>
                          <a:cs typeface="+mn-cs"/>
                        </a:rPr>
                        <a:t>개인정보</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정보보호</a:t>
                      </a:r>
                    </a:p>
                    <a:p>
                      <a:pPr marL="447675" marR="0" lvl="1" indent="-180975" algn="l" defTabSz="914400" rtl="0" eaLnBrk="1" fontAlgn="base" latinLnBrk="1" hangingPunct="1">
                        <a:lnSpc>
                          <a:spcPct val="110000"/>
                        </a:lnSpc>
                        <a:spcBef>
                          <a:spcPct val="0"/>
                        </a:spcBef>
                        <a:spcAft>
                          <a:spcPct val="0"/>
                        </a:spcAft>
                        <a:buClrTx/>
                        <a:buSzTx/>
                        <a:buFont typeface="Wingdings" panose="05000000000000000000" pitchFamily="2" charset="2"/>
                        <a:buChar char="§"/>
                        <a:tabLst/>
                        <a:defRPr/>
                      </a:pPr>
                      <a:r>
                        <a:rPr kumimoji="1" lang="en-US" altLang="ko-KR" sz="1000" b="0" i="0" u="none" strike="noStrike" kern="1200" cap="none" normalizeH="0" baseline="0" dirty="0" smtClean="0">
                          <a:ln>
                            <a:noFill/>
                          </a:ln>
                          <a:solidFill>
                            <a:schemeClr val="tx1"/>
                          </a:solidFill>
                          <a:effectLst/>
                          <a:latin typeface="+mn-ea"/>
                          <a:ea typeface="+mn-ea"/>
                          <a:cs typeface="+mn-cs"/>
                        </a:rPr>
                        <a:t>Brokers</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bl>
          </a:graphicData>
        </a:graphic>
      </p:graphicFrame>
    </p:spTree>
    <p:extLst>
      <p:ext uri="{BB962C8B-B14F-4D97-AF65-F5344CB8AC3E}">
        <p14:creationId xmlns:p14="http://schemas.microsoft.com/office/powerpoint/2010/main" val="30115243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a:solidFill>
                  <a:schemeClr val="tx1"/>
                </a:solidFill>
                <a:latin typeface="+mn-ea"/>
                <a:ea typeface="+mn-ea"/>
              </a:rPr>
              <a:t>2. Disclosure Schedule</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115008710"/>
              </p:ext>
            </p:extLst>
          </p:nvPr>
        </p:nvGraphicFramePr>
        <p:xfrm>
          <a:off x="439738" y="1043677"/>
          <a:ext cx="9188450" cy="4396836"/>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96527">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err="1" smtClean="0">
                          <a:solidFill>
                            <a:schemeClr val="tx1"/>
                          </a:solidFill>
                          <a:effectLst/>
                          <a:latin typeface="+mn-ea"/>
                          <a:ea typeface="+mn-ea"/>
                          <a:cs typeface="Times New Roman" panose="02020603050405020304" pitchFamily="18" charset="0"/>
                        </a:rPr>
                        <a:t>진술보장의</a:t>
                      </a:r>
                      <a:r>
                        <a:rPr lang="ko-KR" altLang="en-US" sz="1000" dirty="0" smtClean="0">
                          <a:solidFill>
                            <a:schemeClr val="tx1"/>
                          </a:solidFill>
                          <a:effectLst/>
                          <a:latin typeface="+mn-ea"/>
                          <a:ea typeface="+mn-ea"/>
                          <a:cs typeface="Times New Roman" panose="02020603050405020304" pitchFamily="18" charset="0"/>
                        </a:rPr>
                        <a:t> 예외 사유들에 대한 기재로</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err="1" smtClean="0">
                          <a:solidFill>
                            <a:schemeClr val="tx1"/>
                          </a:solidFill>
                          <a:effectLst/>
                          <a:latin typeface="+mn-ea"/>
                          <a:ea typeface="+mn-ea"/>
                          <a:cs typeface="Times New Roman" panose="02020603050405020304" pitchFamily="18" charset="0"/>
                        </a:rPr>
                        <a:t>공개목록에</a:t>
                      </a:r>
                      <a:r>
                        <a:rPr lang="ko-KR" altLang="en-US" sz="1000" dirty="0" smtClean="0">
                          <a:solidFill>
                            <a:schemeClr val="tx1"/>
                          </a:solidFill>
                          <a:effectLst/>
                          <a:latin typeface="+mn-ea"/>
                          <a:ea typeface="+mn-ea"/>
                          <a:cs typeface="Times New Roman" panose="02020603050405020304" pitchFamily="18" charset="0"/>
                        </a:rPr>
                        <a:t> 기재된 내용은 </a:t>
                      </a:r>
                      <a:r>
                        <a:rPr lang="ko-KR" altLang="en-US" sz="1000" dirty="0" err="1" smtClean="0">
                          <a:solidFill>
                            <a:schemeClr val="tx1"/>
                          </a:solidFill>
                          <a:effectLst/>
                          <a:latin typeface="+mn-ea"/>
                          <a:ea typeface="+mn-ea"/>
                          <a:cs typeface="Times New Roman" panose="02020603050405020304" pitchFamily="18" charset="0"/>
                        </a:rPr>
                        <a:t>진술보장에</a:t>
                      </a:r>
                      <a:r>
                        <a:rPr lang="ko-KR" altLang="en-US" sz="1000" dirty="0" smtClean="0">
                          <a:solidFill>
                            <a:schemeClr val="tx1"/>
                          </a:solidFill>
                          <a:effectLst/>
                          <a:latin typeface="+mn-ea"/>
                          <a:ea typeface="+mn-ea"/>
                          <a:cs typeface="Times New Roman" panose="02020603050405020304" pitchFamily="18" charset="0"/>
                        </a:rPr>
                        <a:t> 반하더라도 손해배상의 대상이 되지 않음</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323909">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altLang="en-US" sz="1000" b="1" dirty="0" smtClean="0">
                          <a:solidFill>
                            <a:schemeClr val="tx1"/>
                          </a:solidFill>
                          <a:effectLst/>
                          <a:latin typeface="+mn-ea"/>
                          <a:ea typeface="+mn-ea"/>
                          <a:cs typeface="Times New Roman" panose="02020603050405020304" pitchFamily="18" charset="0"/>
                        </a:rPr>
                        <a:t>매도인</a:t>
                      </a:r>
                      <a:endParaRPr lang="en-US" altLang="ko-KR" sz="1000" b="1" dirty="0" smtClean="0">
                        <a:solidFill>
                          <a:schemeClr val="tx1"/>
                        </a:solidFill>
                        <a:effectLst/>
                        <a:latin typeface="+mn-ea"/>
                        <a:ea typeface="+mn-ea"/>
                        <a:cs typeface="Times New Roman" panose="02020603050405020304" pitchFamily="18" charset="0"/>
                      </a:endParaRPr>
                    </a:p>
                    <a:p>
                      <a:pPr marL="542925" lvl="0" indent="-276225" algn="l" defTabSz="914400" rtl="0" eaLnBrk="1" latinLnBrk="1" hangingPunct="1">
                        <a:lnSpc>
                          <a:spcPct val="110000"/>
                        </a:lnSpc>
                        <a:spcAft>
                          <a:spcPts val="0"/>
                        </a:spcAft>
                        <a:buFont typeface="+mj-lt"/>
                        <a:buAutoNum type="arabicParenBoth"/>
                      </a:pPr>
                      <a:r>
                        <a:rPr lang="ko-KR" altLang="en-US" sz="1000" kern="1200" dirty="0" smtClean="0">
                          <a:solidFill>
                            <a:schemeClr val="tx1"/>
                          </a:solidFill>
                          <a:effectLst/>
                          <a:latin typeface="+mn-ea"/>
                          <a:ea typeface="+mn-ea"/>
                          <a:cs typeface="Times New Roman" panose="02020603050405020304" pitchFamily="18" charset="0"/>
                        </a:rPr>
                        <a:t>예외 사유의 범위를 넓히기 위하여 실사 과정에서 </a:t>
                      </a:r>
                      <a:r>
                        <a:rPr lang="en-US" altLang="ko-KR" sz="1000" kern="1200" dirty="0" smtClean="0">
                          <a:solidFill>
                            <a:schemeClr val="tx1"/>
                          </a:solidFill>
                          <a:effectLst/>
                          <a:latin typeface="+mn-ea"/>
                          <a:ea typeface="+mn-ea"/>
                          <a:cs typeface="Times New Roman" panose="02020603050405020304" pitchFamily="18" charset="0"/>
                        </a:rPr>
                        <a:t>data room </a:t>
                      </a:r>
                      <a:r>
                        <a:rPr lang="ko-KR" altLang="en-US" sz="1000" kern="1200" dirty="0" smtClean="0">
                          <a:solidFill>
                            <a:schemeClr val="tx1"/>
                          </a:solidFill>
                          <a:effectLst/>
                          <a:latin typeface="+mn-ea"/>
                          <a:ea typeface="+mn-ea"/>
                          <a:cs typeface="Times New Roman" panose="02020603050405020304" pitchFamily="18" charset="0"/>
                        </a:rPr>
                        <a:t>등으로 제공된 모든 자료</a:t>
                      </a:r>
                      <a:r>
                        <a:rPr lang="en-US" altLang="ko-KR" sz="1000" kern="1200" dirty="0" smtClean="0">
                          <a:solidFill>
                            <a:schemeClr val="tx1"/>
                          </a:solidFill>
                          <a:effectLst/>
                          <a:latin typeface="+mn-ea"/>
                          <a:ea typeface="+mn-ea"/>
                          <a:cs typeface="Times New Roman" panose="02020603050405020304" pitchFamily="18" charset="0"/>
                        </a:rPr>
                        <a:t>(</a:t>
                      </a:r>
                      <a:r>
                        <a:rPr lang="ko-KR" altLang="en-US" sz="1000" kern="1200" dirty="0" smtClean="0">
                          <a:solidFill>
                            <a:schemeClr val="tx1"/>
                          </a:solidFill>
                          <a:effectLst/>
                          <a:latin typeface="+mn-ea"/>
                          <a:ea typeface="+mn-ea"/>
                          <a:cs typeface="Times New Roman" panose="02020603050405020304" pitchFamily="18" charset="0"/>
                        </a:rPr>
                        <a:t>및 답변에 포함된 사항</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더 </a:t>
                      </a:r>
                      <a:r>
                        <a:rPr lang="en-US" altLang="ko-KR" sz="1000" kern="1200" dirty="0" smtClean="0">
                          <a:solidFill>
                            <a:schemeClr val="tx1"/>
                          </a:solidFill>
                          <a:effectLst/>
                          <a:latin typeface="+mn-ea"/>
                          <a:ea typeface="+mn-ea"/>
                          <a:cs typeface="Times New Roman" panose="02020603050405020304" pitchFamily="18" charset="0"/>
                        </a:rPr>
                        <a:t>aggressive</a:t>
                      </a:r>
                      <a:r>
                        <a:rPr lang="ko-KR" altLang="en-US" sz="1000" kern="1200" dirty="0" smtClean="0">
                          <a:solidFill>
                            <a:schemeClr val="tx1"/>
                          </a:solidFill>
                          <a:effectLst/>
                          <a:latin typeface="+mn-ea"/>
                          <a:ea typeface="+mn-ea"/>
                          <a:cs typeface="Times New Roman" panose="02020603050405020304" pitchFamily="18" charset="0"/>
                        </a:rPr>
                        <a:t>하게는 </a:t>
                      </a:r>
                      <a:r>
                        <a:rPr lang="en-US" altLang="ko-KR" sz="1000" kern="1200" dirty="0" smtClean="0">
                          <a:solidFill>
                            <a:schemeClr val="tx1"/>
                          </a:solidFill>
                          <a:effectLst/>
                          <a:latin typeface="+mn-ea"/>
                          <a:ea typeface="+mn-ea"/>
                          <a:cs typeface="Times New Roman" panose="02020603050405020304" pitchFamily="18" charset="0"/>
                        </a:rPr>
                        <a:t>management presentation</a:t>
                      </a:r>
                      <a:r>
                        <a:rPr lang="ko-KR" altLang="en-US" sz="1000" kern="1200" dirty="0" smtClean="0">
                          <a:solidFill>
                            <a:schemeClr val="tx1"/>
                          </a:solidFill>
                          <a:effectLst/>
                          <a:latin typeface="+mn-ea"/>
                          <a:ea typeface="+mn-ea"/>
                          <a:cs typeface="Times New Roman" panose="02020603050405020304" pitchFamily="18" charset="0"/>
                        </a:rPr>
                        <a:t>에서 구두로 전달된 정보 포함</a:t>
                      </a:r>
                      <a:r>
                        <a:rPr lang="en-US" altLang="ko-KR" sz="1000" kern="1200" dirty="0" smtClean="0">
                          <a:solidFill>
                            <a:schemeClr val="tx1"/>
                          </a:solidFill>
                          <a:effectLst/>
                          <a:latin typeface="+mn-ea"/>
                          <a:ea typeface="+mn-ea"/>
                          <a:cs typeface="Times New Roman" panose="02020603050405020304" pitchFamily="18" charset="0"/>
                        </a:rPr>
                        <a:t>)</a:t>
                      </a:r>
                      <a:r>
                        <a:rPr lang="ko-KR" altLang="en-US" sz="1000" kern="1200" dirty="0" smtClean="0">
                          <a:solidFill>
                            <a:schemeClr val="tx1"/>
                          </a:solidFill>
                          <a:effectLst/>
                          <a:latin typeface="+mn-ea"/>
                          <a:ea typeface="+mn-ea"/>
                          <a:cs typeface="Times New Roman" panose="02020603050405020304" pitchFamily="18" charset="0"/>
                        </a:rPr>
                        <a:t>와 </a:t>
                      </a:r>
                      <a:r>
                        <a:rPr lang="en-US" altLang="ko-KR" sz="1000" kern="1200" dirty="0" smtClean="0">
                          <a:solidFill>
                            <a:schemeClr val="tx1"/>
                          </a:solidFill>
                          <a:effectLst/>
                          <a:latin typeface="+mn-ea"/>
                          <a:ea typeface="+mn-ea"/>
                          <a:cs typeface="Times New Roman" panose="02020603050405020304" pitchFamily="18" charset="0"/>
                        </a:rPr>
                        <a:t>SEC Edgar </a:t>
                      </a:r>
                      <a:r>
                        <a:rPr lang="ko-KR" altLang="en-US" sz="1000" kern="1200" dirty="0" smtClean="0">
                          <a:solidFill>
                            <a:schemeClr val="tx1"/>
                          </a:solidFill>
                          <a:effectLst/>
                          <a:latin typeface="+mn-ea"/>
                          <a:ea typeface="+mn-ea"/>
                          <a:cs typeface="Times New Roman" panose="02020603050405020304" pitchFamily="18" charset="0"/>
                        </a:rPr>
                        <a:t>전자공시 등을 통해 공시된 자료는 공개된 것으로 간주한다는 조항을 포함시키고자 함</a:t>
                      </a:r>
                      <a:r>
                        <a:rPr lang="en-US" altLang="ko-KR" sz="1000" kern="1200" dirty="0" smtClean="0">
                          <a:solidFill>
                            <a:schemeClr val="tx1"/>
                          </a:solidFill>
                          <a:effectLst/>
                          <a:latin typeface="+mn-ea"/>
                          <a:ea typeface="+mn-ea"/>
                          <a:cs typeface="Times New Roman" panose="02020603050405020304" pitchFamily="18" charset="0"/>
                        </a:rPr>
                        <a:t>(</a:t>
                      </a:r>
                      <a:r>
                        <a:rPr lang="ko-KR" altLang="en-US" sz="1000" kern="1200" dirty="0" smtClean="0">
                          <a:solidFill>
                            <a:schemeClr val="tx1"/>
                          </a:solidFill>
                          <a:effectLst/>
                          <a:latin typeface="+mn-ea"/>
                          <a:ea typeface="+mn-ea"/>
                          <a:cs typeface="Times New Roman" panose="02020603050405020304" pitchFamily="18" charset="0"/>
                        </a:rPr>
                        <a:t>특히 경쟁입찰과 같이 매도인의 협상력이 우위에 있는 경우 그러한 요구를 할 가능성이 더 높음</a:t>
                      </a:r>
                      <a:r>
                        <a:rPr lang="en-US" altLang="ko-KR" sz="1000" kern="1200" dirty="0" smtClean="0">
                          <a:solidFill>
                            <a:schemeClr val="tx1"/>
                          </a:solidFill>
                          <a:effectLst/>
                          <a:latin typeface="+mn-ea"/>
                          <a:ea typeface="+mn-ea"/>
                          <a:cs typeface="Times New Roman" panose="02020603050405020304" pitchFamily="18" charset="0"/>
                        </a:rPr>
                        <a:t>)</a:t>
                      </a:r>
                    </a:p>
                    <a:p>
                      <a:pPr marL="542925" lvl="0" indent="-276225" algn="l" defTabSz="914400" rtl="0" eaLnBrk="1" latinLnBrk="1" hangingPunct="1">
                        <a:lnSpc>
                          <a:spcPct val="110000"/>
                        </a:lnSpc>
                        <a:spcAft>
                          <a:spcPts val="0"/>
                        </a:spcAft>
                        <a:buFont typeface="+mj-lt"/>
                        <a:buAutoNum type="arabicParenBoth"/>
                      </a:pPr>
                      <a:r>
                        <a:rPr lang="ko-KR" altLang="en-US" sz="1000" kern="1200" dirty="0" smtClean="0">
                          <a:solidFill>
                            <a:schemeClr val="tx1"/>
                          </a:solidFill>
                          <a:effectLst/>
                          <a:latin typeface="+mn-ea"/>
                          <a:ea typeface="+mn-ea"/>
                          <a:cs typeface="Times New Roman" panose="02020603050405020304" pitchFamily="18" charset="0"/>
                        </a:rPr>
                        <a:t>계약 체결 이후 </a:t>
                      </a:r>
                      <a:r>
                        <a:rPr lang="ko-KR" altLang="en-US" sz="1000" kern="1200" dirty="0" err="1" smtClean="0">
                          <a:solidFill>
                            <a:schemeClr val="tx1"/>
                          </a:solidFill>
                          <a:effectLst/>
                          <a:latin typeface="+mn-ea"/>
                          <a:ea typeface="+mn-ea"/>
                          <a:cs typeface="Times New Roman" panose="02020603050405020304" pitchFamily="18" charset="0"/>
                        </a:rPr>
                        <a:t>공개목록을</a:t>
                      </a:r>
                      <a:r>
                        <a:rPr lang="ko-KR" altLang="en-US" sz="1000" kern="1200" dirty="0" smtClean="0">
                          <a:solidFill>
                            <a:schemeClr val="tx1"/>
                          </a:solidFill>
                          <a:effectLst/>
                          <a:latin typeface="+mn-ea"/>
                          <a:ea typeface="+mn-ea"/>
                          <a:cs typeface="Times New Roman" panose="02020603050405020304" pitchFamily="18" charset="0"/>
                        </a:rPr>
                        <a:t> 수정할 권리를 유보하고자 함</a:t>
                      </a:r>
                      <a:r>
                        <a:rPr lang="en-US" altLang="ko-KR" sz="1000" kern="120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arenBoth"/>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defTabSz="914400" rtl="0" eaLnBrk="1" latinLnBrk="1" hangingPunct="1">
                        <a:lnSpc>
                          <a:spcPct val="110000"/>
                        </a:lnSpc>
                        <a:spcAft>
                          <a:spcPts val="0"/>
                        </a:spcAft>
                        <a:buFont typeface="+mj-lt"/>
                        <a:buAutoNum type="arabicPeriod" startAt="2"/>
                      </a:pPr>
                      <a:r>
                        <a:rPr lang="ko-KR" altLang="en-US" sz="1000" b="1" kern="1200" dirty="0" smtClean="0">
                          <a:solidFill>
                            <a:schemeClr val="tx1"/>
                          </a:solidFill>
                          <a:effectLst/>
                          <a:latin typeface="+mn-ea"/>
                          <a:ea typeface="+mn-ea"/>
                          <a:cs typeface="Times New Roman" panose="02020603050405020304" pitchFamily="18" charset="0"/>
                        </a:rPr>
                        <a:t>매수인</a:t>
                      </a:r>
                    </a:p>
                    <a:p>
                      <a:pPr marL="542925" lvl="0" indent="-276225" algn="l" defTabSz="914400" rtl="0" eaLnBrk="1" latinLnBrk="1" hangingPunct="1">
                        <a:lnSpc>
                          <a:spcPct val="110000"/>
                        </a:lnSpc>
                        <a:spcAft>
                          <a:spcPts val="0"/>
                        </a:spcAft>
                        <a:buFont typeface="+mj-lt"/>
                        <a:buAutoNum type="arabicParenBoth"/>
                      </a:pPr>
                      <a:r>
                        <a:rPr lang="en-US" altLang="ko-KR" sz="1000" kern="1200" dirty="0" smtClean="0">
                          <a:solidFill>
                            <a:schemeClr val="tx1"/>
                          </a:solidFill>
                          <a:effectLst/>
                          <a:latin typeface="+mn-ea"/>
                          <a:ea typeface="+mn-ea"/>
                          <a:cs typeface="Times New Roman" panose="02020603050405020304" pitchFamily="18" charset="0"/>
                        </a:rPr>
                        <a:t>(</a:t>
                      </a:r>
                      <a:r>
                        <a:rPr lang="en-US" altLang="ko-KR" sz="1000" kern="1200" dirty="0" err="1" smtClean="0">
                          <a:solidFill>
                            <a:schemeClr val="tx1"/>
                          </a:solidFill>
                          <a:effectLst/>
                          <a:latin typeface="+mn-ea"/>
                          <a:ea typeface="+mn-ea"/>
                          <a:cs typeface="Times New Roman" panose="02020603050405020304" pitchFamily="18" charset="0"/>
                        </a:rPr>
                        <a:t>i</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매수인 입장에서는 가급적 예외 사유의 범위를 좁혀야 하므로 </a:t>
                      </a:r>
                      <a:r>
                        <a:rPr lang="ko-KR" altLang="en-US" sz="1000" kern="1200" dirty="0" err="1" smtClean="0">
                          <a:solidFill>
                            <a:schemeClr val="tx1"/>
                          </a:solidFill>
                          <a:effectLst/>
                          <a:latin typeface="+mn-ea"/>
                          <a:ea typeface="+mn-ea"/>
                          <a:cs typeface="Times New Roman" panose="02020603050405020304" pitchFamily="18" charset="0"/>
                        </a:rPr>
                        <a:t>공개목록</a:t>
                      </a:r>
                      <a:r>
                        <a:rPr lang="ko-KR" altLang="en-US" sz="1000" kern="1200" dirty="0" smtClean="0">
                          <a:solidFill>
                            <a:schemeClr val="tx1"/>
                          </a:solidFill>
                          <a:effectLst/>
                          <a:latin typeface="+mn-ea"/>
                          <a:ea typeface="+mn-ea"/>
                          <a:cs typeface="Times New Roman" panose="02020603050405020304" pitchFamily="18" charset="0"/>
                        </a:rPr>
                        <a:t> 기재사항으로 한정되도록 </a:t>
                      </a:r>
                      <a:r>
                        <a:rPr lang="en-US" altLang="ko-KR" sz="1000" kern="1200" dirty="0" smtClean="0">
                          <a:solidFill>
                            <a:schemeClr val="tx1"/>
                          </a:solidFill>
                          <a:effectLst/>
                          <a:latin typeface="+mn-ea"/>
                          <a:ea typeface="+mn-ea"/>
                          <a:cs typeface="Times New Roman" panose="02020603050405020304" pitchFamily="18" charset="0"/>
                        </a:rPr>
                        <a:t>push back</a:t>
                      </a:r>
                      <a:r>
                        <a:rPr lang="ko-KR" altLang="en-US" sz="1000" kern="1200" dirty="0" smtClean="0">
                          <a:solidFill>
                            <a:schemeClr val="tx1"/>
                          </a:solidFill>
                          <a:effectLst/>
                          <a:latin typeface="+mn-ea"/>
                          <a:ea typeface="+mn-ea"/>
                          <a:cs typeface="Times New Roman" panose="02020603050405020304" pitchFamily="18" charset="0"/>
                        </a:rPr>
                        <a:t>하고 매도인이 아는 </a:t>
                      </a:r>
                      <a:r>
                        <a:rPr lang="en-US" altLang="ko-KR" sz="1000" kern="1200" dirty="0" smtClean="0">
                          <a:solidFill>
                            <a:schemeClr val="tx1"/>
                          </a:solidFill>
                          <a:effectLst/>
                          <a:latin typeface="+mn-ea"/>
                          <a:ea typeface="+mn-ea"/>
                          <a:cs typeface="Times New Roman" panose="02020603050405020304" pitchFamily="18" charset="0"/>
                        </a:rPr>
                        <a:t>risk</a:t>
                      </a:r>
                      <a:r>
                        <a:rPr lang="ko-KR" altLang="en-US" sz="1000" kern="1200" dirty="0" smtClean="0">
                          <a:solidFill>
                            <a:schemeClr val="tx1"/>
                          </a:solidFill>
                          <a:effectLst/>
                          <a:latin typeface="+mn-ea"/>
                          <a:ea typeface="+mn-ea"/>
                          <a:cs typeface="Times New Roman" panose="02020603050405020304" pitchFamily="18" charset="0"/>
                        </a:rPr>
                        <a:t>는 </a:t>
                      </a:r>
                      <a:r>
                        <a:rPr lang="ko-KR" altLang="en-US" sz="1000" kern="1200" dirty="0" err="1" smtClean="0">
                          <a:solidFill>
                            <a:schemeClr val="tx1"/>
                          </a:solidFill>
                          <a:effectLst/>
                          <a:latin typeface="+mn-ea"/>
                          <a:ea typeface="+mn-ea"/>
                          <a:cs typeface="Times New Roman" panose="02020603050405020304" pitchFamily="18" charset="0"/>
                        </a:rPr>
                        <a:t>공개목록에</a:t>
                      </a:r>
                      <a:r>
                        <a:rPr lang="ko-KR" altLang="en-US" sz="1000" kern="1200" dirty="0" smtClean="0">
                          <a:solidFill>
                            <a:schemeClr val="tx1"/>
                          </a:solidFill>
                          <a:effectLst/>
                          <a:latin typeface="+mn-ea"/>
                          <a:ea typeface="+mn-ea"/>
                          <a:cs typeface="Times New Roman" panose="02020603050405020304" pitchFamily="18" charset="0"/>
                        </a:rPr>
                        <a:t> 모두 </a:t>
                      </a:r>
                      <a:r>
                        <a:rPr lang="ko-KR" altLang="en-US" sz="1000" kern="1200" dirty="0" err="1" smtClean="0">
                          <a:solidFill>
                            <a:schemeClr val="tx1"/>
                          </a:solidFill>
                          <a:effectLst/>
                          <a:latin typeface="+mn-ea"/>
                          <a:ea typeface="+mn-ea"/>
                          <a:cs typeface="Times New Roman" panose="02020603050405020304" pitchFamily="18" charset="0"/>
                        </a:rPr>
                        <a:t>포함시켜달라고</a:t>
                      </a:r>
                      <a:r>
                        <a:rPr lang="ko-KR" altLang="en-US" sz="1000" kern="1200" dirty="0" smtClean="0">
                          <a:solidFill>
                            <a:schemeClr val="tx1"/>
                          </a:solidFill>
                          <a:effectLst/>
                          <a:latin typeface="+mn-ea"/>
                          <a:ea typeface="+mn-ea"/>
                          <a:cs typeface="Times New Roman" panose="02020603050405020304" pitchFamily="18" charset="0"/>
                        </a:rPr>
                        <a:t> 요청해야 할 것임</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err="1" smtClean="0">
                          <a:solidFill>
                            <a:schemeClr val="tx1"/>
                          </a:solidFill>
                          <a:effectLst/>
                          <a:latin typeface="+mn-ea"/>
                          <a:ea typeface="+mn-ea"/>
                          <a:cs typeface="Times New Roman" panose="02020603050405020304" pitchFamily="18" charset="0"/>
                        </a:rPr>
                        <a:t>공개목록에</a:t>
                      </a:r>
                      <a:r>
                        <a:rPr lang="ko-KR" altLang="en-US" sz="1000" kern="1200" dirty="0" smtClean="0">
                          <a:solidFill>
                            <a:schemeClr val="tx1"/>
                          </a:solidFill>
                          <a:effectLst/>
                          <a:latin typeface="+mn-ea"/>
                          <a:ea typeface="+mn-ea"/>
                          <a:cs typeface="Times New Roman" panose="02020603050405020304" pitchFamily="18" charset="0"/>
                        </a:rPr>
                        <a:t> 들어가는 내용은 모두 </a:t>
                      </a:r>
                      <a:r>
                        <a:rPr lang="ko-KR" altLang="en-US" sz="1000" kern="1200" dirty="0" err="1" smtClean="0">
                          <a:solidFill>
                            <a:schemeClr val="tx1"/>
                          </a:solidFill>
                          <a:effectLst/>
                          <a:latin typeface="+mn-ea"/>
                          <a:ea typeface="+mn-ea"/>
                          <a:cs typeface="Times New Roman" panose="02020603050405020304" pitchFamily="18" charset="0"/>
                        </a:rPr>
                        <a:t>진술보장에</a:t>
                      </a:r>
                      <a:r>
                        <a:rPr lang="ko-KR" altLang="en-US" sz="1000" kern="1200" dirty="0" smtClean="0">
                          <a:solidFill>
                            <a:schemeClr val="tx1"/>
                          </a:solidFill>
                          <a:effectLst/>
                          <a:latin typeface="+mn-ea"/>
                          <a:ea typeface="+mn-ea"/>
                          <a:cs typeface="Times New Roman" panose="02020603050405020304" pitchFamily="18" charset="0"/>
                        </a:rPr>
                        <a:t> 대한 예외 사항이 될 수 있기 때문에 매수인 입장에서는 매도인이 최대한 구체적으로 해당사항을 </a:t>
                      </a:r>
                      <a:r>
                        <a:rPr lang="en-US" altLang="ko-KR" sz="1000" kern="1200" dirty="0" smtClean="0">
                          <a:solidFill>
                            <a:schemeClr val="tx1"/>
                          </a:solidFill>
                          <a:effectLst/>
                          <a:latin typeface="+mn-ea"/>
                          <a:ea typeface="+mn-ea"/>
                          <a:cs typeface="Times New Roman" panose="02020603050405020304" pitchFamily="18" charset="0"/>
                        </a:rPr>
                        <a:t>disclosure schedule</a:t>
                      </a:r>
                      <a:r>
                        <a:rPr lang="ko-KR" altLang="en-US" sz="1000" kern="1200" dirty="0" smtClean="0">
                          <a:solidFill>
                            <a:schemeClr val="tx1"/>
                          </a:solidFill>
                          <a:effectLst/>
                          <a:latin typeface="+mn-ea"/>
                          <a:ea typeface="+mn-ea"/>
                          <a:cs typeface="Times New Roman" panose="02020603050405020304" pitchFamily="18" charset="0"/>
                        </a:rPr>
                        <a:t>에 서술하도록 할 필요</a:t>
                      </a:r>
                      <a:r>
                        <a:rPr lang="ko-KR" altLang="en-US" sz="1000" kern="1200" dirty="0" smtClean="0">
                          <a:solidFill>
                            <a:srgbClr val="C00000"/>
                          </a:solidFill>
                          <a:effectLst/>
                          <a:latin typeface="+mn-ea"/>
                          <a:ea typeface="+mn-ea"/>
                          <a:cs typeface="Times New Roman" panose="02020603050405020304" pitchFamily="18" charset="0"/>
                        </a:rPr>
                        <a:t>* </a:t>
                      </a:r>
                    </a:p>
                    <a:p>
                      <a:pPr marL="542925" lvl="0" indent="-276225" algn="l" defTabSz="914400" rtl="0" eaLnBrk="1" latinLnBrk="1" hangingPunct="1">
                        <a:lnSpc>
                          <a:spcPct val="110000"/>
                        </a:lnSpc>
                        <a:spcAft>
                          <a:spcPts val="0"/>
                        </a:spcAft>
                        <a:buFont typeface="+mj-lt"/>
                        <a:buAutoNum type="arabicParenBoth"/>
                      </a:pPr>
                      <a:r>
                        <a:rPr lang="en-US" altLang="ko-KR" sz="1000" kern="1200" dirty="0" smtClean="0">
                          <a:solidFill>
                            <a:schemeClr val="tx1"/>
                          </a:solidFill>
                          <a:effectLst/>
                          <a:latin typeface="+mn-ea"/>
                          <a:ea typeface="+mn-ea"/>
                          <a:cs typeface="Times New Roman" panose="02020603050405020304" pitchFamily="18" charset="0"/>
                        </a:rPr>
                        <a:t>(ii) </a:t>
                      </a:r>
                      <a:r>
                        <a:rPr lang="ko-KR" altLang="en-US" sz="1000" kern="1200" dirty="0" smtClean="0">
                          <a:solidFill>
                            <a:schemeClr val="tx1"/>
                          </a:solidFill>
                          <a:effectLst/>
                          <a:latin typeface="+mn-ea"/>
                          <a:ea typeface="+mn-ea"/>
                          <a:cs typeface="Times New Roman" panose="02020603050405020304" pitchFamily="18" charset="0"/>
                        </a:rPr>
                        <a:t>매도인이 계약 체결 이후 </a:t>
                      </a:r>
                      <a:r>
                        <a:rPr lang="ko-KR" altLang="en-US" sz="1000" kern="1200" dirty="0" err="1" smtClean="0">
                          <a:solidFill>
                            <a:schemeClr val="tx1"/>
                          </a:solidFill>
                          <a:effectLst/>
                          <a:latin typeface="+mn-ea"/>
                          <a:ea typeface="+mn-ea"/>
                          <a:cs typeface="Times New Roman" panose="02020603050405020304" pitchFamily="18" charset="0"/>
                        </a:rPr>
                        <a:t>공개목록을</a:t>
                      </a:r>
                      <a:r>
                        <a:rPr lang="ko-KR" altLang="en-US" sz="1000" kern="1200" dirty="0" smtClean="0">
                          <a:solidFill>
                            <a:schemeClr val="tx1"/>
                          </a:solidFill>
                          <a:effectLst/>
                          <a:latin typeface="+mn-ea"/>
                          <a:ea typeface="+mn-ea"/>
                          <a:cs typeface="Times New Roman" panose="02020603050405020304" pitchFamily="18" charset="0"/>
                        </a:rPr>
                        <a:t> 수정할 수 있다면 매수인 입장에서는 예상치 못하게 </a:t>
                      </a:r>
                      <a:r>
                        <a:rPr lang="ko-KR" altLang="en-US" sz="1000" kern="1200" dirty="0" err="1" smtClean="0">
                          <a:solidFill>
                            <a:schemeClr val="tx1"/>
                          </a:solidFill>
                          <a:effectLst/>
                          <a:latin typeface="+mn-ea"/>
                          <a:ea typeface="+mn-ea"/>
                          <a:cs typeface="Times New Roman" panose="02020603050405020304" pitchFamily="18" charset="0"/>
                        </a:rPr>
                        <a:t>진술보장의</a:t>
                      </a:r>
                      <a:r>
                        <a:rPr lang="ko-KR" altLang="en-US" sz="1000" kern="1200" dirty="0" smtClean="0">
                          <a:solidFill>
                            <a:schemeClr val="tx1"/>
                          </a:solidFill>
                          <a:effectLst/>
                          <a:latin typeface="+mn-ea"/>
                          <a:ea typeface="+mn-ea"/>
                          <a:cs typeface="Times New Roman" panose="02020603050405020304" pitchFamily="18" charset="0"/>
                        </a:rPr>
                        <a:t> 범위가 축소되는 결과가 발생할 수 있으므로 전부 </a:t>
                      </a:r>
                      <a:r>
                        <a:rPr lang="en-US" altLang="ko-KR" sz="1000" kern="1200" dirty="0" smtClean="0">
                          <a:solidFill>
                            <a:schemeClr val="tx1"/>
                          </a:solidFill>
                          <a:effectLst/>
                          <a:latin typeface="+mn-ea"/>
                          <a:ea typeface="+mn-ea"/>
                          <a:cs typeface="Times New Roman" panose="02020603050405020304" pitchFamily="18" charset="0"/>
                        </a:rPr>
                        <a:t>push back</a:t>
                      </a:r>
                      <a:r>
                        <a:rPr lang="ko-KR" altLang="en-US" sz="1000" kern="1200" dirty="0" smtClean="0">
                          <a:solidFill>
                            <a:schemeClr val="tx1"/>
                          </a:solidFill>
                          <a:effectLst/>
                          <a:latin typeface="+mn-ea"/>
                          <a:ea typeface="+mn-ea"/>
                          <a:cs typeface="Times New Roman" panose="02020603050405020304" pitchFamily="18" charset="0"/>
                        </a:rPr>
                        <a:t>하거나 매수인의 동의 하 </a:t>
                      </a:r>
                      <a:r>
                        <a:rPr lang="ko-KR" altLang="en-US" sz="1000" kern="1200" dirty="0" err="1" smtClean="0">
                          <a:solidFill>
                            <a:schemeClr val="tx1"/>
                          </a:solidFill>
                          <a:effectLst/>
                          <a:latin typeface="+mn-ea"/>
                          <a:ea typeface="+mn-ea"/>
                          <a:cs typeface="Times New Roman" panose="02020603050405020304" pitchFamily="18" charset="0"/>
                        </a:rPr>
                        <a:t>공개목록의</a:t>
                      </a:r>
                      <a:r>
                        <a:rPr lang="ko-KR" altLang="en-US" sz="1000" kern="1200" dirty="0" smtClean="0">
                          <a:solidFill>
                            <a:schemeClr val="tx1"/>
                          </a:solidFill>
                          <a:effectLst/>
                          <a:latin typeface="+mn-ea"/>
                          <a:ea typeface="+mn-ea"/>
                          <a:cs typeface="Times New Roman" panose="02020603050405020304" pitchFamily="18" charset="0"/>
                        </a:rPr>
                        <a:t> 수정을 허용하되 이에 근거한 매도인에 대한 손해배상 청구 가능성을 열어두어야 할 것임</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412848">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a:t>
                      </a:r>
                      <a:r>
                        <a:rPr lang="en-US" altLang="ko-KR" sz="1000" baseline="0" dirty="0" smtClean="0">
                          <a:solidFill>
                            <a:schemeClr val="tx1"/>
                          </a:solidFill>
                          <a:effectLst/>
                          <a:latin typeface="+mn-ea"/>
                          <a:ea typeface="+mn-ea"/>
                          <a:cs typeface="Times New Roman" panose="02020603050405020304" pitchFamily="18" charset="0"/>
                        </a:rPr>
                        <a:t> 11.16   </a:t>
                      </a:r>
                      <a:r>
                        <a:rPr lang="en-US" altLang="ko-KR" sz="1000" u="sng" baseline="0" dirty="0" smtClean="0">
                          <a:solidFill>
                            <a:schemeClr val="tx1"/>
                          </a:solidFill>
                          <a:effectLst/>
                          <a:latin typeface="+mn-ea"/>
                          <a:ea typeface="+mn-ea"/>
                          <a:cs typeface="Times New Roman" panose="02020603050405020304" pitchFamily="18" charset="0"/>
                        </a:rPr>
                        <a:t>Interpretation</a:t>
                      </a:r>
                      <a:r>
                        <a:rPr lang="en-US" altLang="ko-KR" sz="1000" baseline="0" dirty="0" smtClean="0">
                          <a:solidFill>
                            <a:schemeClr val="tx1"/>
                          </a:solidFill>
                          <a:effectLst/>
                          <a:latin typeface="+mn-ea"/>
                          <a:ea typeface="+mn-ea"/>
                          <a:cs typeface="Times New Roman" panose="02020603050405020304" pitchFamily="18" charset="0"/>
                        </a:rPr>
                        <a:t>.  [….] The Exhibits and Schedules to this Agreement are hereby incorporated and made a part hereof and are an integral part of this Agreement. </a:t>
                      </a:r>
                      <a:r>
                        <a:rPr lang="en-US" altLang="ko-KR" sz="1000" dirty="0" smtClean="0">
                          <a:solidFill>
                            <a:schemeClr val="tx1"/>
                          </a:solidFill>
                          <a:effectLst/>
                          <a:latin typeface="+mn-ea"/>
                          <a:ea typeface="+mn-ea"/>
                          <a:cs typeface="Times New Roman" panose="02020603050405020304" pitchFamily="18" charset="0"/>
                        </a:rPr>
                        <a:t>Any matter, fact or circumstance disclosed by the information set out in the Schedules or any of the documents and information included in the electronic data room, as made available by [•] (the “Data Room”) shall be deemed to be a disclosure for the purposes of the Section or subsection of this Agreement to which it corresponds in number and each other Section and subsection of this Agreement to the extent such disclosure is reasonably apparent on the face thereof to be relevant to such other Section(s) or subsection(s).  The disclosure of any matter in the Schedules shall expressly not be deemed to constitute an admission by any party, or to otherwise imply, that any such matter is material for the purposes of this Agreement, could or would reasonably be expected to have a Material Adverse Effect or is required to be disclosed under this Agreement. Nothing contained in the Schedules should be construed as an admission of liability or responsibility of any party to any third party (including in connection with any pending or threatened Claim). Any capitalized terms used in any Schedule or Exhibit but not otherwise defined therein shall be defined as set forth in this Agreement.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8" name="직사각형 7"/>
          <p:cNvSpPr/>
          <p:nvPr/>
        </p:nvSpPr>
        <p:spPr>
          <a:xfrm>
            <a:off x="439738" y="5596068"/>
            <a:ext cx="9188449" cy="230832"/>
          </a:xfrm>
          <a:prstGeom prst="rect">
            <a:avLst/>
          </a:prstGeom>
        </p:spPr>
        <p:txBody>
          <a:bodyPr wrap="square">
            <a:spAutoFit/>
          </a:bodyPr>
          <a:lstStyle/>
          <a:p>
            <a:r>
              <a:rPr lang="en-US" altLang="ko-KR" sz="900" b="0" dirty="0" smtClean="0">
                <a:solidFill>
                  <a:schemeClr val="tx1"/>
                </a:solidFill>
                <a:latin typeface="+mn-ea"/>
                <a:ea typeface="+mn-ea"/>
                <a:cs typeface="Times New Roman" panose="02020603050405020304" pitchFamily="18" charset="0"/>
              </a:rPr>
              <a:t>* UK </a:t>
            </a:r>
            <a:r>
              <a:rPr lang="en-US" altLang="ko-KR" sz="900" b="0" dirty="0" err="1">
                <a:solidFill>
                  <a:schemeClr val="tx1"/>
                </a:solidFill>
                <a:latin typeface="+mn-ea"/>
                <a:ea typeface="+mn-ea"/>
                <a:cs typeface="Times New Roman" panose="02020603050405020304" pitchFamily="18" charset="0"/>
              </a:rPr>
              <a:t>practice를</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따르는</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계약서</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에서는</a:t>
            </a:r>
            <a:r>
              <a:rPr lang="en-US" altLang="ko-KR" sz="900" b="0" dirty="0">
                <a:solidFill>
                  <a:schemeClr val="tx1"/>
                </a:solidFill>
                <a:latin typeface="+mn-ea"/>
                <a:ea typeface="+mn-ea"/>
                <a:cs typeface="Times New Roman" panose="02020603050405020304" pitchFamily="18" charset="0"/>
              </a:rPr>
              <a:t> data </a:t>
            </a:r>
            <a:r>
              <a:rPr lang="en-US" altLang="ko-KR" sz="900" b="0" dirty="0" err="1">
                <a:solidFill>
                  <a:schemeClr val="tx1"/>
                </a:solidFill>
                <a:latin typeface="+mn-ea"/>
                <a:ea typeface="+mn-ea"/>
                <a:cs typeface="Times New Roman" panose="02020603050405020304" pitchFamily="18" charset="0"/>
              </a:rPr>
              <a:t>room에</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포함된</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정보</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전체가</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진술보장의</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예외가</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되는</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것이</a:t>
            </a:r>
            <a:r>
              <a:rPr lang="en-US" altLang="ko-KR" sz="900" b="0" dirty="0">
                <a:solidFill>
                  <a:schemeClr val="tx1"/>
                </a:solidFill>
                <a:latin typeface="+mn-ea"/>
                <a:ea typeface="+mn-ea"/>
                <a:cs typeface="Times New Roman" panose="02020603050405020304" pitchFamily="18" charset="0"/>
              </a:rPr>
              <a:t> </a:t>
            </a:r>
            <a:r>
              <a:rPr lang="en-US" altLang="ko-KR" sz="900" b="0" dirty="0" err="1" smtClean="0">
                <a:solidFill>
                  <a:schemeClr val="tx1"/>
                </a:solidFill>
                <a:latin typeface="+mn-ea"/>
                <a:ea typeface="+mn-ea"/>
                <a:cs typeface="Times New Roman" panose="02020603050405020304" pitchFamily="18" charset="0"/>
              </a:rPr>
              <a:t>일반적이</a:t>
            </a:r>
            <a:r>
              <a:rPr lang="ko-KR" altLang="en-US" sz="900" b="0" dirty="0" smtClean="0">
                <a:solidFill>
                  <a:schemeClr val="tx1"/>
                </a:solidFill>
                <a:latin typeface="+mn-ea"/>
                <a:ea typeface="+mn-ea"/>
                <a:cs typeface="Times New Roman" panose="02020603050405020304" pitchFamily="18" charset="0"/>
              </a:rPr>
              <a:t>며</a:t>
            </a:r>
            <a:r>
              <a:rPr lang="en-US" altLang="ko-KR" sz="900" b="0" dirty="0" smtClean="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이때</a:t>
            </a:r>
            <a:r>
              <a:rPr lang="en-US" altLang="ko-KR" sz="900" b="0" dirty="0">
                <a:solidFill>
                  <a:schemeClr val="tx1"/>
                </a:solidFill>
                <a:latin typeface="+mn-ea"/>
                <a:ea typeface="+mn-ea"/>
                <a:cs typeface="Times New Roman" panose="02020603050405020304" pitchFamily="18" charset="0"/>
              </a:rPr>
              <a:t> UK </a:t>
            </a:r>
            <a:r>
              <a:rPr lang="en-US" altLang="ko-KR" sz="900" b="0" dirty="0" err="1">
                <a:solidFill>
                  <a:schemeClr val="tx1"/>
                </a:solidFill>
                <a:latin typeface="+mn-ea"/>
                <a:ea typeface="+mn-ea"/>
                <a:cs typeface="Times New Roman" panose="02020603050405020304" pitchFamily="18" charset="0"/>
              </a:rPr>
              <a:t>법상</a:t>
            </a:r>
            <a:r>
              <a:rPr lang="en-US" altLang="ko-KR" sz="900" b="0" dirty="0">
                <a:solidFill>
                  <a:schemeClr val="tx1"/>
                </a:solidFill>
                <a:latin typeface="+mn-ea"/>
                <a:ea typeface="+mn-ea"/>
                <a:cs typeface="Times New Roman" panose="02020603050405020304" pitchFamily="18" charset="0"/>
              </a:rPr>
              <a:t> “fair </a:t>
            </a:r>
            <a:r>
              <a:rPr lang="en-US" altLang="ko-KR" sz="900" b="0" dirty="0" err="1">
                <a:solidFill>
                  <a:schemeClr val="tx1"/>
                </a:solidFill>
                <a:latin typeface="+mn-ea"/>
                <a:ea typeface="+mn-ea"/>
                <a:cs typeface="Times New Roman" panose="02020603050405020304" pitchFamily="18" charset="0"/>
              </a:rPr>
              <a:t>disclosure”여야</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한다는</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제한을</a:t>
            </a:r>
            <a:r>
              <a:rPr lang="en-US" altLang="ko-KR" sz="900" b="0" dirty="0">
                <a:solidFill>
                  <a:schemeClr val="tx1"/>
                </a:solidFill>
                <a:latin typeface="+mn-ea"/>
                <a:ea typeface="+mn-ea"/>
                <a:cs typeface="Times New Roman" panose="02020603050405020304" pitchFamily="18" charset="0"/>
              </a:rPr>
              <a:t> </a:t>
            </a:r>
            <a:r>
              <a:rPr lang="en-US" altLang="ko-KR" sz="900" b="0" dirty="0" err="1">
                <a:solidFill>
                  <a:schemeClr val="tx1"/>
                </a:solidFill>
                <a:latin typeface="+mn-ea"/>
                <a:ea typeface="+mn-ea"/>
                <a:cs typeface="Times New Roman" panose="02020603050405020304" pitchFamily="18" charset="0"/>
              </a:rPr>
              <a:t>넣음</a:t>
            </a:r>
            <a:r>
              <a:rPr lang="en-US" altLang="ko-KR" sz="900" b="0" dirty="0">
                <a:solidFill>
                  <a:schemeClr val="tx1"/>
                </a:solidFill>
                <a:latin typeface="+mn-ea"/>
                <a:ea typeface="+mn-ea"/>
                <a:cs typeface="Times New Roman" panose="02020603050405020304" pitchFamily="18" charset="0"/>
              </a:rPr>
              <a:t>. </a:t>
            </a:r>
            <a:endParaRPr lang="ko-KR" altLang="en-US" sz="900" b="0" dirty="0">
              <a:solidFill>
                <a:schemeClr val="tx1"/>
              </a:soli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449159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a:solidFill>
                  <a:schemeClr val="tx1"/>
                </a:solidFill>
                <a:latin typeface="+mn-ea"/>
                <a:ea typeface="+mn-ea"/>
              </a:rPr>
              <a:t>3. </a:t>
            </a:r>
            <a:r>
              <a:rPr lang="en-US" altLang="ko-KR" dirty="0">
                <a:solidFill>
                  <a:schemeClr val="tx1"/>
                </a:solidFill>
                <a:latin typeface="+mn-ea"/>
                <a:ea typeface="+mn-ea"/>
              </a:rPr>
              <a:t>Financial Statement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3111982004"/>
              </p:ext>
            </p:extLst>
          </p:nvPr>
        </p:nvGraphicFramePr>
        <p:xfrm>
          <a:off x="439738" y="1043677"/>
          <a:ext cx="9188450" cy="550259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72404">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err="1" smtClean="0">
                          <a:solidFill>
                            <a:schemeClr val="tx1"/>
                          </a:solidFill>
                          <a:effectLst/>
                          <a:latin typeface="+mn-ea"/>
                          <a:ea typeface="+mn-ea"/>
                          <a:cs typeface="Times New Roman" panose="02020603050405020304" pitchFamily="18" charset="0"/>
                        </a:rPr>
                        <a:t>진술보장의</a:t>
                      </a:r>
                      <a:r>
                        <a:rPr lang="ko-KR" altLang="en-US" sz="1000" dirty="0" smtClean="0">
                          <a:solidFill>
                            <a:schemeClr val="tx1"/>
                          </a:solidFill>
                          <a:effectLst/>
                          <a:latin typeface="+mn-ea"/>
                          <a:ea typeface="+mn-ea"/>
                          <a:cs typeface="Times New Roman" panose="02020603050405020304" pitchFamily="18" charset="0"/>
                        </a:rPr>
                        <a:t> 대상 및 매매대금 조정 관련 기준으로 기능함</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933864">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altLang="en-US" sz="1000" b="0" dirty="0" err="1" smtClean="0">
                          <a:solidFill>
                            <a:schemeClr val="tx1"/>
                          </a:solidFill>
                          <a:effectLst/>
                          <a:latin typeface="+mn-ea"/>
                          <a:ea typeface="+mn-ea"/>
                          <a:cs typeface="Times New Roman" panose="02020603050405020304" pitchFamily="18" charset="0"/>
                        </a:rPr>
                        <a:t>진술보장의</a:t>
                      </a:r>
                      <a:r>
                        <a:rPr lang="ko-KR" altLang="en-US" sz="1000" b="0" dirty="0" smtClean="0">
                          <a:solidFill>
                            <a:schemeClr val="tx1"/>
                          </a:solidFill>
                          <a:effectLst/>
                          <a:latin typeface="+mn-ea"/>
                          <a:ea typeface="+mn-ea"/>
                          <a:cs typeface="Times New Roman" panose="02020603050405020304" pitchFamily="18" charset="0"/>
                        </a:rPr>
                        <a:t> 대상이 되는 </a:t>
                      </a:r>
                      <a:r>
                        <a:rPr lang="en-US" altLang="ko-KR" sz="1000" b="0" dirty="0" smtClean="0">
                          <a:solidFill>
                            <a:schemeClr val="tx1"/>
                          </a:solidFill>
                          <a:effectLst/>
                          <a:latin typeface="+mn-ea"/>
                          <a:ea typeface="+mn-ea"/>
                          <a:cs typeface="Times New Roman" panose="02020603050405020304" pitchFamily="18" charset="0"/>
                        </a:rPr>
                        <a:t>Financial Statements</a:t>
                      </a:r>
                      <a:r>
                        <a:rPr lang="ko-KR" altLang="en-US" sz="1000" b="0" dirty="0" smtClean="0">
                          <a:solidFill>
                            <a:schemeClr val="tx1"/>
                          </a:solidFill>
                          <a:effectLst/>
                          <a:latin typeface="+mn-ea"/>
                          <a:ea typeface="+mn-ea"/>
                          <a:cs typeface="Times New Roman" panose="02020603050405020304" pitchFamily="18" charset="0"/>
                        </a:rPr>
                        <a:t>는 통상 실사 당시 기준이 된 재무제표를 기준재무제표로 정의하는 경우가 일반적임</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보통 외부감사인의 감사를 받은 가장 최근 “</a:t>
                      </a:r>
                      <a:r>
                        <a:rPr lang="en-US" altLang="ko-KR" sz="1000" b="0" dirty="0" smtClean="0">
                          <a:solidFill>
                            <a:schemeClr val="tx1"/>
                          </a:solidFill>
                          <a:effectLst/>
                          <a:latin typeface="+mn-ea"/>
                          <a:ea typeface="+mn-ea"/>
                          <a:cs typeface="Times New Roman" panose="02020603050405020304" pitchFamily="18" charset="0"/>
                        </a:rPr>
                        <a:t>Audited Financial Statements”</a:t>
                      </a:r>
                      <a:r>
                        <a:rPr lang="ko-KR" altLang="en-US" sz="1000" b="0" dirty="0" smtClean="0">
                          <a:solidFill>
                            <a:schemeClr val="tx1"/>
                          </a:solidFill>
                          <a:effectLst/>
                          <a:latin typeface="+mn-ea"/>
                          <a:ea typeface="+mn-ea"/>
                          <a:cs typeface="Times New Roman" panose="02020603050405020304" pitchFamily="18" charset="0"/>
                        </a:rPr>
                        <a:t>와</a:t>
                      </a:r>
                      <a:r>
                        <a:rPr lang="en-US" altLang="ko-KR" sz="1000" b="0" dirty="0" smtClean="0">
                          <a:solidFill>
                            <a:schemeClr val="tx1"/>
                          </a:solidFill>
                          <a:effectLst/>
                          <a:latin typeface="+mn-ea"/>
                          <a:ea typeface="+mn-ea"/>
                          <a:cs typeface="Times New Roman" panose="02020603050405020304" pitchFamily="18" charset="0"/>
                        </a:rPr>
                        <a:t>, Audited Financial Statements</a:t>
                      </a:r>
                      <a:r>
                        <a:rPr lang="ko-KR" altLang="en-US" sz="1000" b="0" dirty="0" smtClean="0">
                          <a:solidFill>
                            <a:schemeClr val="tx1"/>
                          </a:solidFill>
                          <a:effectLst/>
                          <a:latin typeface="+mn-ea"/>
                          <a:ea typeface="+mn-ea"/>
                          <a:cs typeface="Times New Roman" panose="02020603050405020304" pitchFamily="18" charset="0"/>
                        </a:rPr>
                        <a:t>의 기준일과 주식매매계약체결 시점 전 최근 일자 사이의 기간을 </a:t>
                      </a:r>
                      <a:r>
                        <a:rPr lang="en-US" altLang="ko-KR" sz="1000" b="0" dirty="0" smtClean="0">
                          <a:solidFill>
                            <a:schemeClr val="tx1"/>
                          </a:solidFill>
                          <a:effectLst/>
                          <a:latin typeface="+mn-ea"/>
                          <a:ea typeface="+mn-ea"/>
                          <a:cs typeface="Times New Roman" panose="02020603050405020304" pitchFamily="18" charset="0"/>
                        </a:rPr>
                        <a:t>cover</a:t>
                      </a:r>
                      <a:r>
                        <a:rPr lang="ko-KR" altLang="en-US" sz="1000" b="0" dirty="0" smtClean="0">
                          <a:solidFill>
                            <a:schemeClr val="tx1"/>
                          </a:solidFill>
                          <a:effectLst/>
                          <a:latin typeface="+mn-ea"/>
                          <a:ea typeface="+mn-ea"/>
                          <a:cs typeface="Times New Roman" panose="02020603050405020304" pitchFamily="18" charset="0"/>
                        </a:rPr>
                        <a:t>하는 “</a:t>
                      </a:r>
                      <a:r>
                        <a:rPr lang="en-US" altLang="ko-KR" sz="1000" b="0" dirty="0" smtClean="0">
                          <a:solidFill>
                            <a:schemeClr val="tx1"/>
                          </a:solidFill>
                          <a:effectLst/>
                          <a:latin typeface="+mn-ea"/>
                          <a:ea typeface="+mn-ea"/>
                          <a:cs typeface="Times New Roman" panose="02020603050405020304" pitchFamily="18" charset="0"/>
                        </a:rPr>
                        <a:t>Interim Financial Statements”</a:t>
                      </a:r>
                      <a:r>
                        <a:rPr lang="ko-KR" altLang="en-US" sz="1000" b="0" dirty="0" smtClean="0">
                          <a:solidFill>
                            <a:schemeClr val="tx1"/>
                          </a:solidFill>
                          <a:effectLst/>
                          <a:latin typeface="+mn-ea"/>
                          <a:ea typeface="+mn-ea"/>
                          <a:cs typeface="Times New Roman" panose="02020603050405020304" pitchFamily="18" charset="0"/>
                        </a:rPr>
                        <a:t>를 포함함</a:t>
                      </a:r>
                      <a:r>
                        <a:rPr lang="en-US" altLang="ko-KR" sz="1000" b="0" dirty="0" smtClean="0">
                          <a:solidFill>
                            <a:schemeClr val="tx1"/>
                          </a:solidFill>
                          <a:effectLst/>
                          <a:latin typeface="+mn-ea"/>
                          <a:ea typeface="+mn-ea"/>
                          <a:cs typeface="Times New Roman" panose="02020603050405020304" pitchFamily="18" charset="0"/>
                        </a:rPr>
                        <a:t>. </a:t>
                      </a:r>
                    </a:p>
                    <a:p>
                      <a:pPr marL="171450" indent="-171450" algn="l" latinLnBrk="1">
                        <a:lnSpc>
                          <a:spcPct val="110000"/>
                        </a:lnSpc>
                        <a:spcAft>
                          <a:spcPts val="0"/>
                        </a:spcAft>
                        <a:buFont typeface="Wingdings" panose="05000000000000000000" pitchFamily="2" charset="2"/>
                        <a:buChar char="§"/>
                      </a:pPr>
                      <a:r>
                        <a:rPr lang="ko-KR" altLang="en-US" sz="1000" b="0" dirty="0" smtClean="0">
                          <a:solidFill>
                            <a:schemeClr val="tx1"/>
                          </a:solidFill>
                          <a:effectLst/>
                          <a:latin typeface="+mn-ea"/>
                          <a:ea typeface="+mn-ea"/>
                          <a:cs typeface="Times New Roman" panose="02020603050405020304" pitchFamily="18" charset="0"/>
                        </a:rPr>
                        <a:t>다만</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매수인 입장에서는 </a:t>
                      </a:r>
                      <a:r>
                        <a:rPr lang="en-US" altLang="ko-KR" sz="1000" b="0" dirty="0" smtClean="0">
                          <a:solidFill>
                            <a:schemeClr val="tx1"/>
                          </a:solidFill>
                          <a:effectLst/>
                          <a:latin typeface="+mn-ea"/>
                          <a:ea typeface="+mn-ea"/>
                          <a:cs typeface="Times New Roman" panose="02020603050405020304" pitchFamily="18" charset="0"/>
                        </a:rPr>
                        <a:t>valuation</a:t>
                      </a:r>
                      <a:r>
                        <a:rPr lang="ko-KR" altLang="en-US" sz="1000" b="0" dirty="0" smtClean="0">
                          <a:solidFill>
                            <a:schemeClr val="tx1"/>
                          </a:solidFill>
                          <a:effectLst/>
                          <a:latin typeface="+mn-ea"/>
                          <a:ea typeface="+mn-ea"/>
                          <a:cs typeface="Times New Roman" panose="02020603050405020304" pitchFamily="18" charset="0"/>
                        </a:rPr>
                        <a:t>과 관련하여 수년간의 재무제표를 기준으로 진행한다는 점에서</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최근 </a:t>
                      </a:r>
                      <a:r>
                        <a:rPr lang="ko-KR" altLang="en-US" sz="1000" b="0" dirty="0" err="1" smtClean="0">
                          <a:solidFill>
                            <a:schemeClr val="tx1"/>
                          </a:solidFill>
                          <a:effectLst/>
                          <a:latin typeface="+mn-ea"/>
                          <a:ea typeface="+mn-ea"/>
                          <a:cs typeface="Times New Roman" panose="02020603050405020304" pitchFamily="18" charset="0"/>
                        </a:rPr>
                        <a:t>수년분</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예를 들어 </a:t>
                      </a:r>
                      <a:r>
                        <a:rPr lang="en-US" altLang="ko-KR" sz="1000" b="0" dirty="0" smtClean="0">
                          <a:solidFill>
                            <a:schemeClr val="tx1"/>
                          </a:solidFill>
                          <a:effectLst/>
                          <a:latin typeface="+mn-ea"/>
                          <a:ea typeface="+mn-ea"/>
                          <a:cs typeface="Times New Roman" panose="02020603050405020304" pitchFamily="18" charset="0"/>
                        </a:rPr>
                        <a:t>3</a:t>
                      </a:r>
                      <a:r>
                        <a:rPr lang="ko-KR" altLang="en-US" sz="1000" b="0" dirty="0" smtClean="0">
                          <a:solidFill>
                            <a:schemeClr val="tx1"/>
                          </a:solidFill>
                          <a:effectLst/>
                          <a:latin typeface="+mn-ea"/>
                          <a:ea typeface="+mn-ea"/>
                          <a:cs typeface="Times New Roman" panose="02020603050405020304" pitchFamily="18" charset="0"/>
                        </a:rPr>
                        <a:t>년</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의 재무제표 및</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또는 최근 일자의 미감사재무제표를 기준재무제표로 정의하고</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이에 대한 진술보장을 받도록 구성하는 경우도 있음</a:t>
                      </a:r>
                      <a:r>
                        <a:rPr lang="en-US" altLang="ko-KR" sz="1000" b="0" dirty="0" smtClean="0">
                          <a:solidFill>
                            <a:schemeClr val="tx1"/>
                          </a:solidFill>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19632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4.03  </a:t>
                      </a:r>
                      <a:r>
                        <a:rPr lang="en-US" altLang="ko-KR" sz="1000" u="sng" dirty="0" smtClean="0">
                          <a:solidFill>
                            <a:schemeClr val="tx1"/>
                          </a:solidFill>
                          <a:effectLst/>
                          <a:latin typeface="+mn-ea"/>
                          <a:ea typeface="+mn-ea"/>
                          <a:cs typeface="Times New Roman" panose="02020603050405020304" pitchFamily="18" charset="0"/>
                        </a:rPr>
                        <a:t>Financial Statements</a:t>
                      </a:r>
                      <a:r>
                        <a:rPr lang="en-US" altLang="ko-KR" sz="100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Seller has made available to Buyer true and complete copies of (</a:t>
                      </a:r>
                      <a:r>
                        <a:rPr lang="en-US" altLang="ko-KR" sz="1000" dirty="0" err="1" smtClean="0">
                          <a:solidFill>
                            <a:schemeClr val="tx1"/>
                          </a:solidFill>
                          <a:effectLst/>
                          <a:latin typeface="+mn-ea"/>
                          <a:ea typeface="+mn-ea"/>
                          <a:cs typeface="Times New Roman" panose="02020603050405020304" pitchFamily="18" charset="0"/>
                        </a:rPr>
                        <a:t>i</a:t>
                      </a:r>
                      <a:r>
                        <a:rPr lang="en-US" altLang="ko-KR" sz="1000" dirty="0" smtClean="0">
                          <a:solidFill>
                            <a:schemeClr val="tx1"/>
                          </a:solidFill>
                          <a:effectLst/>
                          <a:latin typeface="+mn-ea"/>
                          <a:ea typeface="+mn-ea"/>
                          <a:cs typeface="Times New Roman" panose="02020603050405020304" pitchFamily="18" charset="0"/>
                        </a:rPr>
                        <a:t>) the audited consolidated financial statements of the Company, in each case including a balance sheet, results of operations, changes in stockholders’ equity and cash flow, as of, and for each of the fiscal years ended, [〮], [〮], and [〮], respectively, together with the notes and schedules thereto and the audit opinions thereon by the Company’s independent accountants (the “Audited Financial Statements”), and (ii) the unaudited consolidated financial statements of the Company, including a balance sheet and results of operations, as of, and for the [〮]-month period ended, [〮] (the “Interim Financial Statements”), and together with the Audited Financial Statements, the “Financial Statements”).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Financial Statements fairly present, in all material respects, the financial position of the Company, as of the date thereof, and the statements of operations, changes in members’ interest (as applicable) and cash flows of the Company, for the periods set forth therein in accordance with GAAP, except as otherwise noted therein, and subject to normal year-end adjustments and the absence of footnote disclosures.</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books and records of the Company have been kept accurately and maintained in accordance with all applicable Laws and in the Ordinary Course of Business, the transactions entered therein represent bona fide transactions, and the revenues, expenses, assets and Liabilities of the Company Entities have been properly recorded therein.</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Company maintains systems of internal accounting controls sufficient to provide reasonable assurances regarding the reliability of financial reporting and the preparation of financial statements for external purposes in accordance with GAAP in all material respects, including internal accounting controls sufficient to provide reasonable assurance that: (</a:t>
                      </a:r>
                      <a:r>
                        <a:rPr lang="en-US" altLang="ko-KR" sz="1000" dirty="0" err="1" smtClean="0">
                          <a:solidFill>
                            <a:schemeClr val="tx1"/>
                          </a:solidFill>
                          <a:effectLst/>
                          <a:latin typeface="+mn-ea"/>
                          <a:ea typeface="+mn-ea"/>
                          <a:cs typeface="Times New Roman" panose="02020603050405020304" pitchFamily="18" charset="0"/>
                        </a:rPr>
                        <a:t>i</a:t>
                      </a:r>
                      <a:r>
                        <a:rPr lang="en-US" altLang="ko-KR" sz="1000" dirty="0" smtClean="0">
                          <a:solidFill>
                            <a:schemeClr val="tx1"/>
                          </a:solidFill>
                          <a:effectLst/>
                          <a:latin typeface="+mn-ea"/>
                          <a:ea typeface="+mn-ea"/>
                          <a:cs typeface="Times New Roman" panose="02020603050405020304" pitchFamily="18" charset="0"/>
                        </a:rPr>
                        <a:t>) transactions are executed in accordance with management’s general or specific authorization; (ii) transactions are recorded as necessary to permit the preparation of financial statements of the Company in conformity with GAAP and maintain accountability for assets; and (iii) the recorded accountability for assets is maintained at reasonable intervals and appropriate action is taken with respect to any differences.  Neither the Company nor Seller has received or has otherwise become aware of any complaint, allegation, assertion or claim regarding the accounting or auditing practices, procedures, methodologies or methods of the Company’s internal control over financial reporting, including any complaint, allegation, assertion or claim that the Company has engaged in questionable or improper accounting practices in connection with the Company.</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5237407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a:solidFill>
                  <a:schemeClr val="tx1"/>
                </a:solidFill>
                <a:latin typeface="+mn-ea"/>
                <a:ea typeface="+mn-ea"/>
              </a:rPr>
              <a:t>4. Capitalization / Subsidiary</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776472240"/>
              </p:ext>
            </p:extLst>
          </p:nvPr>
        </p:nvGraphicFramePr>
        <p:xfrm>
          <a:off x="439738" y="1043677"/>
          <a:ext cx="9188450" cy="262511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72404">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자회사 관련 진술보장 및 계약적 반영</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413444">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mj-lt"/>
                        <a:buNone/>
                      </a:pPr>
                      <a:r>
                        <a:rPr lang="ko-KR" altLang="en-US" sz="1000" b="0" dirty="0" smtClean="0">
                          <a:solidFill>
                            <a:schemeClr val="tx1"/>
                          </a:solidFill>
                          <a:effectLst/>
                          <a:latin typeface="+mn-ea"/>
                          <a:ea typeface="+mn-ea"/>
                          <a:cs typeface="Times New Roman" panose="02020603050405020304" pitchFamily="18" charset="0"/>
                        </a:rPr>
                        <a:t>하기 진술보장은 자회사가 없는 대상회사에 대한 진술보장으로 쓰일 수 있음</a:t>
                      </a:r>
                      <a:r>
                        <a:rPr lang="en-US" altLang="ko-KR" sz="1000" b="0" dirty="0" smtClean="0">
                          <a:solidFill>
                            <a:schemeClr val="tx1"/>
                          </a:solidFill>
                          <a:effectLst/>
                          <a:latin typeface="+mn-ea"/>
                          <a:ea typeface="+mn-ea"/>
                          <a:cs typeface="Times New Roman" panose="02020603050405020304" pitchFamily="18" charset="0"/>
                        </a:rPr>
                        <a:t>. </a:t>
                      </a:r>
                    </a:p>
                    <a:p>
                      <a:pPr marL="0" indent="0" algn="l" latinLnBrk="1">
                        <a:lnSpc>
                          <a:spcPct val="110000"/>
                        </a:lnSpc>
                        <a:spcAft>
                          <a:spcPts val="0"/>
                        </a:spcAft>
                        <a:buFont typeface="+mj-lt"/>
                        <a:buNone/>
                      </a:pPr>
                      <a:endParaRPr lang="en-US" altLang="ko-KR" sz="1000" b="0" dirty="0" smtClean="0">
                        <a:solidFill>
                          <a:schemeClr val="tx1"/>
                        </a:solidFill>
                        <a:effectLst/>
                        <a:latin typeface="+mn-ea"/>
                        <a:ea typeface="+mn-ea"/>
                        <a:cs typeface="Times New Roman" panose="02020603050405020304" pitchFamily="18" charset="0"/>
                      </a:endParaRPr>
                    </a:p>
                    <a:p>
                      <a:pPr marL="0" indent="0" algn="l" latinLnBrk="1">
                        <a:lnSpc>
                          <a:spcPct val="110000"/>
                        </a:lnSpc>
                        <a:spcAft>
                          <a:spcPts val="0"/>
                        </a:spcAft>
                        <a:buFont typeface="+mj-lt"/>
                        <a:buNone/>
                      </a:pPr>
                      <a:r>
                        <a:rPr lang="ko-KR" altLang="en-US" sz="1000" b="0" dirty="0" smtClean="0">
                          <a:solidFill>
                            <a:schemeClr val="tx1"/>
                          </a:solidFill>
                          <a:effectLst/>
                          <a:latin typeface="+mn-ea"/>
                          <a:ea typeface="+mn-ea"/>
                          <a:cs typeface="Times New Roman" panose="02020603050405020304" pitchFamily="18" charset="0"/>
                        </a:rPr>
                        <a:t>자회사가 있는 대상회사의 경우</a:t>
                      </a:r>
                      <a:r>
                        <a:rPr lang="en-US" altLang="ko-KR" sz="1000" b="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rabicPeriod"/>
                      </a:pPr>
                      <a:r>
                        <a:rPr lang="ko-KR" altLang="en-US" sz="1000" b="1" dirty="0" smtClean="0">
                          <a:solidFill>
                            <a:schemeClr val="tx1"/>
                          </a:solidFill>
                          <a:effectLst/>
                          <a:latin typeface="+mn-ea"/>
                          <a:ea typeface="+mn-ea"/>
                          <a:cs typeface="Times New Roman" panose="02020603050405020304" pitchFamily="18" charset="0"/>
                        </a:rPr>
                        <a:t>매수인</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자회사와 </a:t>
                      </a:r>
                      <a:r>
                        <a:rPr lang="ko-KR" altLang="en-US" sz="1000" b="0" dirty="0" err="1" smtClean="0">
                          <a:solidFill>
                            <a:schemeClr val="tx1"/>
                          </a:solidFill>
                          <a:effectLst/>
                          <a:latin typeface="+mn-ea"/>
                          <a:ea typeface="+mn-ea"/>
                          <a:cs typeface="Times New Roman" panose="02020603050405020304" pitchFamily="18" charset="0"/>
                        </a:rPr>
                        <a:t>대상회사를</a:t>
                      </a:r>
                      <a:r>
                        <a:rPr lang="ko-KR" altLang="en-US" sz="1000" b="0" dirty="0" smtClean="0">
                          <a:solidFill>
                            <a:schemeClr val="tx1"/>
                          </a:solidFill>
                          <a:effectLst/>
                          <a:latin typeface="+mn-ea"/>
                          <a:ea typeface="+mn-ea"/>
                          <a:cs typeface="Times New Roman" panose="02020603050405020304" pitchFamily="18" charset="0"/>
                        </a:rPr>
                        <a:t> 하나의 </a:t>
                      </a:r>
                      <a:r>
                        <a:rPr lang="en-US" altLang="ko-KR" sz="1000" b="0" dirty="0" smtClean="0">
                          <a:solidFill>
                            <a:schemeClr val="tx1"/>
                          </a:solidFill>
                          <a:effectLst/>
                          <a:latin typeface="+mn-ea"/>
                          <a:ea typeface="+mn-ea"/>
                          <a:cs typeface="Times New Roman" panose="02020603050405020304" pitchFamily="18" charset="0"/>
                        </a:rPr>
                        <a:t>defined term</a:t>
                      </a:r>
                      <a:r>
                        <a:rPr lang="ko-KR" altLang="en-US" sz="1000" b="0" dirty="0" smtClean="0">
                          <a:solidFill>
                            <a:schemeClr val="tx1"/>
                          </a:solidFill>
                          <a:effectLst/>
                          <a:latin typeface="+mn-ea"/>
                          <a:ea typeface="+mn-ea"/>
                          <a:cs typeface="Times New Roman" panose="02020603050405020304" pitchFamily="18" charset="0"/>
                        </a:rPr>
                        <a:t>으로 설정해서</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예</a:t>
                      </a:r>
                      <a:r>
                        <a:rPr lang="en-US" altLang="ko-KR" sz="1000" b="0" dirty="0" smtClean="0">
                          <a:solidFill>
                            <a:schemeClr val="tx1"/>
                          </a:solidFill>
                          <a:effectLst/>
                          <a:latin typeface="+mn-ea"/>
                          <a:ea typeface="+mn-ea"/>
                          <a:cs typeface="Times New Roman" panose="02020603050405020304" pitchFamily="18" charset="0"/>
                        </a:rPr>
                        <a:t>. “Company Group” </a:t>
                      </a:r>
                      <a:r>
                        <a:rPr lang="ko-KR" altLang="en-US" sz="1000" b="0" dirty="0" smtClean="0">
                          <a:solidFill>
                            <a:schemeClr val="tx1"/>
                          </a:solidFill>
                          <a:effectLst/>
                          <a:latin typeface="+mn-ea"/>
                          <a:ea typeface="+mn-ea"/>
                          <a:cs typeface="Times New Roman" panose="02020603050405020304" pitchFamily="18" charset="0"/>
                        </a:rPr>
                        <a:t>등</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대상회사의 적용되는 대부분의 </a:t>
                      </a:r>
                      <a:r>
                        <a:rPr lang="ko-KR" altLang="en-US" sz="1000" b="0" dirty="0" err="1" smtClean="0">
                          <a:solidFill>
                            <a:schemeClr val="tx1"/>
                          </a:solidFill>
                          <a:effectLst/>
                          <a:latin typeface="+mn-ea"/>
                          <a:ea typeface="+mn-ea"/>
                          <a:cs typeface="Times New Roman" panose="02020603050405020304" pitchFamily="18" charset="0"/>
                        </a:rPr>
                        <a:t>진술보장이</a:t>
                      </a:r>
                      <a:r>
                        <a:rPr lang="ko-KR" altLang="en-US" sz="1000" b="0" dirty="0" smtClean="0">
                          <a:solidFill>
                            <a:schemeClr val="tx1"/>
                          </a:solidFill>
                          <a:effectLst/>
                          <a:latin typeface="+mn-ea"/>
                          <a:ea typeface="+mn-ea"/>
                          <a:cs typeface="Times New Roman" panose="02020603050405020304" pitchFamily="18" charset="0"/>
                        </a:rPr>
                        <a:t> 적용되도록 할 필요가 있음</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매도인이 일부 자회사 </a:t>
                      </a:r>
                      <a:r>
                        <a:rPr lang="ko-KR" altLang="en-US" sz="1000" b="0" dirty="0" err="1" smtClean="0">
                          <a:solidFill>
                            <a:schemeClr val="tx1"/>
                          </a:solidFill>
                          <a:effectLst/>
                          <a:latin typeface="+mn-ea"/>
                          <a:ea typeface="+mn-ea"/>
                          <a:cs typeface="Times New Roman" panose="02020603050405020304" pitchFamily="18" charset="0"/>
                        </a:rPr>
                        <a:t>제외요청을</a:t>
                      </a:r>
                      <a:r>
                        <a:rPr lang="ko-KR" altLang="en-US" sz="1000" b="0" dirty="0" smtClean="0">
                          <a:solidFill>
                            <a:schemeClr val="tx1"/>
                          </a:solidFill>
                          <a:effectLst/>
                          <a:latin typeface="+mn-ea"/>
                          <a:ea typeface="+mn-ea"/>
                          <a:cs typeface="Times New Roman" panose="02020603050405020304" pitchFamily="18" charset="0"/>
                        </a:rPr>
                        <a:t> 하는 경우 매수인의 실사 결과에 따라 수용여부를 결정해야 함</a:t>
                      </a:r>
                      <a:r>
                        <a:rPr lang="en-US" altLang="ko-KR" sz="1000" b="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a:pPr>
                      <a:r>
                        <a:rPr lang="ko-KR" altLang="en-US" sz="1000" b="1" dirty="0" smtClean="0">
                          <a:solidFill>
                            <a:schemeClr val="tx1"/>
                          </a:solidFill>
                          <a:effectLst/>
                          <a:latin typeface="+mn-ea"/>
                          <a:ea typeface="+mn-ea"/>
                          <a:cs typeface="Times New Roman" panose="02020603050405020304" pitchFamily="18" charset="0"/>
                        </a:rPr>
                        <a:t>매도인</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대상회사가 </a:t>
                      </a:r>
                      <a:r>
                        <a:rPr lang="en-US" altLang="ko-KR" sz="1000" b="0" dirty="0" smtClean="0">
                          <a:solidFill>
                            <a:schemeClr val="tx1"/>
                          </a:solidFill>
                          <a:effectLst/>
                          <a:latin typeface="+mn-ea"/>
                          <a:ea typeface="+mn-ea"/>
                          <a:cs typeface="Times New Roman" panose="02020603050405020304" pitchFamily="18" charset="0"/>
                        </a:rPr>
                        <a:t>control</a:t>
                      </a:r>
                      <a:r>
                        <a:rPr lang="ko-KR" altLang="en-US" sz="1000" b="0" dirty="0" smtClean="0">
                          <a:solidFill>
                            <a:schemeClr val="tx1"/>
                          </a:solidFill>
                          <a:effectLst/>
                          <a:latin typeface="+mn-ea"/>
                          <a:ea typeface="+mn-ea"/>
                          <a:cs typeface="Times New Roman" panose="02020603050405020304" pitchFamily="18" charset="0"/>
                        </a:rPr>
                        <a:t>하지 못하거나 중요하지 않은 자회사가 </a:t>
                      </a:r>
                      <a:r>
                        <a:rPr lang="en-US" altLang="ko-KR" sz="1000" b="0" dirty="0" smtClean="0">
                          <a:solidFill>
                            <a:schemeClr val="tx1"/>
                          </a:solidFill>
                          <a:effectLst/>
                          <a:latin typeface="+mn-ea"/>
                          <a:ea typeface="+mn-ea"/>
                          <a:cs typeface="Times New Roman" panose="02020603050405020304" pitchFamily="18" charset="0"/>
                        </a:rPr>
                        <a:t>Company Group</a:t>
                      </a:r>
                      <a:r>
                        <a:rPr lang="ko-KR" altLang="en-US" sz="1000" b="0" dirty="0" smtClean="0">
                          <a:solidFill>
                            <a:schemeClr val="tx1"/>
                          </a:solidFill>
                          <a:effectLst/>
                          <a:latin typeface="+mn-ea"/>
                          <a:ea typeface="+mn-ea"/>
                          <a:cs typeface="Times New Roman" panose="02020603050405020304" pitchFamily="18" charset="0"/>
                        </a:rPr>
                        <a:t>에 포함되지 않도록 제안할 수 있음</a:t>
                      </a:r>
                      <a:r>
                        <a:rPr lang="en-US" altLang="ko-KR" sz="1000" b="0" dirty="0" smtClean="0">
                          <a:solidFill>
                            <a:schemeClr val="tx1"/>
                          </a:solidFill>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83926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4.05   </a:t>
                      </a:r>
                      <a:r>
                        <a:rPr lang="en-US" altLang="ko-KR" sz="1000" u="sng" dirty="0" smtClean="0">
                          <a:solidFill>
                            <a:schemeClr val="tx1"/>
                          </a:solidFill>
                          <a:effectLst/>
                          <a:latin typeface="+mn-ea"/>
                          <a:ea typeface="+mn-ea"/>
                          <a:cs typeface="Times New Roman" panose="02020603050405020304" pitchFamily="18" charset="0"/>
                        </a:rPr>
                        <a:t>Ownership of Company Interests/Capitalization</a:t>
                      </a:r>
                      <a:r>
                        <a:rPr lang="en-US" altLang="ko-KR" sz="1000" dirty="0" smtClean="0">
                          <a:solidFill>
                            <a:schemeClr val="tx1"/>
                          </a:solidFill>
                          <a:effectLst/>
                          <a:latin typeface="+mn-ea"/>
                          <a:ea typeface="+mn-ea"/>
                          <a:cs typeface="Times New Roman" panose="02020603050405020304" pitchFamily="18" charset="0"/>
                        </a:rPr>
                        <a:t>. </a:t>
                      </a:r>
                    </a:p>
                    <a:p>
                      <a:pPr marL="171450" indent="-171450" algn="l" latinLnBrk="1">
                        <a:lnSpc>
                          <a:spcPct val="110000"/>
                        </a:lnSpc>
                        <a:spcAft>
                          <a:spcPts val="0"/>
                        </a:spcAft>
                        <a:buFont typeface="Wingdings" panose="05000000000000000000" pitchFamily="2" charset="2"/>
                        <a:buChar char="§"/>
                      </a:pPr>
                      <a:r>
                        <a:rPr lang="en-US" altLang="ko-KR" sz="1000" dirty="0" smtClean="0">
                          <a:solidFill>
                            <a:schemeClr val="tx1"/>
                          </a:solidFill>
                          <a:effectLst/>
                          <a:latin typeface="+mn-ea"/>
                          <a:ea typeface="+mn-ea"/>
                          <a:cs typeface="Times New Roman" panose="02020603050405020304" pitchFamily="18" charset="0"/>
                        </a:rPr>
                        <a:t>The Company does not own, or have any capital stock or other equity, ownership or profit sharing interests in any other Person, or the right or obligation to acquire any capital stock or other equity, ownership or profit sharing interests in any other Person.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005584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a:solidFill>
                  <a:schemeClr val="tx1"/>
                </a:solidFill>
                <a:latin typeface="+mn-ea"/>
                <a:ea typeface="+mn-ea"/>
              </a:rPr>
              <a:t>5. Consents and Approvals/ No Violation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2023518179"/>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72404">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계약체결 및 거래종결을 위해 당사자가 사전에 받거나 완료해야 하는 </a:t>
                      </a:r>
                      <a:r>
                        <a:rPr lang="ko-KR" altLang="en-US" sz="1000" dirty="0" err="1" smtClean="0">
                          <a:solidFill>
                            <a:schemeClr val="tx1"/>
                          </a:solidFill>
                          <a:effectLst/>
                          <a:latin typeface="+mn-ea"/>
                          <a:ea typeface="+mn-ea"/>
                          <a:cs typeface="Times New Roman" panose="02020603050405020304" pitchFamily="18" charset="0"/>
                        </a:rPr>
                        <a:t>정부승인과</a:t>
                      </a:r>
                      <a:r>
                        <a:rPr lang="ko-KR" altLang="en-US" sz="1000" dirty="0" smtClean="0">
                          <a:solidFill>
                            <a:schemeClr val="tx1"/>
                          </a:solidFill>
                          <a:effectLst/>
                          <a:latin typeface="+mn-ea"/>
                          <a:ea typeface="+mn-ea"/>
                          <a:cs typeface="Times New Roman" panose="02020603050405020304" pitchFamily="18" charset="0"/>
                        </a:rPr>
                        <a:t> 관련된 진술보장</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691449">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mj-lt"/>
                        <a:buNone/>
                      </a:pPr>
                      <a:r>
                        <a:rPr lang="ko-KR" altLang="en-US" sz="1000" b="0" dirty="0" smtClean="0">
                          <a:solidFill>
                            <a:schemeClr val="tx1"/>
                          </a:solidFill>
                          <a:effectLst/>
                          <a:latin typeface="+mn-ea"/>
                          <a:ea typeface="+mn-ea"/>
                          <a:cs typeface="Times New Roman" panose="02020603050405020304" pitchFamily="18" charset="0"/>
                        </a:rPr>
                        <a:t>본건 거래 관련 취득해야 하는 </a:t>
                      </a:r>
                      <a:r>
                        <a:rPr lang="ko-KR" altLang="en-US" sz="1000" b="0" dirty="0" err="1" smtClean="0">
                          <a:solidFill>
                            <a:schemeClr val="tx1"/>
                          </a:solidFill>
                          <a:effectLst/>
                          <a:latin typeface="+mn-ea"/>
                          <a:ea typeface="+mn-ea"/>
                          <a:cs typeface="Times New Roman" panose="02020603050405020304" pitchFamily="18" charset="0"/>
                        </a:rPr>
                        <a:t>정부승인의</a:t>
                      </a:r>
                      <a:r>
                        <a:rPr lang="ko-KR" altLang="en-US" sz="1000" b="0" dirty="0" smtClean="0">
                          <a:solidFill>
                            <a:schemeClr val="tx1"/>
                          </a:solidFill>
                          <a:effectLst/>
                          <a:latin typeface="+mn-ea"/>
                          <a:ea typeface="+mn-ea"/>
                          <a:cs typeface="Times New Roman" panose="02020603050405020304" pitchFamily="18" charset="0"/>
                        </a:rPr>
                        <a:t> 경우 대상회사의 사업 및 업종에 따라 거래 초기 단계에 파악해야 하는바</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대표적으로는 다음과 같은 것들이 있음</a:t>
                      </a:r>
                      <a:r>
                        <a:rPr lang="en-US" altLang="ko-KR" sz="1000" b="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rabicPeriod"/>
                      </a:pPr>
                      <a:r>
                        <a:rPr lang="en-US" altLang="ko-KR" sz="1000" b="1" dirty="0" smtClean="0">
                          <a:solidFill>
                            <a:schemeClr val="tx1"/>
                          </a:solidFill>
                          <a:effectLst/>
                          <a:latin typeface="+mn-ea"/>
                          <a:ea typeface="+mn-ea"/>
                          <a:cs typeface="Times New Roman" panose="02020603050405020304" pitchFamily="18" charset="0"/>
                        </a:rPr>
                        <a:t>Merger filing/HSR filing</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국내의 경우 독점규제 및 공정거래에 관한 법률 제</a:t>
                      </a:r>
                      <a:r>
                        <a:rPr lang="en-US" altLang="ko-KR" sz="1000" b="0" dirty="0" smtClean="0">
                          <a:solidFill>
                            <a:schemeClr val="tx1"/>
                          </a:solidFill>
                          <a:effectLst/>
                          <a:latin typeface="+mn-ea"/>
                          <a:ea typeface="+mn-ea"/>
                          <a:cs typeface="Times New Roman" panose="02020603050405020304" pitchFamily="18" charset="0"/>
                        </a:rPr>
                        <a:t>11</a:t>
                      </a:r>
                      <a:r>
                        <a:rPr lang="ko-KR" altLang="en-US" sz="1000" b="0" dirty="0" smtClean="0">
                          <a:solidFill>
                            <a:schemeClr val="tx1"/>
                          </a:solidFill>
                          <a:effectLst/>
                          <a:latin typeface="+mn-ea"/>
                          <a:ea typeface="+mn-ea"/>
                          <a:cs typeface="Times New Roman" panose="02020603050405020304" pitchFamily="18" charset="0"/>
                        </a:rPr>
                        <a:t>조에 따라 요구되는 기업결합신고에 대한 승인</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국내 매출액이 </a:t>
                      </a:r>
                      <a:r>
                        <a:rPr lang="en-US" altLang="ko-KR" sz="1000" b="0" dirty="0" smtClean="0">
                          <a:solidFill>
                            <a:schemeClr val="tx1"/>
                          </a:solidFill>
                          <a:effectLst/>
                          <a:latin typeface="+mn-ea"/>
                          <a:ea typeface="+mn-ea"/>
                          <a:cs typeface="Times New Roman" panose="02020603050405020304" pitchFamily="18" charset="0"/>
                        </a:rPr>
                        <a:t>300</a:t>
                      </a:r>
                      <a:r>
                        <a:rPr lang="ko-KR" altLang="en-US" sz="1000" b="0" dirty="0" smtClean="0">
                          <a:solidFill>
                            <a:schemeClr val="tx1"/>
                          </a:solidFill>
                          <a:effectLst/>
                          <a:latin typeface="+mn-ea"/>
                          <a:ea typeface="+mn-ea"/>
                          <a:cs typeface="Times New Roman" panose="02020603050405020304" pitchFamily="18" charset="0"/>
                        </a:rPr>
                        <a:t>억원 이상이어야 함</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및 해외의 경우 각국 법령에 따라 요구되는 기업결합신고</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참조로 해외 회사와 기업결합하는 경우 해당 해외 회사 및 관련 계열회사의 </a:t>
                      </a:r>
                      <a:r>
                        <a:rPr lang="en-US" altLang="ko-KR" sz="1000" b="0" dirty="0" smtClean="0">
                          <a:solidFill>
                            <a:schemeClr val="tx1"/>
                          </a:solidFill>
                          <a:effectLst/>
                          <a:latin typeface="+mn-ea"/>
                          <a:ea typeface="+mn-ea"/>
                          <a:cs typeface="Times New Roman" panose="02020603050405020304" pitchFamily="18" charset="0"/>
                        </a:rPr>
                        <a:t>control</a:t>
                      </a:r>
                      <a:r>
                        <a:rPr lang="ko-KR" altLang="en-US" sz="1000" b="0" dirty="0" smtClean="0">
                          <a:solidFill>
                            <a:schemeClr val="tx1"/>
                          </a:solidFill>
                          <a:effectLst/>
                          <a:latin typeface="+mn-ea"/>
                          <a:ea typeface="+mn-ea"/>
                          <a:cs typeface="Times New Roman" panose="02020603050405020304" pitchFamily="18" charset="0"/>
                        </a:rPr>
                        <a:t>을 가져오는 경우 등 구체적인 </a:t>
                      </a:r>
                      <a:r>
                        <a:rPr lang="ko-KR" altLang="en-US" sz="1000" b="0" dirty="0" err="1" smtClean="0">
                          <a:solidFill>
                            <a:schemeClr val="tx1"/>
                          </a:solidFill>
                          <a:effectLst/>
                          <a:latin typeface="+mn-ea"/>
                          <a:ea typeface="+mn-ea"/>
                          <a:cs typeface="Times New Roman" panose="02020603050405020304" pitchFamily="18" charset="0"/>
                        </a:rPr>
                        <a:t>거래구조에</a:t>
                      </a:r>
                      <a:r>
                        <a:rPr lang="ko-KR" altLang="en-US" sz="1000" b="0" dirty="0" smtClean="0">
                          <a:solidFill>
                            <a:schemeClr val="tx1"/>
                          </a:solidFill>
                          <a:effectLst/>
                          <a:latin typeface="+mn-ea"/>
                          <a:ea typeface="+mn-ea"/>
                          <a:cs typeface="Times New Roman" panose="02020603050405020304" pitchFamily="18" charset="0"/>
                        </a:rPr>
                        <a:t> 따라 산정 대상 검토 필요</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필요 여부를 검토</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미국 내 기업결합신고를 </a:t>
                      </a:r>
                      <a:r>
                        <a:rPr lang="en-US" altLang="ko-KR" sz="1000" b="0" dirty="0" smtClean="0">
                          <a:solidFill>
                            <a:schemeClr val="tx1"/>
                          </a:solidFill>
                          <a:effectLst/>
                          <a:latin typeface="+mn-ea"/>
                          <a:ea typeface="+mn-ea"/>
                          <a:cs typeface="Times New Roman" panose="02020603050405020304" pitchFamily="18" charset="0"/>
                        </a:rPr>
                        <a:t>HSR filing</a:t>
                      </a:r>
                      <a:r>
                        <a:rPr lang="ko-KR" altLang="en-US" sz="1000" b="0" dirty="0" smtClean="0">
                          <a:solidFill>
                            <a:schemeClr val="tx1"/>
                          </a:solidFill>
                          <a:effectLst/>
                          <a:latin typeface="+mn-ea"/>
                          <a:ea typeface="+mn-ea"/>
                          <a:cs typeface="Times New Roman" panose="02020603050405020304" pitchFamily="18" charset="0"/>
                        </a:rPr>
                        <a:t>이라고 함</a:t>
                      </a:r>
                      <a:r>
                        <a:rPr lang="en-US" altLang="ko-KR" sz="1000" b="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rabicPeriod"/>
                      </a:pPr>
                      <a:r>
                        <a:rPr lang="en-US" altLang="ko-KR" sz="1000" b="1" dirty="0" smtClean="0">
                          <a:solidFill>
                            <a:schemeClr val="tx1"/>
                          </a:solidFill>
                          <a:effectLst/>
                          <a:latin typeface="+mn-ea"/>
                          <a:ea typeface="+mn-ea"/>
                          <a:cs typeface="Times New Roman" panose="02020603050405020304" pitchFamily="18" charset="0"/>
                        </a:rPr>
                        <a:t>CFIUS </a:t>
                      </a:r>
                      <a:r>
                        <a:rPr lang="ko-KR" altLang="en-US" sz="1000" b="1" dirty="0" smtClean="0">
                          <a:solidFill>
                            <a:schemeClr val="tx1"/>
                          </a:solidFill>
                          <a:effectLst/>
                          <a:latin typeface="+mn-ea"/>
                          <a:ea typeface="+mn-ea"/>
                          <a:cs typeface="Times New Roman" panose="02020603050405020304" pitchFamily="18" charset="0"/>
                        </a:rPr>
                        <a:t>승인</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미국 외국인투자심의위원회의 승인으로 국가안보의 측면에서 외국인의 미국 내 투자</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인수</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합병</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및 부동산 거래에 대한 심사 및 승인을 진행 함</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신고의무 발생 </a:t>
                      </a:r>
                      <a:r>
                        <a:rPr lang="en-US" altLang="ko-KR" sz="1000" b="0" dirty="0" smtClean="0">
                          <a:solidFill>
                            <a:schemeClr val="tx1"/>
                          </a:solidFill>
                          <a:effectLst/>
                          <a:latin typeface="+mn-ea"/>
                          <a:ea typeface="+mn-ea"/>
                          <a:cs typeface="Times New Roman" panose="02020603050405020304" pitchFamily="18" charset="0"/>
                        </a:rPr>
                        <a:t>risk </a:t>
                      </a:r>
                      <a:r>
                        <a:rPr lang="ko-KR" altLang="en-US" sz="1000" b="0" dirty="0" smtClean="0">
                          <a:solidFill>
                            <a:schemeClr val="tx1"/>
                          </a:solidFill>
                          <a:effectLst/>
                          <a:latin typeface="+mn-ea"/>
                          <a:ea typeface="+mn-ea"/>
                          <a:cs typeface="Times New Roman" panose="02020603050405020304" pitchFamily="18" charset="0"/>
                        </a:rPr>
                        <a:t>및 </a:t>
                      </a:r>
                      <a:r>
                        <a:rPr lang="en-US" altLang="ko-KR" sz="1000" b="0" dirty="0" smtClean="0">
                          <a:solidFill>
                            <a:schemeClr val="tx1"/>
                          </a:solidFill>
                          <a:effectLst/>
                          <a:latin typeface="+mn-ea"/>
                          <a:ea typeface="+mn-ea"/>
                          <a:cs typeface="Times New Roman" panose="02020603050405020304" pitchFamily="18" charset="0"/>
                        </a:rPr>
                        <a:t>deal timeline </a:t>
                      </a:r>
                      <a:r>
                        <a:rPr lang="ko-KR" altLang="en-US" sz="1000" b="0" dirty="0" smtClean="0">
                          <a:solidFill>
                            <a:schemeClr val="tx1"/>
                          </a:solidFill>
                          <a:effectLst/>
                          <a:latin typeface="+mn-ea"/>
                          <a:ea typeface="+mn-ea"/>
                          <a:cs typeface="Times New Roman" panose="02020603050405020304" pitchFamily="18" charset="0"/>
                        </a:rPr>
                        <a:t>등을 고려하여 </a:t>
                      </a:r>
                      <a:r>
                        <a:rPr lang="en-US" altLang="ko-KR" sz="1000" b="0" dirty="0" smtClean="0">
                          <a:solidFill>
                            <a:schemeClr val="tx1"/>
                          </a:solidFill>
                          <a:effectLst/>
                          <a:latin typeface="+mn-ea"/>
                          <a:ea typeface="+mn-ea"/>
                          <a:cs typeface="Times New Roman" panose="02020603050405020304" pitchFamily="18" charset="0"/>
                        </a:rPr>
                        <a:t>(</a:t>
                      </a:r>
                      <a:r>
                        <a:rPr lang="en-US" altLang="ko-KR" sz="1000" b="0" dirty="0" err="1" smtClean="0">
                          <a:solidFill>
                            <a:schemeClr val="tx1"/>
                          </a:solidFill>
                          <a:effectLst/>
                          <a:latin typeface="+mn-ea"/>
                          <a:ea typeface="+mn-ea"/>
                          <a:cs typeface="Times New Roman" panose="02020603050405020304" pitchFamily="18" charset="0"/>
                        </a:rPr>
                        <a:t>i</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자진심사요청 후 진행할지 아니면 </a:t>
                      </a:r>
                      <a:r>
                        <a:rPr lang="en-US" altLang="ko-KR" sz="1000" b="0" dirty="0" smtClean="0">
                          <a:solidFill>
                            <a:schemeClr val="tx1"/>
                          </a:solidFill>
                          <a:effectLst/>
                          <a:latin typeface="+mn-ea"/>
                          <a:ea typeface="+mn-ea"/>
                          <a:cs typeface="Times New Roman" panose="02020603050405020304" pitchFamily="18" charset="0"/>
                        </a:rPr>
                        <a:t>(ii) </a:t>
                      </a:r>
                      <a:r>
                        <a:rPr lang="ko-KR" altLang="en-US" sz="1000" b="0" dirty="0" smtClean="0">
                          <a:solidFill>
                            <a:schemeClr val="tx1"/>
                          </a:solidFill>
                          <a:effectLst/>
                          <a:latin typeface="+mn-ea"/>
                          <a:ea typeface="+mn-ea"/>
                          <a:cs typeface="Times New Roman" panose="02020603050405020304" pitchFamily="18" charset="0"/>
                        </a:rPr>
                        <a:t>자진심사요청 없이 진행할지 </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이 경우</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err="1" smtClean="0">
                          <a:solidFill>
                            <a:schemeClr val="tx1"/>
                          </a:solidFill>
                          <a:effectLst/>
                          <a:latin typeface="+mn-ea"/>
                          <a:ea typeface="+mn-ea"/>
                          <a:cs typeface="Times New Roman" panose="02020603050405020304" pitchFamily="18" charset="0"/>
                        </a:rPr>
                        <a:t>직권심사</a:t>
                      </a:r>
                      <a:r>
                        <a:rPr lang="ko-KR" altLang="en-US" sz="1000" b="0" dirty="0" smtClean="0">
                          <a:solidFill>
                            <a:schemeClr val="tx1"/>
                          </a:solidFill>
                          <a:effectLst/>
                          <a:latin typeface="+mn-ea"/>
                          <a:ea typeface="+mn-ea"/>
                          <a:cs typeface="Times New Roman" panose="02020603050405020304" pitchFamily="18" charset="0"/>
                        </a:rPr>
                        <a:t> 요청 시 대응</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사전 검토 필요함</a:t>
                      </a:r>
                      <a:r>
                        <a:rPr lang="en-US" altLang="ko-KR" sz="1000" b="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a:pPr>
                      <a:r>
                        <a:rPr lang="en-US" altLang="ko-KR" sz="1000" b="1" dirty="0" smtClean="0">
                          <a:solidFill>
                            <a:schemeClr val="tx1"/>
                          </a:solidFill>
                          <a:effectLst/>
                          <a:latin typeface="+mn-ea"/>
                          <a:ea typeface="+mn-ea"/>
                          <a:cs typeface="Times New Roman" panose="02020603050405020304" pitchFamily="18" charset="0"/>
                        </a:rPr>
                        <a:t>FDI filing</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외국 투자에 대한 </a:t>
                      </a:r>
                      <a:r>
                        <a:rPr lang="en-US" altLang="ko-KR" sz="1000" b="0" dirty="0" smtClean="0">
                          <a:solidFill>
                            <a:schemeClr val="tx1"/>
                          </a:solidFill>
                          <a:effectLst/>
                          <a:latin typeface="+mn-ea"/>
                          <a:ea typeface="+mn-ea"/>
                          <a:cs typeface="Times New Roman" panose="02020603050405020304" pitchFamily="18" charset="0"/>
                        </a:rPr>
                        <a:t>EU </a:t>
                      </a:r>
                      <a:r>
                        <a:rPr lang="ko-KR" altLang="en-US" sz="1000" b="0" dirty="0" smtClean="0">
                          <a:solidFill>
                            <a:schemeClr val="tx1"/>
                          </a:solidFill>
                          <a:effectLst/>
                          <a:latin typeface="+mn-ea"/>
                          <a:ea typeface="+mn-ea"/>
                          <a:cs typeface="Times New Roman" panose="02020603050405020304" pitchFamily="18" charset="0"/>
                        </a:rPr>
                        <a:t>및 </a:t>
                      </a:r>
                      <a:r>
                        <a:rPr lang="en-US" altLang="ko-KR" sz="1000" b="0" dirty="0" smtClean="0">
                          <a:solidFill>
                            <a:schemeClr val="tx1"/>
                          </a:solidFill>
                          <a:effectLst/>
                          <a:latin typeface="+mn-ea"/>
                          <a:ea typeface="+mn-ea"/>
                          <a:cs typeface="Times New Roman" panose="02020603050405020304" pitchFamily="18" charset="0"/>
                        </a:rPr>
                        <a:t>UK</a:t>
                      </a:r>
                      <a:r>
                        <a:rPr lang="ko-KR" altLang="en-US" sz="1000" b="0" dirty="0" smtClean="0">
                          <a:solidFill>
                            <a:schemeClr val="tx1"/>
                          </a:solidFill>
                          <a:effectLst/>
                          <a:latin typeface="+mn-ea"/>
                          <a:ea typeface="+mn-ea"/>
                          <a:cs typeface="Times New Roman" panose="02020603050405020304" pitchFamily="18" charset="0"/>
                        </a:rPr>
                        <a:t>의 </a:t>
                      </a:r>
                      <a:r>
                        <a:rPr lang="en-US" altLang="ko-KR" sz="1000" b="0" dirty="0" smtClean="0">
                          <a:solidFill>
                            <a:schemeClr val="tx1"/>
                          </a:solidFill>
                          <a:effectLst/>
                          <a:latin typeface="+mn-ea"/>
                          <a:ea typeface="+mn-ea"/>
                          <a:cs typeface="Times New Roman" panose="02020603050405020304" pitchFamily="18" charset="0"/>
                        </a:rPr>
                        <a:t>FDI screening process</a:t>
                      </a:r>
                      <a:r>
                        <a:rPr lang="ko-KR" altLang="en-US" sz="1000" b="0" dirty="0" smtClean="0">
                          <a:solidFill>
                            <a:schemeClr val="tx1"/>
                          </a:solidFill>
                          <a:effectLst/>
                          <a:latin typeface="+mn-ea"/>
                          <a:ea typeface="+mn-ea"/>
                          <a:cs typeface="Times New Roman" panose="02020603050405020304" pitchFamily="18" charset="0"/>
                        </a:rPr>
                        <a:t>가 각각 있으며</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외국투자로 인해 </a:t>
                      </a:r>
                      <a:r>
                        <a:rPr lang="en-US" altLang="ko-KR" sz="1000" b="0" dirty="0" smtClean="0">
                          <a:solidFill>
                            <a:schemeClr val="tx1"/>
                          </a:solidFill>
                          <a:effectLst/>
                          <a:latin typeface="+mn-ea"/>
                          <a:ea typeface="+mn-ea"/>
                          <a:cs typeface="Times New Roman" panose="02020603050405020304" pitchFamily="18" charset="0"/>
                        </a:rPr>
                        <a:t>EU </a:t>
                      </a:r>
                      <a:r>
                        <a:rPr lang="ko-KR" altLang="en-US" sz="1000" b="0" dirty="0" smtClean="0">
                          <a:solidFill>
                            <a:schemeClr val="tx1"/>
                          </a:solidFill>
                          <a:effectLst/>
                          <a:latin typeface="+mn-ea"/>
                          <a:ea typeface="+mn-ea"/>
                          <a:cs typeface="Times New Roman" panose="02020603050405020304" pitchFamily="18" charset="0"/>
                        </a:rPr>
                        <a:t>회원국</a:t>
                      </a:r>
                      <a:r>
                        <a:rPr lang="en-US" altLang="ko-KR" sz="1000" b="0" dirty="0" smtClean="0">
                          <a:solidFill>
                            <a:schemeClr val="tx1"/>
                          </a:solidFill>
                          <a:effectLst/>
                          <a:latin typeface="+mn-ea"/>
                          <a:ea typeface="+mn-ea"/>
                          <a:cs typeface="Times New Roman" panose="02020603050405020304" pitchFamily="18" charset="0"/>
                        </a:rPr>
                        <a:t>/UK </a:t>
                      </a:r>
                      <a:r>
                        <a:rPr lang="ko-KR" altLang="en-US" sz="1000" b="0" dirty="0" smtClean="0">
                          <a:solidFill>
                            <a:schemeClr val="tx1"/>
                          </a:solidFill>
                          <a:effectLst/>
                          <a:latin typeface="+mn-ea"/>
                          <a:ea typeface="+mn-ea"/>
                          <a:cs typeface="Times New Roman" panose="02020603050405020304" pitchFamily="18" charset="0"/>
                        </a:rPr>
                        <a:t>자국의 안전이나 공공질서를 보호하는 것이 목적임</a:t>
                      </a:r>
                      <a:r>
                        <a:rPr lang="en-US" altLang="ko-KR" sz="1000" b="0" dirty="0" smtClean="0">
                          <a:solidFill>
                            <a:schemeClr val="tx1"/>
                          </a:solidFill>
                          <a:effectLst/>
                          <a:latin typeface="+mn-ea"/>
                          <a:ea typeface="+mn-ea"/>
                          <a:cs typeface="Times New Roman" panose="02020603050405020304" pitchFamily="18" charset="0"/>
                        </a:rPr>
                        <a:t>. EU</a:t>
                      </a:r>
                      <a:r>
                        <a:rPr lang="ko-KR" altLang="en-US" sz="1000" b="0" dirty="0" smtClean="0">
                          <a:solidFill>
                            <a:schemeClr val="tx1"/>
                          </a:solidFill>
                          <a:effectLst/>
                          <a:latin typeface="+mn-ea"/>
                          <a:ea typeface="+mn-ea"/>
                          <a:cs typeface="Times New Roman" panose="02020603050405020304" pitchFamily="18" charset="0"/>
                        </a:rPr>
                        <a:t>의 </a:t>
                      </a:r>
                      <a:r>
                        <a:rPr lang="en-US" altLang="ko-KR" sz="1000" b="0" dirty="0" smtClean="0">
                          <a:solidFill>
                            <a:schemeClr val="tx1"/>
                          </a:solidFill>
                          <a:effectLst/>
                          <a:latin typeface="+mn-ea"/>
                          <a:ea typeface="+mn-ea"/>
                          <a:cs typeface="Times New Roman" panose="02020603050405020304" pitchFamily="18" charset="0"/>
                        </a:rPr>
                        <a:t>FDI screening </a:t>
                      </a:r>
                      <a:r>
                        <a:rPr lang="ko-KR" altLang="en-US" sz="1000" b="0" dirty="0" smtClean="0">
                          <a:solidFill>
                            <a:schemeClr val="tx1"/>
                          </a:solidFill>
                          <a:effectLst/>
                          <a:latin typeface="+mn-ea"/>
                          <a:ea typeface="+mn-ea"/>
                          <a:cs typeface="Times New Roman" panose="02020603050405020304" pitchFamily="18" charset="0"/>
                        </a:rPr>
                        <a:t>프로세스는 각 </a:t>
                      </a:r>
                      <a:r>
                        <a:rPr lang="en-US" altLang="ko-KR" sz="1000" b="0" dirty="0" smtClean="0">
                          <a:solidFill>
                            <a:schemeClr val="tx1"/>
                          </a:solidFill>
                          <a:effectLst/>
                          <a:latin typeface="+mn-ea"/>
                          <a:ea typeface="+mn-ea"/>
                          <a:cs typeface="Times New Roman" panose="02020603050405020304" pitchFamily="18" charset="0"/>
                        </a:rPr>
                        <a:t>EU </a:t>
                      </a:r>
                      <a:r>
                        <a:rPr lang="ko-KR" altLang="en-US" sz="1000" b="0" dirty="0" smtClean="0">
                          <a:solidFill>
                            <a:schemeClr val="tx1"/>
                          </a:solidFill>
                          <a:effectLst/>
                          <a:latin typeface="+mn-ea"/>
                          <a:ea typeface="+mn-ea"/>
                          <a:cs typeface="Times New Roman" panose="02020603050405020304" pitchFamily="18" charset="0"/>
                        </a:rPr>
                        <a:t>회원국의 법규정에 따르며</a:t>
                      </a:r>
                      <a:r>
                        <a:rPr lang="en-US" altLang="ko-KR" sz="1000" b="0" dirty="0" smtClean="0">
                          <a:solidFill>
                            <a:schemeClr val="tx1"/>
                          </a:solidFill>
                          <a:effectLst/>
                          <a:latin typeface="+mn-ea"/>
                          <a:ea typeface="+mn-ea"/>
                          <a:cs typeface="Times New Roman" panose="02020603050405020304" pitchFamily="18" charset="0"/>
                        </a:rPr>
                        <a:t>, EU Commission</a:t>
                      </a:r>
                      <a:r>
                        <a:rPr lang="ko-KR" altLang="en-US" sz="1000" b="0" dirty="0" smtClean="0">
                          <a:solidFill>
                            <a:schemeClr val="tx1"/>
                          </a:solidFill>
                          <a:effectLst/>
                          <a:latin typeface="+mn-ea"/>
                          <a:ea typeface="+mn-ea"/>
                          <a:cs typeface="Times New Roman" panose="02020603050405020304" pitchFamily="18" charset="0"/>
                        </a:rPr>
                        <a:t>에서도 </a:t>
                      </a:r>
                      <a:r>
                        <a:rPr lang="en-US" altLang="ko-KR" sz="1000" b="0" dirty="0" smtClean="0">
                          <a:solidFill>
                            <a:schemeClr val="tx1"/>
                          </a:solidFill>
                          <a:effectLst/>
                          <a:latin typeface="+mn-ea"/>
                          <a:ea typeface="+mn-ea"/>
                          <a:cs typeface="Times New Roman" panose="02020603050405020304" pitchFamily="18" charset="0"/>
                        </a:rPr>
                        <a:t>EU</a:t>
                      </a:r>
                      <a:r>
                        <a:rPr lang="ko-KR" altLang="en-US" sz="1000" b="0" dirty="0" smtClean="0">
                          <a:solidFill>
                            <a:schemeClr val="tx1"/>
                          </a:solidFill>
                          <a:effectLst/>
                          <a:latin typeface="+mn-ea"/>
                          <a:ea typeface="+mn-ea"/>
                          <a:cs typeface="Times New Roman" panose="02020603050405020304" pitchFamily="18" charset="0"/>
                        </a:rPr>
                        <a:t>내 </a:t>
                      </a:r>
                      <a:r>
                        <a:rPr lang="en-US" altLang="ko-KR" sz="1000" b="0" dirty="0" smtClean="0">
                          <a:solidFill>
                            <a:schemeClr val="tx1"/>
                          </a:solidFill>
                          <a:effectLst/>
                          <a:latin typeface="+mn-ea"/>
                          <a:ea typeface="+mn-ea"/>
                          <a:cs typeface="Times New Roman" panose="02020603050405020304" pitchFamily="18" charset="0"/>
                        </a:rPr>
                        <a:t>consistency</a:t>
                      </a:r>
                      <a:r>
                        <a:rPr lang="ko-KR" altLang="en-US" sz="1000" b="0" dirty="0" smtClean="0">
                          <a:solidFill>
                            <a:schemeClr val="tx1"/>
                          </a:solidFill>
                          <a:effectLst/>
                          <a:latin typeface="+mn-ea"/>
                          <a:ea typeface="+mn-ea"/>
                          <a:cs typeface="Times New Roman" panose="02020603050405020304" pitchFamily="18" charset="0"/>
                        </a:rPr>
                        <a:t>를 위해 검토의견을 줌</a:t>
                      </a:r>
                      <a:r>
                        <a:rPr lang="en-US" altLang="ko-KR" sz="1000" b="0" dirty="0" smtClean="0">
                          <a:solidFill>
                            <a:schemeClr val="tx1"/>
                          </a:solidFill>
                          <a:effectLst/>
                          <a:latin typeface="+mn-ea"/>
                          <a:ea typeface="+mn-ea"/>
                          <a:cs typeface="Times New Roman" panose="02020603050405020304" pitchFamily="18" charset="0"/>
                        </a:rPr>
                        <a:t>.  EU/UK FDI filing </a:t>
                      </a:r>
                      <a:r>
                        <a:rPr lang="ko-KR" altLang="en-US" sz="1000" b="0" dirty="0" smtClean="0">
                          <a:solidFill>
                            <a:schemeClr val="tx1"/>
                          </a:solidFill>
                          <a:effectLst/>
                          <a:latin typeface="+mn-ea"/>
                          <a:ea typeface="+mn-ea"/>
                          <a:cs typeface="Times New Roman" panose="02020603050405020304" pitchFamily="18" charset="0"/>
                        </a:rPr>
                        <a:t>프로세스에 보통 자진 심사 절차도 포함되어있음</a:t>
                      </a:r>
                      <a:r>
                        <a:rPr lang="en-US" altLang="ko-KR" sz="1000" b="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rabicPeriod" startAt="4"/>
                      </a:pPr>
                      <a:r>
                        <a:rPr lang="ko-KR" altLang="en-US" sz="1000" b="1" dirty="0" smtClean="0">
                          <a:solidFill>
                            <a:schemeClr val="tx1"/>
                          </a:solidFill>
                          <a:effectLst/>
                          <a:latin typeface="+mn-ea"/>
                          <a:ea typeface="+mn-ea"/>
                          <a:cs typeface="Times New Roman" panose="02020603050405020304" pitchFamily="18" charset="0"/>
                        </a:rPr>
                        <a:t>매수인의 외국환거래법령에 따른 신고</a:t>
                      </a:r>
                      <a:r>
                        <a:rPr lang="en-US" altLang="ko-KR" sz="1000" b="1" dirty="0" smtClean="0">
                          <a:solidFill>
                            <a:schemeClr val="tx1"/>
                          </a:solidFill>
                          <a:effectLst/>
                          <a:latin typeface="+mn-ea"/>
                          <a:ea typeface="+mn-ea"/>
                          <a:cs typeface="Times New Roman" panose="02020603050405020304" pitchFamily="18" charset="0"/>
                        </a:rPr>
                        <a:t>(FX filings)</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대한민국 거주자인 매수인이 외국회사의 발행주식총수의 </a:t>
                      </a:r>
                      <a:r>
                        <a:rPr lang="en-US" altLang="ko-KR" sz="1000" b="0" dirty="0" smtClean="0">
                          <a:solidFill>
                            <a:schemeClr val="tx1"/>
                          </a:solidFill>
                          <a:effectLst/>
                          <a:latin typeface="+mn-ea"/>
                          <a:ea typeface="+mn-ea"/>
                          <a:cs typeface="Times New Roman" panose="02020603050405020304" pitchFamily="18" charset="0"/>
                        </a:rPr>
                        <a:t>10%</a:t>
                      </a:r>
                      <a:r>
                        <a:rPr lang="ko-KR" altLang="en-US" sz="1000" b="0" dirty="0" smtClean="0">
                          <a:solidFill>
                            <a:schemeClr val="tx1"/>
                          </a:solidFill>
                          <a:effectLst/>
                          <a:latin typeface="+mn-ea"/>
                          <a:ea typeface="+mn-ea"/>
                          <a:cs typeface="Times New Roman" panose="02020603050405020304" pitchFamily="18" charset="0"/>
                        </a:rPr>
                        <a:t>를 취득하는 등의 요건에 따라 외국환거래법령에 따라 해외직접투자신고가 필요함</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또한 대상회사가 </a:t>
                      </a:r>
                      <a:r>
                        <a:rPr lang="en-US" altLang="ko-KR" sz="1000" b="0" dirty="0" smtClean="0">
                          <a:solidFill>
                            <a:schemeClr val="tx1"/>
                          </a:solidFill>
                          <a:effectLst/>
                          <a:latin typeface="+mn-ea"/>
                          <a:ea typeface="+mn-ea"/>
                          <a:cs typeface="Times New Roman" panose="02020603050405020304" pitchFamily="18" charset="0"/>
                        </a:rPr>
                        <a:t>SPC </a:t>
                      </a:r>
                      <a:r>
                        <a:rPr lang="ko-KR" altLang="en-US" sz="1000" b="0" dirty="0" smtClean="0">
                          <a:solidFill>
                            <a:schemeClr val="tx1"/>
                          </a:solidFill>
                          <a:effectLst/>
                          <a:latin typeface="+mn-ea"/>
                          <a:ea typeface="+mn-ea"/>
                          <a:cs typeface="Times New Roman" panose="02020603050405020304" pitchFamily="18" charset="0"/>
                        </a:rPr>
                        <a:t>등 역외금융회사</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직접 또는 자회사 등을 통하여 증권</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채권 및 파생금융상품에 투자하여 수익을 얻는 것을 주된 목적으로 설립된 회사로서 실질적인 경영활동을 위한 영업소를 설치하지 아니한 회사</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인 경우</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이에 대한 투자에 있어 한국은행에 계약 체결 전 사전 신고가 필요할 수 있음</a:t>
                      </a:r>
                      <a:r>
                        <a:rPr lang="en-US" altLang="ko-KR" sz="1000" b="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startAt="4"/>
                      </a:pPr>
                      <a:endParaRPr lang="en-US" altLang="ko-KR" sz="1000" b="0" dirty="0" smtClean="0">
                        <a:solidFill>
                          <a:schemeClr val="tx1"/>
                        </a:solidFill>
                        <a:effectLst/>
                        <a:latin typeface="+mn-ea"/>
                        <a:ea typeface="+mn-ea"/>
                        <a:cs typeface="Times New Roman" panose="02020603050405020304" pitchFamily="18" charset="0"/>
                      </a:endParaRPr>
                    </a:p>
                    <a:p>
                      <a:pPr marL="0" indent="0" algn="l" latinLnBrk="1">
                        <a:lnSpc>
                          <a:spcPct val="110000"/>
                        </a:lnSpc>
                        <a:spcAft>
                          <a:spcPts val="0"/>
                        </a:spcAft>
                        <a:buFont typeface="+mj-lt"/>
                        <a:buNone/>
                      </a:pPr>
                      <a:r>
                        <a:rPr lang="ko-KR" altLang="en-US" sz="1000" b="0" dirty="0" smtClean="0">
                          <a:solidFill>
                            <a:schemeClr val="tx1"/>
                          </a:solidFill>
                          <a:effectLst/>
                          <a:latin typeface="+mn-ea"/>
                          <a:ea typeface="+mn-ea"/>
                          <a:cs typeface="Times New Roman" panose="02020603050405020304" pitchFamily="18" charset="0"/>
                        </a:rPr>
                        <a:t>따라서</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개별 </a:t>
                      </a:r>
                      <a:r>
                        <a:rPr lang="ko-KR" altLang="en-US" sz="1000" b="0" dirty="0" err="1" smtClean="0">
                          <a:solidFill>
                            <a:schemeClr val="tx1"/>
                          </a:solidFill>
                          <a:effectLst/>
                          <a:latin typeface="+mn-ea"/>
                          <a:ea typeface="+mn-ea"/>
                          <a:cs typeface="Times New Roman" panose="02020603050405020304" pitchFamily="18" charset="0"/>
                        </a:rPr>
                        <a:t>거래마다</a:t>
                      </a:r>
                      <a:r>
                        <a:rPr lang="ko-KR" altLang="en-US" sz="1000" b="0" dirty="0" smtClean="0">
                          <a:solidFill>
                            <a:schemeClr val="tx1"/>
                          </a:solidFill>
                          <a:effectLst/>
                          <a:latin typeface="+mn-ea"/>
                          <a:ea typeface="+mn-ea"/>
                          <a:cs typeface="Times New Roman" panose="02020603050405020304" pitchFamily="18" charset="0"/>
                        </a:rPr>
                        <a:t> 필요한 필요적 </a:t>
                      </a:r>
                      <a:r>
                        <a:rPr lang="ko-KR" altLang="en-US" sz="1000" b="0" dirty="0" err="1" smtClean="0">
                          <a:solidFill>
                            <a:schemeClr val="tx1"/>
                          </a:solidFill>
                          <a:effectLst/>
                          <a:latin typeface="+mn-ea"/>
                          <a:ea typeface="+mn-ea"/>
                          <a:cs typeface="Times New Roman" panose="02020603050405020304" pitchFamily="18" charset="0"/>
                        </a:rPr>
                        <a:t>정부승인에</a:t>
                      </a:r>
                      <a:r>
                        <a:rPr lang="ko-KR" altLang="en-US" sz="1000" b="0" dirty="0" smtClean="0">
                          <a:solidFill>
                            <a:schemeClr val="tx1"/>
                          </a:solidFill>
                          <a:effectLst/>
                          <a:latin typeface="+mn-ea"/>
                          <a:ea typeface="+mn-ea"/>
                          <a:cs typeface="Times New Roman" panose="02020603050405020304" pitchFamily="18" charset="0"/>
                        </a:rPr>
                        <a:t> 대해서는 대상회사의 사업 </a:t>
                      </a:r>
                      <a:r>
                        <a:rPr lang="ko-KR" altLang="en-US" sz="1000" b="0" dirty="0" err="1" smtClean="0">
                          <a:solidFill>
                            <a:schemeClr val="tx1"/>
                          </a:solidFill>
                          <a:effectLst/>
                          <a:latin typeface="+mn-ea"/>
                          <a:ea typeface="+mn-ea"/>
                          <a:cs typeface="Times New Roman" panose="02020603050405020304" pitchFamily="18" charset="0"/>
                        </a:rPr>
                        <a:t>및구조에</a:t>
                      </a:r>
                      <a:r>
                        <a:rPr lang="ko-KR" altLang="en-US" sz="1000" b="0" dirty="0" smtClean="0">
                          <a:solidFill>
                            <a:schemeClr val="tx1"/>
                          </a:solidFill>
                          <a:effectLst/>
                          <a:latin typeface="+mn-ea"/>
                          <a:ea typeface="+mn-ea"/>
                          <a:cs typeface="Times New Roman" panose="02020603050405020304" pitchFamily="18" charset="0"/>
                        </a:rPr>
                        <a:t> 따라 면밀한 검토가 필요하고</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이를 거래종결 선행조건으로 규정하여 두는 것이 필요함</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다만</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한국은행 신고의 경우</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일반적으로 계약 체결 전에 요구되므로</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계약 체결 일정에 있어서 이를 고려할 필요가 있음</a:t>
                      </a:r>
                      <a:r>
                        <a:rPr lang="en-US" altLang="ko-KR" sz="1000" b="0" dirty="0" smtClean="0">
                          <a:solidFill>
                            <a:schemeClr val="tx1"/>
                          </a:solidFill>
                          <a:effectLst/>
                          <a:latin typeface="+mn-ea"/>
                          <a:ea typeface="+mn-ea"/>
                          <a:cs typeface="Times New Roman" panose="02020603050405020304" pitchFamily="18" charset="0"/>
                        </a:rPr>
                        <a:t>(</a:t>
                      </a:r>
                      <a:r>
                        <a:rPr lang="ko-KR" altLang="en-US" sz="1000" b="0" dirty="0" smtClean="0">
                          <a:solidFill>
                            <a:schemeClr val="tx1"/>
                          </a:solidFill>
                          <a:effectLst/>
                          <a:latin typeface="+mn-ea"/>
                          <a:ea typeface="+mn-ea"/>
                          <a:cs typeface="Times New Roman" panose="02020603050405020304" pitchFamily="18" charset="0"/>
                        </a:rPr>
                        <a:t>통상 계약서 </a:t>
                      </a:r>
                      <a:r>
                        <a:rPr lang="en-US" altLang="ko-KR" sz="1000" b="0" dirty="0" smtClean="0">
                          <a:solidFill>
                            <a:schemeClr val="tx1"/>
                          </a:solidFill>
                          <a:effectLst/>
                          <a:latin typeface="+mn-ea"/>
                          <a:ea typeface="+mn-ea"/>
                          <a:cs typeface="Times New Roman" panose="02020603050405020304" pitchFamily="18" charset="0"/>
                        </a:rPr>
                        <a:t>final draft </a:t>
                      </a:r>
                      <a:r>
                        <a:rPr lang="ko-KR" altLang="en-US" sz="1000" b="0" dirty="0" smtClean="0">
                          <a:solidFill>
                            <a:schemeClr val="tx1"/>
                          </a:solidFill>
                          <a:effectLst/>
                          <a:latin typeface="+mn-ea"/>
                          <a:ea typeface="+mn-ea"/>
                          <a:cs typeface="Times New Roman" panose="02020603050405020304" pitchFamily="18" charset="0"/>
                        </a:rPr>
                        <a:t>바탕으로 한국은행 신고를 진행하며 약 </a:t>
                      </a:r>
                      <a:r>
                        <a:rPr lang="en-US" altLang="ko-KR" sz="1000" b="0" dirty="0" smtClean="0">
                          <a:solidFill>
                            <a:schemeClr val="tx1"/>
                          </a:solidFill>
                          <a:effectLst/>
                          <a:latin typeface="+mn-ea"/>
                          <a:ea typeface="+mn-ea"/>
                          <a:cs typeface="Times New Roman" panose="02020603050405020304" pitchFamily="18" charset="0"/>
                        </a:rPr>
                        <a:t>1</a:t>
                      </a:r>
                      <a:r>
                        <a:rPr lang="ko-KR" altLang="en-US" sz="1000" b="0" dirty="0" smtClean="0">
                          <a:solidFill>
                            <a:schemeClr val="tx1"/>
                          </a:solidFill>
                          <a:effectLst/>
                          <a:latin typeface="+mn-ea"/>
                          <a:ea typeface="+mn-ea"/>
                          <a:cs typeface="Times New Roman" panose="02020603050405020304" pitchFamily="18" charset="0"/>
                        </a:rPr>
                        <a:t>주일 정도 소요됨</a:t>
                      </a:r>
                      <a:r>
                        <a:rPr lang="en-US" altLang="ko-KR" sz="1000" b="0" dirty="0" smtClean="0">
                          <a:solidFill>
                            <a:schemeClr val="tx1"/>
                          </a:solidFill>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19895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4.06    </a:t>
                      </a:r>
                      <a:r>
                        <a:rPr lang="en-US" altLang="ko-KR" sz="1000" u="sng" dirty="0" smtClean="0">
                          <a:solidFill>
                            <a:schemeClr val="tx1"/>
                          </a:solidFill>
                          <a:effectLst/>
                          <a:latin typeface="+mn-ea"/>
                          <a:ea typeface="+mn-ea"/>
                          <a:cs typeface="Times New Roman" panose="02020603050405020304" pitchFamily="18" charset="0"/>
                        </a:rPr>
                        <a:t>Consents and Approvals/No Violation</a:t>
                      </a:r>
                      <a:r>
                        <a:rPr lang="en-US" altLang="ko-KR" sz="100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execution and delivery of this Agreement by Seller does not, and the performance by Seller of this Agreement and the consummation of the transactions contemplated hereby by Seller will not, require the Company to obtain any Consent of any Governmental Authority, except (</a:t>
                      </a:r>
                      <a:r>
                        <a:rPr lang="en-US" altLang="ko-KR" sz="1000" dirty="0" err="1" smtClean="0">
                          <a:solidFill>
                            <a:schemeClr val="tx1"/>
                          </a:solidFill>
                          <a:effectLst/>
                          <a:latin typeface="+mn-ea"/>
                          <a:ea typeface="+mn-ea"/>
                          <a:cs typeface="Times New Roman" panose="02020603050405020304" pitchFamily="18" charset="0"/>
                        </a:rPr>
                        <a:t>i</a:t>
                      </a:r>
                      <a:r>
                        <a:rPr lang="en-US" altLang="ko-KR" sz="1000" dirty="0" smtClean="0">
                          <a:solidFill>
                            <a:schemeClr val="tx1"/>
                          </a:solidFill>
                          <a:effectLst/>
                          <a:latin typeface="+mn-ea"/>
                          <a:ea typeface="+mn-ea"/>
                          <a:cs typeface="Times New Roman" panose="02020603050405020304" pitchFamily="18" charset="0"/>
                        </a:rPr>
                        <a:t>) for compliance with the applicable requirements, if any, of the HSR Act and any other Antitrust Laws, and (ii) for Consents that may be required solely by reason of Buyer’s participation in the transactions contemplated hereby (which Consents shall be solely the responsibility of Buyer).</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5382217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6. </a:t>
            </a:r>
            <a:r>
              <a:rPr lang="en-US" altLang="ko-KR" dirty="0">
                <a:solidFill>
                  <a:schemeClr val="tx1"/>
                </a:solidFill>
                <a:latin typeface="+mn-ea"/>
                <a:ea typeface="+mn-ea"/>
              </a:rPr>
              <a:t>No Undisclosed Liabilities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470367349"/>
              </p:ext>
            </p:extLst>
          </p:nvPr>
        </p:nvGraphicFramePr>
        <p:xfrm>
          <a:off x="439738" y="1043677"/>
          <a:ext cx="9188450" cy="334448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err="1" smtClean="0">
                          <a:solidFill>
                            <a:schemeClr val="tx1"/>
                          </a:solidFill>
                          <a:effectLst/>
                          <a:latin typeface="+mn-ea"/>
                          <a:ea typeface="+mn-ea"/>
                          <a:cs typeface="Times New Roman" panose="02020603050405020304" pitchFamily="18" charset="0"/>
                        </a:rPr>
                        <a:t>미공개된</a:t>
                      </a:r>
                      <a:r>
                        <a:rPr lang="ko-KR" altLang="en-US" sz="1000" dirty="0" smtClean="0">
                          <a:solidFill>
                            <a:schemeClr val="tx1"/>
                          </a:solidFill>
                          <a:effectLst/>
                          <a:latin typeface="+mn-ea"/>
                          <a:ea typeface="+mn-ea"/>
                          <a:cs typeface="Times New Roman" panose="02020603050405020304" pitchFamily="18" charset="0"/>
                        </a:rPr>
                        <a:t> 채무의 </a:t>
                      </a:r>
                      <a:r>
                        <a:rPr lang="ko-KR" altLang="en-US" sz="1000" dirty="0" err="1" smtClean="0">
                          <a:solidFill>
                            <a:schemeClr val="tx1"/>
                          </a:solidFill>
                          <a:effectLst/>
                          <a:latin typeface="+mn-ea"/>
                          <a:ea typeface="+mn-ea"/>
                          <a:cs typeface="Times New Roman" panose="02020603050405020304" pitchFamily="18" charset="0"/>
                        </a:rPr>
                        <a:t>부존재</a:t>
                      </a:r>
                      <a:r>
                        <a:rPr lang="ko-KR" altLang="en-US" sz="1000" dirty="0" smtClean="0">
                          <a:solidFill>
                            <a:schemeClr val="tx1"/>
                          </a:solidFill>
                          <a:effectLst/>
                          <a:latin typeface="+mn-ea"/>
                          <a:ea typeface="+mn-ea"/>
                          <a:cs typeface="Times New Roman" panose="02020603050405020304" pitchFamily="18" charset="0"/>
                        </a:rPr>
                        <a:t> 관련 진술보장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91832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altLang="en-US" sz="1000" b="1" dirty="0" smtClean="0">
                          <a:solidFill>
                            <a:schemeClr val="tx1"/>
                          </a:solidFill>
                          <a:effectLst/>
                          <a:latin typeface="+mn-ea"/>
                          <a:ea typeface="+mn-ea"/>
                          <a:cs typeface="Times New Roman" panose="02020603050405020304" pitchFamily="18" charset="0"/>
                        </a:rPr>
                        <a:t>매수인</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매수인 입장에서는 </a:t>
                      </a:r>
                      <a:r>
                        <a:rPr lang="en-US" altLang="ko-KR" sz="1000" b="0" dirty="0" smtClean="0">
                          <a:solidFill>
                            <a:schemeClr val="tx1"/>
                          </a:solidFill>
                          <a:effectLst/>
                          <a:latin typeface="+mn-ea"/>
                          <a:ea typeface="+mn-ea"/>
                          <a:cs typeface="Times New Roman" panose="02020603050405020304" pitchFamily="18" charset="0"/>
                        </a:rPr>
                        <a:t>disclose </a:t>
                      </a:r>
                      <a:r>
                        <a:rPr lang="ko-KR" altLang="en-US" sz="1000" b="0" dirty="0" smtClean="0">
                          <a:solidFill>
                            <a:schemeClr val="tx1"/>
                          </a:solidFill>
                          <a:effectLst/>
                          <a:latin typeface="+mn-ea"/>
                          <a:ea typeface="+mn-ea"/>
                          <a:cs typeface="Times New Roman" panose="02020603050405020304" pitchFamily="18" charset="0"/>
                        </a:rPr>
                        <a:t>하지 않은 모든 “</a:t>
                      </a:r>
                      <a:r>
                        <a:rPr lang="en-US" altLang="ko-KR" sz="1000" b="0" dirty="0" smtClean="0">
                          <a:solidFill>
                            <a:schemeClr val="tx1"/>
                          </a:solidFill>
                          <a:effectLst/>
                          <a:latin typeface="+mn-ea"/>
                          <a:ea typeface="+mn-ea"/>
                          <a:cs typeface="Times New Roman" panose="02020603050405020304" pitchFamily="18" charset="0"/>
                        </a:rPr>
                        <a:t>unknown liabilities” </a:t>
                      </a:r>
                      <a:r>
                        <a:rPr lang="ko-KR" altLang="en-US" sz="1000" b="0" dirty="0" smtClean="0">
                          <a:solidFill>
                            <a:schemeClr val="tx1"/>
                          </a:solidFill>
                          <a:effectLst/>
                          <a:latin typeface="+mn-ea"/>
                          <a:ea typeface="+mn-ea"/>
                          <a:cs typeface="Times New Roman" panose="02020603050405020304" pitchFamily="18" charset="0"/>
                        </a:rPr>
                        <a:t>대해서 매도인이 책임을 지도록 할 수 있기 때문에 매우 중요한 </a:t>
                      </a:r>
                      <a:r>
                        <a:rPr lang="ko-KR" altLang="en-US" sz="1000" b="0" dirty="0" err="1" smtClean="0">
                          <a:solidFill>
                            <a:schemeClr val="tx1"/>
                          </a:solidFill>
                          <a:effectLst/>
                          <a:latin typeface="+mn-ea"/>
                          <a:ea typeface="+mn-ea"/>
                          <a:cs typeface="Times New Roman" panose="02020603050405020304" pitchFamily="18" charset="0"/>
                        </a:rPr>
                        <a:t>진술보장임</a:t>
                      </a:r>
                      <a:r>
                        <a:rPr lang="en-US" altLang="ko-KR" sz="1000" b="0" dirty="0" smtClean="0">
                          <a:solidFill>
                            <a:schemeClr val="tx1"/>
                          </a:solidFill>
                          <a:effectLst/>
                          <a:latin typeface="+mn-ea"/>
                          <a:ea typeface="+mn-ea"/>
                          <a:cs typeface="Times New Roman" panose="02020603050405020304" pitchFamily="18" charset="0"/>
                        </a:rPr>
                        <a:t>. </a:t>
                      </a:r>
                    </a:p>
                    <a:p>
                      <a:pPr marL="228600" indent="-228600" algn="l" latinLnBrk="1">
                        <a:lnSpc>
                          <a:spcPct val="110000"/>
                        </a:lnSpc>
                        <a:spcAft>
                          <a:spcPts val="0"/>
                        </a:spcAft>
                        <a:buFont typeface="+mj-lt"/>
                        <a:buAutoNum type="arabicPeriod"/>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altLang="en-US" sz="1000" b="1" dirty="0" smtClean="0">
                          <a:solidFill>
                            <a:schemeClr val="tx1"/>
                          </a:solidFill>
                          <a:effectLst/>
                          <a:latin typeface="+mn-ea"/>
                          <a:ea typeface="+mn-ea"/>
                          <a:cs typeface="Times New Roman" panose="02020603050405020304" pitchFamily="18" charset="0"/>
                        </a:rPr>
                        <a:t>매도인</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하기 기재된 일반적으로 수용되는 예외 사항 외에</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매도인은 아래와 같은 문구를 추가하여 </a:t>
                      </a:r>
                      <a:r>
                        <a:rPr lang="en-US" altLang="ko-KR" sz="1000" b="0" dirty="0" smtClean="0">
                          <a:solidFill>
                            <a:schemeClr val="tx1"/>
                          </a:solidFill>
                          <a:effectLst/>
                          <a:latin typeface="+mn-ea"/>
                          <a:ea typeface="+mn-ea"/>
                          <a:cs typeface="Times New Roman" panose="02020603050405020304" pitchFamily="18" charset="0"/>
                        </a:rPr>
                        <a:t>GAAP</a:t>
                      </a:r>
                      <a:r>
                        <a:rPr lang="ko-KR" altLang="en-US" sz="1000" b="0" dirty="0" smtClean="0">
                          <a:solidFill>
                            <a:schemeClr val="tx1"/>
                          </a:solidFill>
                          <a:effectLst/>
                          <a:latin typeface="+mn-ea"/>
                          <a:ea typeface="+mn-ea"/>
                          <a:cs typeface="Times New Roman" panose="02020603050405020304" pitchFamily="18" charset="0"/>
                        </a:rPr>
                        <a:t>에 따라 </a:t>
                      </a:r>
                      <a:r>
                        <a:rPr lang="en-US" altLang="ko-KR" sz="1000" b="0" dirty="0" smtClean="0">
                          <a:solidFill>
                            <a:schemeClr val="tx1"/>
                          </a:solidFill>
                          <a:effectLst/>
                          <a:latin typeface="+mn-ea"/>
                          <a:ea typeface="+mn-ea"/>
                          <a:cs typeface="Times New Roman" panose="02020603050405020304" pitchFamily="18" charset="0"/>
                        </a:rPr>
                        <a:t>disclose </a:t>
                      </a:r>
                      <a:r>
                        <a:rPr lang="ko-KR" altLang="en-US" sz="1000" b="0" dirty="0" smtClean="0">
                          <a:solidFill>
                            <a:schemeClr val="tx1"/>
                          </a:solidFill>
                          <a:effectLst/>
                          <a:latin typeface="+mn-ea"/>
                          <a:ea typeface="+mn-ea"/>
                          <a:cs typeface="Times New Roman" panose="02020603050405020304" pitchFamily="18" charset="0"/>
                        </a:rPr>
                        <a:t>되어야 하는 </a:t>
                      </a:r>
                      <a:r>
                        <a:rPr lang="en-US" altLang="ko-KR" sz="1000" b="0" dirty="0" smtClean="0">
                          <a:solidFill>
                            <a:schemeClr val="tx1"/>
                          </a:solidFill>
                          <a:effectLst/>
                          <a:latin typeface="+mn-ea"/>
                          <a:ea typeface="+mn-ea"/>
                          <a:cs typeface="Times New Roman" panose="02020603050405020304" pitchFamily="18" charset="0"/>
                        </a:rPr>
                        <a:t>liabilities</a:t>
                      </a:r>
                      <a:r>
                        <a:rPr lang="ko-KR" altLang="en-US" sz="1000" b="0" dirty="0" smtClean="0">
                          <a:solidFill>
                            <a:schemeClr val="tx1"/>
                          </a:solidFill>
                          <a:effectLst/>
                          <a:latin typeface="+mn-ea"/>
                          <a:ea typeface="+mn-ea"/>
                          <a:cs typeface="Times New Roman" panose="02020603050405020304" pitchFamily="18" charset="0"/>
                        </a:rPr>
                        <a:t>로 한정하려고 할 수 있음</a:t>
                      </a:r>
                      <a:r>
                        <a:rPr lang="en-US" altLang="ko-KR" sz="1000" b="0" dirty="0" smtClean="0">
                          <a:solidFill>
                            <a:schemeClr val="tx1"/>
                          </a:solidFill>
                          <a:effectLst/>
                          <a:latin typeface="+mn-ea"/>
                          <a:ea typeface="+mn-ea"/>
                          <a:cs typeface="Times New Roman" panose="02020603050405020304" pitchFamily="18" charset="0"/>
                        </a:rPr>
                        <a:t>: </a:t>
                      </a:r>
                      <a:br>
                        <a:rPr lang="en-US" altLang="ko-KR" sz="1000" b="0" dirty="0" smtClean="0">
                          <a:solidFill>
                            <a:schemeClr val="tx1"/>
                          </a:solidFill>
                          <a:effectLst/>
                          <a:latin typeface="+mn-ea"/>
                          <a:ea typeface="+mn-ea"/>
                          <a:cs typeface="Times New Roman" panose="02020603050405020304" pitchFamily="18" charset="0"/>
                        </a:rPr>
                      </a:br>
                      <a:r>
                        <a:rPr lang="en-US" altLang="ko-KR" sz="1000" b="0" dirty="0" smtClean="0">
                          <a:solidFill>
                            <a:schemeClr val="tx1"/>
                          </a:solidFill>
                          <a:effectLst/>
                          <a:latin typeface="+mn-ea"/>
                          <a:ea typeface="+mn-ea"/>
                          <a:cs typeface="Times New Roman" panose="02020603050405020304" pitchFamily="18" charset="0"/>
                        </a:rPr>
                        <a:t>“The Company does not have any Liabilities required to be reflected on a balance sheet prepared in accordance with [GAAP], except for Liabilities….” </a:t>
                      </a:r>
                    </a:p>
                    <a:p>
                      <a:pPr marL="0" indent="0" algn="l" latinLnBrk="1">
                        <a:lnSpc>
                          <a:spcPct val="110000"/>
                        </a:lnSpc>
                        <a:spcAft>
                          <a:spcPts val="0"/>
                        </a:spcAft>
                        <a:buFont typeface="+mj-lt"/>
                        <a:buNone/>
                      </a:pPr>
                      <a:endParaRPr lang="en-US" altLang="ko-KR" sz="1000" b="0" dirty="0" smtClean="0">
                        <a:solidFill>
                          <a:schemeClr val="tx1"/>
                        </a:solidFill>
                        <a:effectLst/>
                        <a:latin typeface="+mn-ea"/>
                        <a:ea typeface="+mn-ea"/>
                        <a:cs typeface="Times New Roman" panose="02020603050405020304" pitchFamily="18" charset="0"/>
                      </a:endParaRPr>
                    </a:p>
                    <a:p>
                      <a:pPr marL="0" indent="0" algn="l" latinLnBrk="1">
                        <a:lnSpc>
                          <a:spcPct val="110000"/>
                        </a:lnSpc>
                        <a:spcAft>
                          <a:spcPts val="0"/>
                        </a:spcAft>
                        <a:buFont typeface="+mj-lt"/>
                        <a:buNone/>
                      </a:pPr>
                      <a:r>
                        <a:rPr lang="en-US" altLang="ko-KR" sz="1000" b="0" dirty="0" smtClean="0">
                          <a:solidFill>
                            <a:schemeClr val="tx1"/>
                          </a:solidFill>
                          <a:effectLst/>
                          <a:latin typeface="+mn-ea"/>
                          <a:ea typeface="+mn-ea"/>
                          <a:cs typeface="Times New Roman" panose="02020603050405020304" pitchFamily="18" charset="0"/>
                        </a:rPr>
                        <a:t>ABA Private Target Deal Points Study</a:t>
                      </a:r>
                      <a:r>
                        <a:rPr lang="ko-KR" altLang="en-US" sz="1000" b="0" dirty="0" smtClean="0">
                          <a:solidFill>
                            <a:schemeClr val="tx1"/>
                          </a:solidFill>
                          <a:effectLst/>
                          <a:latin typeface="+mn-ea"/>
                          <a:ea typeface="+mn-ea"/>
                          <a:cs typeface="Times New Roman" panose="02020603050405020304" pitchFamily="18" charset="0"/>
                        </a:rPr>
                        <a:t>에 따르면 </a:t>
                      </a:r>
                      <a:r>
                        <a:rPr lang="en-US" altLang="ko-KR" sz="1000" b="0" dirty="0" smtClean="0">
                          <a:solidFill>
                            <a:schemeClr val="tx1"/>
                          </a:solidFill>
                          <a:effectLst/>
                          <a:latin typeface="+mn-ea"/>
                          <a:ea typeface="+mn-ea"/>
                          <a:cs typeface="Times New Roman" panose="02020603050405020304" pitchFamily="18" charset="0"/>
                        </a:rPr>
                        <a:t>GAAP liabilities</a:t>
                      </a:r>
                      <a:r>
                        <a:rPr lang="ko-KR" altLang="en-US" sz="1000" b="0" dirty="0" smtClean="0">
                          <a:solidFill>
                            <a:schemeClr val="tx1"/>
                          </a:solidFill>
                          <a:effectLst/>
                          <a:latin typeface="+mn-ea"/>
                          <a:ea typeface="+mn-ea"/>
                          <a:cs typeface="Times New Roman" panose="02020603050405020304" pitchFamily="18" charset="0"/>
                        </a:rPr>
                        <a:t>로 한정하는 경우보다 모든 </a:t>
                      </a:r>
                      <a:r>
                        <a:rPr lang="en-US" altLang="ko-KR" sz="1000" b="0" dirty="0" smtClean="0">
                          <a:solidFill>
                            <a:schemeClr val="tx1"/>
                          </a:solidFill>
                          <a:effectLst/>
                          <a:latin typeface="+mn-ea"/>
                          <a:ea typeface="+mn-ea"/>
                          <a:cs typeface="Times New Roman" panose="02020603050405020304" pitchFamily="18" charset="0"/>
                        </a:rPr>
                        <a:t>liabilities</a:t>
                      </a:r>
                      <a:r>
                        <a:rPr lang="ko-KR" altLang="en-US" sz="1000" b="0" dirty="0" smtClean="0">
                          <a:solidFill>
                            <a:schemeClr val="tx1"/>
                          </a:solidFill>
                          <a:effectLst/>
                          <a:latin typeface="+mn-ea"/>
                          <a:ea typeface="+mn-ea"/>
                          <a:cs typeface="Times New Roman" panose="02020603050405020304" pitchFamily="18" charset="0"/>
                        </a:rPr>
                        <a:t>를 </a:t>
                      </a:r>
                      <a:r>
                        <a:rPr lang="en-US" altLang="ko-KR" sz="1000" b="0" dirty="0" smtClean="0">
                          <a:solidFill>
                            <a:schemeClr val="tx1"/>
                          </a:solidFill>
                          <a:effectLst/>
                          <a:latin typeface="+mn-ea"/>
                          <a:ea typeface="+mn-ea"/>
                          <a:cs typeface="Times New Roman" panose="02020603050405020304" pitchFamily="18" charset="0"/>
                        </a:rPr>
                        <a:t>cover</a:t>
                      </a:r>
                      <a:r>
                        <a:rPr lang="ko-KR" altLang="en-US" sz="1000" b="0" dirty="0" smtClean="0">
                          <a:solidFill>
                            <a:schemeClr val="tx1"/>
                          </a:solidFill>
                          <a:effectLst/>
                          <a:latin typeface="+mn-ea"/>
                          <a:ea typeface="+mn-ea"/>
                          <a:cs typeface="Times New Roman" panose="02020603050405020304" pitchFamily="18" charset="0"/>
                        </a:rPr>
                        <a:t>하는 경우가 더 많다고 함</a:t>
                      </a:r>
                      <a:r>
                        <a:rPr lang="en-US" altLang="ko-KR" sz="1000" b="0" dirty="0" smtClean="0">
                          <a:solidFill>
                            <a:schemeClr val="tx1"/>
                          </a:solidFill>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95916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4.10   </a:t>
                      </a:r>
                      <a:r>
                        <a:rPr lang="en-US" altLang="ko-KR" sz="1000" u="sng" dirty="0" smtClean="0">
                          <a:solidFill>
                            <a:schemeClr val="tx1"/>
                          </a:solidFill>
                          <a:effectLst/>
                          <a:latin typeface="+mn-ea"/>
                          <a:ea typeface="+mn-ea"/>
                          <a:cs typeface="Times New Roman" panose="02020603050405020304" pitchFamily="18" charset="0"/>
                        </a:rPr>
                        <a:t>No Undisclosed Liabilities</a:t>
                      </a:r>
                      <a:r>
                        <a:rPr lang="en-US" altLang="ko-KR" sz="1000" dirty="0" smtClean="0">
                          <a:solidFill>
                            <a:schemeClr val="tx1"/>
                          </a:solidFill>
                          <a:effectLst/>
                          <a:latin typeface="+mn-ea"/>
                          <a:ea typeface="+mn-ea"/>
                          <a:cs typeface="Times New Roman" panose="02020603050405020304" pitchFamily="18" charset="0"/>
                        </a:rPr>
                        <a:t>.  The Company does not have any Liabilities (nor any fact, event or circumstance which would reasonably be expected to give rise to any such Liabilities), except for Liabilities (</a:t>
                      </a:r>
                      <a:r>
                        <a:rPr lang="en-US" altLang="ko-KR" sz="1000" dirty="0" err="1" smtClean="0">
                          <a:solidFill>
                            <a:schemeClr val="tx1"/>
                          </a:solidFill>
                          <a:effectLst/>
                          <a:latin typeface="+mn-ea"/>
                          <a:ea typeface="+mn-ea"/>
                          <a:cs typeface="Times New Roman" panose="02020603050405020304" pitchFamily="18" charset="0"/>
                        </a:rPr>
                        <a:t>i</a:t>
                      </a:r>
                      <a:r>
                        <a:rPr lang="en-US" altLang="ko-KR" sz="1000" dirty="0" smtClean="0">
                          <a:solidFill>
                            <a:schemeClr val="tx1"/>
                          </a:solidFill>
                          <a:effectLst/>
                          <a:latin typeface="+mn-ea"/>
                          <a:ea typeface="+mn-ea"/>
                          <a:cs typeface="Times New Roman" panose="02020603050405020304" pitchFamily="18" charset="0"/>
                        </a:rPr>
                        <a:t>) reflected in the Financial Statements or (ii) incurred in the Ordinary Course of Business since the Balance Sheet Date which are not material, individually or in the aggregate, to the Company (and which are not the result of or relating to any breach of a Contract or any violation of applicable Law).</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5857883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7. Material Contracts (1)</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2771264586"/>
              </p:ext>
            </p:extLst>
          </p:nvPr>
        </p:nvGraphicFramePr>
        <p:xfrm>
          <a:off x="439738" y="1043677"/>
          <a:ext cx="9188450" cy="202563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826688">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a:t>
                      </a:r>
                      <a:r>
                        <a:rPr lang="en-US" altLang="ko-KR" sz="1000" dirty="0" smtClean="0">
                          <a:solidFill>
                            <a:schemeClr val="tx1"/>
                          </a:solidFill>
                          <a:effectLst/>
                          <a:latin typeface="+mn-ea"/>
                          <a:ea typeface="+mn-ea"/>
                          <a:cs typeface="Times New Roman" panose="02020603050405020304" pitchFamily="18" charset="0"/>
                        </a:rPr>
                        <a:t>Material Contracts”</a:t>
                      </a:r>
                      <a:r>
                        <a:rPr lang="ko-KR" altLang="en-US" sz="1000" dirty="0" smtClean="0">
                          <a:solidFill>
                            <a:schemeClr val="tx1"/>
                          </a:solidFill>
                          <a:effectLst/>
                          <a:latin typeface="+mn-ea"/>
                          <a:ea typeface="+mn-ea"/>
                          <a:cs typeface="Times New Roman" panose="02020603050405020304" pitchFamily="18" charset="0"/>
                        </a:rPr>
                        <a:t>은 대상회사가 보유하고 있는 여러 계약들 중 실사 과정에서 확인된</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매수인 입장에서 중요하다고 판단되는 계약을 열거하여 이에 대하여 별도의 진술보장을 받고</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계약체결일부터 거래종결일전까지 </a:t>
                      </a:r>
                      <a:r>
                        <a:rPr lang="ko-KR" altLang="en-US" sz="1000" dirty="0" err="1" smtClean="0">
                          <a:solidFill>
                            <a:schemeClr val="tx1"/>
                          </a:solidFill>
                          <a:effectLst/>
                          <a:latin typeface="+mn-ea"/>
                          <a:ea typeface="+mn-ea"/>
                          <a:cs typeface="Times New Roman" panose="02020603050405020304" pitchFamily="18" charset="0"/>
                        </a:rPr>
                        <a:t>중요계약에</a:t>
                      </a:r>
                      <a:r>
                        <a:rPr lang="ko-KR" altLang="en-US" sz="1000" dirty="0" smtClean="0">
                          <a:solidFill>
                            <a:schemeClr val="tx1"/>
                          </a:solidFill>
                          <a:effectLst/>
                          <a:latin typeface="+mn-ea"/>
                          <a:ea typeface="+mn-ea"/>
                          <a:cs typeface="Times New Roman" panose="02020603050405020304" pitchFamily="18" charset="0"/>
                        </a:rPr>
                        <a:t> 대한 행위</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중요계약의 체결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변경</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해지 등</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에 대하여 매수인의 동의를 받는데</a:t>
                      </a:r>
                      <a:r>
                        <a:rPr lang="en-US" altLang="ko-KR" sz="1000" dirty="0" smtClean="0">
                          <a:solidFill>
                            <a:schemeClr val="tx1"/>
                          </a:solidFill>
                          <a:effectLst/>
                          <a:latin typeface="+mn-ea"/>
                          <a:ea typeface="+mn-ea"/>
                          <a:cs typeface="Times New Roman" panose="02020603050405020304" pitchFamily="18" charset="0"/>
                        </a:rPr>
                        <a:t>(</a:t>
                      </a:r>
                      <a:r>
                        <a:rPr lang="ko-KR" altLang="en-US" sz="1000" dirty="0" smtClean="0">
                          <a:solidFill>
                            <a:schemeClr val="tx1"/>
                          </a:solidFill>
                          <a:effectLst/>
                          <a:latin typeface="+mn-ea"/>
                          <a:ea typeface="+mn-ea"/>
                          <a:cs typeface="Times New Roman" panose="02020603050405020304" pitchFamily="18" charset="0"/>
                        </a:rPr>
                        <a:t>이른바 </a:t>
                      </a:r>
                      <a:r>
                        <a:rPr lang="en-US" altLang="ko-KR" sz="1000" dirty="0" smtClean="0">
                          <a:solidFill>
                            <a:schemeClr val="tx1"/>
                          </a:solidFill>
                          <a:effectLst/>
                          <a:latin typeface="+mn-ea"/>
                          <a:ea typeface="+mn-ea"/>
                          <a:cs typeface="Times New Roman" panose="02020603050405020304" pitchFamily="18" charset="0"/>
                        </a:rPr>
                        <a:t>OCB </a:t>
                      </a:r>
                      <a:r>
                        <a:rPr lang="ko-KR" altLang="en-US" sz="1000" dirty="0" smtClean="0">
                          <a:solidFill>
                            <a:schemeClr val="tx1"/>
                          </a:solidFill>
                          <a:effectLst/>
                          <a:latin typeface="+mn-ea"/>
                          <a:ea typeface="+mn-ea"/>
                          <a:cs typeface="Times New Roman" panose="02020603050405020304" pitchFamily="18" charset="0"/>
                        </a:rPr>
                        <a:t>조항</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근거가 됨</a:t>
                      </a:r>
                      <a:r>
                        <a:rPr lang="en-US" altLang="ko-KR" sz="1000" dirty="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9895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altLang="en-US" sz="1000" b="0" dirty="0" smtClean="0">
                          <a:solidFill>
                            <a:schemeClr val="tx1"/>
                          </a:solidFill>
                          <a:effectLst/>
                          <a:latin typeface="+mn-ea"/>
                          <a:ea typeface="+mn-ea"/>
                          <a:cs typeface="Times New Roman" panose="02020603050405020304" pitchFamily="18" charset="0"/>
                        </a:rPr>
                        <a:t>관련하여 금액 기준은 실사를 통하여 확인한 연간 매출액 또는 매입액 순위 중 </a:t>
                      </a:r>
                      <a:r>
                        <a:rPr lang="en-US" altLang="ko-KR" sz="1000" b="0" dirty="0" smtClean="0">
                          <a:solidFill>
                            <a:schemeClr val="tx1"/>
                          </a:solidFill>
                          <a:effectLst/>
                          <a:latin typeface="+mn-ea"/>
                          <a:ea typeface="+mn-ea"/>
                          <a:cs typeface="Times New Roman" panose="02020603050405020304" pitchFamily="18" charset="0"/>
                        </a:rPr>
                        <a:t>5</a:t>
                      </a:r>
                      <a:r>
                        <a:rPr lang="ko-KR" altLang="en-US" sz="1000" b="0" dirty="0" smtClean="0">
                          <a:solidFill>
                            <a:schemeClr val="tx1"/>
                          </a:solidFill>
                          <a:effectLst/>
                          <a:latin typeface="+mn-ea"/>
                          <a:ea typeface="+mn-ea"/>
                          <a:cs typeface="Times New Roman" panose="02020603050405020304" pitchFamily="18" charset="0"/>
                        </a:rPr>
                        <a:t>위 내지 </a:t>
                      </a:r>
                      <a:r>
                        <a:rPr lang="en-US" altLang="ko-KR" sz="1000" b="0" dirty="0" smtClean="0">
                          <a:solidFill>
                            <a:schemeClr val="tx1"/>
                          </a:solidFill>
                          <a:effectLst/>
                          <a:latin typeface="+mn-ea"/>
                          <a:ea typeface="+mn-ea"/>
                          <a:cs typeface="Times New Roman" panose="02020603050405020304" pitchFamily="18" charset="0"/>
                        </a:rPr>
                        <a:t>10</a:t>
                      </a:r>
                      <a:r>
                        <a:rPr lang="ko-KR" altLang="en-US" sz="1000" b="0" dirty="0" smtClean="0">
                          <a:solidFill>
                            <a:schemeClr val="tx1"/>
                          </a:solidFill>
                          <a:effectLst/>
                          <a:latin typeface="+mn-ea"/>
                          <a:ea typeface="+mn-ea"/>
                          <a:cs typeface="Times New Roman" panose="02020603050405020304" pitchFamily="18" charset="0"/>
                        </a:rPr>
                        <a:t>위에 해당하는 계약의 금액을 최소 기준으로 정하는 방법</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회사 가치의 </a:t>
                      </a:r>
                      <a:r>
                        <a:rPr lang="en-US" altLang="ko-KR" sz="1000" b="0" dirty="0" smtClean="0">
                          <a:solidFill>
                            <a:schemeClr val="tx1"/>
                          </a:solidFill>
                          <a:effectLst/>
                          <a:latin typeface="+mn-ea"/>
                          <a:ea typeface="+mn-ea"/>
                          <a:cs typeface="Times New Roman" panose="02020603050405020304" pitchFamily="18" charset="0"/>
                        </a:rPr>
                        <a:t>[X]%</a:t>
                      </a:r>
                      <a:r>
                        <a:rPr lang="ko-KR" altLang="en-US" sz="1000" b="0" dirty="0" smtClean="0">
                          <a:solidFill>
                            <a:schemeClr val="tx1"/>
                          </a:solidFill>
                          <a:effectLst/>
                          <a:latin typeface="+mn-ea"/>
                          <a:ea typeface="+mn-ea"/>
                          <a:cs typeface="Times New Roman" panose="02020603050405020304" pitchFamily="18" charset="0"/>
                        </a:rPr>
                        <a:t>을 최소 기준으로 정하는 방법 등 다양한 방법으로 매수인이 커버하고자 하는 중요계약의 범위를 설정할 수 있음</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이외 실사 과정에서 파악한 주요 개별 계약 또는 계약 상대방을 특정하여 중요계약으로 정하는 것도 가능함</a:t>
                      </a:r>
                      <a:r>
                        <a:rPr lang="en-US" altLang="ko-KR" sz="1000" b="0" dirty="0" smtClean="0">
                          <a:solidFill>
                            <a:schemeClr val="tx1"/>
                          </a:solidFill>
                          <a:effectLst/>
                          <a:latin typeface="+mn-ea"/>
                          <a:ea typeface="+mn-ea"/>
                          <a:cs typeface="Times New Roman" panose="02020603050405020304" pitchFamily="18" charset="0"/>
                        </a:rPr>
                        <a:t>. </a:t>
                      </a:r>
                    </a:p>
                    <a:p>
                      <a:pPr marL="171450" indent="-171450" algn="l" latinLnBrk="1">
                        <a:lnSpc>
                          <a:spcPct val="110000"/>
                        </a:lnSpc>
                        <a:spcAft>
                          <a:spcPts val="0"/>
                        </a:spcAft>
                        <a:buFont typeface="Wingdings" panose="05000000000000000000" pitchFamily="2" charset="2"/>
                        <a:buChar char="§"/>
                      </a:pPr>
                      <a:r>
                        <a:rPr lang="ko-KR" altLang="en-US" sz="1000" b="0" dirty="0" smtClean="0">
                          <a:solidFill>
                            <a:schemeClr val="tx1"/>
                          </a:solidFill>
                          <a:effectLst/>
                          <a:latin typeface="+mn-ea"/>
                          <a:ea typeface="+mn-ea"/>
                          <a:cs typeface="Times New Roman" panose="02020603050405020304" pitchFamily="18" charset="0"/>
                        </a:rPr>
                        <a:t>통상적으로는 대상회사가 체결한 전체 </a:t>
                      </a:r>
                      <a:r>
                        <a:rPr lang="ko-KR" altLang="en-US" sz="1000" b="0" dirty="0" err="1" smtClean="0">
                          <a:solidFill>
                            <a:schemeClr val="tx1"/>
                          </a:solidFill>
                          <a:effectLst/>
                          <a:latin typeface="+mn-ea"/>
                          <a:ea typeface="+mn-ea"/>
                          <a:cs typeface="Times New Roman" panose="02020603050405020304" pitchFamily="18" charset="0"/>
                        </a:rPr>
                        <a:t>매입계약</a:t>
                      </a:r>
                      <a:r>
                        <a:rPr lang="ko-KR" altLang="en-US" sz="1000" b="0" dirty="0" smtClean="0">
                          <a:solidFill>
                            <a:schemeClr val="tx1"/>
                          </a:solidFill>
                          <a:effectLst/>
                          <a:latin typeface="+mn-ea"/>
                          <a:ea typeface="+mn-ea"/>
                          <a:cs typeface="Times New Roman" panose="02020603050405020304" pitchFamily="18" charset="0"/>
                        </a:rPr>
                        <a:t> 또는 </a:t>
                      </a:r>
                      <a:r>
                        <a:rPr lang="ko-KR" altLang="en-US" sz="1000" b="0" dirty="0" err="1" smtClean="0">
                          <a:solidFill>
                            <a:schemeClr val="tx1"/>
                          </a:solidFill>
                          <a:effectLst/>
                          <a:latin typeface="+mn-ea"/>
                          <a:ea typeface="+mn-ea"/>
                          <a:cs typeface="Times New Roman" panose="02020603050405020304" pitchFamily="18" charset="0"/>
                        </a:rPr>
                        <a:t>매출계약의</a:t>
                      </a:r>
                      <a:r>
                        <a:rPr lang="ko-KR" altLang="en-US" sz="1000" b="0" dirty="0" smtClean="0">
                          <a:solidFill>
                            <a:schemeClr val="tx1"/>
                          </a:solidFill>
                          <a:effectLst/>
                          <a:latin typeface="+mn-ea"/>
                          <a:ea typeface="+mn-ea"/>
                          <a:cs typeface="Times New Roman" panose="02020603050405020304" pitchFamily="18" charset="0"/>
                        </a:rPr>
                        <a:t> 합계 금액 중 </a:t>
                      </a:r>
                      <a:r>
                        <a:rPr lang="en-US" altLang="ko-KR" sz="1000" b="0" dirty="0" smtClean="0">
                          <a:solidFill>
                            <a:schemeClr val="tx1"/>
                          </a:solidFill>
                          <a:effectLst/>
                          <a:latin typeface="+mn-ea"/>
                          <a:ea typeface="+mn-ea"/>
                          <a:cs typeface="Times New Roman" panose="02020603050405020304" pitchFamily="18" charset="0"/>
                        </a:rPr>
                        <a:t>50~60% </a:t>
                      </a:r>
                      <a:r>
                        <a:rPr lang="ko-KR" altLang="en-US" sz="1000" b="0" dirty="0" smtClean="0">
                          <a:solidFill>
                            <a:schemeClr val="tx1"/>
                          </a:solidFill>
                          <a:effectLst/>
                          <a:latin typeface="+mn-ea"/>
                          <a:ea typeface="+mn-ea"/>
                          <a:cs typeface="Times New Roman" panose="02020603050405020304" pitchFamily="18" charset="0"/>
                        </a:rPr>
                        <a:t>정도를 </a:t>
                      </a:r>
                      <a:r>
                        <a:rPr lang="en-US" altLang="ko-KR" sz="1000" b="0" dirty="0" smtClean="0">
                          <a:solidFill>
                            <a:schemeClr val="tx1"/>
                          </a:solidFill>
                          <a:effectLst/>
                          <a:latin typeface="+mn-ea"/>
                          <a:ea typeface="+mn-ea"/>
                          <a:cs typeface="Times New Roman" panose="02020603050405020304" pitchFamily="18" charset="0"/>
                        </a:rPr>
                        <a:t>cover</a:t>
                      </a:r>
                      <a:r>
                        <a:rPr lang="ko-KR" altLang="en-US" sz="1000" b="0" dirty="0" smtClean="0">
                          <a:solidFill>
                            <a:schemeClr val="tx1"/>
                          </a:solidFill>
                          <a:effectLst/>
                          <a:latin typeface="+mn-ea"/>
                          <a:ea typeface="+mn-ea"/>
                          <a:cs typeface="Times New Roman" panose="02020603050405020304" pitchFamily="18" charset="0"/>
                        </a:rPr>
                        <a:t>할 수 있는 기준으로 중요계약의 기준을 설정하는 경우가 많은 것으로 보임</a:t>
                      </a:r>
                      <a:r>
                        <a:rPr lang="en-US" altLang="ko-KR" sz="1000" b="0" dirty="0" smtClean="0">
                          <a:solidFill>
                            <a:schemeClr val="tx1"/>
                          </a:solidFill>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13402062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7. Material Contracts (2)</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3167983508"/>
              </p:ext>
            </p:extLst>
          </p:nvPr>
        </p:nvGraphicFramePr>
        <p:xfrm>
          <a:off x="439738" y="1043677"/>
          <a:ext cx="9188450" cy="511302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95916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00000"/>
                        </a:lnSpc>
                        <a:spcAft>
                          <a:spcPts val="300"/>
                        </a:spcAft>
                      </a:pPr>
                      <a:r>
                        <a:rPr lang="en-US" altLang="ko-KR" sz="1000" dirty="0" smtClean="0">
                          <a:solidFill>
                            <a:schemeClr val="tx1"/>
                          </a:solidFill>
                          <a:effectLst/>
                          <a:latin typeface="+mn-ea"/>
                          <a:ea typeface="+mn-ea"/>
                          <a:cs typeface="Times New Roman" panose="02020603050405020304" pitchFamily="18" charset="0"/>
                        </a:rPr>
                        <a:t>Section 4.12   </a:t>
                      </a:r>
                      <a:r>
                        <a:rPr lang="en-US" altLang="ko-KR" sz="1000" u="sng" dirty="0" smtClean="0">
                          <a:solidFill>
                            <a:schemeClr val="tx1"/>
                          </a:solidFill>
                          <a:effectLst/>
                          <a:latin typeface="+mn-ea"/>
                          <a:ea typeface="+mn-ea"/>
                          <a:cs typeface="Times New Roman" panose="02020603050405020304" pitchFamily="18" charset="0"/>
                        </a:rPr>
                        <a:t>Material Contracts</a:t>
                      </a:r>
                      <a:r>
                        <a:rPr lang="en-US" altLang="ko-KR" sz="1000" dirty="0" smtClean="0">
                          <a:solidFill>
                            <a:schemeClr val="tx1"/>
                          </a:solidFill>
                          <a:effectLst/>
                          <a:latin typeface="+mn-ea"/>
                          <a:ea typeface="+mn-ea"/>
                          <a:cs typeface="Times New Roman" panose="02020603050405020304" pitchFamily="18" charset="0"/>
                        </a:rPr>
                        <a:t>.  Schedule 4.12 sets forth a true, correct and complete list of all Material Contracts.  As used in this Agreement, “Material Contracts” means all of the following types of Contracts by which the Company or any of its assets or properties is bound: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that contains a non-competition covenant that precludes the Company from operating in any line of business or in any geographic location that is material to the Company’s business, except for any such Contract (</a:t>
                      </a:r>
                      <a:r>
                        <a:rPr lang="en-US" altLang="ko-KR" sz="850" spc="-30" baseline="0" dirty="0" err="1" smtClean="0">
                          <a:solidFill>
                            <a:schemeClr val="tx1"/>
                          </a:solidFill>
                          <a:effectLst/>
                          <a:latin typeface="+mn-ea"/>
                          <a:ea typeface="+mn-ea"/>
                          <a:cs typeface="Times New Roman" panose="02020603050405020304" pitchFamily="18" charset="0"/>
                        </a:rPr>
                        <a:t>i</a:t>
                      </a:r>
                      <a:r>
                        <a:rPr lang="en-US" altLang="ko-KR" sz="850" spc="-30" baseline="0" dirty="0" smtClean="0">
                          <a:solidFill>
                            <a:schemeClr val="tx1"/>
                          </a:solidFill>
                          <a:effectLst/>
                          <a:latin typeface="+mn-ea"/>
                          <a:ea typeface="+mn-ea"/>
                          <a:cs typeface="Times New Roman" panose="02020603050405020304" pitchFamily="18" charset="0"/>
                        </a:rPr>
                        <a:t>) that may be cancelled without any termination payment by the Company upon notice of sixty (60) or fewer days or (ii) entered into with distributors in the ordinary course of business;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that creates, governs or controls any joint venture or partnership that is material to the Company’s business;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indenture, note purchase agreement, loan or credit agreement or other Contract under which the Company has incurred Indebtedness for borrowed money having an outstanding principal amount in excess of $[〮];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whose term exceeds one (1) year and by its terms (</a:t>
                      </a:r>
                      <a:r>
                        <a:rPr lang="en-US" altLang="ko-KR" sz="850" spc="-30" baseline="0" dirty="0" err="1" smtClean="0">
                          <a:solidFill>
                            <a:schemeClr val="tx1"/>
                          </a:solidFill>
                          <a:effectLst/>
                          <a:latin typeface="+mn-ea"/>
                          <a:ea typeface="+mn-ea"/>
                          <a:cs typeface="Times New Roman" panose="02020603050405020304" pitchFamily="18" charset="0"/>
                        </a:rPr>
                        <a:t>i</a:t>
                      </a:r>
                      <a:r>
                        <a:rPr lang="en-US" altLang="ko-KR" sz="850" spc="-30" baseline="0" dirty="0" smtClean="0">
                          <a:solidFill>
                            <a:schemeClr val="tx1"/>
                          </a:solidFill>
                          <a:effectLst/>
                          <a:latin typeface="+mn-ea"/>
                          <a:ea typeface="+mn-ea"/>
                          <a:cs typeface="Times New Roman" panose="02020603050405020304" pitchFamily="18" charset="0"/>
                        </a:rPr>
                        <a:t>) is not cancellable by the Company on notice of sixty (60) or fewer days without any termination payment by the Company and (ii) expressly provides for aggregate annual payments by the Company in excess of $[〮] (other than this Agreement and any Contract that provides for the acquisition of inventory or equipment in the Ordinary Course of Business);</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for the sale of any of the assets of the Company (whether by merger, sale of stock, sale of assets or otherwise) which is material to the Company’s business and under which the Company has continuing indemnification obligations (other than any Contract that provides for the sale or disposition of inventory or equipment in the Ordinary Course of Business);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with respect to the acquisition of any Person (whether by merger, sale of stock, sale of assets or otherwise) pursuant to which the Company has (x) continuing indemnification obligations or (y) any “earn-out” or similar contingent payment obligations, in each case, that are material to the Company’s business (other than any Contract that provides for the acquisition or divestiture of inventory or equipment in the Ordinary Course of Business);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relating to any capital commitment or capital expenditure by the Company of greater than $[〮] for any individual commitment;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to license or authorize any third party to manufacture or reproduce any of the products of the Company;</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license, sublicense or other Contract pursuant to which the Company has agreed to any restriction on the right of the Company to use or enforce any Intellectual Property related to the Business, excluding licenses for commercially-available, off-the-shelf software;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relating to any Leases;</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entered into with any Governmental Authority;</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collective bargaining agreement, trade union agreements, or any other similar Contract with a collective body of any other representative of Employees that provides for the payment by, or the creation of any commitment or obligation (absolute or contingent) to pay, any severance, termination, “golden parachute”, or other similar payments to any Employee;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separation agreement or severance agreement with any current or former employees under which the Company has any actual Liability in excess of $[〮] in the aggregate;</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with a Related Person; </a:t>
                      </a:r>
                    </a:p>
                    <a:p>
                      <a:pPr marL="228600" indent="-228600" algn="l" latinLnBrk="1">
                        <a:lnSpc>
                          <a:spcPct val="100000"/>
                        </a:lnSpc>
                        <a:spcAft>
                          <a:spcPts val="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Contract with any of the top five (5) suppliers of the Company (based on gross expenditures) during the twelve (12) months ended [〮]; and </a:t>
                      </a:r>
                    </a:p>
                    <a:p>
                      <a:pPr marL="228600" indent="-228600" algn="l" latinLnBrk="1">
                        <a:lnSpc>
                          <a:spcPct val="100000"/>
                        </a:lnSpc>
                        <a:spcAft>
                          <a:spcPts val="600"/>
                        </a:spcAft>
                        <a:buFont typeface="+mj-lt"/>
                        <a:buAutoNum type="alphaLcPeriod"/>
                      </a:pPr>
                      <a:r>
                        <a:rPr lang="en-US" altLang="ko-KR" sz="850" spc="-30" baseline="0" dirty="0" smtClean="0">
                          <a:solidFill>
                            <a:schemeClr val="tx1"/>
                          </a:solidFill>
                          <a:effectLst/>
                          <a:latin typeface="+mn-ea"/>
                          <a:ea typeface="+mn-ea"/>
                          <a:cs typeface="Times New Roman" panose="02020603050405020304" pitchFamily="18" charset="0"/>
                        </a:rPr>
                        <a:t>any other Contracts, the default, breach, violation, expiration or termination of which would be material to the Business.</a:t>
                      </a:r>
                    </a:p>
                    <a:p>
                      <a:pPr marL="0" indent="0" algn="l" latinLnBrk="1">
                        <a:lnSpc>
                          <a:spcPct val="100000"/>
                        </a:lnSpc>
                        <a:spcAft>
                          <a:spcPts val="0"/>
                        </a:spcAft>
                        <a:buFont typeface="+mj-lt"/>
                        <a:buNone/>
                      </a:pPr>
                      <a:r>
                        <a:rPr lang="en-US" altLang="ko-KR" sz="1000" dirty="0" smtClean="0">
                          <a:solidFill>
                            <a:schemeClr val="tx1"/>
                          </a:solidFill>
                          <a:effectLst/>
                          <a:latin typeface="+mn-ea"/>
                          <a:ea typeface="+mn-ea"/>
                          <a:cs typeface="Times New Roman" panose="02020603050405020304" pitchFamily="18" charset="0"/>
                        </a:rPr>
                        <a:t>Each Material Contract is a valid and binding agreement of the Company, enforceable against the Company in accordance with its terms, except as such enforcement may be limited by the Enforceability Limitations. The Company is not, and has not received any written notice as of the date hereof that any other party is, in default under any Material Contract or would result in a termination, modification, acceleration or vesting of any right of obligations or loss of benefit or waiver of material rights thereunder and, to the knowledge of the Company, there has not occurred any event that with the lapse of time or the giving of notice or both would constitute such a default or intention to cancel or modify under any Material Contract.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4104373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8. </a:t>
            </a:r>
            <a:r>
              <a:rPr lang="en-US" altLang="ko-KR" dirty="0">
                <a:solidFill>
                  <a:schemeClr val="tx1"/>
                </a:solidFill>
                <a:latin typeface="+mn-ea"/>
                <a:ea typeface="+mn-ea"/>
              </a:rPr>
              <a:t>Other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4105105352"/>
              </p:ext>
            </p:extLst>
          </p:nvPr>
        </p:nvGraphicFramePr>
        <p:xfrm>
          <a:off x="439738" y="1043677"/>
          <a:ext cx="9188450" cy="238532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기타 특수분야 관련 진술보장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31884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5000"/>
                        </a:lnSpc>
                        <a:spcAft>
                          <a:spcPts val="0"/>
                        </a:spcAft>
                        <a:buFont typeface="Wingdings" panose="05000000000000000000" pitchFamily="2" charset="2"/>
                        <a:buChar char="§"/>
                      </a:pPr>
                      <a:r>
                        <a:rPr lang="ko-KR" sz="1000" dirty="0" err="1">
                          <a:effectLst/>
                          <a:latin typeface="맑은 고딕" panose="020B0503020000020004" pitchFamily="50" charset="-127"/>
                          <a:ea typeface="맑은 고딕" panose="020B0503020000020004" pitchFamily="50" charset="-127"/>
                          <a:cs typeface="Times New Roman" panose="02020603050405020304" pitchFamily="18" charset="0"/>
                        </a:rPr>
                        <a:t>진술보장에</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 대해서는 실사를 주로 진행하는</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local counsel</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의 검토를 받는 것이 중요하겠지만</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특히</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Section 4.11 (Employee Benefit Plans/ERISA), Section 4.15 (Labor Matters), Section 4.19 (Anti-Corruption Laws), Section 4.20 (Export Control Laws), 4.21 (Data Privacy)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등의 진술보장은 </a:t>
                      </a:r>
                      <a:r>
                        <a:rPr lang="ko-KR" sz="1000" dirty="0" err="1">
                          <a:effectLst/>
                          <a:latin typeface="맑은 고딕" panose="020B0503020000020004" pitchFamily="50" charset="-127"/>
                          <a:ea typeface="맑은 고딕" panose="020B0503020000020004" pitchFamily="50" charset="-127"/>
                          <a:cs typeface="Times New Roman" panose="02020603050405020304" pitchFamily="18" charset="0"/>
                        </a:rPr>
                        <a:t>현지법에</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 따라</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cover</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되어야 하는 부분이 다를 수 있으므로</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local counsel</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의 검토가 더욱 중요함</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71450" indent="-171450" algn="l" latinLnBrk="0">
                        <a:lnSpc>
                          <a:spcPct val="115000"/>
                        </a:lnSpc>
                        <a:spcAft>
                          <a:spcPts val="0"/>
                        </a:spcAft>
                        <a:buFont typeface="Wingdings" panose="05000000000000000000" pitchFamily="2" charset="2"/>
                        <a:buChar char="§"/>
                      </a:pP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또한 일반적으로 자주 포함되는 진술보장은 아니지만</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dirty="0" err="1">
                          <a:effectLst/>
                          <a:latin typeface="맑은 고딕" panose="020B0503020000020004" pitchFamily="50" charset="-127"/>
                          <a:ea typeface="맑은 고딕" panose="020B0503020000020004" pitchFamily="50" charset="-127"/>
                          <a:cs typeface="Times New Roman" panose="02020603050405020304" pitchFamily="18" charset="0"/>
                        </a:rPr>
                        <a:t>산업특성과</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 지금까지</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LG H&amp;H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선례를 고려했을 때</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b="1" u="sng" dirty="0">
                          <a:effectLst/>
                          <a:latin typeface="맑은 고딕" panose="020B0503020000020004" pitchFamily="50" charset="-127"/>
                          <a:ea typeface="맑은 고딕" panose="020B0503020000020004" pitchFamily="50" charset="-127"/>
                          <a:cs typeface="Times New Roman" panose="02020603050405020304" pitchFamily="18" charset="0"/>
                        </a:rPr>
                        <a:t>Attachment 2</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에 포함된 진술보장을 넣는 것을 고려해볼 수 있음</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즉</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재고자산</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 account receivables,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고객 및 </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supplier,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및 대상회사의 </a:t>
                      </a:r>
                      <a:r>
                        <a:rPr lang="ko-KR" sz="1000" dirty="0" err="1">
                          <a:effectLst/>
                          <a:latin typeface="맑은 고딕" panose="020B0503020000020004" pitchFamily="50" charset="-127"/>
                          <a:ea typeface="맑은 고딕" panose="020B0503020000020004" pitchFamily="50" charset="-127"/>
                          <a:cs typeface="Times New Roman" panose="02020603050405020304" pitchFamily="18" charset="0"/>
                        </a:rPr>
                        <a:t>대표권한</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 관련 </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POA </a:t>
                      </a:r>
                      <a:r>
                        <a:rPr lang="ko-KR" sz="1000" dirty="0">
                          <a:effectLst/>
                          <a:latin typeface="맑은 고딕" panose="020B0503020000020004" pitchFamily="50" charset="-127"/>
                          <a:ea typeface="맑은 고딕" panose="020B0503020000020004" pitchFamily="50" charset="-127"/>
                          <a:cs typeface="Times New Roman" panose="02020603050405020304" pitchFamily="18" charset="0"/>
                        </a:rPr>
                        <a:t>등을 커버하는 진술보장</a:t>
                      </a:r>
                      <a:r>
                        <a:rPr lang="en-US" sz="10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1200"/>
                        </a:spcAft>
                      </a:pPr>
                      <a:r>
                        <a:rPr lang="en-US" sz="1000" dirty="0">
                          <a:effectLst/>
                          <a:latin typeface="+mn-lt"/>
                          <a:ea typeface="맑은 고딕" panose="020B0503020000020004" pitchFamily="50" charset="-127"/>
                        </a:rPr>
                        <a:t>N/A</a:t>
                      </a:r>
                      <a:endParaRPr lang="ko-KR" sz="1000" dirty="0">
                        <a:effectLst/>
                        <a:latin typeface="+mn-lt"/>
                        <a:ea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7300181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 Representations </a:t>
            </a:r>
            <a:r>
              <a:rPr lang="en-US" altLang="ko-KR" dirty="0">
                <a:latin typeface="+mn-ea"/>
              </a:rPr>
              <a:t>and Warranties of the Seller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9. </a:t>
            </a:r>
            <a:r>
              <a:rPr lang="en-US" altLang="ko-KR" dirty="0">
                <a:solidFill>
                  <a:schemeClr val="tx1"/>
                </a:solidFill>
                <a:latin typeface="+mn-ea"/>
                <a:ea typeface="+mn-ea"/>
              </a:rPr>
              <a:t>Individual Seller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169340869"/>
              </p:ext>
            </p:extLst>
          </p:nvPr>
        </p:nvGraphicFramePr>
        <p:xfrm>
          <a:off x="439738" y="1043677"/>
          <a:ext cx="9188450" cy="370416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sz="1000" dirty="0">
                          <a:effectLst/>
                          <a:latin typeface="+mn-ea"/>
                          <a:ea typeface="+mn-ea"/>
                          <a:cs typeface="Times New Roman" panose="02020603050405020304" pitchFamily="18" charset="0"/>
                        </a:rPr>
                        <a:t>매도인이 개인인 경우 관련 진술보장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75758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sz="1000" dirty="0">
                          <a:effectLst/>
                          <a:latin typeface="+mn-ea"/>
                          <a:ea typeface="+mn-ea"/>
                          <a:cs typeface="Times New Roman" panose="02020603050405020304" pitchFamily="18" charset="0"/>
                        </a:rPr>
                        <a:t>매도인이 개인인 경우</a:t>
                      </a:r>
                      <a:r>
                        <a:rPr lang="en-US" sz="1000" dirty="0">
                          <a:effectLst/>
                          <a:latin typeface="+mn-ea"/>
                          <a:ea typeface="+mn-ea"/>
                          <a:cs typeface="Times New Roman" panose="02020603050405020304" pitchFamily="18" charset="0"/>
                        </a:rPr>
                        <a:t>, </a:t>
                      </a:r>
                      <a:endParaRPr lang="en-US" sz="1000" dirty="0" smtClean="0">
                        <a:effectLst/>
                        <a:latin typeface="+mn-ea"/>
                        <a:ea typeface="+mn-ea"/>
                        <a:cs typeface="Times New Roman" panose="02020603050405020304" pitchFamily="18" charset="0"/>
                      </a:endParaRPr>
                    </a:p>
                    <a:p>
                      <a:pPr algn="l" latinLnBrk="1">
                        <a:lnSpc>
                          <a:spcPct val="115000"/>
                        </a:lnSpc>
                        <a:spcAft>
                          <a:spcPts val="0"/>
                        </a:spcAft>
                      </a:pPr>
                      <a:endParaRPr lang="ko-KR" sz="1000" dirty="0">
                        <a:effectLst/>
                        <a:latin typeface="+mn-ea"/>
                        <a:ea typeface="+mn-ea"/>
                        <a:cs typeface="Times New Roman" panose="02020603050405020304" pitchFamily="18" charset="0"/>
                      </a:endParaRPr>
                    </a:p>
                    <a:p>
                      <a:pPr algn="l" latinLnBrk="1">
                        <a:lnSpc>
                          <a:spcPct val="115000"/>
                        </a:lnSpc>
                        <a:spcAft>
                          <a:spcPts val="0"/>
                        </a:spcAft>
                      </a:pPr>
                      <a:r>
                        <a:rPr lang="en-US" sz="1000" b="1" dirty="0">
                          <a:effectLst/>
                          <a:latin typeface="+mn-ea"/>
                          <a:ea typeface="+mn-ea"/>
                          <a:cs typeface="Times New Roman" panose="02020603050405020304" pitchFamily="18" charset="0"/>
                        </a:rPr>
                        <a:t>1. </a:t>
                      </a:r>
                      <a:r>
                        <a:rPr lang="ko-KR" sz="1000" b="1" dirty="0" err="1">
                          <a:effectLst/>
                          <a:latin typeface="+mn-ea"/>
                          <a:ea typeface="+mn-ea"/>
                          <a:cs typeface="Times New Roman" panose="02020603050405020304" pitchFamily="18" charset="0"/>
                        </a:rPr>
                        <a:t>적법설립에</a:t>
                      </a:r>
                      <a:r>
                        <a:rPr lang="ko-KR" sz="1000" b="1" dirty="0">
                          <a:effectLst/>
                          <a:latin typeface="+mn-ea"/>
                          <a:ea typeface="+mn-ea"/>
                          <a:cs typeface="Times New Roman" panose="02020603050405020304" pitchFamily="18" charset="0"/>
                        </a:rPr>
                        <a:t> 관한 </a:t>
                      </a:r>
                      <a:r>
                        <a:rPr lang="ko-KR" sz="1000" b="1" dirty="0" smtClean="0">
                          <a:effectLst/>
                          <a:latin typeface="+mn-ea"/>
                          <a:ea typeface="+mn-ea"/>
                          <a:cs typeface="Times New Roman" panose="02020603050405020304" pitchFamily="18" charset="0"/>
                        </a:rPr>
                        <a:t>진술보장</a:t>
                      </a:r>
                      <a:r>
                        <a:rPr lang="en-US" sz="1000" b="1" dirty="0" smtClean="0">
                          <a:effectLst/>
                          <a:latin typeface="+mn-ea"/>
                          <a:ea typeface="+mn-ea"/>
                          <a:cs typeface="Times New Roman" panose="02020603050405020304" pitchFamily="18" charset="0"/>
                        </a:rPr>
                        <a:t>(organization </a:t>
                      </a:r>
                      <a:r>
                        <a:rPr lang="en-US" sz="1000" b="1" dirty="0">
                          <a:effectLst/>
                          <a:latin typeface="+mn-ea"/>
                          <a:ea typeface="+mn-ea"/>
                          <a:cs typeface="Times New Roman" panose="02020603050405020304" pitchFamily="18" charset="0"/>
                        </a:rPr>
                        <a:t>rep)</a:t>
                      </a:r>
                      <a:r>
                        <a:rPr lang="ko-KR" sz="1000" b="1" dirty="0">
                          <a:effectLst/>
                          <a:latin typeface="+mn-ea"/>
                          <a:ea typeface="+mn-ea"/>
                          <a:cs typeface="Times New Roman" panose="02020603050405020304" pitchFamily="18" charset="0"/>
                        </a:rPr>
                        <a:t>은 다음 </a:t>
                      </a:r>
                      <a:r>
                        <a:rPr lang="ko-KR" altLang="en-US" sz="1000" b="1" dirty="0" smtClean="0">
                          <a:effectLst/>
                          <a:latin typeface="+mn-ea"/>
                          <a:ea typeface="+mn-ea"/>
                          <a:cs typeface="Times New Roman" panose="02020603050405020304" pitchFamily="18" charset="0"/>
                        </a:rPr>
                        <a:t>문구</a:t>
                      </a:r>
                      <a:r>
                        <a:rPr lang="ko-KR" sz="1000" b="1" dirty="0" smtClean="0">
                          <a:effectLst/>
                          <a:latin typeface="+mn-ea"/>
                          <a:ea typeface="+mn-ea"/>
                          <a:cs typeface="Times New Roman" panose="02020603050405020304" pitchFamily="18" charset="0"/>
                        </a:rPr>
                        <a:t>로 </a:t>
                      </a:r>
                      <a:r>
                        <a:rPr lang="ko-KR" sz="1000" b="1" dirty="0">
                          <a:effectLst/>
                          <a:latin typeface="+mn-ea"/>
                          <a:ea typeface="+mn-ea"/>
                          <a:cs typeface="Times New Roman" panose="02020603050405020304" pitchFamily="18" charset="0"/>
                        </a:rPr>
                        <a:t>대체</a:t>
                      </a:r>
                      <a:r>
                        <a:rPr lang="en-US" sz="1000" b="1" dirty="0">
                          <a:effectLst/>
                          <a:latin typeface="+mn-ea"/>
                          <a:ea typeface="+mn-ea"/>
                          <a:cs typeface="Times New Roman" panose="02020603050405020304" pitchFamily="18" charset="0"/>
                        </a:rPr>
                        <a:t>: </a:t>
                      </a:r>
                      <a:endParaRPr lang="ko-KR" sz="1000" b="1" dirty="0">
                        <a:effectLst/>
                        <a:latin typeface="+mn-ea"/>
                        <a:ea typeface="+mn-ea"/>
                        <a:cs typeface="Times New Roman" panose="02020603050405020304" pitchFamily="18" charset="0"/>
                      </a:endParaRPr>
                    </a:p>
                    <a:p>
                      <a:pPr marL="342900" lvl="0" indent="-342900" algn="l" latinLnBrk="0">
                        <a:lnSpc>
                          <a:spcPct val="115000"/>
                        </a:lnSpc>
                        <a:spcAft>
                          <a:spcPts val="0"/>
                        </a:spcAft>
                        <a:buFont typeface="Wingdings" panose="05000000000000000000" pitchFamily="2" charset="2"/>
                        <a:buChar char="§"/>
                      </a:pPr>
                      <a:r>
                        <a:rPr lang="en-US" sz="1000" u="sng" dirty="0">
                          <a:effectLst/>
                          <a:latin typeface="+mn-ea"/>
                          <a:ea typeface="+mn-ea"/>
                          <a:cs typeface="Times New Roman" panose="02020603050405020304" pitchFamily="18" charset="0"/>
                        </a:rPr>
                        <a:t>Legal standing</a:t>
                      </a:r>
                      <a:r>
                        <a:rPr lang="en-US" sz="1000" dirty="0">
                          <a:effectLst/>
                          <a:latin typeface="+mn-ea"/>
                          <a:ea typeface="+mn-ea"/>
                          <a:cs typeface="Times New Roman" panose="02020603050405020304" pitchFamily="18" charset="0"/>
                        </a:rPr>
                        <a:t>. Seller is a lawful resident of [the Republic of Korea] and is a resident of [Korea] for purposes of Korean tax Laws and </a:t>
                      </a:r>
                      <a:r>
                        <a:rPr lang="en-US" sz="1000" dirty="0" smtClean="0">
                          <a:effectLst/>
                          <a:latin typeface="+mn-ea"/>
                          <a:ea typeface="+mn-ea"/>
                          <a:cs typeface="Times New Roman" panose="02020603050405020304" pitchFamily="18" charset="0"/>
                        </a:rPr>
                        <a:t>for </a:t>
                      </a:r>
                      <a:r>
                        <a:rPr lang="en-US" sz="1000" dirty="0">
                          <a:effectLst/>
                          <a:latin typeface="+mn-ea"/>
                          <a:ea typeface="+mn-ea"/>
                          <a:cs typeface="Times New Roman" panose="02020603050405020304" pitchFamily="18" charset="0"/>
                        </a:rPr>
                        <a:t>all purposes under the Foreign Exchange Transactions Act of Korea.</a:t>
                      </a:r>
                      <a:endParaRPr lang="ko-KR" sz="1000" dirty="0">
                        <a:effectLst/>
                        <a:latin typeface="+mn-ea"/>
                        <a:ea typeface="+mn-ea"/>
                        <a:cs typeface="Times New Roman" panose="02020603050405020304" pitchFamily="18" charset="0"/>
                      </a:endParaRPr>
                    </a:p>
                    <a:p>
                      <a:pPr algn="l" latinLnBrk="1">
                        <a:lnSpc>
                          <a:spcPct val="115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latinLnBrk="1">
                        <a:lnSpc>
                          <a:spcPct val="115000"/>
                        </a:lnSpc>
                        <a:spcAft>
                          <a:spcPts val="0"/>
                        </a:spcAft>
                      </a:pPr>
                      <a:r>
                        <a:rPr lang="en-US" sz="1000" b="1" dirty="0">
                          <a:effectLst/>
                          <a:latin typeface="+mn-ea"/>
                          <a:ea typeface="+mn-ea"/>
                          <a:cs typeface="Times New Roman" panose="02020603050405020304" pitchFamily="18" charset="0"/>
                        </a:rPr>
                        <a:t>2. </a:t>
                      </a:r>
                      <a:r>
                        <a:rPr lang="ko-KR" sz="1000" b="1" dirty="0" err="1">
                          <a:effectLst/>
                          <a:latin typeface="+mn-ea"/>
                          <a:ea typeface="+mn-ea"/>
                          <a:cs typeface="Times New Roman" panose="02020603050405020304" pitchFamily="18" charset="0"/>
                        </a:rPr>
                        <a:t>체결권한</a:t>
                      </a:r>
                      <a:r>
                        <a:rPr lang="ko-KR" sz="1000" b="1" dirty="0">
                          <a:effectLst/>
                          <a:latin typeface="+mn-ea"/>
                          <a:ea typeface="+mn-ea"/>
                          <a:cs typeface="Times New Roman" panose="02020603050405020304" pitchFamily="18" charset="0"/>
                        </a:rPr>
                        <a:t> 및 승인에 관한 </a:t>
                      </a:r>
                      <a:r>
                        <a:rPr lang="ko-KR" sz="1000" b="1" dirty="0" smtClean="0">
                          <a:effectLst/>
                          <a:latin typeface="+mn-ea"/>
                          <a:ea typeface="+mn-ea"/>
                          <a:cs typeface="Times New Roman" panose="02020603050405020304" pitchFamily="18" charset="0"/>
                        </a:rPr>
                        <a:t>진술보장</a:t>
                      </a:r>
                      <a:r>
                        <a:rPr lang="en-US" sz="1000" b="1" dirty="0" smtClean="0">
                          <a:effectLst/>
                          <a:latin typeface="+mn-ea"/>
                          <a:ea typeface="+mn-ea"/>
                          <a:cs typeface="Times New Roman" panose="02020603050405020304" pitchFamily="18" charset="0"/>
                        </a:rPr>
                        <a:t>(authority </a:t>
                      </a:r>
                      <a:r>
                        <a:rPr lang="en-US" sz="1000" b="1" dirty="0">
                          <a:effectLst/>
                          <a:latin typeface="+mn-ea"/>
                          <a:ea typeface="+mn-ea"/>
                          <a:cs typeface="Times New Roman" panose="02020603050405020304" pitchFamily="18" charset="0"/>
                        </a:rPr>
                        <a:t>rep)</a:t>
                      </a:r>
                      <a:r>
                        <a:rPr lang="ko-KR" sz="1000" b="1" dirty="0">
                          <a:effectLst/>
                          <a:latin typeface="+mn-ea"/>
                          <a:ea typeface="+mn-ea"/>
                          <a:cs typeface="Times New Roman" panose="02020603050405020304" pitchFamily="18" charset="0"/>
                        </a:rPr>
                        <a:t>은 다음 </a:t>
                      </a:r>
                      <a:r>
                        <a:rPr lang="ko-KR" altLang="en-US" sz="1000" b="1" dirty="0" smtClean="0">
                          <a:effectLst/>
                          <a:latin typeface="+mn-ea"/>
                          <a:ea typeface="+mn-ea"/>
                          <a:cs typeface="Times New Roman" panose="02020603050405020304" pitchFamily="18" charset="0"/>
                        </a:rPr>
                        <a:t>문구</a:t>
                      </a:r>
                      <a:r>
                        <a:rPr lang="ko-KR" sz="1000" b="1" dirty="0" smtClean="0">
                          <a:effectLst/>
                          <a:latin typeface="+mn-ea"/>
                          <a:ea typeface="+mn-ea"/>
                          <a:cs typeface="Times New Roman" panose="02020603050405020304" pitchFamily="18" charset="0"/>
                        </a:rPr>
                        <a:t>로 </a:t>
                      </a:r>
                      <a:r>
                        <a:rPr lang="ko-KR" sz="1000" b="1" dirty="0">
                          <a:effectLst/>
                          <a:latin typeface="+mn-ea"/>
                          <a:ea typeface="+mn-ea"/>
                          <a:cs typeface="Times New Roman" panose="02020603050405020304" pitchFamily="18" charset="0"/>
                        </a:rPr>
                        <a:t>대체</a:t>
                      </a:r>
                      <a:r>
                        <a:rPr lang="en-US" sz="1000" b="1" dirty="0">
                          <a:effectLst/>
                          <a:latin typeface="+mn-ea"/>
                          <a:ea typeface="+mn-ea"/>
                          <a:cs typeface="Times New Roman" panose="02020603050405020304" pitchFamily="18" charset="0"/>
                        </a:rPr>
                        <a:t>: </a:t>
                      </a:r>
                      <a:endParaRPr lang="ko-KR" sz="1000" b="1" dirty="0">
                        <a:effectLst/>
                        <a:latin typeface="+mn-ea"/>
                        <a:ea typeface="+mn-ea"/>
                        <a:cs typeface="Times New Roman" panose="02020603050405020304" pitchFamily="18" charset="0"/>
                      </a:endParaRPr>
                    </a:p>
                    <a:p>
                      <a:pPr marL="342900" lvl="0" indent="-342900" algn="l" defTabSz="914400" rtl="0" eaLnBrk="1" latinLnBrk="0" hangingPunct="1">
                        <a:lnSpc>
                          <a:spcPct val="115000"/>
                        </a:lnSpc>
                        <a:spcAft>
                          <a:spcPts val="0"/>
                        </a:spcAft>
                        <a:buFont typeface="Wingdings" panose="05000000000000000000" pitchFamily="2" charset="2"/>
                        <a:buChar char="§"/>
                      </a:pPr>
                      <a:r>
                        <a:rPr lang="en-US" sz="1000" u="sng" kern="1200" dirty="0">
                          <a:solidFill>
                            <a:schemeClr val="tx1"/>
                          </a:solidFill>
                          <a:effectLst/>
                          <a:latin typeface="+mn-ea"/>
                          <a:ea typeface="+mn-ea"/>
                          <a:cs typeface="Times New Roman" panose="02020603050405020304" pitchFamily="18" charset="0"/>
                        </a:rPr>
                        <a:t>Authority</a:t>
                      </a:r>
                      <a:r>
                        <a:rPr lang="en-US" sz="1000" u="none" kern="1200" dirty="0">
                          <a:solidFill>
                            <a:schemeClr val="tx1"/>
                          </a:solidFill>
                          <a:effectLst/>
                          <a:latin typeface="+mn-ea"/>
                          <a:ea typeface="+mn-ea"/>
                          <a:cs typeface="Times New Roman" panose="02020603050405020304" pitchFamily="18" charset="0"/>
                        </a:rPr>
                        <a:t>. Seller has the legal capacity to execute and deliver this Agreement and to perform Seller’s obligations hereunder and to consummate the transactions contemplated hereby.  The execution, delivery and performance of this Agreement by Seller, and the consummation of the transactions contemplated hereby by Seller, have been duly authorized by all necessary action on the part of Seller, and no other action on the part of Seller is required to authorize the execution, delivery and performance hereof by Seller, and the consummation of the transactions contemplated hereby by Seller.  This Agreement has been duly executed and delivered by Seller and, assuming that this Agreement has been duly authorized, executed and delivered by Buyer, constitutes the valid and binding obligation of Seller, enforceable against Seller in accordance with its terms</a:t>
                      </a:r>
                      <a:r>
                        <a:rPr lang="en-US" sz="1000" u="none" kern="1200" dirty="0" smtClean="0">
                          <a:solidFill>
                            <a:schemeClr val="tx1"/>
                          </a:solidFill>
                          <a:effectLst/>
                          <a:latin typeface="+mn-ea"/>
                          <a:ea typeface="+mn-ea"/>
                          <a:cs typeface="Times New Roman" panose="02020603050405020304" pitchFamily="18" charset="0"/>
                        </a:rPr>
                        <a:t>.</a:t>
                      </a:r>
                      <a:r>
                        <a:rPr lang="en-US" sz="1000" u="none" kern="1200" dirty="0">
                          <a:solidFill>
                            <a:schemeClr val="tx1"/>
                          </a:solidFill>
                          <a:effectLst/>
                          <a:latin typeface="+mn-ea"/>
                          <a:ea typeface="+mn-ea"/>
                          <a:cs typeface="Times New Roman" panose="02020603050405020304" pitchFamily="18" charset="0"/>
                        </a:rPr>
                        <a:t> </a:t>
                      </a:r>
                      <a:endParaRPr lang="ko-KR" sz="1000" u="none"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7958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1200"/>
                        </a:spcAft>
                      </a:pPr>
                      <a:r>
                        <a:rPr lang="en-US" sz="1000" dirty="0">
                          <a:effectLst/>
                          <a:latin typeface="+mn-ea"/>
                          <a:ea typeface="+mn-ea"/>
                        </a:rPr>
                        <a:t>N/A</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6732780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 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1. Overview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2858466280"/>
              </p:ext>
            </p:extLst>
          </p:nvPr>
        </p:nvGraphicFramePr>
        <p:xfrm>
          <a:off x="439738" y="1043677"/>
          <a:ext cx="9188450" cy="478322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86898">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sz="1000" dirty="0">
                          <a:effectLst/>
                          <a:latin typeface="+mn-ea"/>
                          <a:ea typeface="+mn-ea"/>
                          <a:cs typeface="Times New Roman" panose="02020603050405020304" pitchFamily="18" charset="0"/>
                        </a:rPr>
                        <a:t>계약체결일과 거래종결일 사이에 매도인이 준수해야 하는 거래종결 전 </a:t>
                      </a:r>
                      <a:r>
                        <a:rPr lang="ko-KR" sz="1000" dirty="0" err="1">
                          <a:effectLst/>
                          <a:latin typeface="+mn-ea"/>
                          <a:ea typeface="+mn-ea"/>
                          <a:cs typeface="Times New Roman" panose="02020603050405020304" pitchFamily="18" charset="0"/>
                        </a:rPr>
                        <a:t>확약사항과</a:t>
                      </a:r>
                      <a:r>
                        <a:rPr lang="ko-KR" sz="1000" dirty="0">
                          <a:effectLst/>
                          <a:latin typeface="+mn-ea"/>
                          <a:ea typeface="+mn-ea"/>
                          <a:cs typeface="Times New Roman" panose="02020603050405020304" pitchFamily="18" charset="0"/>
                        </a:rPr>
                        <a:t> 거래종결일 이후에 준수해야 하는 거래종결 후 </a:t>
                      </a:r>
                      <a:r>
                        <a:rPr lang="ko-KR" sz="1000" dirty="0" err="1">
                          <a:effectLst/>
                          <a:latin typeface="+mn-ea"/>
                          <a:ea typeface="+mn-ea"/>
                          <a:cs typeface="Times New Roman" panose="02020603050405020304" pitchFamily="18" charset="0"/>
                        </a:rPr>
                        <a:t>확약사항을</a:t>
                      </a:r>
                      <a:r>
                        <a:rPr lang="ko-KR" sz="1000" dirty="0">
                          <a:effectLst/>
                          <a:latin typeface="+mn-ea"/>
                          <a:ea typeface="+mn-ea"/>
                          <a:cs typeface="Times New Roman" panose="02020603050405020304" pitchFamily="18" charset="0"/>
                        </a:rPr>
                        <a:t> 기재함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59685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통상적인 확약사항으로</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다음 사항을 기본적인 확약사항으로 정하고 있으며</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실사 당시 확인된 사항으로 거래종결 전까지 치유가 필요하거나 가능한 사항들에 대하여 그 치유를 하는 것을 거래종결 전 확약사항으로 규정하는 것도 고려할 수 </a:t>
                      </a:r>
                      <a:r>
                        <a:rPr lang="ko-KR" sz="1000" dirty="0" smtClean="0">
                          <a:effectLst/>
                          <a:latin typeface="+mn-ea"/>
                          <a:ea typeface="+mn-ea"/>
                          <a:cs typeface="Times New Roman" panose="02020603050405020304" pitchFamily="18" charset="0"/>
                        </a:rPr>
                        <a:t>있음</a:t>
                      </a:r>
                      <a:r>
                        <a:rPr lang="en-US" altLang="ko-KR"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계약체결 이후 거래종결일까지 대상회사의 운영 방안</a:t>
                      </a:r>
                      <a:r>
                        <a:rPr kumimoji="1" lang="en-US" sz="1000" b="0" i="0" u="none" strike="noStrike" kern="1200" cap="none" normalizeH="0" baseline="0" dirty="0">
                          <a:ln>
                            <a:noFill/>
                          </a:ln>
                          <a:solidFill>
                            <a:schemeClr val="tx1"/>
                          </a:solidFill>
                          <a:effectLst/>
                          <a:latin typeface="+mn-ea"/>
                          <a:ea typeface="+mn-ea"/>
                          <a:cs typeface="+mn-cs"/>
                        </a:rPr>
                        <a:t>(</a:t>
                      </a:r>
                      <a:r>
                        <a:rPr kumimoji="1" lang="ko-KR" sz="1000" b="0" i="0" u="none" strike="noStrike" kern="1200" cap="none" normalizeH="0" baseline="0" dirty="0">
                          <a:ln>
                            <a:noFill/>
                          </a:ln>
                          <a:solidFill>
                            <a:schemeClr val="tx1"/>
                          </a:solidFill>
                          <a:effectLst/>
                          <a:latin typeface="+mn-ea"/>
                          <a:ea typeface="+mn-ea"/>
                          <a:cs typeface="+mn-cs"/>
                        </a:rPr>
                        <a:t>통상적인 사업과정으로 운영하되 주요한 사항에 대하여는 매수인의 사전 동의를 받도록 하는 방안 </a:t>
                      </a:r>
                      <a:r>
                        <a:rPr kumimoji="1" lang="en-US" sz="1000" b="0" i="0" u="none" strike="noStrike" kern="1200" cap="none" normalizeH="0" baseline="0" dirty="0">
                          <a:ln>
                            <a:noFill/>
                          </a:ln>
                          <a:solidFill>
                            <a:schemeClr val="tx1"/>
                          </a:solidFill>
                          <a:effectLst/>
                          <a:latin typeface="+mn-ea"/>
                          <a:ea typeface="+mn-ea"/>
                          <a:cs typeface="+mn-cs"/>
                        </a:rPr>
                        <a:t>– </a:t>
                      </a:r>
                      <a:r>
                        <a:rPr kumimoji="1" lang="ko-KR" sz="1000" b="0" i="0" u="none" strike="noStrike" kern="1200" cap="none" normalizeH="0" baseline="0" dirty="0">
                          <a:ln>
                            <a:noFill/>
                          </a:ln>
                          <a:solidFill>
                            <a:schemeClr val="tx1"/>
                          </a:solidFill>
                          <a:effectLst/>
                          <a:latin typeface="+mn-ea"/>
                          <a:ea typeface="+mn-ea"/>
                          <a:cs typeface="+mn-cs"/>
                        </a:rPr>
                        <a:t>이른바 </a:t>
                      </a:r>
                      <a:r>
                        <a:rPr kumimoji="1" lang="en-US" sz="1000" b="0" i="0" u="none" strike="noStrike" kern="1200" cap="none" normalizeH="0" baseline="0" dirty="0">
                          <a:ln>
                            <a:noFill/>
                          </a:ln>
                          <a:solidFill>
                            <a:schemeClr val="tx1"/>
                          </a:solidFill>
                          <a:effectLst/>
                          <a:latin typeface="+mn-ea"/>
                          <a:ea typeface="+mn-ea"/>
                          <a:cs typeface="+mn-cs"/>
                        </a:rPr>
                        <a:t>OCB </a:t>
                      </a:r>
                      <a:r>
                        <a:rPr kumimoji="1" lang="ko-KR" sz="1000" b="0" i="0" u="none" strike="noStrike" kern="1200" cap="none" normalizeH="0" baseline="0" dirty="0">
                          <a:ln>
                            <a:noFill/>
                          </a:ln>
                          <a:solidFill>
                            <a:schemeClr val="tx1"/>
                          </a:solidFill>
                          <a:effectLst/>
                          <a:latin typeface="+mn-ea"/>
                          <a:ea typeface="+mn-ea"/>
                          <a:cs typeface="+mn-cs"/>
                        </a:rPr>
                        <a:t>조항</a:t>
                      </a:r>
                      <a:r>
                        <a:rPr kumimoji="1" lang="en-US" sz="1000" b="0" i="0" u="none" strike="noStrike" kern="1200" cap="none" normalizeH="0" baseline="0" dirty="0" smtClean="0">
                          <a:ln>
                            <a:noFill/>
                          </a:ln>
                          <a:solidFill>
                            <a:schemeClr val="tx1"/>
                          </a:solidFill>
                          <a:effectLst/>
                          <a:latin typeface="+mn-ea"/>
                          <a:ea typeface="+mn-ea"/>
                          <a:cs typeface="+mn-cs"/>
                        </a:rPr>
                        <a:t>)</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거래종결을 위하여 필요한 절차 및 각종 의무 이행</a:t>
                      </a:r>
                      <a:r>
                        <a:rPr kumimoji="1" lang="en-US" sz="1000" b="0" i="0" u="none" strike="noStrike" kern="1200" cap="none" normalizeH="0" baseline="0" dirty="0">
                          <a:ln>
                            <a:noFill/>
                          </a:ln>
                          <a:solidFill>
                            <a:schemeClr val="tx1"/>
                          </a:solidFill>
                          <a:effectLst/>
                          <a:latin typeface="+mn-ea"/>
                          <a:ea typeface="+mn-ea"/>
                          <a:cs typeface="+mn-cs"/>
                        </a:rPr>
                        <a:t>(</a:t>
                      </a:r>
                      <a:r>
                        <a:rPr kumimoji="1" lang="ko-KR" sz="1000" b="0" i="0" u="none" strike="noStrike" kern="1200" cap="none" normalizeH="0" baseline="0" dirty="0">
                          <a:ln>
                            <a:noFill/>
                          </a:ln>
                          <a:solidFill>
                            <a:schemeClr val="tx1"/>
                          </a:solidFill>
                          <a:effectLst/>
                          <a:latin typeface="+mn-ea"/>
                          <a:ea typeface="+mn-ea"/>
                          <a:cs typeface="+mn-cs"/>
                        </a:rPr>
                        <a:t>공정거래위원회에 대한 기업결합신고 등 정부기관 승인절차</a:t>
                      </a:r>
                      <a:r>
                        <a:rPr kumimoji="1" lang="en-US" sz="1000" b="0" i="0" u="none" strike="noStrike" kern="1200" cap="none" normalizeH="0" baseline="0" dirty="0" smtClean="0">
                          <a:ln>
                            <a:noFill/>
                          </a:ln>
                          <a:solidFill>
                            <a:schemeClr val="tx1"/>
                          </a:solidFill>
                          <a:effectLst/>
                          <a:latin typeface="+mn-ea"/>
                          <a:ea typeface="+mn-ea"/>
                          <a:cs typeface="+mn-cs"/>
                        </a:rPr>
                        <a:t>)</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제</a:t>
                      </a:r>
                      <a:r>
                        <a:rPr kumimoji="1" lang="en-US" sz="1000" b="0" i="0" u="none" strike="noStrike" kern="1200" cap="none" normalizeH="0" baseline="0" dirty="0">
                          <a:ln>
                            <a:noFill/>
                          </a:ln>
                          <a:solidFill>
                            <a:schemeClr val="tx1"/>
                          </a:solidFill>
                          <a:effectLst/>
                          <a:latin typeface="+mn-ea"/>
                          <a:ea typeface="+mn-ea"/>
                          <a:cs typeface="+mn-cs"/>
                        </a:rPr>
                        <a:t>3</a:t>
                      </a:r>
                      <a:r>
                        <a:rPr kumimoji="1" lang="ko-KR" sz="1000" b="0" i="0" u="none" strike="noStrike" kern="1200" cap="none" normalizeH="0" baseline="0" dirty="0">
                          <a:ln>
                            <a:noFill/>
                          </a:ln>
                          <a:solidFill>
                            <a:schemeClr val="tx1"/>
                          </a:solidFill>
                          <a:effectLst/>
                          <a:latin typeface="+mn-ea"/>
                          <a:ea typeface="+mn-ea"/>
                          <a:cs typeface="+mn-cs"/>
                        </a:rPr>
                        <a:t>자로부터 본 계약 및 이에 따른 거래에 대한 동의 또는 </a:t>
                      </a:r>
                      <a:r>
                        <a:rPr kumimoji="1" lang="ko-KR" sz="1000" b="0" i="0" u="none" strike="noStrike" kern="1200" cap="none" normalizeH="0" baseline="0" dirty="0" smtClean="0">
                          <a:ln>
                            <a:noFill/>
                          </a:ln>
                          <a:solidFill>
                            <a:schemeClr val="tx1"/>
                          </a:solidFill>
                          <a:effectLst/>
                          <a:latin typeface="+mn-ea"/>
                          <a:ea typeface="+mn-ea"/>
                          <a:cs typeface="+mn-cs"/>
                        </a:rPr>
                        <a:t>통지</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대상회사 등기임원 사임서 </a:t>
                      </a:r>
                      <a:r>
                        <a:rPr kumimoji="1" lang="ko-KR" sz="1000" b="0" i="0" u="none" strike="noStrike" kern="1200" cap="none" normalizeH="0" baseline="0" dirty="0" err="1" smtClean="0">
                          <a:ln>
                            <a:noFill/>
                          </a:ln>
                          <a:solidFill>
                            <a:schemeClr val="tx1"/>
                          </a:solidFill>
                          <a:effectLst/>
                          <a:latin typeface="+mn-ea"/>
                          <a:ea typeface="+mn-ea"/>
                          <a:cs typeface="+mn-cs"/>
                        </a:rPr>
                        <a:t>징구</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고용 안정</a:t>
                      </a:r>
                      <a:r>
                        <a:rPr kumimoji="1" lang="en-US" sz="1000" b="0" i="0" u="none" strike="noStrike" kern="1200" cap="none" normalizeH="0" baseline="0" dirty="0">
                          <a:ln>
                            <a:noFill/>
                          </a:ln>
                          <a:solidFill>
                            <a:schemeClr val="tx1"/>
                          </a:solidFill>
                          <a:effectLst/>
                          <a:latin typeface="+mn-ea"/>
                          <a:ea typeface="+mn-ea"/>
                          <a:cs typeface="+mn-cs"/>
                        </a:rPr>
                        <a:t>(</a:t>
                      </a:r>
                      <a:r>
                        <a:rPr kumimoji="1" lang="ko-KR" sz="1000" b="0" i="0" u="none" strike="noStrike" kern="1200" cap="none" normalizeH="0" baseline="0" dirty="0">
                          <a:ln>
                            <a:noFill/>
                          </a:ln>
                          <a:solidFill>
                            <a:schemeClr val="tx1"/>
                          </a:solidFill>
                          <a:effectLst/>
                          <a:latin typeface="+mn-ea"/>
                          <a:ea typeface="+mn-ea"/>
                          <a:cs typeface="+mn-cs"/>
                        </a:rPr>
                        <a:t>고용관계를 특정 기간 동안 유지</a:t>
                      </a:r>
                      <a:r>
                        <a:rPr kumimoji="1" lang="en-US" sz="1000" b="0" i="0" u="none" strike="noStrike" kern="1200" cap="none" normalizeH="0" baseline="0" dirty="0">
                          <a:ln>
                            <a:noFill/>
                          </a:ln>
                          <a:solidFill>
                            <a:schemeClr val="tx1"/>
                          </a:solidFill>
                          <a:effectLst/>
                          <a:latin typeface="+mn-ea"/>
                          <a:ea typeface="+mn-ea"/>
                          <a:cs typeface="+mn-cs"/>
                        </a:rPr>
                        <a:t>, </a:t>
                      </a:r>
                      <a:r>
                        <a:rPr kumimoji="1" lang="ko-KR" sz="1000" b="0" i="0" u="none" strike="noStrike" kern="1200" cap="none" normalizeH="0" baseline="0" dirty="0">
                          <a:ln>
                            <a:noFill/>
                          </a:ln>
                          <a:solidFill>
                            <a:schemeClr val="tx1"/>
                          </a:solidFill>
                          <a:effectLst/>
                          <a:latin typeface="+mn-ea"/>
                          <a:ea typeface="+mn-ea"/>
                          <a:cs typeface="+mn-cs"/>
                        </a:rPr>
                        <a:t>인위적인 해고 금지</a:t>
                      </a:r>
                      <a:r>
                        <a:rPr kumimoji="1" lang="en-US" sz="1000" b="0" i="0" u="none" strike="noStrike" kern="1200" cap="none" normalizeH="0" baseline="0" dirty="0">
                          <a:ln>
                            <a:noFill/>
                          </a:ln>
                          <a:solidFill>
                            <a:schemeClr val="tx1"/>
                          </a:solidFill>
                          <a:effectLst/>
                          <a:latin typeface="+mn-ea"/>
                          <a:ea typeface="+mn-ea"/>
                          <a:cs typeface="+mn-cs"/>
                        </a:rPr>
                        <a:t>)</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매수인의 </a:t>
                      </a:r>
                      <a:r>
                        <a:rPr kumimoji="1" lang="ko-KR" sz="1000" b="0" i="0" u="none" strike="noStrike" kern="1200" cap="none" normalizeH="0" baseline="0" dirty="0" err="1" smtClean="0">
                          <a:ln>
                            <a:noFill/>
                          </a:ln>
                          <a:solidFill>
                            <a:schemeClr val="tx1"/>
                          </a:solidFill>
                          <a:effectLst/>
                          <a:latin typeface="+mn-ea"/>
                          <a:ea typeface="+mn-ea"/>
                          <a:cs typeface="+mn-cs"/>
                        </a:rPr>
                        <a:t>접근권</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ko-KR" sz="1000" b="0" i="0" u="none" strike="noStrike" kern="1200" cap="none" normalizeH="0" baseline="0" dirty="0">
                          <a:ln>
                            <a:noFill/>
                          </a:ln>
                          <a:solidFill>
                            <a:schemeClr val="tx1"/>
                          </a:solidFill>
                          <a:effectLst/>
                          <a:latin typeface="+mn-ea"/>
                          <a:ea typeface="+mn-ea"/>
                          <a:cs typeface="+mn-cs"/>
                        </a:rPr>
                        <a:t>본 계약 위반과 관련 사항 발생시 이에 대한 </a:t>
                      </a:r>
                      <a:r>
                        <a:rPr kumimoji="1" lang="ko-KR" sz="1000" b="0" i="0" u="none" strike="noStrike" kern="1200" cap="none" normalizeH="0" baseline="0" dirty="0" smtClean="0">
                          <a:ln>
                            <a:noFill/>
                          </a:ln>
                          <a:solidFill>
                            <a:schemeClr val="tx1"/>
                          </a:solidFill>
                          <a:effectLst/>
                          <a:latin typeface="+mn-ea"/>
                          <a:ea typeface="+mn-ea"/>
                          <a:cs typeface="+mn-cs"/>
                        </a:rPr>
                        <a:t>통지</a:t>
                      </a:r>
                      <a:endParaRPr kumimoji="1" lang="ko-KR" sz="1000" b="0" i="0" u="none" strike="noStrike" kern="1200" cap="none" normalizeH="0" baseline="0" dirty="0">
                        <a:ln>
                          <a:noFill/>
                        </a:ln>
                        <a:solidFill>
                          <a:schemeClr val="tx1"/>
                        </a:solidFill>
                        <a:effectLst/>
                        <a:latin typeface="+mn-ea"/>
                        <a:ea typeface="+mn-ea"/>
                        <a:cs typeface="+mn-cs"/>
                      </a:endParaRPr>
                    </a:p>
                    <a:p>
                      <a:pPr marL="628650" marR="0" lvl="1" indent="-180975" algn="l" defTabSz="914400" rtl="0" eaLnBrk="1" fontAlgn="base" latinLnBrk="1" hangingPunct="1">
                        <a:lnSpc>
                          <a:spcPct val="110000"/>
                        </a:lnSpc>
                        <a:spcBef>
                          <a:spcPct val="0"/>
                        </a:spcBef>
                        <a:spcAft>
                          <a:spcPct val="0"/>
                        </a:spcAft>
                        <a:buClrTx/>
                        <a:buSzTx/>
                        <a:buFont typeface="맑은 고딕" panose="020B0503020000020004" pitchFamily="50" charset="-127"/>
                        <a:buChar char="－"/>
                        <a:tabLst/>
                        <a:defRPr/>
                      </a:pPr>
                      <a:r>
                        <a:rPr kumimoji="1" lang="en-US" sz="1000" b="0" i="0" u="none" strike="noStrike" kern="1200" cap="none" normalizeH="0" baseline="0" dirty="0">
                          <a:ln>
                            <a:noFill/>
                          </a:ln>
                          <a:solidFill>
                            <a:schemeClr val="tx1"/>
                          </a:solidFill>
                          <a:effectLst/>
                          <a:latin typeface="+mn-ea"/>
                          <a:ea typeface="+mn-ea"/>
                          <a:cs typeface="+mn-cs"/>
                        </a:rPr>
                        <a:t>Affiliate</a:t>
                      </a:r>
                      <a:r>
                        <a:rPr kumimoji="1" lang="ko-KR" sz="1000" b="0" i="0" u="none" strike="noStrike" kern="1200" cap="none" normalizeH="0" baseline="0" dirty="0">
                          <a:ln>
                            <a:noFill/>
                          </a:ln>
                          <a:solidFill>
                            <a:schemeClr val="tx1"/>
                          </a:solidFill>
                          <a:effectLst/>
                          <a:latin typeface="+mn-ea"/>
                          <a:ea typeface="+mn-ea"/>
                          <a:cs typeface="+mn-cs"/>
                        </a:rPr>
                        <a:t>과의 계약의 해지 또는 유지 등</a:t>
                      </a:r>
                    </a:p>
                    <a:p>
                      <a:pPr marL="635000" algn="l" latinLnBrk="1">
                        <a:lnSpc>
                          <a:spcPct val="115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indent="-171450" algn="l" latinLnBrk="1">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이외 거래종결 후 확약으로는 매도인의 경업금지 및 </a:t>
                      </a:r>
                      <a:r>
                        <a:rPr lang="ko-KR" sz="1000" dirty="0" err="1">
                          <a:effectLst/>
                          <a:latin typeface="+mn-ea"/>
                          <a:ea typeface="+mn-ea"/>
                          <a:cs typeface="Times New Roman" panose="02020603050405020304" pitchFamily="18" charset="0"/>
                        </a:rPr>
                        <a:t>유인금지와</a:t>
                      </a:r>
                      <a:r>
                        <a:rPr lang="ko-KR" sz="1000" dirty="0">
                          <a:effectLst/>
                          <a:latin typeface="+mn-ea"/>
                          <a:ea typeface="+mn-ea"/>
                          <a:cs typeface="Times New Roman" panose="02020603050405020304" pitchFamily="18" charset="0"/>
                        </a:rPr>
                        <a:t> 관련한 규정이 통상적으로 </a:t>
                      </a:r>
                      <a:r>
                        <a:rPr lang="ko-KR" sz="1000" dirty="0" smtClean="0">
                          <a:effectLst/>
                          <a:latin typeface="+mn-ea"/>
                          <a:ea typeface="+mn-ea"/>
                          <a:cs typeface="Times New Roman" panose="02020603050405020304" pitchFamily="18" charset="0"/>
                        </a:rPr>
                        <a:t>규정</a:t>
                      </a:r>
                      <a:r>
                        <a:rPr lang="ko-KR" altLang="en-US" sz="1000" dirty="0" smtClean="0">
                          <a:effectLst/>
                          <a:latin typeface="+mn-ea"/>
                          <a:ea typeface="+mn-ea"/>
                          <a:cs typeface="Times New Roman" panose="02020603050405020304" pitchFamily="18" charset="0"/>
                        </a:rPr>
                        <a:t>됨</a:t>
                      </a:r>
                      <a:r>
                        <a:rPr lang="en-US"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최근 </a:t>
                      </a:r>
                      <a:r>
                        <a:rPr lang="ko-KR" sz="1000" dirty="0">
                          <a:effectLst/>
                          <a:latin typeface="+mn-ea"/>
                          <a:ea typeface="+mn-ea"/>
                          <a:cs typeface="Times New Roman" panose="02020603050405020304" pitchFamily="18" charset="0"/>
                        </a:rPr>
                        <a:t>미국</a:t>
                      </a:r>
                      <a:r>
                        <a:rPr lang="en-US" sz="1000" dirty="0">
                          <a:effectLst/>
                          <a:latin typeface="+mn-ea"/>
                          <a:ea typeface="+mn-ea"/>
                          <a:cs typeface="Times New Roman" panose="02020603050405020304" pitchFamily="18" charset="0"/>
                        </a:rPr>
                        <a:t> </a:t>
                      </a:r>
                      <a:r>
                        <a:rPr lang="en-US" sz="1000" dirty="0" smtClean="0">
                          <a:effectLst/>
                          <a:latin typeface="+mn-ea"/>
                          <a:ea typeface="+mn-ea"/>
                          <a:cs typeface="Times New Roman" panose="02020603050405020304" pitchFamily="18" charset="0"/>
                        </a:rPr>
                        <a:t>Federal Trade</a:t>
                      </a:r>
                      <a:r>
                        <a:rPr lang="en-US" sz="1000" baseline="0" dirty="0" smtClean="0">
                          <a:effectLst/>
                          <a:latin typeface="+mn-ea"/>
                          <a:ea typeface="+mn-ea"/>
                          <a:cs typeface="Times New Roman" panose="02020603050405020304" pitchFamily="18" charset="0"/>
                        </a:rPr>
                        <a:t> </a:t>
                      </a:r>
                      <a:r>
                        <a:rPr lang="en-US" sz="1000" dirty="0" smtClean="0">
                          <a:effectLst/>
                          <a:latin typeface="+mn-ea"/>
                          <a:ea typeface="+mn-ea"/>
                          <a:cs typeface="Times New Roman" panose="02020603050405020304" pitchFamily="18" charset="0"/>
                        </a:rPr>
                        <a:t>Commission</a:t>
                      </a:r>
                      <a:r>
                        <a:rPr lang="ko-KR" sz="1000" dirty="0" smtClean="0">
                          <a:effectLst/>
                          <a:latin typeface="+mn-ea"/>
                          <a:ea typeface="+mn-ea"/>
                          <a:cs typeface="Times New Roman" panose="02020603050405020304" pitchFamily="18" charset="0"/>
                        </a:rPr>
                        <a:t>에서 </a:t>
                      </a:r>
                      <a:r>
                        <a:rPr lang="ko-KR" sz="1000" dirty="0">
                          <a:effectLst/>
                          <a:latin typeface="+mn-ea"/>
                          <a:ea typeface="+mn-ea"/>
                          <a:cs typeface="Times New Roman" panose="02020603050405020304" pitchFamily="18" charset="0"/>
                        </a:rPr>
                        <a:t>경업금지 조항을 금지하는</a:t>
                      </a:r>
                      <a:r>
                        <a:rPr lang="en-US" sz="1000" dirty="0">
                          <a:effectLst/>
                          <a:latin typeface="+mn-ea"/>
                          <a:ea typeface="+mn-ea"/>
                          <a:cs typeface="Times New Roman" panose="02020603050405020304" pitchFamily="18" charset="0"/>
                        </a:rPr>
                        <a:t> rule</a:t>
                      </a:r>
                      <a:r>
                        <a:rPr lang="ko-KR" sz="1000" dirty="0">
                          <a:effectLst/>
                          <a:latin typeface="+mn-ea"/>
                          <a:ea typeface="+mn-ea"/>
                          <a:cs typeface="Times New Roman" panose="02020603050405020304" pitchFamily="18" charset="0"/>
                        </a:rPr>
                        <a:t>을 발표하였으나</a:t>
                      </a:r>
                      <a:r>
                        <a:rPr lang="en-US" sz="1000" dirty="0">
                          <a:effectLst/>
                          <a:latin typeface="+mn-ea"/>
                          <a:ea typeface="+mn-ea"/>
                          <a:cs typeface="Times New Roman" panose="02020603050405020304" pitchFamily="18" charset="0"/>
                        </a:rPr>
                        <a:t> M&amp;A </a:t>
                      </a:r>
                      <a:r>
                        <a:rPr lang="ko-KR" sz="1000" dirty="0">
                          <a:effectLst/>
                          <a:latin typeface="+mn-ea"/>
                          <a:ea typeface="+mn-ea"/>
                          <a:cs typeface="Times New Roman" panose="02020603050405020304" pitchFamily="18" charset="0"/>
                        </a:rPr>
                        <a:t>거래에서 독립당사자간의</a:t>
                      </a:r>
                      <a:r>
                        <a:rPr lang="en-US" sz="1000" dirty="0">
                          <a:effectLst/>
                          <a:latin typeface="+mn-ea"/>
                          <a:ea typeface="+mn-ea"/>
                          <a:cs typeface="Times New Roman" panose="02020603050405020304" pitchFamily="18" charset="0"/>
                        </a:rPr>
                        <a:t> bona fide </a:t>
                      </a:r>
                      <a:r>
                        <a:rPr lang="en-US" sz="1000" dirty="0" smtClean="0">
                          <a:effectLst/>
                          <a:latin typeface="+mn-ea"/>
                          <a:ea typeface="+mn-ea"/>
                          <a:cs typeface="Times New Roman" panose="02020603050405020304" pitchFamily="18" charset="0"/>
                        </a:rPr>
                        <a:t>sale(</a:t>
                      </a:r>
                      <a:r>
                        <a:rPr lang="ko-KR" sz="1000" dirty="0">
                          <a:effectLst/>
                          <a:latin typeface="+mn-ea"/>
                          <a:ea typeface="+mn-ea"/>
                          <a:cs typeface="Times New Roman" panose="02020603050405020304" pitchFamily="18" charset="0"/>
                        </a:rPr>
                        <a:t>즉</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독립 당사자 간의</a:t>
                      </a:r>
                      <a:r>
                        <a:rPr lang="en-US" sz="1000" dirty="0">
                          <a:effectLst/>
                          <a:latin typeface="+mn-ea"/>
                          <a:ea typeface="+mn-ea"/>
                          <a:cs typeface="Times New Roman" panose="02020603050405020304" pitchFamily="18" charset="0"/>
                        </a:rPr>
                        <a:t> arms length </a:t>
                      </a:r>
                      <a:r>
                        <a:rPr lang="ko-KR" sz="1000" dirty="0">
                          <a:effectLst/>
                          <a:latin typeface="+mn-ea"/>
                          <a:ea typeface="+mn-ea"/>
                          <a:cs typeface="Times New Roman" panose="02020603050405020304" pitchFamily="18" charset="0"/>
                        </a:rPr>
                        <a:t>거래</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에 대해서는 예외를 인정한 바 있고</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해당</a:t>
                      </a:r>
                      <a:r>
                        <a:rPr lang="en-US" sz="1000" dirty="0">
                          <a:effectLst/>
                          <a:latin typeface="+mn-ea"/>
                          <a:ea typeface="+mn-ea"/>
                          <a:cs typeface="Times New Roman" panose="02020603050405020304" pitchFamily="18" charset="0"/>
                        </a:rPr>
                        <a:t> rule</a:t>
                      </a:r>
                      <a:r>
                        <a:rPr lang="ko-KR" sz="1000" dirty="0">
                          <a:effectLst/>
                          <a:latin typeface="+mn-ea"/>
                          <a:ea typeface="+mn-ea"/>
                          <a:cs typeface="Times New Roman" panose="02020603050405020304" pitchFamily="18" charset="0"/>
                        </a:rPr>
                        <a:t>은 지난</a:t>
                      </a:r>
                      <a:r>
                        <a:rPr lang="en-US" sz="1000" dirty="0">
                          <a:effectLst/>
                          <a:latin typeface="+mn-ea"/>
                          <a:ea typeface="+mn-ea"/>
                          <a:cs typeface="Times New Roman" panose="02020603050405020304" pitchFamily="18" charset="0"/>
                        </a:rPr>
                        <a:t> 2024</a:t>
                      </a:r>
                      <a:r>
                        <a:rPr lang="ko-KR" sz="1000" dirty="0">
                          <a:effectLst/>
                          <a:latin typeface="+mn-ea"/>
                          <a:ea typeface="+mn-ea"/>
                          <a:cs typeface="Times New Roman" panose="02020603050405020304" pitchFamily="18" charset="0"/>
                        </a:rPr>
                        <a:t>년</a:t>
                      </a:r>
                      <a:r>
                        <a:rPr lang="en-US" sz="1000" dirty="0">
                          <a:effectLst/>
                          <a:latin typeface="+mn-ea"/>
                          <a:ea typeface="+mn-ea"/>
                          <a:cs typeface="Times New Roman" panose="02020603050405020304" pitchFamily="18" charset="0"/>
                        </a:rPr>
                        <a:t> 8</a:t>
                      </a:r>
                      <a:r>
                        <a:rPr lang="ko-KR" sz="1000" dirty="0">
                          <a:effectLst/>
                          <a:latin typeface="+mn-ea"/>
                          <a:ea typeface="+mn-ea"/>
                          <a:cs typeface="Times New Roman" panose="02020603050405020304" pitchFamily="18" charset="0"/>
                        </a:rPr>
                        <a:t>월 미 연방</a:t>
                      </a:r>
                      <a:r>
                        <a:rPr lang="en-US" sz="1000" dirty="0">
                          <a:effectLst/>
                          <a:latin typeface="+mn-ea"/>
                          <a:ea typeface="+mn-ea"/>
                          <a:cs typeface="Times New Roman" panose="02020603050405020304" pitchFamily="18" charset="0"/>
                        </a:rPr>
                        <a:t> 1</a:t>
                      </a:r>
                      <a:r>
                        <a:rPr lang="ko-KR" sz="1000" dirty="0" smtClean="0">
                          <a:effectLst/>
                          <a:latin typeface="+mn-ea"/>
                          <a:ea typeface="+mn-ea"/>
                          <a:cs typeface="Times New Roman" panose="02020603050405020304" pitchFamily="18" charset="0"/>
                        </a:rPr>
                        <a:t>심</a:t>
                      </a:r>
                      <a:r>
                        <a:rPr lang="en-US" altLang="ko-KR"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법원의 </a:t>
                      </a:r>
                      <a:r>
                        <a:rPr lang="ko-KR" sz="1000" dirty="0">
                          <a:effectLst/>
                          <a:latin typeface="+mn-ea"/>
                          <a:ea typeface="+mn-ea"/>
                          <a:cs typeface="Times New Roman" panose="02020603050405020304" pitchFamily="18" charset="0"/>
                        </a:rPr>
                        <a:t>판결에 의해 효력이 </a:t>
                      </a:r>
                      <a:r>
                        <a:rPr lang="ko-KR" sz="1000" dirty="0" smtClean="0">
                          <a:effectLst/>
                          <a:latin typeface="+mn-ea"/>
                          <a:ea typeface="+mn-ea"/>
                          <a:cs typeface="Times New Roman" panose="02020603050405020304" pitchFamily="18" charset="0"/>
                        </a:rPr>
                        <a:t>정</a:t>
                      </a:r>
                      <a:r>
                        <a:rPr lang="ko-KR" altLang="en-US" sz="1000" dirty="0" smtClean="0">
                          <a:effectLst/>
                          <a:latin typeface="+mn-ea"/>
                          <a:ea typeface="+mn-ea"/>
                          <a:cs typeface="Times New Roman" panose="02020603050405020304" pitchFamily="18" charset="0"/>
                        </a:rPr>
                        <a:t>지됨</a:t>
                      </a:r>
                      <a:r>
                        <a:rPr lang="en-US" sz="1000" dirty="0" smtClean="0">
                          <a:effectLst/>
                          <a:latin typeface="+mn-ea"/>
                          <a:ea typeface="+mn-ea"/>
                          <a:cs typeface="Times New Roman" panose="02020603050405020304" pitchFamily="18" charset="0"/>
                        </a:rPr>
                        <a:t>. </a:t>
                      </a:r>
                      <a:r>
                        <a:rPr lang="en-US" sz="1000" dirty="0">
                          <a:effectLst/>
                          <a:latin typeface="+mn-ea"/>
                          <a:ea typeface="+mn-ea"/>
                          <a:cs typeface="Times New Roman" panose="02020603050405020304" pitchFamily="18" charset="0"/>
                        </a:rPr>
                        <a:t>FTC</a:t>
                      </a:r>
                      <a:r>
                        <a:rPr lang="ko-KR" sz="1000" dirty="0">
                          <a:effectLst/>
                          <a:latin typeface="+mn-ea"/>
                          <a:ea typeface="+mn-ea"/>
                          <a:cs typeface="Times New Roman" panose="02020603050405020304" pitchFamily="18" charset="0"/>
                        </a:rPr>
                        <a:t>에서 항소를 준비하고 있는 것으로 알려져 향후 해당</a:t>
                      </a:r>
                      <a:r>
                        <a:rPr lang="en-US" sz="1000" dirty="0">
                          <a:effectLst/>
                          <a:latin typeface="+mn-ea"/>
                          <a:ea typeface="+mn-ea"/>
                          <a:cs typeface="Times New Roman" panose="02020603050405020304" pitchFamily="18" charset="0"/>
                        </a:rPr>
                        <a:t> rule</a:t>
                      </a:r>
                      <a:r>
                        <a:rPr lang="ko-KR" sz="1000" dirty="0">
                          <a:effectLst/>
                          <a:latin typeface="+mn-ea"/>
                          <a:ea typeface="+mn-ea"/>
                          <a:cs typeface="Times New Roman" panose="02020603050405020304" pitchFamily="18" charset="0"/>
                        </a:rPr>
                        <a:t>의 추이도 모니터링할 필요가 </a:t>
                      </a:r>
                      <a:r>
                        <a:rPr lang="ko-KR" altLang="en-US" sz="1000" dirty="0" smtClean="0">
                          <a:effectLst/>
                          <a:latin typeface="+mn-ea"/>
                          <a:ea typeface="+mn-ea"/>
                          <a:cs typeface="Times New Roman" panose="02020603050405020304" pitchFamily="18" charset="0"/>
                        </a:rPr>
                        <a:t>있음</a:t>
                      </a:r>
                      <a:r>
                        <a:rPr lang="en-US" sz="1000" dirty="0" smtClean="0">
                          <a:effectLst/>
                          <a:latin typeface="+mn-ea"/>
                          <a:ea typeface="+mn-ea"/>
                          <a:cs typeface="Times New Roman" panose="02020603050405020304" pitchFamily="18" charset="0"/>
                        </a:rPr>
                        <a:t>. </a:t>
                      </a:r>
                    </a:p>
                    <a:p>
                      <a:pPr marL="0" indent="0" algn="l" latinLnBrk="1">
                        <a:lnSpc>
                          <a:spcPct val="115000"/>
                        </a:lnSpc>
                        <a:spcAft>
                          <a:spcPts val="0"/>
                        </a:spcAft>
                        <a:buFont typeface="Wingdings" panose="05000000000000000000" pitchFamily="2" charset="2"/>
                        <a:buNone/>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indent="-171450" algn="l" latinLnBrk="0">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또한 실사 과정에서 대상회사가 독립적으로 운영을 하기 위하여 일정 기간 동안 </a:t>
                      </a:r>
                      <a:r>
                        <a:rPr lang="ko-KR" sz="1000" dirty="0" err="1">
                          <a:effectLst/>
                          <a:latin typeface="+mn-ea"/>
                          <a:ea typeface="+mn-ea"/>
                          <a:cs typeface="Times New Roman" panose="02020603050405020304" pitchFamily="18" charset="0"/>
                        </a:rPr>
                        <a:t>매도인측으로부터</a:t>
                      </a:r>
                      <a:r>
                        <a:rPr lang="ko-KR" sz="1000" dirty="0">
                          <a:effectLst/>
                          <a:latin typeface="+mn-ea"/>
                          <a:ea typeface="+mn-ea"/>
                          <a:cs typeface="Times New Roman" panose="02020603050405020304" pitchFamily="18" charset="0"/>
                        </a:rPr>
                        <a:t> 서비스를 받아야 하는 경우</a:t>
                      </a:r>
                      <a:r>
                        <a:rPr lang="en-US" sz="1000" dirty="0">
                          <a:effectLst/>
                          <a:latin typeface="+mn-ea"/>
                          <a:ea typeface="+mn-ea"/>
                          <a:cs typeface="Times New Roman" panose="02020603050405020304" pitchFamily="18" charset="0"/>
                        </a:rPr>
                        <a:t> Transition Service</a:t>
                      </a:r>
                      <a:r>
                        <a:rPr lang="ko-KR" sz="1000" dirty="0">
                          <a:effectLst/>
                          <a:latin typeface="+mn-ea"/>
                          <a:ea typeface="+mn-ea"/>
                          <a:cs typeface="Times New Roman" panose="02020603050405020304" pitchFamily="18" charset="0"/>
                        </a:rPr>
                        <a:t>에 대한 규정이 필요할 수 있음</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1200"/>
                        </a:spcAft>
                      </a:pPr>
                      <a:r>
                        <a:rPr lang="en-US" sz="1000" dirty="0">
                          <a:effectLst/>
                          <a:latin typeface="+mn-ea"/>
                          <a:ea typeface="+mn-ea"/>
                        </a:rPr>
                        <a:t>N/A</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0030937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 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2. </a:t>
            </a:r>
            <a:r>
              <a:rPr lang="en-US" altLang="ko-KR" dirty="0" smtClean="0">
                <a:solidFill>
                  <a:schemeClr val="tx1"/>
                </a:solidFill>
                <a:latin typeface="+mn-ea"/>
                <a:ea typeface="+mn-ea"/>
              </a:rPr>
              <a:t>Ordinary Course of Business</a:t>
            </a:r>
            <a:r>
              <a:rPr lang="ko-KR" altLang="en-US" dirty="0" smtClean="0">
                <a:solidFill>
                  <a:schemeClr val="tx1"/>
                </a:solidFill>
                <a:latin typeface="+mn-ea"/>
                <a:ea typeface="+mn-ea"/>
              </a:rPr>
              <a:t> </a:t>
            </a:r>
            <a:r>
              <a:rPr lang="en-US" altLang="ko-KR" dirty="0" smtClean="0">
                <a:solidFill>
                  <a:schemeClr val="tx1"/>
                </a:solidFill>
                <a:latin typeface="+mn-ea"/>
                <a:ea typeface="+mn-ea"/>
              </a:rPr>
              <a:t>(1)</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888436039"/>
              </p:ext>
            </p:extLst>
          </p:nvPr>
        </p:nvGraphicFramePr>
        <p:xfrm>
          <a:off x="439738" y="1043677"/>
          <a:ext cx="9188450" cy="214553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86898">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sz="1000" dirty="0">
                          <a:effectLst/>
                          <a:latin typeface="+mn-ea"/>
                          <a:ea typeface="+mn-ea"/>
                          <a:cs typeface="Times New Roman" panose="02020603050405020304" pitchFamily="18" charset="0"/>
                        </a:rPr>
                        <a:t>계약체결 이후 거래종결일까지 매도인이 </a:t>
                      </a:r>
                      <a:r>
                        <a:rPr lang="ko-KR" sz="1000" dirty="0" err="1">
                          <a:effectLst/>
                          <a:latin typeface="+mn-ea"/>
                          <a:ea typeface="+mn-ea"/>
                          <a:cs typeface="Times New Roman" panose="02020603050405020304" pitchFamily="18" charset="0"/>
                        </a:rPr>
                        <a:t>대상회사를</a:t>
                      </a:r>
                      <a:r>
                        <a:rPr lang="ko-KR" sz="1000" dirty="0">
                          <a:effectLst/>
                          <a:latin typeface="+mn-ea"/>
                          <a:ea typeface="+mn-ea"/>
                          <a:cs typeface="Times New Roman" panose="02020603050405020304" pitchFamily="18" charset="0"/>
                        </a:rPr>
                        <a:t> 통상적인 </a:t>
                      </a:r>
                      <a:r>
                        <a:rPr lang="ko-KR" sz="1000" dirty="0" err="1" smtClean="0">
                          <a:solidFill>
                            <a:schemeClr val="tx1"/>
                          </a:solidFill>
                          <a:effectLst/>
                          <a:latin typeface="+mn-ea"/>
                          <a:ea typeface="+mn-ea"/>
                          <a:cs typeface="Times New Roman" panose="02020603050405020304" pitchFamily="18" charset="0"/>
                        </a:rPr>
                        <a:t>사업과정</a:t>
                      </a:r>
                      <a:r>
                        <a:rPr lang="en-US" altLang="ko-KR" sz="1000" dirty="0" smtClean="0">
                          <a:solidFill>
                            <a:schemeClr val="tx1"/>
                          </a:solidFill>
                          <a:effectLst/>
                          <a:latin typeface="+mn-ea"/>
                          <a:ea typeface="+mn-ea"/>
                          <a:cs typeface="Times New Roman" panose="02020603050405020304" pitchFamily="18" charset="0"/>
                        </a:rPr>
                        <a:t>(OCB)</a:t>
                      </a:r>
                      <a:r>
                        <a:rPr lang="ko-KR" sz="1000" dirty="0" smtClean="0">
                          <a:solidFill>
                            <a:schemeClr val="tx1"/>
                          </a:solidFill>
                          <a:effectLst/>
                          <a:latin typeface="+mn-ea"/>
                          <a:ea typeface="+mn-ea"/>
                          <a:cs typeface="Times New Roman" panose="02020603050405020304" pitchFamily="18" charset="0"/>
                        </a:rPr>
                        <a:t>으로 </a:t>
                      </a:r>
                      <a:r>
                        <a:rPr lang="ko-KR" sz="1000" dirty="0">
                          <a:solidFill>
                            <a:schemeClr val="tx1"/>
                          </a:solidFill>
                          <a:effectLst/>
                          <a:latin typeface="+mn-ea"/>
                          <a:ea typeface="+mn-ea"/>
                          <a:cs typeface="Times New Roman" panose="02020603050405020304" pitchFamily="18" charset="0"/>
                        </a:rPr>
                        <a:t>운영하되 </a:t>
                      </a:r>
                      <a:r>
                        <a:rPr lang="ko-KR" sz="1000" dirty="0">
                          <a:effectLst/>
                          <a:latin typeface="+mn-ea"/>
                          <a:ea typeface="+mn-ea"/>
                          <a:cs typeface="Times New Roman" panose="02020603050405020304" pitchFamily="18" charset="0"/>
                        </a:rPr>
                        <a:t>주요한 사항에 대하여는 매수인의 사전 동의를 받도록 하는 조항</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55863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본 조항은 계약 체결일로부터 거래종결 전까지의 기간 동안 매수인의 동의 없이 대상회사의 가치에 영향을 미칠 수 있는 사항을 최소화하기 위한 목적임</a:t>
                      </a:r>
                      <a:r>
                        <a:rPr lang="en-US" sz="1000" dirty="0">
                          <a:effectLst/>
                          <a:latin typeface="+mn-ea"/>
                          <a:ea typeface="+mn-ea"/>
                          <a:cs typeface="Times New Roman" panose="02020603050405020304" pitchFamily="18" charset="0"/>
                        </a:rPr>
                        <a:t>. </a:t>
                      </a:r>
                      <a:r>
                        <a:rPr lang="en-US" sz="1000" dirty="0" smtClean="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indent="-171450" algn="l" latinLnBrk="1">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다만</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계약의 준거법에 따라 이와 같은 거래종결 전 매수인의 </a:t>
                      </a:r>
                      <a:r>
                        <a:rPr lang="ko-KR" sz="1000" dirty="0" err="1">
                          <a:effectLst/>
                          <a:latin typeface="+mn-ea"/>
                          <a:ea typeface="+mn-ea"/>
                          <a:cs typeface="Times New Roman" panose="02020603050405020304" pitchFamily="18" charset="0"/>
                        </a:rPr>
                        <a:t>동의권이</a:t>
                      </a:r>
                      <a:r>
                        <a:rPr lang="ko-KR" sz="1000" dirty="0">
                          <a:effectLst/>
                          <a:latin typeface="+mn-ea"/>
                          <a:ea typeface="+mn-ea"/>
                          <a:cs typeface="Times New Roman" panose="02020603050405020304" pitchFamily="18" charset="0"/>
                        </a:rPr>
                        <a:t> 소위</a:t>
                      </a:r>
                      <a:r>
                        <a:rPr lang="en-US" sz="1000" dirty="0">
                          <a:effectLst/>
                          <a:latin typeface="+mn-ea"/>
                          <a:ea typeface="+mn-ea"/>
                          <a:cs typeface="Times New Roman" panose="02020603050405020304" pitchFamily="18" charset="0"/>
                        </a:rPr>
                        <a:t> gun jumping </a:t>
                      </a:r>
                      <a:r>
                        <a:rPr lang="ko-KR" sz="1000" dirty="0">
                          <a:effectLst/>
                          <a:latin typeface="+mn-ea"/>
                          <a:ea typeface="+mn-ea"/>
                          <a:cs typeface="Times New Roman" panose="02020603050405020304" pitchFamily="18" charset="0"/>
                        </a:rPr>
                        <a:t>이슈</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경쟁당국의 기업결합신고가 완료되기 이전에 매수인이 사실상 </a:t>
                      </a:r>
                      <a:r>
                        <a:rPr lang="ko-KR" sz="1000" dirty="0" err="1">
                          <a:effectLst/>
                          <a:latin typeface="+mn-ea"/>
                          <a:ea typeface="+mn-ea"/>
                          <a:cs typeface="Times New Roman" panose="02020603050405020304" pitchFamily="18" charset="0"/>
                        </a:rPr>
                        <a:t>대상회사를</a:t>
                      </a:r>
                      <a:r>
                        <a:rPr lang="ko-KR" sz="1000" dirty="0">
                          <a:effectLst/>
                          <a:latin typeface="+mn-ea"/>
                          <a:ea typeface="+mn-ea"/>
                          <a:cs typeface="Times New Roman" panose="02020603050405020304" pitchFamily="18" charset="0"/>
                        </a:rPr>
                        <a:t> 취득하여 경영권을 행사하는 행위</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에 해당하여 </a:t>
                      </a:r>
                      <a:r>
                        <a:rPr lang="ko-KR" sz="1000" dirty="0" err="1">
                          <a:effectLst/>
                          <a:latin typeface="+mn-ea"/>
                          <a:ea typeface="+mn-ea"/>
                          <a:cs typeface="Times New Roman" panose="02020603050405020304" pitchFamily="18" charset="0"/>
                        </a:rPr>
                        <a:t>반독점법</a:t>
                      </a:r>
                      <a:r>
                        <a:rPr lang="ko-KR" sz="1000" dirty="0">
                          <a:effectLst/>
                          <a:latin typeface="+mn-ea"/>
                          <a:ea typeface="+mn-ea"/>
                          <a:cs typeface="Times New Roman" panose="02020603050405020304" pitchFamily="18" charset="0"/>
                        </a:rPr>
                        <a:t> 위반에 해당할 수 있는 리스크가 있을 수 있기 때문에</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관련 준거법을 바탕으로 이와 같은 이슈가 있을지에 대해 별도의 검토를 진행하는 것이 안전함</a:t>
                      </a:r>
                      <a:r>
                        <a:rPr lang="en-US" sz="1000" dirty="0" smtClean="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indent="-171450" algn="l" latinLnBrk="1">
                        <a:lnSpc>
                          <a:spcPct val="115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미국에서는 매수인이 거래종결 전에 회사의 사업에 대한 지배권</a:t>
                      </a:r>
                      <a:r>
                        <a:rPr lang="en-US" sz="1000" dirty="0">
                          <a:effectLst/>
                          <a:latin typeface="+mn-ea"/>
                          <a:ea typeface="+mn-ea"/>
                          <a:cs typeface="Times New Roman" panose="02020603050405020304" pitchFamily="18" charset="0"/>
                        </a:rPr>
                        <a:t>(control)</a:t>
                      </a:r>
                      <a:r>
                        <a:rPr lang="ko-KR" sz="1000" dirty="0">
                          <a:effectLst/>
                          <a:latin typeface="+mn-ea"/>
                          <a:ea typeface="+mn-ea"/>
                          <a:cs typeface="Times New Roman" panose="02020603050405020304" pitchFamily="18" charset="0"/>
                        </a:rPr>
                        <a:t>을 가지게 되었다고 간주되는 리스크를 줄이기 위해서 매도인은 아래</a:t>
                      </a:r>
                      <a:r>
                        <a:rPr lang="en-US" sz="1000" dirty="0">
                          <a:effectLst/>
                          <a:latin typeface="+mn-ea"/>
                          <a:ea typeface="+mn-ea"/>
                          <a:cs typeface="Times New Roman" panose="02020603050405020304" pitchFamily="18" charset="0"/>
                        </a:rPr>
                        <a:t> 7.02</a:t>
                      </a:r>
                      <a:r>
                        <a:rPr lang="ko-KR" sz="1000" dirty="0">
                          <a:effectLst/>
                          <a:latin typeface="+mn-ea"/>
                          <a:ea typeface="+mn-ea"/>
                          <a:cs typeface="Times New Roman" panose="02020603050405020304" pitchFamily="18" charset="0"/>
                        </a:rPr>
                        <a:t>조의 문구를 일반적으로 제안하고 </a:t>
                      </a:r>
                      <a:r>
                        <a:rPr lang="ko-KR" sz="1000" dirty="0" smtClean="0">
                          <a:effectLst/>
                          <a:latin typeface="+mn-ea"/>
                          <a:ea typeface="+mn-ea"/>
                          <a:cs typeface="Times New Roman" panose="02020603050405020304" pitchFamily="18" charset="0"/>
                        </a:rPr>
                        <a:t>있</a:t>
                      </a:r>
                      <a:r>
                        <a:rPr lang="ko-KR" altLang="en-US" sz="1000" dirty="0" smtClean="0">
                          <a:effectLst/>
                          <a:latin typeface="+mn-ea"/>
                          <a:ea typeface="+mn-ea"/>
                          <a:cs typeface="Times New Roman" panose="02020603050405020304" pitchFamily="18" charset="0"/>
                        </a:rPr>
                        <a:t>음</a:t>
                      </a:r>
                      <a:r>
                        <a:rPr lang="en-US" altLang="ko-KR"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42143313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 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2. </a:t>
            </a:r>
            <a:r>
              <a:rPr lang="en-US" altLang="ko-KR" dirty="0" smtClean="0">
                <a:solidFill>
                  <a:schemeClr val="tx1"/>
                </a:solidFill>
                <a:latin typeface="+mn-ea"/>
                <a:ea typeface="+mn-ea"/>
              </a:rPr>
              <a:t>Ordinary Course of Business</a:t>
            </a:r>
            <a:r>
              <a:rPr lang="ko-KR" altLang="en-US" dirty="0" smtClean="0">
                <a:solidFill>
                  <a:schemeClr val="tx1"/>
                </a:solidFill>
                <a:latin typeface="+mn-ea"/>
                <a:ea typeface="+mn-ea"/>
              </a:rPr>
              <a:t> </a:t>
            </a:r>
            <a:r>
              <a:rPr lang="en-US" altLang="ko-KR" dirty="0" smtClean="0">
                <a:solidFill>
                  <a:schemeClr val="tx1"/>
                </a:solidFill>
                <a:latin typeface="+mn-ea"/>
                <a:ea typeface="+mn-ea"/>
              </a:rPr>
              <a:t>(2)</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854312320"/>
              </p:ext>
            </p:extLst>
          </p:nvPr>
        </p:nvGraphicFramePr>
        <p:xfrm>
          <a:off x="439738" y="1043677"/>
          <a:ext cx="9188450" cy="533095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7.01    </a:t>
                      </a:r>
                      <a:r>
                        <a:rPr lang="en-US" sz="1000" u="sng" dirty="0">
                          <a:effectLst/>
                          <a:latin typeface="+mn-ea"/>
                          <a:ea typeface="+mn-ea"/>
                        </a:rPr>
                        <a:t>Conduct of </a:t>
                      </a:r>
                      <a:r>
                        <a:rPr lang="en-US" sz="1000" u="sng" dirty="0" smtClean="0">
                          <a:effectLst/>
                          <a:latin typeface="+mn-ea"/>
                          <a:ea typeface="+mn-ea"/>
                        </a:rPr>
                        <a:t>Business</a:t>
                      </a:r>
                      <a:r>
                        <a:rPr lang="en-US" sz="1000" u="none" dirty="0" smtClean="0">
                          <a:effectLst/>
                          <a:latin typeface="+mn-ea"/>
                          <a:ea typeface="+mn-ea"/>
                        </a:rPr>
                        <a:t>    </a:t>
                      </a:r>
                      <a:r>
                        <a:rPr lang="en-US" sz="1000" dirty="0" smtClean="0">
                          <a:effectLst/>
                          <a:latin typeface="+mn-ea"/>
                          <a:ea typeface="+mn-ea"/>
                        </a:rPr>
                        <a:t>Except </a:t>
                      </a:r>
                      <a:r>
                        <a:rPr lang="en-US" sz="1000" dirty="0">
                          <a:effectLst/>
                          <a:latin typeface="+mn-ea"/>
                          <a:ea typeface="+mn-ea"/>
                        </a:rPr>
                        <a:t>(a) as set forth on </a:t>
                      </a:r>
                      <a:r>
                        <a:rPr lang="en-US" sz="1000" u="sng" dirty="0">
                          <a:effectLst/>
                          <a:latin typeface="+mn-ea"/>
                          <a:ea typeface="+mn-ea"/>
                        </a:rPr>
                        <a:t>Schedule 7.01</a:t>
                      </a:r>
                      <a:r>
                        <a:rPr lang="en-US" sz="1000" dirty="0">
                          <a:effectLst/>
                          <a:latin typeface="+mn-ea"/>
                          <a:ea typeface="+mn-ea"/>
                        </a:rPr>
                        <a:t>, (b) as required by any Law or Order, (c) as expressly permitted or required by this Agreement, or (d) with the prior written consent of Buyer (which consent shall not be unreasonably withheld, conditioned or delayed), during the period from the date of this Agreement to the earlier of the Closing and the date on which this Agreement is terminated in accordance with </a:t>
                      </a:r>
                      <a:r>
                        <a:rPr lang="en-US" sz="1000" u="sng" dirty="0">
                          <a:effectLst/>
                          <a:latin typeface="+mn-ea"/>
                          <a:ea typeface="+mn-ea"/>
                        </a:rPr>
                        <a:t>Article IX</a:t>
                      </a:r>
                      <a:r>
                        <a:rPr lang="en-US" sz="1000" dirty="0">
                          <a:effectLst/>
                          <a:latin typeface="+mn-ea"/>
                          <a:ea typeface="+mn-ea"/>
                        </a:rPr>
                        <a:t> (the “</a:t>
                      </a:r>
                      <a:r>
                        <a:rPr lang="en-US" sz="1000" u="sng" dirty="0">
                          <a:effectLst/>
                          <a:latin typeface="+mn-ea"/>
                          <a:ea typeface="+mn-ea"/>
                        </a:rPr>
                        <a:t>Pre-Closing Period</a:t>
                      </a:r>
                      <a:r>
                        <a:rPr lang="en-US" sz="1000" dirty="0">
                          <a:effectLst/>
                          <a:latin typeface="+mn-ea"/>
                          <a:ea typeface="+mn-ea"/>
                        </a:rPr>
                        <a:t>”), Seller shall cause the Company </a:t>
                      </a:r>
                      <a:r>
                        <a:rPr lang="en-US" sz="1000" dirty="0" smtClean="0">
                          <a:effectLst/>
                          <a:latin typeface="+mn-ea"/>
                          <a:ea typeface="+mn-ea"/>
                        </a:rPr>
                        <a:t>to (</a:t>
                      </a:r>
                      <a:r>
                        <a:rPr lang="en-US" sz="1000" dirty="0" err="1" smtClean="0">
                          <a:effectLst/>
                          <a:latin typeface="+mn-ea"/>
                          <a:ea typeface="+mn-ea"/>
                        </a:rPr>
                        <a:t>i</a:t>
                      </a:r>
                      <a:r>
                        <a:rPr lang="en-US" sz="1000" dirty="0" smtClean="0">
                          <a:effectLst/>
                          <a:latin typeface="+mn-ea"/>
                          <a:ea typeface="+mn-ea"/>
                        </a:rPr>
                        <a:t>) conduct its business in the Ordinary Course of Business, (ii) maintain the employment of and keep available the services of the key officers and employees of the Company (subject to retirements in the Ordinary Course of Business), and (iii) maintain and preserve intact the business organization of the Company and the goodwill of those having relationships with the Company (including the customers, suppliers, employees, relevant Governmental Authorities and other Persons with which the Company has any business dealings). </a:t>
                      </a:r>
                      <a:r>
                        <a:rPr lang="en-US" sz="1000" dirty="0">
                          <a:effectLst/>
                          <a:latin typeface="+mn-ea"/>
                          <a:ea typeface="+mn-ea"/>
                        </a:rPr>
                        <a:t>Without limiting the generality of the foregoing, and except (</a:t>
                      </a:r>
                      <a:r>
                        <a:rPr lang="en-US" sz="1000" dirty="0" err="1">
                          <a:effectLst/>
                          <a:latin typeface="+mn-ea"/>
                          <a:ea typeface="+mn-ea"/>
                        </a:rPr>
                        <a:t>i</a:t>
                      </a:r>
                      <a:r>
                        <a:rPr lang="en-US" sz="1000" dirty="0">
                          <a:effectLst/>
                          <a:latin typeface="+mn-ea"/>
                          <a:ea typeface="+mn-ea"/>
                        </a:rPr>
                        <a:t>) as set forth on </a:t>
                      </a:r>
                      <a:r>
                        <a:rPr lang="en-US" sz="1000" u="sng" dirty="0">
                          <a:effectLst/>
                          <a:latin typeface="+mn-ea"/>
                          <a:ea typeface="+mn-ea"/>
                        </a:rPr>
                        <a:t>Schedule 7.01</a:t>
                      </a:r>
                      <a:r>
                        <a:rPr lang="en-US" sz="1000" dirty="0">
                          <a:effectLst/>
                          <a:latin typeface="+mn-ea"/>
                          <a:ea typeface="+mn-ea"/>
                        </a:rPr>
                        <a:t>, (ii) as required by any Law or Order, or (iii) as expressly permitted or required by this Agreement, Seller shall cause the Company not to, without the prior written consent of Buyer (which consent shall not be unreasonably withheld, conditioned or delayed): </a:t>
                      </a:r>
                      <a:endParaRPr lang="en-US" sz="1000" dirty="0" smtClean="0">
                        <a:effectLst/>
                        <a:latin typeface="+mn-ea"/>
                        <a:ea typeface="+mn-ea"/>
                      </a:endParaRPr>
                    </a:p>
                    <a:p>
                      <a:pPr marL="0" indent="0" algn="l">
                        <a:lnSpc>
                          <a:spcPct val="110000"/>
                        </a:lnSpc>
                        <a:spcAft>
                          <a:spcPts val="0"/>
                        </a:spcAft>
                        <a:tabLst>
                          <a:tab pos="2176145" algn="l"/>
                          <a:tab pos="540385" algn="l"/>
                        </a:tabLst>
                      </a:pPr>
                      <a:endParaRPr lang="ko-KR" sz="1000" dirty="0">
                        <a:effectLst/>
                        <a:latin typeface="+mn-ea"/>
                        <a:ea typeface="+mn-ea"/>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amend its Organizational </a:t>
                      </a:r>
                      <a:r>
                        <a:rPr lang="en-US" sz="900" kern="1200" spc="-30" baseline="0" dirty="0" smtClean="0">
                          <a:solidFill>
                            <a:schemeClr val="tx1"/>
                          </a:solidFill>
                          <a:effectLst/>
                          <a:latin typeface="+mn-ea"/>
                          <a:ea typeface="+mn-ea"/>
                          <a:cs typeface="Times New Roman" panose="02020603050405020304" pitchFamily="18" charset="0"/>
                        </a:rPr>
                        <a:t>Documents;</a:t>
                      </a: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smtClean="0">
                          <a:solidFill>
                            <a:schemeClr val="tx1"/>
                          </a:solidFill>
                          <a:effectLst/>
                          <a:latin typeface="+mn-ea"/>
                          <a:ea typeface="+mn-ea"/>
                          <a:cs typeface="Times New Roman" panose="02020603050405020304" pitchFamily="18" charset="0"/>
                        </a:rPr>
                        <a:t>issue</a:t>
                      </a:r>
                      <a:r>
                        <a:rPr lang="en-US" sz="900" kern="1200" spc="-30" baseline="0" dirty="0">
                          <a:solidFill>
                            <a:schemeClr val="tx1"/>
                          </a:solidFill>
                          <a:effectLst/>
                          <a:latin typeface="+mn-ea"/>
                          <a:ea typeface="+mn-ea"/>
                          <a:cs typeface="Times New Roman" panose="02020603050405020304" pitchFamily="18" charset="0"/>
                        </a:rPr>
                        <a:t>, reissue, sell or pledge, or authorize the issuance, reissuance, sale or pledge of, any of its </a:t>
                      </a:r>
                      <a:r>
                        <a:rPr lang="en-US" sz="900" kern="1200" spc="-30" baseline="0" dirty="0" smtClean="0">
                          <a:solidFill>
                            <a:schemeClr val="tx1"/>
                          </a:solidFill>
                          <a:effectLst/>
                          <a:latin typeface="+mn-ea"/>
                          <a:ea typeface="+mn-ea"/>
                          <a:cs typeface="Times New Roman" panose="02020603050405020304" pitchFamily="18" charset="0"/>
                        </a:rPr>
                        <a:t>Equity Securities, </a:t>
                      </a:r>
                      <a:r>
                        <a:rPr lang="en-US" sz="900" kern="1200" spc="-30" baseline="0" dirty="0">
                          <a:solidFill>
                            <a:schemeClr val="tx1"/>
                          </a:solidFill>
                          <a:effectLst/>
                          <a:latin typeface="+mn-ea"/>
                          <a:ea typeface="+mn-ea"/>
                          <a:cs typeface="Times New Roman" panose="02020603050405020304" pitchFamily="18" charset="0"/>
                        </a:rPr>
                        <a:t>or any securities convertible into its equity interests, or grant or enter into any rights, warrants, options, agreements or commitments with respect to the issuance of such </a:t>
                      </a:r>
                      <a:r>
                        <a:rPr lang="en-US" altLang="ko-KR" sz="900" kern="1200" spc="-30" baseline="0" dirty="0" smtClean="0">
                          <a:solidFill>
                            <a:schemeClr val="tx1"/>
                          </a:solidFill>
                          <a:effectLst/>
                          <a:latin typeface="+mn-ea"/>
                          <a:ea typeface="+mn-ea"/>
                          <a:cs typeface="Times New Roman" panose="02020603050405020304" pitchFamily="18" charset="0"/>
                        </a:rPr>
                        <a:t>Equity Securities</a:t>
                      </a:r>
                      <a:r>
                        <a:rPr lang="en-US" sz="900" kern="1200" spc="-30" baseline="0" dirty="0" smtClean="0">
                          <a:solidFill>
                            <a:schemeClr val="tx1"/>
                          </a:solidFill>
                          <a:effectLst/>
                          <a:latin typeface="+mn-ea"/>
                          <a:ea typeface="+mn-ea"/>
                          <a:cs typeface="Times New Roman" panose="02020603050405020304" pitchFamily="18" charset="0"/>
                        </a:rPr>
                        <a:t>;</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declare, set aside or pay any dividend or other distribution in respect of any of its equity interests, in each case, other than dividends and distributions payable solely in cash;</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redeem, repurchase, adjust, split, combine, subdivide or reclassify any shares of its </a:t>
                      </a:r>
                      <a:r>
                        <a:rPr lang="en-US" altLang="ko-KR" sz="900" kern="1200" spc="-30" baseline="0" dirty="0" smtClean="0">
                          <a:solidFill>
                            <a:schemeClr val="tx1"/>
                          </a:solidFill>
                          <a:effectLst/>
                          <a:latin typeface="+mn-ea"/>
                          <a:ea typeface="+mn-ea"/>
                          <a:cs typeface="Times New Roman" panose="02020603050405020304" pitchFamily="18" charset="0"/>
                        </a:rPr>
                        <a:t>Equity Securities</a:t>
                      </a:r>
                      <a:r>
                        <a:rPr lang="en-US" sz="900" kern="1200" spc="-30" baseline="0" dirty="0" smtClean="0">
                          <a:solidFill>
                            <a:schemeClr val="tx1"/>
                          </a:solidFill>
                          <a:effectLst/>
                          <a:latin typeface="+mn-ea"/>
                          <a:ea typeface="+mn-ea"/>
                          <a:cs typeface="Times New Roman" panose="02020603050405020304" pitchFamily="18" charset="0"/>
                        </a:rPr>
                        <a:t>, </a:t>
                      </a:r>
                      <a:r>
                        <a:rPr lang="en-US" sz="900" kern="1200" spc="-30" baseline="0" dirty="0">
                          <a:solidFill>
                            <a:schemeClr val="tx1"/>
                          </a:solidFill>
                          <a:effectLst/>
                          <a:latin typeface="+mn-ea"/>
                          <a:ea typeface="+mn-ea"/>
                          <a:cs typeface="Times New Roman" panose="02020603050405020304" pitchFamily="18" charset="0"/>
                        </a:rPr>
                        <a:t>as the case may be, or any option, warrant or similar right relating thereto;</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a:t>
                      </a:r>
                      <a:r>
                        <a:rPr lang="en-US" sz="900" kern="1200" spc="-30" baseline="0" dirty="0" err="1">
                          <a:solidFill>
                            <a:schemeClr val="tx1"/>
                          </a:solidFill>
                          <a:effectLst/>
                          <a:latin typeface="+mn-ea"/>
                          <a:ea typeface="+mn-ea"/>
                          <a:cs typeface="Times New Roman" panose="02020603050405020304" pitchFamily="18" charset="0"/>
                        </a:rPr>
                        <a:t>i</a:t>
                      </a:r>
                      <a:r>
                        <a:rPr lang="en-US" sz="900" kern="1200" spc="-30" baseline="0" dirty="0">
                          <a:solidFill>
                            <a:schemeClr val="tx1"/>
                          </a:solidFill>
                          <a:effectLst/>
                          <a:latin typeface="+mn-ea"/>
                          <a:ea typeface="+mn-ea"/>
                          <a:cs typeface="Times New Roman" panose="02020603050405020304" pitchFamily="18" charset="0"/>
                        </a:rPr>
                        <a:t>) sell, lease, license, transfer, divest or otherwise dispose of any of its properties or assets, other than sales, leases, transfers, divestitures or dispositions (x) in the Ordinary Course of Business</a:t>
                      </a:r>
                      <a:r>
                        <a:rPr lang="en-US" sz="900" kern="1200" spc="-30" baseline="0" dirty="0" smtClean="0">
                          <a:solidFill>
                            <a:schemeClr val="tx1"/>
                          </a:solidFill>
                          <a:effectLst/>
                          <a:latin typeface="+mn-ea"/>
                          <a:ea typeface="+mn-ea"/>
                          <a:cs typeface="Times New Roman" panose="02020603050405020304" pitchFamily="18" charset="0"/>
                        </a:rPr>
                        <a:t>, or </a:t>
                      </a:r>
                      <a:r>
                        <a:rPr lang="en-US" sz="900" kern="1200" spc="-30" baseline="0" dirty="0">
                          <a:solidFill>
                            <a:schemeClr val="tx1"/>
                          </a:solidFill>
                          <a:effectLst/>
                          <a:latin typeface="+mn-ea"/>
                          <a:ea typeface="+mn-ea"/>
                          <a:cs typeface="Times New Roman" panose="02020603050405020304" pitchFamily="18" charset="0"/>
                        </a:rPr>
                        <a:t>(y) of obsolete or unsalable inventory or </a:t>
                      </a:r>
                      <a:r>
                        <a:rPr lang="en-US" sz="900" kern="1200" spc="-30" baseline="0" dirty="0" smtClean="0">
                          <a:solidFill>
                            <a:schemeClr val="tx1"/>
                          </a:solidFill>
                          <a:effectLst/>
                          <a:latin typeface="+mn-ea"/>
                          <a:ea typeface="+mn-ea"/>
                          <a:cs typeface="Times New Roman" panose="02020603050405020304" pitchFamily="18" charset="0"/>
                        </a:rPr>
                        <a:t>equipment, </a:t>
                      </a:r>
                      <a:r>
                        <a:rPr lang="en-US" sz="900" kern="1200" spc="-30" baseline="0" dirty="0">
                          <a:solidFill>
                            <a:schemeClr val="tx1"/>
                          </a:solidFill>
                          <a:effectLst/>
                          <a:latin typeface="+mn-ea"/>
                          <a:ea typeface="+mn-ea"/>
                          <a:cs typeface="Times New Roman" panose="02020603050405020304" pitchFamily="18" charset="0"/>
                        </a:rPr>
                        <a:t>(ii) forgive, waive or otherwise cancel, in whole or in part, any account receivable or other amount owed to the Company, except as required by GAAP or applicable Law; or (iii) acquire any asset or property </a:t>
                      </a:r>
                      <a:r>
                        <a:rPr lang="en-US" sz="900" kern="1200" spc="-30" baseline="0" dirty="0" smtClean="0">
                          <a:solidFill>
                            <a:schemeClr val="tx1"/>
                          </a:solidFill>
                          <a:effectLst/>
                          <a:latin typeface="+mn-ea"/>
                          <a:ea typeface="+mn-ea"/>
                          <a:cs typeface="Times New Roman" panose="02020603050405020304" pitchFamily="18" charset="0"/>
                        </a:rPr>
                        <a:t>having </a:t>
                      </a:r>
                      <a:r>
                        <a:rPr lang="en-US" sz="900" kern="1200" spc="-30" baseline="0" dirty="0">
                          <a:solidFill>
                            <a:schemeClr val="tx1"/>
                          </a:solidFill>
                          <a:effectLst/>
                          <a:latin typeface="+mn-ea"/>
                          <a:ea typeface="+mn-ea"/>
                          <a:cs typeface="Times New Roman" panose="02020603050405020304" pitchFamily="18" charset="0"/>
                        </a:rPr>
                        <a:t>a value in excess of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create, incur, assume or guarantee any Indebtedness for borrowed money;</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change </a:t>
                      </a:r>
                      <a:r>
                        <a:rPr lang="en-US" sz="900" kern="1200" spc="-30" baseline="0" dirty="0" smtClean="0">
                          <a:solidFill>
                            <a:schemeClr val="tx1"/>
                          </a:solidFill>
                          <a:effectLst/>
                          <a:latin typeface="+mn-ea"/>
                          <a:ea typeface="+mn-ea"/>
                          <a:cs typeface="Times New Roman" panose="02020603050405020304" pitchFamily="18" charset="0"/>
                        </a:rPr>
                        <a:t>any </a:t>
                      </a:r>
                      <a:r>
                        <a:rPr lang="en-US" sz="900" kern="1200" spc="-30" baseline="0" dirty="0">
                          <a:solidFill>
                            <a:schemeClr val="tx1"/>
                          </a:solidFill>
                          <a:effectLst/>
                          <a:latin typeface="+mn-ea"/>
                          <a:ea typeface="+mn-ea"/>
                          <a:cs typeface="Times New Roman" panose="02020603050405020304" pitchFamily="18" charset="0"/>
                        </a:rPr>
                        <a:t>of the accounting principles, practices or methods used by the Company, except as may be required by GAAP or applicable Law or as disclosed in the notes to the Financial Statements;</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except (</a:t>
                      </a:r>
                      <a:r>
                        <a:rPr lang="en-US" sz="900" kern="1200" spc="-30" baseline="0" dirty="0" err="1">
                          <a:solidFill>
                            <a:schemeClr val="tx1"/>
                          </a:solidFill>
                          <a:effectLst/>
                          <a:latin typeface="+mn-ea"/>
                          <a:ea typeface="+mn-ea"/>
                          <a:cs typeface="Times New Roman" panose="02020603050405020304" pitchFamily="18" charset="0"/>
                        </a:rPr>
                        <a:t>i</a:t>
                      </a:r>
                      <a:r>
                        <a:rPr lang="en-US" sz="900" kern="1200" spc="-30" baseline="0" dirty="0">
                          <a:solidFill>
                            <a:schemeClr val="tx1"/>
                          </a:solidFill>
                          <a:effectLst/>
                          <a:latin typeface="+mn-ea"/>
                          <a:ea typeface="+mn-ea"/>
                          <a:cs typeface="Times New Roman" panose="02020603050405020304" pitchFamily="18" charset="0"/>
                        </a:rPr>
                        <a:t>) in the Ordinary Course of Business, (ii) as permitted under any Plan in effect on the date hereof in accordance with its terms on the date hereof, or (iii) required by Law, (A) grant to any director, officer, employee or sales representative of any of the Company any increase in compensation or benefits, or any extraordinary bonus, benefit or other material direct or indirect material compensation, whether in connection with the transactions contemplated hereby or otherwise, (B) adopt, enter into or amend any Plan, (C) hire any additional officer, or (D) enter into any Contract with a labor union or collective bargaining agreement;</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acquire or agree to acquire by merging or consolidating with, or by purchasing all or substantially all of the assets or </a:t>
                      </a:r>
                      <a:r>
                        <a:rPr lang="en-US" altLang="ko-KR" sz="900" kern="1200" spc="-30" baseline="0" dirty="0" smtClean="0">
                          <a:solidFill>
                            <a:schemeClr val="tx1"/>
                          </a:solidFill>
                          <a:effectLst/>
                          <a:latin typeface="+mn-ea"/>
                          <a:ea typeface="+mn-ea"/>
                          <a:cs typeface="Times New Roman" panose="02020603050405020304" pitchFamily="18" charset="0"/>
                        </a:rPr>
                        <a:t>Equity Securities </a:t>
                      </a:r>
                      <a:r>
                        <a:rPr lang="en-US" sz="900" kern="1200" spc="-30" baseline="0" dirty="0" smtClean="0">
                          <a:solidFill>
                            <a:schemeClr val="tx1"/>
                          </a:solidFill>
                          <a:effectLst/>
                          <a:latin typeface="+mn-ea"/>
                          <a:ea typeface="+mn-ea"/>
                          <a:cs typeface="Times New Roman" panose="02020603050405020304" pitchFamily="18" charset="0"/>
                        </a:rPr>
                        <a:t>of</a:t>
                      </a:r>
                      <a:r>
                        <a:rPr lang="en-US" sz="900" kern="1200" spc="-30" baseline="0" dirty="0">
                          <a:solidFill>
                            <a:schemeClr val="tx1"/>
                          </a:solidFill>
                          <a:effectLst/>
                          <a:latin typeface="+mn-ea"/>
                          <a:ea typeface="+mn-ea"/>
                          <a:cs typeface="Times New Roman" panose="02020603050405020304" pitchFamily="18" charset="0"/>
                        </a:rPr>
                        <a:t>, or by any other manner, any Person;</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make any loans or advances to, or investments in or capital contributions to any Person (other than the Company);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a:tabLst>
                          <a:tab pos="1371600" algn="l"/>
                        </a:tabLst>
                      </a:pPr>
                      <a:r>
                        <a:rPr lang="en-US" sz="900" kern="1200" spc="-30" baseline="0" dirty="0">
                          <a:solidFill>
                            <a:schemeClr val="tx1"/>
                          </a:solidFill>
                          <a:effectLst/>
                          <a:latin typeface="+mn-ea"/>
                          <a:ea typeface="+mn-ea"/>
                          <a:cs typeface="Times New Roman" panose="02020603050405020304" pitchFamily="18" charset="0"/>
                        </a:rPr>
                        <a:t>make any capital expenditure or enter into any Contract for a capital expenditure, individually or in the aggregate, in excess of the Company’s existing capital expenditure budget;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8032721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 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2. </a:t>
            </a:r>
            <a:r>
              <a:rPr lang="en-US" altLang="ko-KR" dirty="0" smtClean="0">
                <a:solidFill>
                  <a:schemeClr val="tx1"/>
                </a:solidFill>
                <a:latin typeface="+mn-ea"/>
                <a:ea typeface="+mn-ea"/>
              </a:rPr>
              <a:t>Ordinary Course of Business</a:t>
            </a:r>
            <a:r>
              <a:rPr lang="ko-KR" altLang="en-US" dirty="0" smtClean="0">
                <a:solidFill>
                  <a:schemeClr val="tx1"/>
                </a:solidFill>
                <a:latin typeface="+mn-ea"/>
                <a:ea typeface="+mn-ea"/>
              </a:rPr>
              <a:t> </a:t>
            </a:r>
            <a:r>
              <a:rPr lang="en-US" altLang="ko-KR" dirty="0" smtClean="0">
                <a:solidFill>
                  <a:schemeClr val="tx1"/>
                </a:solidFill>
                <a:latin typeface="+mn-ea"/>
                <a:ea typeface="+mn-ea"/>
              </a:rPr>
              <a:t>(3)</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3582513970"/>
              </p:ext>
            </p:extLst>
          </p:nvPr>
        </p:nvGraphicFramePr>
        <p:xfrm>
          <a:off x="439738" y="1043677"/>
          <a:ext cx="9188450" cy="346437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2505218">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smtClean="0">
                          <a:solidFill>
                            <a:schemeClr val="tx1"/>
                          </a:solidFill>
                          <a:effectLst/>
                          <a:latin typeface="+mn-ea"/>
                          <a:ea typeface="+mn-ea"/>
                          <a:cs typeface="Times New Roman" panose="02020603050405020304" pitchFamily="18" charset="0"/>
                        </a:rPr>
                        <a:t>settle </a:t>
                      </a:r>
                      <a:r>
                        <a:rPr lang="en-US" sz="900" kern="1200" spc="-30" baseline="0" dirty="0">
                          <a:solidFill>
                            <a:schemeClr val="tx1"/>
                          </a:solidFill>
                          <a:effectLst/>
                          <a:latin typeface="+mn-ea"/>
                          <a:ea typeface="+mn-ea"/>
                          <a:cs typeface="Times New Roman" panose="02020603050405020304" pitchFamily="18" charset="0"/>
                        </a:rPr>
                        <a:t>or compromise any material Tax Liability of the Company or make any material election with respect to Taxes of the Company, other than in the ordinary course of business;</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enter into any Contract that would be a Material Contract if in effect on the date hereof or amend or terminate any Material Contract, or waive, release or assign any material rights or claims thereto or thereunder, other than </a:t>
                      </a:r>
                      <a:r>
                        <a:rPr lang="en-US" sz="900" kern="1200" spc="-30" baseline="0" dirty="0" smtClean="0">
                          <a:solidFill>
                            <a:schemeClr val="tx1"/>
                          </a:solidFill>
                          <a:effectLst/>
                          <a:latin typeface="+mn-ea"/>
                          <a:ea typeface="+mn-ea"/>
                          <a:cs typeface="Times New Roman" panose="02020603050405020304" pitchFamily="18" charset="0"/>
                        </a:rPr>
                        <a:t>renewals </a:t>
                      </a:r>
                      <a:r>
                        <a:rPr lang="en-US" sz="900" kern="1200" spc="-30" baseline="0" dirty="0">
                          <a:solidFill>
                            <a:schemeClr val="tx1"/>
                          </a:solidFill>
                          <a:effectLst/>
                          <a:latin typeface="+mn-ea"/>
                          <a:ea typeface="+mn-ea"/>
                          <a:cs typeface="Times New Roman" panose="02020603050405020304" pitchFamily="18" charset="0"/>
                        </a:rPr>
                        <a:t>or expirations of Contracts in the </a:t>
                      </a:r>
                      <a:r>
                        <a:rPr lang="en-US" sz="900" kern="1200" spc="-30" baseline="0" dirty="0" smtClean="0">
                          <a:solidFill>
                            <a:schemeClr val="tx1"/>
                          </a:solidFill>
                          <a:effectLst/>
                          <a:latin typeface="+mn-ea"/>
                          <a:ea typeface="+mn-ea"/>
                          <a:cs typeface="Times New Roman" panose="02020603050405020304" pitchFamily="18" charset="0"/>
                        </a:rPr>
                        <a:t>Ordinary Course </a:t>
                      </a:r>
                      <a:r>
                        <a:rPr lang="en-US" sz="900" kern="1200" spc="-30" baseline="0" dirty="0">
                          <a:solidFill>
                            <a:schemeClr val="tx1"/>
                          </a:solidFill>
                          <a:effectLst/>
                          <a:latin typeface="+mn-ea"/>
                          <a:ea typeface="+mn-ea"/>
                          <a:cs typeface="Times New Roman" panose="02020603050405020304" pitchFamily="18" charset="0"/>
                        </a:rPr>
                        <a:t>of </a:t>
                      </a:r>
                      <a:r>
                        <a:rPr lang="en-US" sz="900" kern="1200" spc="-30" baseline="0" dirty="0" smtClean="0">
                          <a:solidFill>
                            <a:schemeClr val="tx1"/>
                          </a:solidFill>
                          <a:effectLst/>
                          <a:latin typeface="+mn-ea"/>
                          <a:ea typeface="+mn-ea"/>
                          <a:cs typeface="Times New Roman" panose="02020603050405020304" pitchFamily="18" charset="0"/>
                        </a:rPr>
                        <a:t>Business</a:t>
                      </a:r>
                      <a:r>
                        <a:rPr lang="en-US" sz="900" kern="1200" spc="-30" baseline="0" dirty="0">
                          <a:solidFill>
                            <a:schemeClr val="tx1"/>
                          </a:solidFill>
                          <a:effectLst/>
                          <a:latin typeface="+mn-ea"/>
                          <a:ea typeface="+mn-ea"/>
                          <a:cs typeface="Times New Roman" panose="02020603050405020304" pitchFamily="18" charset="0"/>
                        </a:rPr>
                        <a:t>;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Enter into, modify or terminate any Contract with any Related Person, or waive, release or assign any material rights or claims thereto or thereunder;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merge or consolidate itself with any other Person or adopt a plan of or complete partial liquidation, dissolution, consolidation, restructuring, recapitalization or other reorganization;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other than as required by Law, make or change any material election in respect of Taxes, adopt or change any accounting method in respect of Taxes, file any material amendment to a federal, state, or foreign income Tax Return or any other material Tax Return, enter into any material Tax sharing or similar agreement (other than any such agreement, including any lease, license or financial arrangement, the principal purpose of which is not the sharing of any Tax) or material closing agreement, settle any material claim or assessment in respect of Taxes or consent to any extension or waiver of the limitation period applicable to any material claim or assessment in respect of Taxes (other than extensions obtained in the </a:t>
                      </a:r>
                      <a:r>
                        <a:rPr lang="en-US" altLang="ko-KR" sz="900" kern="1200" spc="-30" baseline="0" dirty="0" smtClean="0">
                          <a:solidFill>
                            <a:schemeClr val="tx1"/>
                          </a:solidFill>
                          <a:effectLst/>
                          <a:latin typeface="+mn-ea"/>
                          <a:ea typeface="+mn-ea"/>
                          <a:cs typeface="Times New Roman" panose="02020603050405020304" pitchFamily="18" charset="0"/>
                        </a:rPr>
                        <a:t>Ordinary Course of Business </a:t>
                      </a:r>
                      <a:r>
                        <a:rPr lang="en-US" sz="900" kern="1200" spc="-30" baseline="0" dirty="0" smtClean="0">
                          <a:solidFill>
                            <a:schemeClr val="tx1"/>
                          </a:solidFill>
                          <a:effectLst/>
                          <a:latin typeface="+mn-ea"/>
                          <a:ea typeface="+mn-ea"/>
                          <a:cs typeface="Times New Roman" panose="02020603050405020304" pitchFamily="18" charset="0"/>
                        </a:rPr>
                        <a:t>in </a:t>
                      </a:r>
                      <a:r>
                        <a:rPr lang="en-US" sz="900" kern="1200" spc="-30" baseline="0" dirty="0">
                          <a:solidFill>
                            <a:schemeClr val="tx1"/>
                          </a:solidFill>
                          <a:effectLst/>
                          <a:latin typeface="+mn-ea"/>
                          <a:ea typeface="+mn-ea"/>
                          <a:cs typeface="Times New Roman" panose="02020603050405020304" pitchFamily="18" charset="0"/>
                        </a:rPr>
                        <a:t>connection with filing Tax Returns);</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settle any Litigation; or </a:t>
                      </a:r>
                      <a:endParaRPr lang="ko-KR" sz="900" kern="1200" spc="-30" baseline="0" dirty="0">
                        <a:solidFill>
                          <a:schemeClr val="tx1"/>
                        </a:solidFill>
                        <a:effectLst/>
                        <a:latin typeface="+mn-ea"/>
                        <a:ea typeface="+mn-ea"/>
                        <a:cs typeface="Times New Roman" panose="02020603050405020304" pitchFamily="18" charset="0"/>
                      </a:endParaRPr>
                    </a:p>
                    <a:p>
                      <a:pPr marL="228600" lvl="0" indent="-228600" algn="l" defTabSz="914400" rtl="0" eaLnBrk="1" fontAlgn="base" latinLnBrk="1" hangingPunct="1">
                        <a:lnSpc>
                          <a:spcPct val="110000"/>
                        </a:lnSpc>
                        <a:spcAft>
                          <a:spcPts val="0"/>
                        </a:spcAft>
                        <a:buSzPct val="100000"/>
                        <a:buFont typeface="+mj-lt"/>
                        <a:buAutoNum type="alphaLcPeriod" startAt="12"/>
                        <a:tabLst>
                          <a:tab pos="1371600" algn="l"/>
                        </a:tabLst>
                      </a:pPr>
                      <a:r>
                        <a:rPr lang="en-US" sz="900" kern="1200" spc="-30" baseline="0" dirty="0">
                          <a:solidFill>
                            <a:schemeClr val="tx1"/>
                          </a:solidFill>
                          <a:effectLst/>
                          <a:latin typeface="+mn-ea"/>
                          <a:ea typeface="+mn-ea"/>
                          <a:cs typeface="Times New Roman" panose="02020603050405020304" pitchFamily="18" charset="0"/>
                        </a:rPr>
                        <a:t>authorize any of, or commit, agree or otherwise enter into any Contract, to take any of the foregoing actions</a:t>
                      </a:r>
                      <a:r>
                        <a:rPr lang="en-US" sz="900" kern="1200" spc="-30" baseline="0" dirty="0" smtClean="0">
                          <a:solidFill>
                            <a:schemeClr val="tx1"/>
                          </a:solidFill>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r h="959160">
                <a:tc>
                  <a:txBody>
                    <a:bodyPr/>
                    <a:lstStyle/>
                    <a:p>
                      <a:pPr marL="0" marR="0" lvl="0" indent="0" algn="ctr" defTabSz="914400" rtl="0" eaLnBrk="1" fontAlgn="auto" latinLnBrk="1" hangingPunct="1">
                        <a:lnSpc>
                          <a:spcPct val="110000"/>
                        </a:lnSpc>
                        <a:spcBef>
                          <a:spcPts val="0"/>
                        </a:spcBef>
                        <a:spcAft>
                          <a:spcPts val="0"/>
                        </a:spcAft>
                        <a:buClrTx/>
                        <a:buSzTx/>
                        <a:buFontTx/>
                        <a:buNone/>
                        <a:tabLst/>
                        <a:defRPr/>
                      </a:pPr>
                      <a:r>
                        <a:rPr lang="ko-KR" altLang="en-US" sz="1000" b="1" kern="1200" dirty="0" smtClean="0">
                          <a:solidFill>
                            <a:schemeClr val="tx1"/>
                          </a:solidFill>
                          <a:effectLst/>
                          <a:latin typeface="+mn-ea"/>
                          <a:ea typeface="+mn-ea"/>
                          <a:cs typeface="Times New Roman" panose="02020603050405020304" pitchFamily="18" charset="0"/>
                        </a:rPr>
                        <a:t>추가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7.02   </a:t>
                      </a:r>
                      <a:r>
                        <a:rPr lang="en-US" sz="1000" u="sng" dirty="0">
                          <a:effectLst/>
                          <a:latin typeface="+mn-ea"/>
                          <a:ea typeface="+mn-ea"/>
                        </a:rPr>
                        <a:t>Control of </a:t>
                      </a:r>
                      <a:r>
                        <a:rPr lang="en-US" sz="1000" u="sng" dirty="0" smtClean="0">
                          <a:effectLst/>
                          <a:latin typeface="+mn-ea"/>
                          <a:ea typeface="+mn-ea"/>
                        </a:rPr>
                        <a:t>Operations</a:t>
                      </a:r>
                      <a:endParaRPr lang="en-US" sz="1000" u="none" dirty="0" smtClean="0">
                        <a:effectLst/>
                        <a:latin typeface="+mn-ea"/>
                        <a:ea typeface="+mn-ea"/>
                      </a:endParaRPr>
                    </a:p>
                    <a:p>
                      <a:pPr marL="0" indent="0" algn="l">
                        <a:lnSpc>
                          <a:spcPct val="110000"/>
                        </a:lnSpc>
                        <a:spcAft>
                          <a:spcPts val="0"/>
                        </a:spcAft>
                        <a:tabLst>
                          <a:tab pos="2176145" algn="l"/>
                          <a:tab pos="540385" algn="l"/>
                        </a:tabLst>
                      </a:pPr>
                      <a:r>
                        <a:rPr lang="en-US" sz="1000" dirty="0" smtClean="0">
                          <a:effectLst/>
                          <a:latin typeface="+mn-ea"/>
                          <a:ea typeface="+mn-ea"/>
                        </a:rPr>
                        <a:t>Nothing </a:t>
                      </a:r>
                      <a:r>
                        <a:rPr lang="en-US" sz="1000" dirty="0">
                          <a:effectLst/>
                          <a:latin typeface="+mn-ea"/>
                          <a:ea typeface="+mn-ea"/>
                        </a:rPr>
                        <a:t>contained in this Agreement shall give Buyer, directly or indirectly, the right to control or direct the operations of the Company prior to the Closing.  Prior to the Closing, the Company shall exercise, consistent with the terms and conditions of this Agreement, complete control and supervision over their respective operations</a:t>
                      </a:r>
                      <a:r>
                        <a:rPr lang="en-US" sz="1000" dirty="0" smtClean="0">
                          <a:effectLst/>
                          <a:latin typeface="+mn-ea"/>
                          <a:ea typeface="+mn-ea"/>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427579849"/>
                  </a:ext>
                </a:extLst>
              </a:tr>
            </a:tbl>
          </a:graphicData>
        </a:graphic>
      </p:graphicFrame>
    </p:spTree>
    <p:extLst>
      <p:ext uri="{BB962C8B-B14F-4D97-AF65-F5344CB8AC3E}">
        <p14:creationId xmlns:p14="http://schemas.microsoft.com/office/powerpoint/2010/main" val="33501492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 </a:t>
            </a:r>
            <a:r>
              <a:rPr lang="en-US" altLang="ko-KR" dirty="0" smtClean="0">
                <a:latin typeface="+mn-ea"/>
              </a:rPr>
              <a:t>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3</a:t>
            </a:r>
            <a:r>
              <a:rPr lang="en-US" altLang="ko-KR" dirty="0">
                <a:solidFill>
                  <a:schemeClr val="tx1"/>
                </a:solidFill>
                <a:latin typeface="+mn-ea"/>
                <a:ea typeface="+mn-ea"/>
              </a:rPr>
              <a:t>. </a:t>
            </a:r>
            <a:r>
              <a:rPr lang="en-US" altLang="ko-KR" dirty="0" smtClean="0">
                <a:solidFill>
                  <a:schemeClr val="tx1"/>
                </a:solidFill>
                <a:latin typeface="+mn-ea"/>
                <a:ea typeface="+mn-ea"/>
              </a:rPr>
              <a:t>Government Approval (1)</a:t>
            </a:r>
            <a:endParaRPr lang="ko-KR" altLang="en-US"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587346682"/>
              </p:ext>
            </p:extLst>
          </p:nvPr>
        </p:nvGraphicFramePr>
        <p:xfrm>
          <a:off x="439738" y="1043677"/>
          <a:ext cx="9188450" cy="442353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거래종결을 위하여 필요한 정부기관 승인절차</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기업결합신고 포함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및 이를 위한 각종 의무 이행과 관련된 </a:t>
                      </a:r>
                      <a:r>
                        <a:rPr lang="ko-KR" sz="1000" dirty="0" err="1">
                          <a:effectLst/>
                          <a:latin typeface="+mn-ea"/>
                          <a:ea typeface="+mn-ea"/>
                          <a:cs typeface="Times New Roman" panose="02020603050405020304" pitchFamily="18" charset="0"/>
                        </a:rPr>
                        <a:t>확약사항</a:t>
                      </a:r>
                      <a:r>
                        <a:rPr lang="ko-KR" sz="1000" dirty="0">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95653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ct val="110000"/>
                        </a:lnSpc>
                        <a:spcAft>
                          <a:spcPts val="0"/>
                        </a:spcAft>
                      </a:pPr>
                      <a:r>
                        <a:rPr lang="en-US" sz="1000" dirty="0">
                          <a:effectLst/>
                          <a:latin typeface="+mn-ea"/>
                          <a:ea typeface="+mn-ea"/>
                          <a:cs typeface="Times New Roman" panose="02020603050405020304" pitchFamily="18" charset="0"/>
                        </a:rPr>
                        <a:t>Antitrust filing </a:t>
                      </a:r>
                      <a:r>
                        <a:rPr lang="ko-KR" sz="1000" dirty="0">
                          <a:effectLst/>
                          <a:latin typeface="+mn-ea"/>
                          <a:ea typeface="+mn-ea"/>
                          <a:cs typeface="Times New Roman" panose="02020603050405020304" pitchFamily="18" charset="0"/>
                        </a:rPr>
                        <a:t>관련해서 매수인과 매도인이 동종 산업에서 경쟁을 하고 그 합산 시장점유율이 비교적 높거나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매수인과 매도인이 </a:t>
                      </a:r>
                      <a:r>
                        <a:rPr lang="ko-KR" sz="1000" dirty="0" err="1">
                          <a:effectLst/>
                          <a:latin typeface="+mn-ea"/>
                          <a:ea typeface="+mn-ea"/>
                          <a:cs typeface="Times New Roman" panose="02020603050405020304" pitchFamily="18" charset="0"/>
                        </a:rPr>
                        <a:t>상방시장</a:t>
                      </a:r>
                      <a:r>
                        <a:rPr lang="ko-KR" sz="1000" dirty="0">
                          <a:effectLst/>
                          <a:latin typeface="+mn-ea"/>
                          <a:ea typeface="+mn-ea"/>
                          <a:cs typeface="Times New Roman" panose="02020603050405020304" pitchFamily="18" charset="0"/>
                        </a:rPr>
                        <a:t> 및 하방시장에서 사업을 영위하고 각 시장점유율이 높다는 등 경쟁제한성이 존재하는 경우에는 관련 정부기관이 거래를 불허하거나</a:t>
                      </a:r>
                      <a:r>
                        <a:rPr lang="en-US" sz="1000" dirty="0">
                          <a:effectLst/>
                          <a:latin typeface="+mn-ea"/>
                          <a:ea typeface="+mn-ea"/>
                          <a:cs typeface="Times New Roman" panose="02020603050405020304" pitchFamily="18" charset="0"/>
                        </a:rPr>
                        <a:t>, </a:t>
                      </a:r>
                      <a:r>
                        <a:rPr lang="ko-KR" sz="1000" dirty="0" err="1">
                          <a:effectLst/>
                          <a:latin typeface="+mn-ea"/>
                          <a:ea typeface="+mn-ea"/>
                          <a:cs typeface="Times New Roman" panose="02020603050405020304" pitchFamily="18" charset="0"/>
                        </a:rPr>
                        <a:t>경쟁제한이</a:t>
                      </a:r>
                      <a:r>
                        <a:rPr lang="ko-KR" sz="1000" dirty="0">
                          <a:effectLst/>
                          <a:latin typeface="+mn-ea"/>
                          <a:ea typeface="+mn-ea"/>
                          <a:cs typeface="Times New Roman" panose="02020603050405020304" pitchFamily="18" charset="0"/>
                        </a:rPr>
                        <a:t> 문제되는 사업부문이나 회사를 매각하도록 </a:t>
                      </a:r>
                      <a:r>
                        <a:rPr lang="ko-KR" sz="1000" dirty="0" smtClean="0">
                          <a:effectLst/>
                          <a:latin typeface="+mn-ea"/>
                          <a:ea typeface="+mn-ea"/>
                          <a:cs typeface="Times New Roman" panose="02020603050405020304" pitchFamily="18" charset="0"/>
                        </a:rPr>
                        <a:t>하거나</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구조적 조치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가격 인상</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점유율 확대 등의 행위를 일정 기간 동안 제한하는 조치</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행태적 조치</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를 취할 수 있음</a:t>
                      </a:r>
                      <a:r>
                        <a:rPr lang="en-US" sz="1000" dirty="0">
                          <a:effectLst/>
                          <a:latin typeface="+mn-ea"/>
                          <a:ea typeface="+mn-ea"/>
                          <a:cs typeface="Times New Roman" panose="02020603050405020304" pitchFamily="18" charset="0"/>
                        </a:rPr>
                        <a:t>.  </a:t>
                      </a:r>
                      <a:endParaRPr lang="en-US" sz="1000" dirty="0" smtClean="0">
                        <a:effectLst/>
                        <a:latin typeface="+mn-ea"/>
                        <a:ea typeface="+mn-ea"/>
                        <a:cs typeface="Times New Roman" panose="02020603050405020304" pitchFamily="18" charset="0"/>
                      </a:endParaRPr>
                    </a:p>
                    <a:p>
                      <a:pPr algn="l">
                        <a:lnSpc>
                          <a:spcPct val="110000"/>
                        </a:lnSpc>
                        <a:spcAft>
                          <a:spcPts val="0"/>
                        </a:spcAft>
                      </a:pPr>
                      <a:endParaRPr lang="ko-KR" sz="1000" dirty="0">
                        <a:effectLst/>
                        <a:latin typeface="+mn-ea"/>
                        <a:ea typeface="+mn-ea"/>
                        <a:cs typeface="Times New Roman" panose="02020603050405020304" pitchFamily="18" charset="0"/>
                      </a:endParaRPr>
                    </a:p>
                    <a:p>
                      <a:pPr marL="228600" indent="-228600" algn="l">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매도인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이와 관련하여</a:t>
                      </a:r>
                      <a:r>
                        <a:rPr lang="en-US" sz="1000" dirty="0">
                          <a:effectLst/>
                          <a:latin typeface="+mn-ea"/>
                          <a:ea typeface="+mn-ea"/>
                          <a:cs typeface="Times New Roman" panose="02020603050405020304" pitchFamily="18" charset="0"/>
                        </a:rPr>
                        <a:t>, ‘deal certainty’</a:t>
                      </a:r>
                      <a:r>
                        <a:rPr lang="ko-KR" sz="1000" dirty="0">
                          <a:effectLst/>
                          <a:latin typeface="+mn-ea"/>
                          <a:ea typeface="+mn-ea"/>
                          <a:cs typeface="Times New Roman" panose="02020603050405020304" pitchFamily="18" charset="0"/>
                        </a:rPr>
                        <a:t>가 주된 </a:t>
                      </a:r>
                      <a:r>
                        <a:rPr lang="ko-KR" sz="1000" dirty="0" err="1">
                          <a:effectLst/>
                          <a:latin typeface="+mn-ea"/>
                          <a:ea typeface="+mn-ea"/>
                          <a:cs typeface="Times New Roman" panose="02020603050405020304" pitchFamily="18" charset="0"/>
                        </a:rPr>
                        <a:t>고려사항인</a:t>
                      </a:r>
                      <a:r>
                        <a:rPr lang="ko-KR" sz="1000" dirty="0">
                          <a:effectLst/>
                          <a:latin typeface="+mn-ea"/>
                          <a:ea typeface="+mn-ea"/>
                          <a:cs typeface="Times New Roman" panose="02020603050405020304" pitchFamily="18" charset="0"/>
                        </a:rPr>
                        <a:t> 매도인은 위와 같은 조치에도 불구하고 매수인이 거래종결을 </a:t>
                      </a:r>
                      <a:r>
                        <a:rPr lang="ko-KR" sz="1000" dirty="0">
                          <a:effectLst/>
                          <a:latin typeface="+mn-ea"/>
                          <a:ea typeface="+mn-ea"/>
                          <a:cs typeface="바탕" panose="02030600000101010101" pitchFamily="18" charset="-127"/>
                        </a:rPr>
                        <a:t>위해 필요한 모든 조치를 취하도록</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이른바 </a:t>
                      </a:r>
                      <a:r>
                        <a:rPr lang="en-US" sz="1000" dirty="0">
                          <a:effectLst/>
                          <a:latin typeface="+mn-ea"/>
                          <a:ea typeface="+mn-ea"/>
                          <a:cs typeface="Times New Roman" panose="02020603050405020304" pitchFamily="18" charset="0"/>
                        </a:rPr>
                        <a:t>‘Hell or High Water’ </a:t>
                      </a:r>
                      <a:r>
                        <a:rPr lang="ko-KR" sz="1000" dirty="0">
                          <a:effectLst/>
                          <a:latin typeface="+mn-ea"/>
                          <a:ea typeface="+mn-ea"/>
                          <a:cs typeface="Times New Roman" panose="02020603050405020304" pitchFamily="18" charset="0"/>
                        </a:rPr>
                        <a:t>조항</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요구하는 경우도 있음</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228600" indent="-228600" algn="l">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매수인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매수인은 </a:t>
                      </a:r>
                      <a:r>
                        <a:rPr lang="en-US" sz="1000" dirty="0">
                          <a:effectLst/>
                          <a:latin typeface="+mn-ea"/>
                          <a:ea typeface="+mn-ea"/>
                          <a:cs typeface="Times New Roman" panose="02020603050405020304" pitchFamily="18" charset="0"/>
                        </a:rPr>
                        <a:t>“reasonable best efforts” </a:t>
                      </a:r>
                      <a:r>
                        <a:rPr lang="ko-KR" sz="1000" dirty="0">
                          <a:effectLst/>
                          <a:latin typeface="+mn-ea"/>
                          <a:ea typeface="+mn-ea"/>
                          <a:cs typeface="Times New Roman" panose="02020603050405020304" pitchFamily="18" charset="0"/>
                        </a:rPr>
                        <a:t>또는</a:t>
                      </a:r>
                      <a:r>
                        <a:rPr lang="en-US" sz="1000" dirty="0">
                          <a:effectLst/>
                          <a:latin typeface="+mn-ea"/>
                          <a:ea typeface="+mn-ea"/>
                          <a:cs typeface="Times New Roman" panose="02020603050405020304" pitchFamily="18" charset="0"/>
                        </a:rPr>
                        <a:t> “</a:t>
                      </a:r>
                      <a:r>
                        <a:rPr lang="en-US" sz="1000" dirty="0">
                          <a:solidFill>
                            <a:schemeClr val="tx1"/>
                          </a:solidFill>
                          <a:effectLst/>
                          <a:latin typeface="+mn-ea"/>
                          <a:ea typeface="+mn-ea"/>
                          <a:cs typeface="Times New Roman" panose="02020603050405020304" pitchFamily="18" charset="0"/>
                        </a:rPr>
                        <a:t>best efforts”</a:t>
                      </a:r>
                      <a:r>
                        <a:rPr lang="ko-KR" sz="1000" dirty="0">
                          <a:solidFill>
                            <a:schemeClr val="tx1"/>
                          </a:solidFill>
                          <a:effectLst/>
                          <a:latin typeface="+mn-ea"/>
                          <a:ea typeface="+mn-ea"/>
                          <a:cs typeface="Times New Roman" panose="02020603050405020304" pitchFamily="18" charset="0"/>
                        </a:rPr>
                        <a:t>를 추가하여 의무의 정도를 낮추는 것을 시도해볼 수 있고</a:t>
                      </a:r>
                      <a:r>
                        <a:rPr lang="en-US"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Times New Roman" panose="02020603050405020304" pitchFamily="18" charset="0"/>
                        </a:rPr>
                        <a:t>반대로 아래와 같은 문구를 넣는 것을 제안해볼 수 있음</a:t>
                      </a:r>
                      <a:r>
                        <a:rPr lang="en-US" sz="1000" dirty="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p>
                      <a:pPr algn="l">
                        <a:lnSpc>
                          <a:spcPct val="110000"/>
                        </a:lnSpc>
                        <a:spcAft>
                          <a:spcPts val="0"/>
                        </a:spcAft>
                      </a:pPr>
                      <a:r>
                        <a:rPr lang="en-US" sz="1000" dirty="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p>
                      <a:pPr algn="l">
                        <a:lnSpc>
                          <a:spcPct val="110000"/>
                        </a:lnSpc>
                        <a:spcAft>
                          <a:spcPts val="0"/>
                        </a:spcAft>
                      </a:pPr>
                      <a:r>
                        <a:rPr lang="en-US" sz="1000" dirty="0">
                          <a:solidFill>
                            <a:schemeClr val="tx1"/>
                          </a:solidFill>
                          <a:effectLst/>
                          <a:latin typeface="+mn-ea"/>
                          <a:ea typeface="+mn-ea"/>
                          <a:cs typeface="Times New Roman" panose="02020603050405020304" pitchFamily="18" charset="0"/>
                        </a:rPr>
                        <a:t>“Notwithstanding the foregoing, nothing in this </a:t>
                      </a:r>
                      <a:r>
                        <a:rPr lang="en-US" sz="1000" u="sng" dirty="0" smtClean="0">
                          <a:solidFill>
                            <a:schemeClr val="tx1"/>
                          </a:solidFill>
                          <a:effectLst/>
                          <a:latin typeface="+mn-ea"/>
                          <a:ea typeface="+mn-ea"/>
                          <a:cs typeface="Times New Roman" panose="02020603050405020304" pitchFamily="18" charset="0"/>
                        </a:rPr>
                        <a:t>Section [〮]</a:t>
                      </a:r>
                      <a:r>
                        <a:rPr lang="en-US" sz="1000" dirty="0">
                          <a:solidFill>
                            <a:schemeClr val="tx1"/>
                          </a:solidFill>
                          <a:effectLst/>
                          <a:latin typeface="+mn-ea"/>
                          <a:ea typeface="+mn-ea"/>
                          <a:cs typeface="Times New Roman" panose="02020603050405020304" pitchFamily="18" charset="0"/>
                        </a:rPr>
                        <a:t> shall require, or be construed to require, Buyer or any of its Affiliates to agree to (</a:t>
                      </a:r>
                      <a:r>
                        <a:rPr lang="en-US" sz="1000" dirty="0" err="1">
                          <a:solidFill>
                            <a:schemeClr val="tx1"/>
                          </a:solidFill>
                          <a:effectLst/>
                          <a:latin typeface="+mn-ea"/>
                          <a:ea typeface="+mn-ea"/>
                          <a:cs typeface="Times New Roman" panose="02020603050405020304" pitchFamily="18" charset="0"/>
                        </a:rPr>
                        <a:t>i</a:t>
                      </a:r>
                      <a:r>
                        <a:rPr lang="en-US" sz="1000" dirty="0">
                          <a:solidFill>
                            <a:schemeClr val="tx1"/>
                          </a:solidFill>
                          <a:effectLst/>
                          <a:latin typeface="+mn-ea"/>
                          <a:ea typeface="+mn-ea"/>
                          <a:cs typeface="Times New Roman" panose="02020603050405020304" pitchFamily="18" charset="0"/>
                        </a:rPr>
                        <a:t>) sell, hold, divest, discontinue or limit, before or after the Closing Date, any assets, businesses or interests of Buyer, the Company or any of their respective Affiliates; (ii) any conditions relating to, or changes or restrictions in, the operations of any such assets, businesses or interests which, in either case, could reasonably be expected to result in a Material Adverse Effect or materially and adversely impact the economic or business benefits to Buyer of the transactions contemplated by this Agreement; or (iii) any material modification or waiver of the terms and conditions of this Agreement.”</a:t>
                      </a:r>
                      <a:endParaRPr lang="ko-KR" sz="1000" dirty="0">
                        <a:solidFill>
                          <a:schemeClr val="tx1"/>
                        </a:solidFill>
                        <a:effectLst/>
                        <a:latin typeface="+mn-ea"/>
                        <a:ea typeface="+mn-ea"/>
                        <a:cs typeface="Times New Roman" panose="02020603050405020304" pitchFamily="18" charset="0"/>
                      </a:endParaRPr>
                    </a:p>
                    <a:p>
                      <a:pPr algn="l">
                        <a:lnSpc>
                          <a:spcPct val="110000"/>
                        </a:lnSpc>
                        <a:spcAft>
                          <a:spcPts val="0"/>
                        </a:spcAft>
                      </a:pPr>
                      <a:r>
                        <a:rPr lang="en-US" sz="1000" dirty="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p>
                      <a:pPr algn="l">
                        <a:lnSpc>
                          <a:spcPct val="110000"/>
                        </a:lnSpc>
                        <a:spcAft>
                          <a:spcPts val="0"/>
                        </a:spcAft>
                      </a:pPr>
                      <a:r>
                        <a:rPr lang="ko-KR" sz="1000" dirty="0" smtClean="0">
                          <a:solidFill>
                            <a:schemeClr val="tx1"/>
                          </a:solidFill>
                          <a:effectLst/>
                          <a:latin typeface="+mn-ea"/>
                          <a:ea typeface="+mn-ea"/>
                          <a:cs typeface="Times New Roman" panose="02020603050405020304" pitchFamily="18" charset="0"/>
                        </a:rPr>
                        <a:t>위</a:t>
                      </a:r>
                      <a:r>
                        <a:rPr lang="ko-KR" altLang="en-US" sz="1000" dirty="0" smtClean="0">
                          <a:solidFill>
                            <a:schemeClr val="tx1"/>
                          </a:solidFill>
                          <a:effectLst/>
                          <a:latin typeface="+mn-ea"/>
                          <a:ea typeface="+mn-ea"/>
                          <a:cs typeface="Times New Roman" panose="02020603050405020304" pitchFamily="18" charset="0"/>
                        </a:rPr>
                        <a:t>의</a:t>
                      </a:r>
                      <a:r>
                        <a:rPr lang="ko-KR" sz="1000" dirty="0" smtClean="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Times New Roman" panose="02020603050405020304" pitchFamily="18" charset="0"/>
                        </a:rPr>
                        <a:t>문구에 대해 매도인의 저항이 심하거나</a:t>
                      </a:r>
                      <a:r>
                        <a:rPr lang="en-US" sz="1000" dirty="0">
                          <a:solidFill>
                            <a:schemeClr val="tx1"/>
                          </a:solidFill>
                          <a:effectLst/>
                          <a:latin typeface="+mn-ea"/>
                          <a:ea typeface="+mn-ea"/>
                          <a:cs typeface="Times New Roman" panose="02020603050405020304" pitchFamily="18" charset="0"/>
                        </a:rPr>
                        <a:t>, </a:t>
                      </a:r>
                      <a:r>
                        <a:rPr lang="ko-KR" sz="1000" dirty="0" err="1">
                          <a:solidFill>
                            <a:schemeClr val="tx1"/>
                          </a:solidFill>
                          <a:effectLst/>
                          <a:latin typeface="+mn-ea"/>
                          <a:ea typeface="+mn-ea"/>
                          <a:cs typeface="Times New Roman" panose="02020603050405020304" pitchFamily="18" charset="0"/>
                        </a:rPr>
                        <a:t>정부승인이</a:t>
                      </a:r>
                      <a:r>
                        <a:rPr lang="ko-KR" sz="1000" dirty="0">
                          <a:solidFill>
                            <a:schemeClr val="tx1"/>
                          </a:solidFill>
                          <a:effectLst/>
                          <a:latin typeface="+mn-ea"/>
                          <a:ea typeface="+mn-ea"/>
                          <a:cs typeface="Times New Roman" panose="02020603050405020304" pitchFamily="18" charset="0"/>
                        </a:rPr>
                        <a:t> 나오</a:t>
                      </a:r>
                      <a:r>
                        <a:rPr lang="ko-KR" sz="1000" dirty="0">
                          <a:effectLst/>
                          <a:latin typeface="+mn-ea"/>
                          <a:ea typeface="+mn-ea"/>
                          <a:cs typeface="Times New Roman" panose="02020603050405020304" pitchFamily="18" charset="0"/>
                        </a:rPr>
                        <a:t>지 않을 리스크가 매우 크지 않다면</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아래 정도의 방안으로 타협해볼 수도 있음</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lvl="0" indent="-171450" algn="l" defTabSz="914400" rtl="0" eaLnBrk="1" latinLnBrk="1" hangingPunct="1">
                        <a:lnSpc>
                          <a:spcPct val="110000"/>
                        </a:lnSpc>
                        <a:spcAft>
                          <a:spcPts val="0"/>
                        </a:spcAft>
                        <a:buSzPts val="1000"/>
                        <a:buFont typeface="Wingdings" panose="05000000000000000000" pitchFamily="2" charset="2"/>
                        <a:buChar char="§"/>
                        <a:tabLst>
                          <a:tab pos="457200" algn="l"/>
                        </a:tabLst>
                      </a:pPr>
                      <a:r>
                        <a:rPr lang="en-US" sz="1000" dirty="0">
                          <a:effectLst/>
                          <a:latin typeface="+mn-ea"/>
                          <a:ea typeface="+mn-ea"/>
                          <a:cs typeface="Times New Roman" panose="02020603050405020304" pitchFamily="18" charset="0"/>
                        </a:rPr>
                        <a:t> </a:t>
                      </a:r>
                      <a:r>
                        <a:rPr lang="en-US" sz="1000" kern="1200" dirty="0" smtClean="0">
                          <a:solidFill>
                            <a:schemeClr val="tx1"/>
                          </a:solidFill>
                          <a:effectLst/>
                          <a:latin typeface="+mn-ea"/>
                          <a:ea typeface="+mn-ea"/>
                          <a:cs typeface="Times New Roman" panose="02020603050405020304" pitchFamily="18" charset="0"/>
                        </a:rPr>
                        <a:t>Only </a:t>
                      </a:r>
                      <a:r>
                        <a:rPr lang="en-US" sz="1000" kern="1200" dirty="0">
                          <a:solidFill>
                            <a:schemeClr val="tx1"/>
                          </a:solidFill>
                          <a:effectLst/>
                          <a:latin typeface="+mn-ea"/>
                          <a:ea typeface="+mn-ea"/>
                          <a:cs typeface="Times New Roman" panose="02020603050405020304" pitchFamily="18" charset="0"/>
                        </a:rPr>
                        <a:t>require divestiture of non-material assets or assets less than a certain amount.</a:t>
                      </a:r>
                      <a:endParaRPr lang="ko-KR" sz="1000" kern="1200" dirty="0">
                        <a:solidFill>
                          <a:schemeClr val="tx1"/>
                        </a:solidFill>
                        <a:effectLst/>
                        <a:latin typeface="+mn-ea"/>
                        <a:ea typeface="+mn-ea"/>
                        <a:cs typeface="Times New Roman" panose="02020603050405020304" pitchFamily="18" charset="0"/>
                      </a:endParaRPr>
                    </a:p>
                    <a:p>
                      <a:pPr marL="171450" lvl="0" indent="-171450" algn="l" latinLnBrk="1">
                        <a:lnSpc>
                          <a:spcPct val="110000"/>
                        </a:lnSpc>
                        <a:spcAft>
                          <a:spcPts val="0"/>
                        </a:spcAft>
                        <a:buSzPts val="1000"/>
                        <a:buFont typeface="Wingdings" panose="05000000000000000000" pitchFamily="2" charset="2"/>
                        <a:buChar char="§"/>
                        <a:tabLst>
                          <a:tab pos="457200" algn="l"/>
                        </a:tabLst>
                      </a:pPr>
                      <a:r>
                        <a:rPr lang="en-US" sz="1000" dirty="0" smtClean="0">
                          <a:effectLst/>
                          <a:latin typeface="+mn-ea"/>
                          <a:ea typeface="+mn-ea"/>
                          <a:cs typeface="Times New Roman" panose="02020603050405020304" pitchFamily="18" charset="0"/>
                        </a:rPr>
                        <a:t> Place </a:t>
                      </a:r>
                      <a:r>
                        <a:rPr lang="en-US" sz="1000" dirty="0">
                          <a:effectLst/>
                          <a:latin typeface="+mn-ea"/>
                          <a:ea typeface="+mn-ea"/>
                          <a:cs typeface="Times New Roman" panose="02020603050405020304" pitchFamily="18" charset="0"/>
                        </a:rPr>
                        <a:t>a cap on the amount the Buyer must divest.</a:t>
                      </a:r>
                      <a:endParaRPr lang="ko-KR" sz="1000" dirty="0">
                        <a:effectLst/>
                        <a:latin typeface="+mn-ea"/>
                        <a:ea typeface="+mn-ea"/>
                        <a:cs typeface="Times New Roman" panose="02020603050405020304" pitchFamily="18" charset="0"/>
                      </a:endParaRPr>
                    </a:p>
                    <a:p>
                      <a:pPr marL="171450" lvl="0" indent="-171450" algn="l" latinLnBrk="1">
                        <a:lnSpc>
                          <a:spcPct val="110000"/>
                        </a:lnSpc>
                        <a:spcAft>
                          <a:spcPts val="0"/>
                        </a:spcAft>
                        <a:buSzPts val="1000"/>
                        <a:buFont typeface="Wingdings" panose="05000000000000000000" pitchFamily="2" charset="2"/>
                        <a:buChar char="§"/>
                        <a:tabLst>
                          <a:tab pos="457200" algn="l"/>
                        </a:tabLst>
                      </a:pPr>
                      <a:r>
                        <a:rPr lang="en-US" sz="1000" dirty="0" smtClean="0">
                          <a:effectLst/>
                          <a:latin typeface="+mn-ea"/>
                          <a:ea typeface="+mn-ea"/>
                          <a:cs typeface="Times New Roman" panose="02020603050405020304" pitchFamily="18" charset="0"/>
                        </a:rPr>
                        <a:t> Specify </a:t>
                      </a:r>
                      <a:r>
                        <a:rPr lang="en-US" sz="1000" dirty="0">
                          <a:effectLst/>
                          <a:latin typeface="+mn-ea"/>
                          <a:ea typeface="+mn-ea"/>
                          <a:cs typeface="Times New Roman" panose="02020603050405020304" pitchFamily="18" charset="0"/>
                        </a:rPr>
                        <a:t>certain assets </a:t>
                      </a:r>
                      <a:r>
                        <a:rPr lang="en-US" sz="1000" dirty="0" smtClean="0">
                          <a:effectLst/>
                          <a:latin typeface="+mn-ea"/>
                          <a:ea typeface="+mn-ea"/>
                          <a:cs typeface="Times New Roman" panose="02020603050405020304" pitchFamily="18" charset="0"/>
                        </a:rPr>
                        <a:t>Buyer </a:t>
                      </a:r>
                      <a:r>
                        <a:rPr lang="en-US" sz="1000" dirty="0">
                          <a:effectLst/>
                          <a:latin typeface="+mn-ea"/>
                          <a:ea typeface="+mn-ea"/>
                          <a:cs typeface="Times New Roman" panose="02020603050405020304" pitchFamily="18" charset="0"/>
                        </a:rPr>
                        <a:t>must divest</a:t>
                      </a:r>
                      <a:r>
                        <a:rPr lang="en-US" sz="1000" dirty="0" smtClean="0">
                          <a:effectLst/>
                          <a:latin typeface="+mn-ea"/>
                          <a:ea typeface="+mn-ea"/>
                          <a:cs typeface="Times New Roman" panose="02020603050405020304" pitchFamily="18" charset="0"/>
                        </a:rPr>
                        <a:t>.</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36677963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 </a:t>
            </a:r>
            <a:r>
              <a:rPr lang="en-US" altLang="ko-KR" dirty="0" smtClean="0">
                <a:latin typeface="+mn-ea"/>
              </a:rPr>
              <a:t>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3. </a:t>
            </a:r>
            <a:r>
              <a:rPr lang="en-US" altLang="ko-KR" dirty="0">
                <a:solidFill>
                  <a:schemeClr val="tx1"/>
                </a:solidFill>
                <a:latin typeface="+mn-ea"/>
              </a:rPr>
              <a:t>Government Approval </a:t>
            </a:r>
            <a:r>
              <a:rPr lang="en-US" altLang="ko-KR" dirty="0" smtClean="0">
                <a:solidFill>
                  <a:schemeClr val="tx1"/>
                </a:solidFill>
                <a:latin typeface="+mn-ea"/>
                <a:ea typeface="+mn-ea"/>
              </a:rPr>
              <a:t>(2)</a:t>
            </a:r>
            <a:endParaRPr lang="ko-KR" altLang="en-US"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3763759699"/>
              </p:ext>
            </p:extLst>
          </p:nvPr>
        </p:nvGraphicFramePr>
        <p:xfrm>
          <a:off x="439738" y="1043677"/>
          <a:ext cx="9188450" cy="550259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502593">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7.05  </a:t>
                      </a:r>
                      <a:r>
                        <a:rPr lang="en-US" altLang="ko-KR" sz="1000" u="sng" dirty="0" smtClean="0">
                          <a:solidFill>
                            <a:schemeClr val="tx1"/>
                          </a:solidFill>
                          <a:effectLst/>
                          <a:latin typeface="+mn-ea"/>
                          <a:ea typeface="+mn-ea"/>
                          <a:cs typeface="Times New Roman" panose="02020603050405020304" pitchFamily="18" charset="0"/>
                        </a:rPr>
                        <a:t>Antitrust Notifications and Other Regulatory Approvals</a:t>
                      </a:r>
                      <a:r>
                        <a:rPr lang="en-US" altLang="ko-KR" sz="1000" dirty="0" smtClean="0">
                          <a:solidFill>
                            <a:schemeClr val="tx1"/>
                          </a:solidFill>
                          <a:effectLst/>
                          <a:latin typeface="+mn-ea"/>
                          <a:ea typeface="+mn-ea"/>
                          <a:cs typeface="Times New Roman" panose="02020603050405020304" pitchFamily="18" charset="0"/>
                        </a:rPr>
                        <a:t>.</a:t>
                      </a:r>
                    </a:p>
                    <a:p>
                      <a:pPr marL="228600" indent="-228600" algn="l" latinLnBrk="1">
                        <a:lnSpc>
                          <a:spcPct val="100000"/>
                        </a:lnSpc>
                        <a:spcAft>
                          <a:spcPts val="0"/>
                        </a:spcAft>
                        <a:buFont typeface="+mj-lt"/>
                        <a:buAutoNum type="alphaLcPeriod"/>
                      </a:pPr>
                      <a:r>
                        <a:rPr lang="en-US" altLang="ko-KR" sz="900" dirty="0" smtClean="0">
                          <a:solidFill>
                            <a:schemeClr val="tx1"/>
                          </a:solidFill>
                          <a:effectLst/>
                          <a:latin typeface="+mn-ea"/>
                          <a:ea typeface="+mn-ea"/>
                          <a:cs typeface="Times New Roman" panose="02020603050405020304" pitchFamily="18" charset="0"/>
                        </a:rPr>
                        <a:t>Each of the parties to this Agreement shall use its respective reasonable best efforts to prepare and file required Notification and Report Forms under the HSR Act with the FTC and the DOJ as expeditiously as possible following the date of this Agreement but in no event later than five (5) Business Days after the date hereof.  All filings made in connection with the foregoing sentence shall be made in substantial compliance with the requirements of applicable Antitrust Law, including the HSR Act and any other applicable Law, and shall request early termination of the applicable waiting period or other expedited treatment to the extent available under applicable Antitrust Laws.  Each of the parties hereto shall make such other filings and submissions as are necessary, if any, in other jurisdictions in order to comply with all applicable Antitrust Laws and all other applicable Laws and shall promptly provide any supplemental information or documentation requested by any Governmental Authority relating thereto.  All filing fees payable in connection with the notifications, filings, registrations, submissions or other materials contemplated by this Section 7.05 shall be paid entirely by Buyer. Subject to the Confidentiality Agreement and applicable Laws, the parties to this Agreement shall coordinate and cooperate fully and promptly with each other in exchanging such information and providing such assistance as the other party may reasonably request in connection with the foregoing and in seeking early termination of any applicable waiting periods, including those under the HSR Act. </a:t>
                      </a:r>
                    </a:p>
                    <a:p>
                      <a:pPr marL="228600" indent="-228600" algn="l" latinLnBrk="1">
                        <a:lnSpc>
                          <a:spcPct val="100000"/>
                        </a:lnSpc>
                        <a:spcAft>
                          <a:spcPts val="0"/>
                        </a:spcAft>
                        <a:buFont typeface="+mj-lt"/>
                        <a:buAutoNum type="alphaLcPeriod"/>
                      </a:pPr>
                      <a:r>
                        <a:rPr lang="en-US" altLang="ko-KR" sz="900" dirty="0" smtClean="0">
                          <a:solidFill>
                            <a:schemeClr val="tx1"/>
                          </a:solidFill>
                          <a:effectLst/>
                          <a:latin typeface="+mn-ea"/>
                          <a:ea typeface="+mn-ea"/>
                          <a:cs typeface="Times New Roman" panose="02020603050405020304" pitchFamily="18" charset="0"/>
                        </a:rPr>
                        <a:t>To the extent not prohibited by applicable Law, each party to this Agreement shall promptly notify and furnish the other party copies of (</a:t>
                      </a:r>
                      <a:r>
                        <a:rPr lang="en-US" altLang="ko-KR" sz="900" dirty="0" err="1" smtClean="0">
                          <a:solidFill>
                            <a:schemeClr val="tx1"/>
                          </a:solidFill>
                          <a:effectLst/>
                          <a:latin typeface="+mn-ea"/>
                          <a:ea typeface="+mn-ea"/>
                          <a:cs typeface="Times New Roman" panose="02020603050405020304" pitchFamily="18" charset="0"/>
                        </a:rPr>
                        <a:t>i</a:t>
                      </a:r>
                      <a:r>
                        <a:rPr lang="en-US" altLang="ko-KR" sz="900" dirty="0" smtClean="0">
                          <a:solidFill>
                            <a:schemeClr val="tx1"/>
                          </a:solidFill>
                          <a:effectLst/>
                          <a:latin typeface="+mn-ea"/>
                          <a:ea typeface="+mn-ea"/>
                          <a:cs typeface="Times New Roman" panose="02020603050405020304" pitchFamily="18" charset="0"/>
                        </a:rPr>
                        <a:t>) any filing, excluding the HSR form and its attachments, such party or any of its Affiliates submits to any Governmental Authority and (ii) any correspondence or communication between it or any of its Affiliates or any of their respective representatives, on the one hand, and any Governmental Authority, on the other hand, in each case relating to the subject matter of this Section 7.05 or the transactions contemplated by this Agreement (and, in the case of any oral communication, a summary of such communication) and shall consult with and permit the other party to review in advance any proposed filing and any written or oral communication or correspondence by such party to any Governmental Authority relating to the subject matter of this Section 7.05 or the transactions contemplated by this Agreement, and shall take into account, in good faith, the views of such party in connection with any proposed filing and any written or oral communication or correspondence to any Governmental Authority, including the FTC or the DOJ relating to the subject matter of this Section 7.05 or the transactions contemplated by this Agreement. To the extent permitted by applicable Law, no party to this Agreement shall agree to, or permit any of its Affiliates or any of its or their respective representatives to, participate in any meeting or discussion with any Governmental Authority in respect of any filings, investigation, inquiry or any other matter contemplated by this Section 7.05 or any transaction contemplated by this Agreement unless it consults with the other party in advance and, to the extent permitted by such Governmental Authority, gives the other party the opportunity to attend and participate in such meeting or discussion. Any such provisions of information, rights to participate or consultations between the parties may be made on a counsel-only or outside counsel-only basis to the extent required under applicable Law or as appropriate to protect sensitive business information or maintain attorney-client or other privilege. For the avoidance of doubt, this Section 7.05 shall not apply to any filings, communications or correspondence regarding Taxes. </a:t>
                      </a:r>
                    </a:p>
                    <a:p>
                      <a:pPr marL="228600" indent="-228600" algn="l" latinLnBrk="1">
                        <a:lnSpc>
                          <a:spcPct val="100000"/>
                        </a:lnSpc>
                        <a:spcAft>
                          <a:spcPts val="0"/>
                        </a:spcAft>
                        <a:buFont typeface="+mj-lt"/>
                        <a:buAutoNum type="alphaLcPeriod"/>
                      </a:pPr>
                      <a:r>
                        <a:rPr lang="en-US" altLang="ko-KR" sz="900" dirty="0" smtClean="0">
                          <a:solidFill>
                            <a:schemeClr val="tx1"/>
                          </a:solidFill>
                          <a:effectLst/>
                          <a:latin typeface="+mn-ea"/>
                          <a:ea typeface="+mn-ea"/>
                          <a:cs typeface="Times New Roman" panose="02020603050405020304" pitchFamily="18" charset="0"/>
                        </a:rPr>
                        <a:t>[Notwithstanding anything in this Agreement to the contrary, Buyer shall take any and all actions necessary or advisable to obtain any Consents under or in connection with the Antitrust Law, and to enable all waiting periods under any Antitrust Law to expire, and to obtain each other Consent from any Governmental Authority under each other applicable Law, and to avoid or eliminate each and every impediment under any Antitrust Law or such other applicable Law, in each case, to cause the transactions contemplated hereby to occur as expeditiously as reasonably possible following the date of this Agreement and, in any event, prior to the Termination Date, including, in each case, promptly complying with any requests or inquiries for additional information or documentation (including any second request) by any Governmental Authority.</a:t>
                      </a:r>
                    </a:p>
                    <a:p>
                      <a:pPr marL="228600" indent="-228600" algn="l" latinLnBrk="1">
                        <a:lnSpc>
                          <a:spcPct val="100000"/>
                        </a:lnSpc>
                        <a:spcAft>
                          <a:spcPts val="0"/>
                        </a:spcAft>
                        <a:buFont typeface="+mj-lt"/>
                        <a:buAutoNum type="alphaLcPeriod"/>
                      </a:pPr>
                      <a:r>
                        <a:rPr lang="en-US" altLang="ko-KR" sz="900" dirty="0" smtClean="0">
                          <a:solidFill>
                            <a:schemeClr val="tx1"/>
                          </a:solidFill>
                          <a:effectLst/>
                          <a:latin typeface="+mn-ea"/>
                          <a:ea typeface="+mn-ea"/>
                          <a:cs typeface="Times New Roman" panose="02020603050405020304" pitchFamily="18" charset="0"/>
                        </a:rPr>
                        <a:t>During the Pre-Closing Period, Buyer shall not take any action or fail to take any action that could reasonably be expected to materially hinder, delay or prevent the obtaining of clearance or any Consent or the expiration of the required waiting periods under any Antitrust Law or other applicable Law or otherwise materially hinder, delay or prevent the consummation of any of the transactions contemplated hereby. </a:t>
                      </a:r>
                    </a:p>
                    <a:p>
                      <a:pPr marL="228600" indent="-228600" algn="l" latinLnBrk="1">
                        <a:lnSpc>
                          <a:spcPct val="100000"/>
                        </a:lnSpc>
                        <a:spcAft>
                          <a:spcPts val="0"/>
                        </a:spcAft>
                        <a:buFont typeface="+mj-lt"/>
                        <a:buAutoNum type="alphaLcPeriod"/>
                      </a:pPr>
                      <a:r>
                        <a:rPr lang="en-US" altLang="ko-KR" sz="900" dirty="0" smtClean="0">
                          <a:solidFill>
                            <a:schemeClr val="tx1"/>
                          </a:solidFill>
                          <a:effectLst/>
                          <a:latin typeface="+mn-ea"/>
                          <a:ea typeface="+mn-ea"/>
                          <a:cs typeface="Times New Roman" panose="02020603050405020304" pitchFamily="18" charset="0"/>
                        </a:rPr>
                        <a:t>The parties acknowledge and agree that the obligations set forth in this Section 7.05 shall be in addition to, and not in limitation of the generality of, the matters set forth in Section 7.03 and Section 7.04.</a:t>
                      </a:r>
                      <a:endParaRPr lang="en-US" altLang="ko-KR" sz="9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7699115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 </a:t>
            </a:r>
            <a:r>
              <a:rPr lang="en-US" altLang="ko-KR" dirty="0" smtClean="0">
                <a:latin typeface="+mn-ea"/>
              </a:rPr>
              <a:t>Covenant</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4. </a:t>
            </a:r>
            <a:r>
              <a:rPr lang="en-US" altLang="ko-KR" dirty="0" smtClean="0">
                <a:solidFill>
                  <a:schemeClr val="tx1"/>
                </a:solidFill>
                <a:latin typeface="+mn-ea"/>
                <a:ea typeface="+mn-ea"/>
              </a:rPr>
              <a:t>Transitional</a:t>
            </a:r>
            <a:r>
              <a:rPr lang="en-US" altLang="ko-KR" dirty="0" smtClean="0">
                <a:latin typeface="+mn-ea"/>
                <a:ea typeface="+mn-ea"/>
              </a:rPr>
              <a:t> </a:t>
            </a:r>
            <a:r>
              <a:rPr lang="en-US" altLang="ko-KR" dirty="0">
                <a:latin typeface="+mn-ea"/>
                <a:ea typeface="+mn-ea"/>
              </a:rPr>
              <a:t>Services </a:t>
            </a:r>
            <a:endParaRPr lang="ko-KR" altLang="en-US" dirty="0">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484927042"/>
              </p:ext>
            </p:extLst>
          </p:nvPr>
        </p:nvGraphicFramePr>
        <p:xfrm>
          <a:off x="439738" y="1043677"/>
          <a:ext cx="9188450" cy="226542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70679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0">
                        <a:lnSpc>
                          <a:spcPct val="110000"/>
                        </a:lnSpc>
                        <a:spcAft>
                          <a:spcPts val="0"/>
                        </a:spcAft>
                      </a:pPr>
                      <a:r>
                        <a:rPr lang="ko-KR" sz="1000" dirty="0">
                          <a:effectLst/>
                          <a:latin typeface="+mn-ea"/>
                          <a:ea typeface="+mn-ea"/>
                          <a:cs typeface="Times New Roman" panose="02020603050405020304" pitchFamily="18" charset="0"/>
                        </a:rPr>
                        <a:t>매수인이 거래종결 이후에 </a:t>
                      </a:r>
                      <a:r>
                        <a:rPr lang="ko-KR" sz="1000" dirty="0" err="1">
                          <a:effectLst/>
                          <a:latin typeface="+mn-ea"/>
                          <a:ea typeface="+mn-ea"/>
                          <a:cs typeface="Times New Roman" panose="02020603050405020304" pitchFamily="18" charset="0"/>
                        </a:rPr>
                        <a:t>대상회사를</a:t>
                      </a:r>
                      <a:r>
                        <a:rPr lang="ko-KR" sz="1000" dirty="0">
                          <a:effectLst/>
                          <a:latin typeface="+mn-ea"/>
                          <a:ea typeface="+mn-ea"/>
                          <a:cs typeface="Times New Roman" panose="02020603050405020304" pitchFamily="18" charset="0"/>
                        </a:rPr>
                        <a:t> 독립적으로 운영을 하기 위하여 일정한 기간 동안 </a:t>
                      </a:r>
                      <a:r>
                        <a:rPr lang="ko-KR" sz="1000" dirty="0" err="1">
                          <a:effectLst/>
                          <a:latin typeface="+mn-ea"/>
                          <a:ea typeface="+mn-ea"/>
                          <a:cs typeface="Times New Roman" panose="02020603050405020304" pitchFamily="18" charset="0"/>
                        </a:rPr>
                        <a:t>매도인측으로부터</a:t>
                      </a:r>
                      <a:r>
                        <a:rPr lang="ko-KR" sz="1000" dirty="0">
                          <a:effectLst/>
                          <a:latin typeface="+mn-ea"/>
                          <a:ea typeface="+mn-ea"/>
                          <a:cs typeface="Times New Roman" panose="02020603050405020304" pitchFamily="18" charset="0"/>
                        </a:rPr>
                        <a:t> 서비스를 받아야 하는 경우</a:t>
                      </a:r>
                      <a:r>
                        <a:rPr lang="en-US" sz="1000" dirty="0">
                          <a:effectLst/>
                          <a:latin typeface="+mn-ea"/>
                          <a:ea typeface="+mn-ea"/>
                          <a:cs typeface="Times New Roman" panose="02020603050405020304" pitchFamily="18" charset="0"/>
                        </a:rPr>
                        <a:t> Transition Service</a:t>
                      </a:r>
                      <a:r>
                        <a:rPr lang="ko-KR" sz="1000" dirty="0">
                          <a:effectLst/>
                          <a:latin typeface="+mn-ea"/>
                          <a:ea typeface="+mn-ea"/>
                          <a:cs typeface="Times New Roman" panose="02020603050405020304" pitchFamily="18" charset="0"/>
                        </a:rPr>
                        <a:t>에 대한 조항이 필요할 수 있음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66253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sz="1000" dirty="0" smtClean="0">
                          <a:solidFill>
                            <a:schemeClr val="tx1"/>
                          </a:solidFill>
                          <a:effectLst/>
                          <a:latin typeface="+mn-ea"/>
                          <a:ea typeface="+mn-ea"/>
                          <a:cs typeface="Times New Roman" panose="02020603050405020304" pitchFamily="18" charset="0"/>
                        </a:rPr>
                        <a:t>Transition Services </a:t>
                      </a:r>
                      <a:r>
                        <a:rPr lang="en-US" sz="1000" dirty="0">
                          <a:solidFill>
                            <a:schemeClr val="tx1"/>
                          </a:solidFill>
                          <a:effectLst/>
                          <a:latin typeface="+mn-ea"/>
                          <a:ea typeface="+mn-ea"/>
                          <a:cs typeface="Times New Roman" panose="02020603050405020304" pitchFamily="18" charset="0"/>
                        </a:rPr>
                        <a:t>Agreement</a:t>
                      </a:r>
                      <a:r>
                        <a:rPr lang="en-US" sz="1000" dirty="0">
                          <a:effectLst/>
                          <a:latin typeface="+mn-ea"/>
                          <a:ea typeface="+mn-ea"/>
                          <a:cs typeface="Times New Roman" panose="02020603050405020304" pitchFamily="18" charset="0"/>
                        </a:rPr>
                        <a:t>(“</a:t>
                      </a:r>
                      <a:r>
                        <a:rPr lang="en-US" sz="1000" u="sng" dirty="0">
                          <a:effectLst/>
                          <a:latin typeface="+mn-ea"/>
                          <a:ea typeface="+mn-ea"/>
                          <a:cs typeface="Times New Roman" panose="02020603050405020304" pitchFamily="18" charset="0"/>
                        </a:rPr>
                        <a:t>TSA</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를</a:t>
                      </a:r>
                      <a:r>
                        <a:rPr lang="en-US" sz="1000" dirty="0">
                          <a:effectLst/>
                          <a:latin typeface="+mn-ea"/>
                          <a:ea typeface="+mn-ea"/>
                          <a:cs typeface="Times New Roman" panose="02020603050405020304" pitchFamily="18" charset="0"/>
                        </a:rPr>
                        <a:t> SPA </a:t>
                      </a:r>
                      <a:r>
                        <a:rPr lang="ko-KR" sz="1000" dirty="0" err="1">
                          <a:effectLst/>
                          <a:latin typeface="+mn-ea"/>
                          <a:ea typeface="+mn-ea"/>
                          <a:cs typeface="Times New Roman" panose="02020603050405020304" pitchFamily="18" charset="0"/>
                        </a:rPr>
                        <a:t>서명시</a:t>
                      </a:r>
                      <a:r>
                        <a:rPr lang="ko-KR" sz="1000" dirty="0">
                          <a:effectLst/>
                          <a:latin typeface="+mn-ea"/>
                          <a:ea typeface="+mn-ea"/>
                          <a:cs typeface="Times New Roman" panose="02020603050405020304" pitchFamily="18" charset="0"/>
                        </a:rPr>
                        <a:t> 같이 체결하고 거래종결일에 효력발생하도록 하는 경우도 있는데 이 경우 거래종결일 </a:t>
                      </a:r>
                      <a:r>
                        <a:rPr lang="ko-KR" sz="1000" dirty="0" smtClean="0">
                          <a:effectLst/>
                          <a:latin typeface="+mn-ea"/>
                          <a:ea typeface="+mn-ea"/>
                          <a:cs typeface="Times New Roman" panose="02020603050405020304" pitchFamily="18" charset="0"/>
                        </a:rPr>
                        <a:t>기준</a:t>
                      </a:r>
                      <a:r>
                        <a:rPr lang="ko-KR" altLang="en-US" sz="1000" dirty="0" smtClean="0">
                          <a:effectLst/>
                          <a:latin typeface="+mn-ea"/>
                          <a:ea typeface="+mn-ea"/>
                          <a:cs typeface="Times New Roman" panose="02020603050405020304" pitchFamily="18" charset="0"/>
                        </a:rPr>
                        <a:t>으로</a:t>
                      </a:r>
                      <a:r>
                        <a:rPr lang="en-US" sz="1000" dirty="0" smtClean="0">
                          <a:effectLst/>
                          <a:latin typeface="+mn-ea"/>
                          <a:ea typeface="+mn-ea"/>
                          <a:cs typeface="Times New Roman" panose="02020603050405020304" pitchFamily="18" charset="0"/>
                        </a:rPr>
                        <a:t> </a:t>
                      </a:r>
                      <a:r>
                        <a:rPr lang="en-US" sz="1000" dirty="0">
                          <a:effectLst/>
                          <a:latin typeface="+mn-ea"/>
                          <a:ea typeface="+mn-ea"/>
                          <a:cs typeface="Times New Roman" panose="02020603050405020304" pitchFamily="18" charset="0"/>
                        </a:rPr>
                        <a:t>TSA</a:t>
                      </a:r>
                      <a:r>
                        <a:rPr lang="ko-KR" sz="1000" dirty="0">
                          <a:effectLst/>
                          <a:latin typeface="+mn-ea"/>
                          <a:ea typeface="+mn-ea"/>
                          <a:cs typeface="Times New Roman" panose="02020603050405020304" pitchFamily="18" charset="0"/>
                        </a:rPr>
                        <a:t>가 해지되지 않았다는 점을 선행조건이나 확약으로 넣기도 함</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89610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0">
                        <a:lnSpc>
                          <a:spcPct val="110000"/>
                        </a:lnSpc>
                        <a:spcAft>
                          <a:spcPts val="1200"/>
                        </a:spcAft>
                      </a:pPr>
                      <a:r>
                        <a:rPr lang="en-US" sz="1000" dirty="0">
                          <a:effectLst/>
                          <a:latin typeface="+mn-ea"/>
                          <a:ea typeface="+mn-ea"/>
                        </a:rPr>
                        <a:t>Section </a:t>
                      </a:r>
                      <a:r>
                        <a:rPr lang="en-US" sz="1000" dirty="0" smtClean="0">
                          <a:effectLst/>
                          <a:latin typeface="+mn-ea"/>
                          <a:ea typeface="+mn-ea"/>
                        </a:rPr>
                        <a:t>7.13   </a:t>
                      </a:r>
                      <a:r>
                        <a:rPr lang="en-US" sz="1000" u="sng" dirty="0">
                          <a:effectLst/>
                          <a:latin typeface="+mn-ea"/>
                          <a:ea typeface="+mn-ea"/>
                        </a:rPr>
                        <a:t>Transitional Services</a:t>
                      </a:r>
                      <a:r>
                        <a:rPr lang="en-US" sz="1000" dirty="0">
                          <a:effectLst/>
                          <a:latin typeface="+mn-ea"/>
                          <a:ea typeface="+mn-ea"/>
                        </a:rPr>
                        <a:t>.  The </a:t>
                      </a:r>
                      <a:r>
                        <a:rPr lang="en-US" sz="1000" dirty="0" smtClean="0">
                          <a:effectLst/>
                          <a:latin typeface="+mn-ea"/>
                          <a:ea typeface="+mn-ea"/>
                        </a:rPr>
                        <a:t>parties hereto </a:t>
                      </a:r>
                      <a:r>
                        <a:rPr lang="en-US" sz="1000" dirty="0">
                          <a:effectLst/>
                          <a:latin typeface="+mn-ea"/>
                          <a:ea typeface="+mn-ea"/>
                        </a:rPr>
                        <a:t>acknowledge and agree that, following the Closing, </a:t>
                      </a:r>
                      <a:r>
                        <a:rPr lang="en-US" sz="1000" dirty="0" smtClean="0">
                          <a:effectLst/>
                          <a:latin typeface="+mn-ea"/>
                          <a:ea typeface="+mn-ea"/>
                        </a:rPr>
                        <a:t>Seller </a:t>
                      </a:r>
                      <a:r>
                        <a:rPr lang="en-US" sz="1000" dirty="0">
                          <a:effectLst/>
                          <a:latin typeface="+mn-ea"/>
                          <a:ea typeface="+mn-ea"/>
                        </a:rPr>
                        <a:t>will provide certain agreed services to the Company upon the terms and conditions (including the periods for, and the fees at, which such services will be provided) set forth in the transition services agreement to be entered into at the Closing substantially similar to the form attached hereto as </a:t>
                      </a:r>
                      <a:r>
                        <a:rPr lang="en-US" sz="1000" u="sng" dirty="0">
                          <a:effectLst/>
                          <a:latin typeface="+mn-ea"/>
                          <a:ea typeface="+mn-ea"/>
                        </a:rPr>
                        <a:t>Schedule A</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6380404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 Closing </a:t>
            </a:r>
            <a:r>
              <a:rPr lang="en-US" altLang="ko-KR" dirty="0">
                <a:latin typeface="+mn-ea"/>
              </a:rPr>
              <a:t>Conditions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941221069"/>
              </p:ext>
            </p:extLst>
          </p:nvPr>
        </p:nvGraphicFramePr>
        <p:xfrm>
          <a:off x="439738" y="671513"/>
          <a:ext cx="9188450" cy="407633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9410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선행조건은 각 당사자에게 규정된 조건이 충족되는 경우 특정 당사자에게 </a:t>
                      </a:r>
                      <a:r>
                        <a:rPr lang="ko-KR" sz="1000" dirty="0" err="1">
                          <a:effectLst/>
                          <a:latin typeface="+mn-ea"/>
                          <a:ea typeface="+mn-ea"/>
                          <a:cs typeface="Times New Roman" panose="02020603050405020304" pitchFamily="18" charset="0"/>
                        </a:rPr>
                        <a:t>거래종결에</a:t>
                      </a:r>
                      <a:r>
                        <a:rPr lang="ko-KR" sz="1000" dirty="0">
                          <a:effectLst/>
                          <a:latin typeface="+mn-ea"/>
                          <a:ea typeface="+mn-ea"/>
                          <a:cs typeface="Times New Roman" panose="02020603050405020304" pitchFamily="18" charset="0"/>
                        </a:rPr>
                        <a:t> 필요한 행위를 할 의무가 발생하도록 규정함</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407204">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매도인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매도인의 경우 매수인의 선행조건을 줄여</a:t>
                      </a:r>
                      <a:r>
                        <a:rPr lang="en-US" sz="1000" dirty="0">
                          <a:effectLst/>
                          <a:latin typeface="+mn-ea"/>
                          <a:ea typeface="+mn-ea"/>
                          <a:cs typeface="Times New Roman" panose="02020603050405020304" pitchFamily="18" charset="0"/>
                        </a:rPr>
                        <a:t> ‘Deal Certainty’</a:t>
                      </a:r>
                      <a:r>
                        <a:rPr lang="ko-KR" sz="1000" dirty="0">
                          <a:effectLst/>
                          <a:latin typeface="+mn-ea"/>
                          <a:ea typeface="+mn-ea"/>
                          <a:cs typeface="Times New Roman" panose="02020603050405020304" pitchFamily="18" charset="0"/>
                        </a:rPr>
                        <a:t>를 확보하고자 하며</a:t>
                      </a:r>
                      <a:r>
                        <a:rPr lang="en-US" sz="1000" dirty="0">
                          <a:effectLst/>
                          <a:latin typeface="+mn-ea"/>
                          <a:ea typeface="+mn-ea"/>
                          <a:cs typeface="Times New Roman" panose="02020603050405020304" pitchFamily="18" charset="0"/>
                        </a:rPr>
                        <a:t>, </a:t>
                      </a:r>
                      <a:endParaRPr lang="en-US" sz="1000"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sz="1000" b="1" dirty="0" smtClean="0">
                          <a:effectLst/>
                          <a:latin typeface="+mn-ea"/>
                          <a:ea typeface="+mn-ea"/>
                          <a:cs typeface="Times New Roman" panose="02020603050405020304" pitchFamily="18" charset="0"/>
                        </a:rPr>
                        <a:t>매수인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매수인의 경우 실사 결과 거래종결 전 매도인이나 대상회사의 이행이 필요한 사항 등을 구체적으로 규정하면서 해당 선행조건이 충족되지 아니하면 거래종결을 하지 않을 수 있도록 안전장치를 확보하려 함</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latinLnBrk="1">
                        <a:lnSpc>
                          <a:spcPct val="110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0" algn="l" defTabSz="914400" rtl="0" eaLnBrk="1" latinLnBrk="1" hangingPunct="1">
                        <a:lnSpc>
                          <a:spcPct val="110000"/>
                        </a:lnSpc>
                        <a:spcAft>
                          <a:spcPts val="0"/>
                        </a:spcAft>
                      </a:pPr>
                      <a:r>
                        <a:rPr lang="ko-KR" sz="1000" kern="1200" dirty="0">
                          <a:solidFill>
                            <a:schemeClr val="tx1"/>
                          </a:solidFill>
                          <a:effectLst/>
                          <a:latin typeface="+mn-ea"/>
                          <a:ea typeface="+mn-ea"/>
                          <a:cs typeface="Times New Roman" panose="02020603050405020304" pitchFamily="18" charset="0"/>
                        </a:rPr>
                        <a:t>보통 공통 </a:t>
                      </a:r>
                      <a:r>
                        <a:rPr lang="en-US" sz="1000" kern="1200" dirty="0">
                          <a:solidFill>
                            <a:schemeClr val="tx1"/>
                          </a:solidFill>
                          <a:effectLst/>
                          <a:latin typeface="+mn-ea"/>
                          <a:ea typeface="+mn-ea"/>
                          <a:cs typeface="Times New Roman" panose="02020603050405020304" pitchFamily="18" charset="0"/>
                        </a:rPr>
                        <a:t>CP</a:t>
                      </a:r>
                      <a:r>
                        <a:rPr lang="ko-KR" sz="1000" kern="1200" dirty="0">
                          <a:solidFill>
                            <a:schemeClr val="tx1"/>
                          </a:solidFill>
                          <a:effectLst/>
                          <a:latin typeface="+mn-ea"/>
                          <a:ea typeface="+mn-ea"/>
                          <a:cs typeface="Times New Roman" panose="02020603050405020304" pitchFamily="18" charset="0"/>
                        </a:rPr>
                        <a:t>로는 </a:t>
                      </a:r>
                      <a:r>
                        <a:rPr lang="ko-KR" sz="1000" kern="1200" dirty="0" err="1">
                          <a:solidFill>
                            <a:schemeClr val="tx1"/>
                          </a:solidFill>
                          <a:effectLst/>
                          <a:latin typeface="+mn-ea"/>
                          <a:ea typeface="+mn-ea"/>
                          <a:cs typeface="Times New Roman" panose="02020603050405020304" pitchFamily="18" charset="0"/>
                        </a:rPr>
                        <a:t>거래종결에</a:t>
                      </a:r>
                      <a:r>
                        <a:rPr lang="ko-KR" sz="1000" kern="1200" dirty="0">
                          <a:solidFill>
                            <a:schemeClr val="tx1"/>
                          </a:solidFill>
                          <a:effectLst/>
                          <a:latin typeface="+mn-ea"/>
                          <a:ea typeface="+mn-ea"/>
                          <a:cs typeface="Times New Roman" panose="02020603050405020304" pitchFamily="18" charset="0"/>
                        </a:rPr>
                        <a:t> 필요한 </a:t>
                      </a:r>
                      <a:r>
                        <a:rPr lang="ko-KR" sz="1000" kern="1200" dirty="0" err="1">
                          <a:solidFill>
                            <a:schemeClr val="tx1"/>
                          </a:solidFill>
                          <a:effectLst/>
                          <a:latin typeface="+mn-ea"/>
                          <a:ea typeface="+mn-ea"/>
                          <a:cs typeface="Times New Roman" panose="02020603050405020304" pitchFamily="18" charset="0"/>
                        </a:rPr>
                        <a:t>정부승인이</a:t>
                      </a:r>
                      <a:r>
                        <a:rPr lang="ko-KR" sz="1000" kern="1200" dirty="0">
                          <a:solidFill>
                            <a:schemeClr val="tx1"/>
                          </a:solidFill>
                          <a:effectLst/>
                          <a:latin typeface="+mn-ea"/>
                          <a:ea typeface="+mn-ea"/>
                          <a:cs typeface="Times New Roman" panose="02020603050405020304" pitchFamily="18" charset="0"/>
                        </a:rPr>
                        <a:t> </a:t>
                      </a:r>
                      <a:r>
                        <a:rPr lang="ko-KR" sz="1000" kern="1200" dirty="0" err="1">
                          <a:solidFill>
                            <a:schemeClr val="tx1"/>
                          </a:solidFill>
                          <a:effectLst/>
                          <a:latin typeface="+mn-ea"/>
                          <a:ea typeface="+mn-ea"/>
                          <a:cs typeface="Times New Roman" panose="02020603050405020304" pitchFamily="18" charset="0"/>
                        </a:rPr>
                        <a:t>취득되었을</a:t>
                      </a:r>
                      <a:r>
                        <a:rPr lang="ko-KR" sz="1000" kern="1200" dirty="0">
                          <a:solidFill>
                            <a:schemeClr val="tx1"/>
                          </a:solidFill>
                          <a:effectLst/>
                          <a:latin typeface="+mn-ea"/>
                          <a:ea typeface="+mn-ea"/>
                          <a:cs typeface="Times New Roman" panose="02020603050405020304" pitchFamily="18" charset="0"/>
                        </a:rPr>
                        <a:t> 것</a:t>
                      </a:r>
                      <a:r>
                        <a:rPr lang="en-US" sz="1000" kern="1200" dirty="0">
                          <a:solidFill>
                            <a:schemeClr val="tx1"/>
                          </a:solidFill>
                          <a:effectLst/>
                          <a:latin typeface="+mn-ea"/>
                          <a:ea typeface="+mn-ea"/>
                          <a:cs typeface="Times New Roman" panose="02020603050405020304" pitchFamily="18" charset="0"/>
                        </a:rPr>
                        <a:t>, </a:t>
                      </a:r>
                      <a:r>
                        <a:rPr lang="ko-KR" sz="1000" kern="1200" dirty="0">
                          <a:solidFill>
                            <a:schemeClr val="tx1"/>
                          </a:solidFill>
                          <a:effectLst/>
                          <a:latin typeface="+mn-ea"/>
                          <a:ea typeface="+mn-ea"/>
                          <a:cs typeface="Times New Roman" panose="02020603050405020304" pitchFamily="18" charset="0"/>
                        </a:rPr>
                        <a:t>본건 거래를 금지시키거나 제한하는 법령이나 </a:t>
                      </a:r>
                      <a:r>
                        <a:rPr lang="ko-KR" sz="1000" kern="1200" dirty="0" err="1">
                          <a:solidFill>
                            <a:schemeClr val="tx1"/>
                          </a:solidFill>
                          <a:effectLst/>
                          <a:latin typeface="+mn-ea"/>
                          <a:ea typeface="+mn-ea"/>
                          <a:cs typeface="Times New Roman" panose="02020603050405020304" pitchFamily="18" charset="0"/>
                        </a:rPr>
                        <a:t>정부명령이</a:t>
                      </a:r>
                      <a:r>
                        <a:rPr lang="ko-KR" sz="1000" kern="1200" dirty="0">
                          <a:solidFill>
                            <a:schemeClr val="tx1"/>
                          </a:solidFill>
                          <a:effectLst/>
                          <a:latin typeface="+mn-ea"/>
                          <a:ea typeface="+mn-ea"/>
                          <a:cs typeface="Times New Roman" panose="02020603050405020304" pitchFamily="18" charset="0"/>
                        </a:rPr>
                        <a:t> 없을 것 등 각 당사자의 </a:t>
                      </a:r>
                      <a:r>
                        <a:rPr lang="en-US" sz="1000" kern="1200" dirty="0">
                          <a:solidFill>
                            <a:schemeClr val="tx1"/>
                          </a:solidFill>
                          <a:effectLst/>
                          <a:latin typeface="+mn-ea"/>
                          <a:ea typeface="+mn-ea"/>
                          <a:cs typeface="Times New Roman" panose="02020603050405020304" pitchFamily="18" charset="0"/>
                        </a:rPr>
                        <a:t>control </a:t>
                      </a:r>
                      <a:r>
                        <a:rPr lang="ko-KR" sz="1000" kern="1200" dirty="0">
                          <a:solidFill>
                            <a:schemeClr val="tx1"/>
                          </a:solidFill>
                          <a:effectLst/>
                          <a:latin typeface="+mn-ea"/>
                          <a:ea typeface="+mn-ea"/>
                          <a:cs typeface="Times New Roman" panose="02020603050405020304" pitchFamily="18" charset="0"/>
                        </a:rPr>
                        <a:t>밖의 사항을 포함시켜</a:t>
                      </a:r>
                      <a:r>
                        <a:rPr lang="en-US" sz="1000" kern="1200" dirty="0">
                          <a:solidFill>
                            <a:schemeClr val="tx1"/>
                          </a:solidFill>
                          <a:effectLst/>
                          <a:latin typeface="+mn-ea"/>
                          <a:ea typeface="+mn-ea"/>
                          <a:cs typeface="Times New Roman" panose="02020603050405020304" pitchFamily="18" charset="0"/>
                        </a:rPr>
                        <a:t>, </a:t>
                      </a:r>
                      <a:r>
                        <a:rPr lang="ko-KR" sz="1000" kern="1200" dirty="0">
                          <a:solidFill>
                            <a:schemeClr val="tx1"/>
                          </a:solidFill>
                          <a:effectLst/>
                          <a:latin typeface="+mn-ea"/>
                          <a:ea typeface="+mn-ea"/>
                          <a:cs typeface="Times New Roman" panose="02020603050405020304" pitchFamily="18" charset="0"/>
                        </a:rPr>
                        <a:t>해당 조건이 성취되는 경우 어느 당사자라도 거래종결을 거부할 수 있도록 하는 경우가 </a:t>
                      </a:r>
                      <a:r>
                        <a:rPr lang="ko-KR" sz="1000" kern="1200" dirty="0" smtClean="0">
                          <a:solidFill>
                            <a:schemeClr val="tx1"/>
                          </a:solidFill>
                          <a:effectLst/>
                          <a:latin typeface="+mn-ea"/>
                          <a:ea typeface="+mn-ea"/>
                          <a:cs typeface="Times New Roman" panose="02020603050405020304" pitchFamily="18" charset="0"/>
                        </a:rPr>
                        <a:t>많음</a:t>
                      </a:r>
                      <a:endParaRPr lang="ko-KR" sz="1000"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2175028">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l" fontAlgn="base">
                        <a:lnSpc>
                          <a:spcPct val="110000"/>
                        </a:lnSpc>
                        <a:spcAft>
                          <a:spcPts val="0"/>
                        </a:spcAft>
                        <a:buFont typeface="Times New Roman" panose="02020603050405020304" pitchFamily="18" charset="0"/>
                        <a:buNone/>
                        <a:tabLst>
                          <a:tab pos="2176145" algn="l"/>
                        </a:tabLst>
                      </a:pPr>
                      <a:r>
                        <a:rPr lang="en-US" sz="1000" u="none" strike="noStrike" kern="0" spc="0" dirty="0" smtClean="0">
                          <a:ln>
                            <a:noFill/>
                          </a:ln>
                          <a:effectLst>
                            <a:glow>
                              <a:srgbClr val="000000"/>
                            </a:glow>
                            <a:outerShdw sx="0" sy="0">
                              <a:srgbClr val="000000"/>
                            </a:outerShdw>
                            <a:reflection stA="0" endPos="0" fadeDir="0" sx="0" sy="0"/>
                          </a:effectLst>
                          <a:latin typeface="+mn-ea"/>
                          <a:ea typeface="+mn-ea"/>
                        </a:rPr>
                        <a:t>Section 8.01.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Mutual </a:t>
                      </a:r>
                      <a:r>
                        <a:rPr lang="en-US" sz="1000" u="sng" strike="noStrike" kern="0" spc="0" dirty="0">
                          <a:ln>
                            <a:noFill/>
                          </a:ln>
                          <a:effectLst>
                            <a:glow>
                              <a:srgbClr val="000000"/>
                            </a:glow>
                            <a:outerShdw sx="0" sy="0">
                              <a:srgbClr val="000000"/>
                            </a:outerShdw>
                            <a:reflection stA="0" endPos="0" fadeDir="0" sx="0" sy="0"/>
                          </a:effectLst>
                          <a:latin typeface="+mn-ea"/>
                          <a:ea typeface="+mn-ea"/>
                        </a:rPr>
                        <a:t>Conditions to the Obligations of the Parties</a:t>
                      </a:r>
                      <a:endParaRPr lang="ko-KR" sz="1000" u="none" strike="noStrike" kern="0" spc="0" dirty="0">
                        <a:ln>
                          <a:noFill/>
                        </a:ln>
                        <a:effectLst>
                          <a:glow>
                            <a:srgbClr val="000000"/>
                          </a:glow>
                          <a:outerShdw sx="0" sy="0">
                            <a:srgbClr val="000000"/>
                          </a:outerShdw>
                          <a:reflection stA="0" endPos="0" fadeDir="0" sx="0" sy="0"/>
                        </a:effectLst>
                        <a:latin typeface="+mn-ea"/>
                        <a:ea typeface="+mn-ea"/>
                      </a:endParaRPr>
                    </a:p>
                    <a:p>
                      <a:pPr algn="l">
                        <a:lnSpc>
                          <a:spcPct val="110000"/>
                        </a:lnSpc>
                        <a:spcAft>
                          <a:spcPts val="0"/>
                        </a:spcAft>
                      </a:pPr>
                      <a:r>
                        <a:rPr lang="en-US" sz="1000" dirty="0">
                          <a:effectLst/>
                          <a:latin typeface="+mn-ea"/>
                          <a:ea typeface="+mn-ea"/>
                        </a:rPr>
                        <a:t>.  The respective obligations of each party hereto to consummate the transactions contemplated by this Agreement are subject to the satisfaction or, to the extent permitted, waiver in writing at or prior to the Closing of each of the following conditions:</a:t>
                      </a:r>
                      <a:endParaRPr lang="ko-KR" sz="1000" dirty="0">
                        <a:effectLst/>
                        <a:latin typeface="+mn-ea"/>
                        <a:ea typeface="+mn-ea"/>
                      </a:endParaRPr>
                    </a:p>
                    <a:p>
                      <a:pPr marL="228600" lvl="0" indent="-228600" algn="l" fontAlgn="base">
                        <a:lnSpc>
                          <a:spcPct val="110000"/>
                        </a:lnSpc>
                        <a:spcAft>
                          <a:spcPts val="0"/>
                        </a:spcAft>
                        <a:buSzPts val="1200"/>
                        <a:buFont typeface="+mj-lt"/>
                        <a:buAutoNum type="alphaLcPeriod"/>
                        <a:tabLst>
                          <a:tab pos="1371600" algn="l"/>
                        </a:tabLst>
                      </a:pPr>
                      <a:r>
                        <a:rPr lang="en-US" sz="1000" u="sng" strike="noStrike" dirty="0">
                          <a:ln>
                            <a:noFill/>
                          </a:ln>
                          <a:effectLst>
                            <a:outerShdw sx="0" sy="0">
                              <a:srgbClr val="000000"/>
                            </a:outerShdw>
                          </a:effectLst>
                          <a:latin typeface="+mn-ea"/>
                          <a:ea typeface="+mn-ea"/>
                        </a:rPr>
                        <a:t>No Injunctions or Legal Prohibitions</a:t>
                      </a:r>
                      <a:r>
                        <a:rPr lang="en-US" sz="1000" u="none" strike="noStrike" dirty="0">
                          <a:ln>
                            <a:noFill/>
                          </a:ln>
                          <a:effectLst>
                            <a:outerShdw sx="0" sy="0">
                              <a:srgbClr val="000000"/>
                            </a:outerShdw>
                          </a:effectLst>
                          <a:latin typeface="+mn-ea"/>
                          <a:ea typeface="+mn-ea"/>
                        </a:rPr>
                        <a:t>.  (</a:t>
                      </a:r>
                      <a:r>
                        <a:rPr lang="en-US" sz="1000" u="none" strike="noStrike" dirty="0" err="1">
                          <a:ln>
                            <a:noFill/>
                          </a:ln>
                          <a:effectLst>
                            <a:outerShdw sx="0" sy="0">
                              <a:srgbClr val="000000"/>
                            </a:outerShdw>
                          </a:effectLst>
                          <a:latin typeface="+mn-ea"/>
                          <a:ea typeface="+mn-ea"/>
                        </a:rPr>
                        <a:t>i</a:t>
                      </a:r>
                      <a:r>
                        <a:rPr lang="en-US" sz="1000" u="none" strike="noStrike" dirty="0">
                          <a:ln>
                            <a:noFill/>
                          </a:ln>
                          <a:effectLst>
                            <a:outerShdw sx="0" sy="0">
                              <a:srgbClr val="000000"/>
                            </a:outerShdw>
                          </a:effectLst>
                          <a:latin typeface="+mn-ea"/>
                          <a:ea typeface="+mn-ea"/>
                        </a:rPr>
                        <a:t>) No temporary restraining order, preliminary or permanent injunction or other Order issued by a court of competent jurisdiction which prevents the consummation of the transactions contemplated hereby shall have been issued and remain in effect, and (ii) no Law shall have been enacted or promulgated by any Governmental Authority which prevents, or makes illegal, the consummation of the transactions contemplated hereby.</a:t>
                      </a:r>
                      <a:endParaRPr lang="ko-KR" sz="10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ts val="1200"/>
                        <a:buFont typeface="+mj-lt"/>
                        <a:buAutoNum type="alphaLcPeriod"/>
                        <a:tabLst>
                          <a:tab pos="1371600" algn="l"/>
                        </a:tabLst>
                      </a:pPr>
                      <a:r>
                        <a:rPr lang="en-US" sz="1000" u="sng" strike="noStrike" dirty="0">
                          <a:ln>
                            <a:noFill/>
                          </a:ln>
                          <a:effectLst>
                            <a:outerShdw sx="0" sy="0">
                              <a:srgbClr val="000000"/>
                            </a:outerShdw>
                          </a:effectLst>
                          <a:latin typeface="+mn-ea"/>
                          <a:ea typeface="+mn-ea"/>
                        </a:rPr>
                        <a:t>Antitrust Clearance</a:t>
                      </a:r>
                      <a:r>
                        <a:rPr lang="en-US" sz="1000" u="none" strike="noStrike" dirty="0">
                          <a:ln>
                            <a:noFill/>
                          </a:ln>
                          <a:effectLst>
                            <a:outerShdw sx="0" sy="0">
                              <a:srgbClr val="000000"/>
                            </a:outerShdw>
                          </a:effectLst>
                          <a:latin typeface="+mn-ea"/>
                          <a:ea typeface="+mn-ea"/>
                        </a:rPr>
                        <a:t>.  Any applicable waiting period under the HSR Act shall have expired or been terminated and all approvals required pursuant to applicable Antitrust Laws set forth on </a:t>
                      </a:r>
                      <a:r>
                        <a:rPr lang="en-US" sz="1000" u="sng" strike="noStrike" dirty="0">
                          <a:ln>
                            <a:noFill/>
                          </a:ln>
                          <a:effectLst>
                            <a:outerShdw sx="0" sy="0">
                              <a:srgbClr val="000000"/>
                            </a:outerShdw>
                          </a:effectLst>
                          <a:latin typeface="+mn-ea"/>
                          <a:ea typeface="+mn-ea"/>
                        </a:rPr>
                        <a:t>Schedule 8.01(b)</a:t>
                      </a:r>
                      <a:r>
                        <a:rPr lang="en-US" sz="1000" u="none" strike="noStrike" dirty="0">
                          <a:ln>
                            <a:noFill/>
                          </a:ln>
                          <a:effectLst>
                            <a:outerShdw sx="0" sy="0">
                              <a:srgbClr val="000000"/>
                            </a:outerShdw>
                          </a:effectLst>
                          <a:latin typeface="+mn-ea"/>
                          <a:ea typeface="+mn-ea"/>
                        </a:rPr>
                        <a:t> shall have been obtained, with respect to the transactions contemplated by this Agreement</a:t>
                      </a:r>
                      <a:r>
                        <a:rPr lang="en-US" sz="1000" u="none" strike="noStrike" dirty="0" smtClean="0">
                          <a:ln>
                            <a:noFill/>
                          </a:ln>
                          <a:effectLst>
                            <a:outerShdw sx="0" sy="0">
                              <a:srgbClr val="000000"/>
                            </a:outerShdw>
                          </a:effectLst>
                          <a:latin typeface="+mn-ea"/>
                          <a:ea typeface="+mn-ea"/>
                        </a:rPr>
                        <a:t>.</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956554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 Closing </a:t>
            </a:r>
            <a:r>
              <a:rPr lang="en-US" altLang="ko-KR" dirty="0">
                <a:latin typeface="+mn-ea"/>
              </a:rPr>
              <a:t>Conditions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303067499"/>
              </p:ext>
            </p:extLst>
          </p:nvPr>
        </p:nvGraphicFramePr>
        <p:xfrm>
          <a:off x="439738" y="1031875"/>
          <a:ext cx="9188450" cy="383586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보통 어느 당사자의</a:t>
                      </a:r>
                      <a:r>
                        <a:rPr lang="en-US" sz="1000" dirty="0">
                          <a:effectLst/>
                          <a:latin typeface="+mn-ea"/>
                          <a:ea typeface="+mn-ea"/>
                          <a:cs typeface="Times New Roman" panose="02020603050405020304" pitchFamily="18" charset="0"/>
                        </a:rPr>
                        <a:t> CP</a:t>
                      </a:r>
                      <a:r>
                        <a:rPr lang="ko-KR" sz="1000" dirty="0">
                          <a:effectLst/>
                          <a:latin typeface="+mn-ea"/>
                          <a:ea typeface="+mn-ea"/>
                          <a:cs typeface="Times New Roman" panose="02020603050405020304" pitchFamily="18" charset="0"/>
                        </a:rPr>
                        <a:t>로 다른 당사자가 진술보장을 계약체결일 및 거래종결일 기준으로 진실하고 정확할 것이 들어감</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70691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매도인은 사소한 진술보장 위반의 경우에는 거래종결을 할 수 있도록</a:t>
                      </a:r>
                      <a:r>
                        <a:rPr lang="en-US" sz="1000" dirty="0">
                          <a:effectLst/>
                          <a:latin typeface="+mn-ea"/>
                          <a:ea typeface="+mn-ea"/>
                          <a:cs typeface="Times New Roman" panose="02020603050405020304" pitchFamily="18" charset="0"/>
                        </a:rPr>
                        <a:t> deal certainty </a:t>
                      </a:r>
                      <a:r>
                        <a:rPr lang="ko-KR" sz="1000" dirty="0">
                          <a:effectLst/>
                          <a:latin typeface="+mn-ea"/>
                          <a:ea typeface="+mn-ea"/>
                          <a:cs typeface="Times New Roman" panose="02020603050405020304" pitchFamily="18" charset="0"/>
                        </a:rPr>
                        <a:t>확보 차원에서</a:t>
                      </a:r>
                      <a:r>
                        <a:rPr lang="en-US" sz="1000" dirty="0">
                          <a:effectLst/>
                          <a:latin typeface="+mn-ea"/>
                          <a:ea typeface="+mn-ea"/>
                          <a:cs typeface="Times New Roman" panose="02020603050405020304" pitchFamily="18" charset="0"/>
                        </a:rPr>
                        <a:t> materiality qualifier</a:t>
                      </a:r>
                      <a:r>
                        <a:rPr lang="ko-KR" sz="1000" dirty="0">
                          <a:effectLst/>
                          <a:latin typeface="+mn-ea"/>
                          <a:ea typeface="+mn-ea"/>
                          <a:cs typeface="Times New Roman" panose="02020603050405020304" pitchFamily="18" charset="0"/>
                        </a:rPr>
                        <a:t>를 추가하고</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나아가 </a:t>
                      </a:r>
                      <a:r>
                        <a:rPr lang="ko-KR" sz="1000" dirty="0" err="1">
                          <a:effectLst/>
                          <a:latin typeface="+mn-ea"/>
                          <a:ea typeface="+mn-ea"/>
                          <a:cs typeface="Times New Roman" panose="02020603050405020304" pitchFamily="18" charset="0"/>
                        </a:rPr>
                        <a:t>진술보장의</a:t>
                      </a:r>
                      <a:r>
                        <a:rPr lang="ko-KR" sz="1000" dirty="0">
                          <a:effectLst/>
                          <a:latin typeface="+mn-ea"/>
                          <a:ea typeface="+mn-ea"/>
                          <a:cs typeface="Times New Roman" panose="02020603050405020304" pitchFamily="18" charset="0"/>
                        </a:rPr>
                        <a:t> 위반이 존재하더라도 중대한 부정적인 영향</a:t>
                      </a:r>
                      <a:r>
                        <a:rPr lang="en-US" sz="1000" dirty="0">
                          <a:effectLst/>
                          <a:latin typeface="+mn-ea"/>
                          <a:ea typeface="+mn-ea"/>
                          <a:cs typeface="Times New Roman" panose="02020603050405020304" pitchFamily="18" charset="0"/>
                        </a:rPr>
                        <a:t>(MAE)</a:t>
                      </a:r>
                      <a:r>
                        <a:rPr lang="ko-KR" sz="1000" dirty="0">
                          <a:effectLst/>
                          <a:latin typeface="+mn-ea"/>
                          <a:ea typeface="+mn-ea"/>
                          <a:cs typeface="Times New Roman" panose="02020603050405020304" pitchFamily="18" charset="0"/>
                        </a:rPr>
                        <a:t>이 발생하지 않은 경우에는 선행조건이 충족된 것으로 본다는 취지의 문구를 선호함</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171450" indent="-171450" algn="l">
                        <a:lnSpc>
                          <a:spcPct val="110000"/>
                        </a:lnSpc>
                        <a:spcAft>
                          <a:spcPts val="0"/>
                        </a:spcAft>
                        <a:buFont typeface="Wingdings" panose="05000000000000000000" pitchFamily="2" charset="2"/>
                        <a:buChar char="§"/>
                      </a:pPr>
                      <a:r>
                        <a:rPr lang="en-US" sz="1000" cap="none" baseline="0" dirty="0">
                          <a:effectLst/>
                          <a:latin typeface="+mn-ea"/>
                          <a:ea typeface="+mn-ea"/>
                        </a:rPr>
                        <a:t>ABA </a:t>
                      </a:r>
                      <a:r>
                        <a:rPr lang="en-US" sz="1000" cap="none" baseline="0" dirty="0" smtClean="0">
                          <a:effectLst/>
                          <a:latin typeface="+mn-ea"/>
                          <a:ea typeface="+mn-ea"/>
                        </a:rPr>
                        <a:t>Private </a:t>
                      </a:r>
                      <a:r>
                        <a:rPr lang="en-US" sz="1000" cap="none" baseline="0" dirty="0">
                          <a:effectLst/>
                          <a:latin typeface="+mn-ea"/>
                          <a:ea typeface="+mn-ea"/>
                        </a:rPr>
                        <a:t>Target Deal Points </a:t>
                      </a:r>
                      <a:r>
                        <a:rPr lang="en-US" sz="1000" cap="none" baseline="0" dirty="0" err="1">
                          <a:effectLst/>
                          <a:latin typeface="+mn-ea"/>
                          <a:ea typeface="+mn-ea"/>
                        </a:rPr>
                        <a:t>Study에</a:t>
                      </a:r>
                      <a:r>
                        <a:rPr lang="en-US" sz="1000" cap="none" baseline="0" dirty="0">
                          <a:effectLst/>
                          <a:latin typeface="+mn-ea"/>
                          <a:ea typeface="+mn-ea"/>
                        </a:rPr>
                        <a:t> </a:t>
                      </a:r>
                      <a:r>
                        <a:rPr lang="en-US" sz="1000" cap="none" baseline="0" dirty="0" err="1">
                          <a:effectLst/>
                          <a:latin typeface="+mn-ea"/>
                          <a:ea typeface="+mn-ea"/>
                        </a:rPr>
                        <a:t>따르면</a:t>
                      </a:r>
                      <a:r>
                        <a:rPr lang="en-US" sz="1000" cap="none" baseline="0" dirty="0">
                          <a:effectLst/>
                          <a:latin typeface="+mn-ea"/>
                          <a:ea typeface="+mn-ea"/>
                        </a:rPr>
                        <a:t> </a:t>
                      </a:r>
                      <a:r>
                        <a:rPr lang="ko-KR" sz="1000" cap="none" baseline="0" dirty="0">
                          <a:effectLst/>
                          <a:latin typeface="+mn-ea"/>
                          <a:ea typeface="+mn-ea"/>
                        </a:rPr>
                        <a:t>근본적 진술보장이외의 </a:t>
                      </a:r>
                      <a:r>
                        <a:rPr lang="ko-KR" sz="1000" cap="none" baseline="0" dirty="0" err="1">
                          <a:effectLst/>
                          <a:latin typeface="+mn-ea"/>
                          <a:ea typeface="+mn-ea"/>
                        </a:rPr>
                        <a:t>진술보장</a:t>
                      </a:r>
                      <a:r>
                        <a:rPr lang="en-US" sz="1000" cap="none" baseline="0" dirty="0">
                          <a:effectLst/>
                          <a:latin typeface="+mn-ea"/>
                          <a:ea typeface="+mn-ea"/>
                        </a:rPr>
                        <a:t>의 </a:t>
                      </a:r>
                      <a:r>
                        <a:rPr lang="en-US" sz="1000" cap="none" baseline="0" dirty="0" err="1">
                          <a:effectLst/>
                          <a:latin typeface="+mn-ea"/>
                          <a:ea typeface="+mn-ea"/>
                        </a:rPr>
                        <a:t>경우</a:t>
                      </a:r>
                      <a:r>
                        <a:rPr lang="en-US" sz="1000" cap="none" baseline="0" dirty="0">
                          <a:effectLst/>
                          <a:latin typeface="+mn-ea"/>
                          <a:ea typeface="+mn-ea"/>
                        </a:rPr>
                        <a:t> 2016-2017</a:t>
                      </a:r>
                      <a:r>
                        <a:rPr lang="en-US" sz="1000" cap="none" baseline="0" dirty="0" smtClean="0">
                          <a:effectLst/>
                          <a:latin typeface="+mn-ea"/>
                          <a:ea typeface="+mn-ea"/>
                        </a:rPr>
                        <a:t>년에만 </a:t>
                      </a:r>
                      <a:r>
                        <a:rPr lang="en-US" sz="1000" cap="none" baseline="0" dirty="0" err="1" smtClean="0">
                          <a:effectLst/>
                          <a:latin typeface="+mn-ea"/>
                          <a:ea typeface="+mn-ea"/>
                        </a:rPr>
                        <a:t>해도</a:t>
                      </a:r>
                      <a:r>
                        <a:rPr lang="en-US" sz="1000" cap="none" baseline="0" dirty="0" smtClean="0">
                          <a:effectLst/>
                          <a:latin typeface="+mn-ea"/>
                          <a:ea typeface="+mn-ea"/>
                        </a:rPr>
                        <a:t> </a:t>
                      </a:r>
                      <a:r>
                        <a:rPr lang="en-US" sz="1000" cap="none" baseline="0" dirty="0">
                          <a:effectLst/>
                          <a:latin typeface="+mn-ea"/>
                          <a:ea typeface="+mn-ea"/>
                        </a:rPr>
                        <a:t>materiality </a:t>
                      </a:r>
                      <a:r>
                        <a:rPr lang="en-US" sz="1000" cap="none" baseline="0" dirty="0" err="1">
                          <a:effectLst/>
                          <a:latin typeface="+mn-ea"/>
                          <a:ea typeface="+mn-ea"/>
                        </a:rPr>
                        <a:t>standard가</a:t>
                      </a:r>
                      <a:r>
                        <a:rPr lang="en-US" sz="1000" cap="none" baseline="0" dirty="0">
                          <a:effectLst/>
                          <a:latin typeface="+mn-ea"/>
                          <a:ea typeface="+mn-ea"/>
                        </a:rPr>
                        <a:t> 50% </a:t>
                      </a:r>
                      <a:r>
                        <a:rPr lang="en-US" sz="1000" cap="none" baseline="0" dirty="0" err="1">
                          <a:effectLst/>
                          <a:latin typeface="+mn-ea"/>
                          <a:ea typeface="+mn-ea"/>
                        </a:rPr>
                        <a:t>이상의</a:t>
                      </a:r>
                      <a:r>
                        <a:rPr lang="en-US" sz="1000" cap="none" baseline="0" dirty="0">
                          <a:effectLst/>
                          <a:latin typeface="+mn-ea"/>
                          <a:ea typeface="+mn-ea"/>
                        </a:rPr>
                        <a:t> </a:t>
                      </a:r>
                      <a:r>
                        <a:rPr lang="en-US" sz="1000" cap="none" baseline="0" dirty="0" err="1">
                          <a:effectLst/>
                          <a:latin typeface="+mn-ea"/>
                          <a:ea typeface="+mn-ea"/>
                        </a:rPr>
                        <a:t>deal에서</a:t>
                      </a:r>
                      <a:r>
                        <a:rPr lang="en-US" sz="1000" cap="none" baseline="0" dirty="0">
                          <a:effectLst/>
                          <a:latin typeface="+mn-ea"/>
                          <a:ea typeface="+mn-ea"/>
                        </a:rPr>
                        <a:t> </a:t>
                      </a:r>
                      <a:r>
                        <a:rPr lang="en-US" sz="1000" cap="none" baseline="0" dirty="0" err="1">
                          <a:effectLst/>
                          <a:latin typeface="+mn-ea"/>
                          <a:ea typeface="+mn-ea"/>
                        </a:rPr>
                        <a:t>적용되었지만</a:t>
                      </a:r>
                      <a:r>
                        <a:rPr lang="en-US" sz="1000" cap="none" baseline="0" dirty="0">
                          <a:effectLst/>
                          <a:latin typeface="+mn-ea"/>
                          <a:ea typeface="+mn-ea"/>
                        </a:rPr>
                        <a:t>, 2022-2023년의 </a:t>
                      </a:r>
                      <a:r>
                        <a:rPr lang="en-US" sz="1000" cap="none" baseline="0" dirty="0" err="1">
                          <a:effectLst/>
                          <a:latin typeface="+mn-ea"/>
                          <a:ea typeface="+mn-ea"/>
                        </a:rPr>
                        <a:t>경우에는</a:t>
                      </a:r>
                      <a:r>
                        <a:rPr lang="en-US" sz="1000" cap="none" baseline="0" dirty="0">
                          <a:effectLst/>
                          <a:latin typeface="+mn-ea"/>
                          <a:ea typeface="+mn-ea"/>
                        </a:rPr>
                        <a:t> MAE </a:t>
                      </a:r>
                      <a:r>
                        <a:rPr lang="en-US" sz="1000" cap="none" baseline="0" dirty="0" err="1">
                          <a:effectLst/>
                          <a:latin typeface="+mn-ea"/>
                          <a:ea typeface="+mn-ea"/>
                        </a:rPr>
                        <a:t>standard가</a:t>
                      </a:r>
                      <a:r>
                        <a:rPr lang="en-US" sz="1000" cap="none" baseline="0" dirty="0">
                          <a:effectLst/>
                          <a:latin typeface="+mn-ea"/>
                          <a:ea typeface="+mn-ea"/>
                        </a:rPr>
                        <a:t> </a:t>
                      </a:r>
                      <a:r>
                        <a:rPr lang="en-US" sz="1000" cap="none" baseline="0" dirty="0" err="1">
                          <a:effectLst/>
                          <a:latin typeface="+mn-ea"/>
                          <a:ea typeface="+mn-ea"/>
                        </a:rPr>
                        <a:t>적용되는</a:t>
                      </a:r>
                      <a:r>
                        <a:rPr lang="en-US" sz="1000" cap="none" baseline="0" dirty="0">
                          <a:effectLst/>
                          <a:latin typeface="+mn-ea"/>
                          <a:ea typeface="+mn-ea"/>
                        </a:rPr>
                        <a:t> </a:t>
                      </a:r>
                      <a:r>
                        <a:rPr lang="en-US" sz="1000" cap="none" baseline="0" dirty="0" err="1">
                          <a:effectLst/>
                          <a:latin typeface="+mn-ea"/>
                          <a:ea typeface="+mn-ea"/>
                        </a:rPr>
                        <a:t>경우가</a:t>
                      </a:r>
                      <a:r>
                        <a:rPr lang="en-US" sz="1000" cap="none" baseline="0" dirty="0">
                          <a:effectLst/>
                          <a:latin typeface="+mn-ea"/>
                          <a:ea typeface="+mn-ea"/>
                        </a:rPr>
                        <a:t> 70% </a:t>
                      </a:r>
                      <a:r>
                        <a:rPr lang="en-US" sz="1000" cap="none" baseline="0" dirty="0" err="1">
                          <a:effectLst/>
                          <a:latin typeface="+mn-ea"/>
                          <a:ea typeface="+mn-ea"/>
                        </a:rPr>
                        <a:t>이상이었다고</a:t>
                      </a:r>
                      <a:r>
                        <a:rPr lang="en-US" sz="1000" cap="none" baseline="0" dirty="0">
                          <a:effectLst/>
                          <a:latin typeface="+mn-ea"/>
                          <a:ea typeface="+mn-ea"/>
                        </a:rPr>
                        <a:t> </a:t>
                      </a:r>
                      <a:r>
                        <a:rPr lang="ko-KR" altLang="en-US" sz="1000" cap="none" baseline="0" dirty="0" smtClean="0">
                          <a:effectLst/>
                          <a:latin typeface="+mn-ea"/>
                          <a:ea typeface="+mn-ea"/>
                        </a:rPr>
                        <a:t>힘</a:t>
                      </a:r>
                      <a:r>
                        <a:rPr lang="en-US" sz="1000" cap="none" baseline="0" dirty="0" smtClean="0">
                          <a:effectLst/>
                          <a:latin typeface="+mn-ea"/>
                          <a:ea typeface="+mn-ea"/>
                        </a:rPr>
                        <a:t>. </a:t>
                      </a:r>
                      <a:endParaRPr lang="ko-KR" sz="1000" cap="none" baseline="0" dirty="0">
                        <a:effectLst/>
                        <a:latin typeface="+mn-ea"/>
                        <a:ea typeface="+mn-ea"/>
                      </a:endParaRPr>
                    </a:p>
                    <a:p>
                      <a:pPr marL="171450" indent="-171450" algn="l" latinLnBrk="1">
                        <a:lnSpc>
                          <a:spcPct val="110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근본적 </a:t>
                      </a:r>
                      <a:r>
                        <a:rPr lang="ko-KR" sz="1000" dirty="0" err="1">
                          <a:effectLst/>
                          <a:latin typeface="+mn-ea"/>
                          <a:ea typeface="+mn-ea"/>
                          <a:cs typeface="Times New Roman" panose="02020603050405020304" pitchFamily="18" charset="0"/>
                        </a:rPr>
                        <a:t>진술보장의</a:t>
                      </a:r>
                      <a:r>
                        <a:rPr lang="ko-KR" sz="1000" dirty="0">
                          <a:effectLst/>
                          <a:latin typeface="+mn-ea"/>
                          <a:ea typeface="+mn-ea"/>
                          <a:cs typeface="Times New Roman" panose="02020603050405020304" pitchFamily="18" charset="0"/>
                        </a:rPr>
                        <a:t> 경우</a:t>
                      </a:r>
                      <a:r>
                        <a:rPr lang="en-US" sz="1000" dirty="0">
                          <a:effectLst/>
                          <a:latin typeface="+mn-ea"/>
                          <a:ea typeface="+mn-ea"/>
                          <a:cs typeface="Times New Roman" panose="02020603050405020304" pitchFamily="18" charset="0"/>
                        </a:rPr>
                        <a:t>, “in all respects”</a:t>
                      </a:r>
                      <a:r>
                        <a:rPr lang="ko-KR" sz="1000" dirty="0">
                          <a:effectLst/>
                          <a:latin typeface="+mn-ea"/>
                          <a:ea typeface="+mn-ea"/>
                          <a:cs typeface="Times New Roman" panose="02020603050405020304" pitchFamily="18" charset="0"/>
                        </a:rPr>
                        <a:t>를 기준으로 하는 것이 일반적이긴 하지만</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매도인</a:t>
                      </a:r>
                      <a:r>
                        <a:rPr lang="ko-KR" sz="1000" cap="all" dirty="0">
                          <a:effectLst/>
                          <a:latin typeface="+mn-ea"/>
                          <a:ea typeface="+mn-ea"/>
                          <a:cs typeface="Times New Roman" panose="02020603050405020304" pitchFamily="18" charset="0"/>
                        </a:rPr>
                        <a:t>에</a:t>
                      </a:r>
                      <a:r>
                        <a:rPr lang="ko-KR" sz="1000" dirty="0">
                          <a:effectLst/>
                          <a:latin typeface="+mn-ea"/>
                          <a:ea typeface="+mn-ea"/>
                          <a:cs typeface="Times New Roman" panose="02020603050405020304" pitchFamily="18" charset="0"/>
                        </a:rPr>
                        <a:t> 따라서</a:t>
                      </a:r>
                      <a:r>
                        <a:rPr lang="ko-KR" sz="1000" cap="all" dirty="0">
                          <a:effectLst/>
                          <a:latin typeface="+mn-ea"/>
                          <a:ea typeface="+mn-ea"/>
                          <a:cs typeface="Times New Roman" panose="02020603050405020304" pitchFamily="18" charset="0"/>
                        </a:rPr>
                        <a:t>는</a:t>
                      </a:r>
                      <a:r>
                        <a:rPr lang="ko-KR" sz="1000" dirty="0">
                          <a:effectLst/>
                          <a:latin typeface="+mn-ea"/>
                          <a:ea typeface="+mn-ea"/>
                          <a:cs typeface="Times New Roman" panose="02020603050405020304" pitchFamily="18" charset="0"/>
                        </a:rPr>
                        <a:t> 좀 더</a:t>
                      </a:r>
                      <a:r>
                        <a:rPr lang="en-US" sz="1000" dirty="0">
                          <a:effectLst/>
                          <a:latin typeface="+mn-ea"/>
                          <a:ea typeface="+mn-ea"/>
                          <a:cs typeface="Times New Roman" panose="02020603050405020304" pitchFamily="18" charset="0"/>
                        </a:rPr>
                        <a:t> flexibility</a:t>
                      </a:r>
                      <a:r>
                        <a:rPr lang="ko-KR" sz="1000" dirty="0">
                          <a:effectLst/>
                          <a:latin typeface="+mn-ea"/>
                          <a:ea typeface="+mn-ea"/>
                          <a:cs typeface="Times New Roman" panose="02020603050405020304" pitchFamily="18" charset="0"/>
                        </a:rPr>
                        <a:t>를 가지기 위해서</a:t>
                      </a:r>
                      <a:r>
                        <a:rPr lang="en-US" sz="1000" dirty="0">
                          <a:effectLst/>
                          <a:latin typeface="+mn-ea"/>
                          <a:ea typeface="+mn-ea"/>
                          <a:cs typeface="Times New Roman" panose="02020603050405020304" pitchFamily="18" charset="0"/>
                        </a:rPr>
                        <a:t> “de </a:t>
                      </a:r>
                      <a:r>
                        <a:rPr lang="en-US" sz="1000" dirty="0" err="1">
                          <a:effectLst/>
                          <a:latin typeface="+mn-ea"/>
                          <a:ea typeface="+mn-ea"/>
                          <a:cs typeface="Times New Roman" panose="02020603050405020304" pitchFamily="18" charset="0"/>
                        </a:rPr>
                        <a:t>minimis</a:t>
                      </a:r>
                      <a:r>
                        <a:rPr lang="en-US" sz="1000" dirty="0">
                          <a:effectLst/>
                          <a:latin typeface="+mn-ea"/>
                          <a:ea typeface="+mn-ea"/>
                          <a:cs typeface="Times New Roman" panose="02020603050405020304" pitchFamily="18" charset="0"/>
                        </a:rPr>
                        <a:t> inaccuracies”</a:t>
                      </a:r>
                      <a:r>
                        <a:rPr lang="ko-KR" sz="1000" dirty="0">
                          <a:effectLst/>
                          <a:latin typeface="+mn-ea"/>
                          <a:ea typeface="+mn-ea"/>
                          <a:cs typeface="Times New Roman" panose="02020603050405020304" pitchFamily="18" charset="0"/>
                        </a:rPr>
                        <a:t>에 대한 예외를 적용하는 </a:t>
                      </a:r>
                      <a:r>
                        <a:rPr lang="ko-KR" sz="1000" dirty="0">
                          <a:effectLst/>
                          <a:latin typeface="+mn-ea"/>
                          <a:ea typeface="+mn-ea"/>
                          <a:cs typeface="바탕" panose="02030600000101010101" pitchFamily="18" charset="-127"/>
                        </a:rPr>
                        <a:t>것을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제안하기도</a:t>
                      </a:r>
                      <a:r>
                        <a:rPr lang="ko-KR" sz="1000" dirty="0">
                          <a:effectLst/>
                          <a:latin typeface="+mn-ea"/>
                          <a:ea typeface="+mn-ea"/>
                          <a:cs typeface="Times New Roman" panose="02020603050405020304" pitchFamily="18" charset="0"/>
                        </a:rPr>
                        <a:t> 함</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매수인은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소유권</a:t>
                      </a:r>
                      <a:r>
                        <a:rPr lang="en-US" sz="1000" cap="all" dirty="0">
                          <a:effectLst/>
                          <a:latin typeface="+mn-ea"/>
                          <a:ea typeface="+mn-ea"/>
                          <a:cs typeface="Times New Roman" panose="02020603050405020304" pitchFamily="18" charset="0"/>
                        </a:rPr>
                        <a:t>(</a:t>
                      </a:r>
                      <a:r>
                        <a:rPr lang="en-US" sz="1000" dirty="0">
                          <a:effectLst/>
                          <a:latin typeface="+mn-ea"/>
                          <a:ea typeface="+mn-ea"/>
                          <a:cs typeface="Times New Roman" panose="02020603050405020304" pitchFamily="18" charset="0"/>
                        </a:rPr>
                        <a:t>title</a:t>
                      </a:r>
                      <a:r>
                        <a:rPr lang="en-US" sz="1000" cap="all" dirty="0">
                          <a:effectLst/>
                          <a:latin typeface="+mn-ea"/>
                          <a:ea typeface="+mn-ea"/>
                          <a:cs typeface="Times New Roman" panose="02020603050405020304" pitchFamily="18" charset="0"/>
                        </a:rPr>
                        <a:t>)</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진술보장</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등</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직접적으로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영향을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미치는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진술보장을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제외하고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같은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예외를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적용하는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고려해볼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있음</a:t>
                      </a:r>
                      <a:r>
                        <a:rPr lang="en-US" sz="1000" dirty="0">
                          <a:effectLst/>
                          <a:latin typeface="+mn-ea"/>
                          <a:ea typeface="+mn-ea"/>
                          <a:cs typeface="바탕" panose="02030600000101010101" pitchFamily="18" charset="-127"/>
                        </a:rPr>
                        <a:t>. </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67853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l" fontAlgn="base">
                        <a:lnSpc>
                          <a:spcPct val="110000"/>
                        </a:lnSpc>
                        <a:spcAft>
                          <a:spcPts val="0"/>
                        </a:spcAft>
                        <a:buFont typeface="Times New Roman" panose="02020603050405020304" pitchFamily="18" charset="0"/>
                        <a:buNone/>
                        <a:tabLst>
                          <a:tab pos="2176145" algn="l"/>
                        </a:tabLst>
                      </a:pPr>
                      <a:r>
                        <a:rPr lang="en-US" sz="1000" u="none" strike="noStrike" kern="0" spc="0" dirty="0" smtClean="0">
                          <a:ln>
                            <a:noFill/>
                          </a:ln>
                          <a:effectLst>
                            <a:glow>
                              <a:srgbClr val="000000"/>
                            </a:glow>
                            <a:reflection stA="0" endPos="0" fadeDir="0" sx="0" sy="0"/>
                          </a:effectLst>
                          <a:latin typeface="+mn-ea"/>
                          <a:ea typeface="+mn-ea"/>
                        </a:rPr>
                        <a:t>Section 8.02. </a:t>
                      </a:r>
                      <a:r>
                        <a:rPr lang="en-US" sz="1000" u="sng" strike="noStrike" kern="0" spc="0" dirty="0" smtClean="0">
                          <a:ln>
                            <a:noFill/>
                          </a:ln>
                          <a:effectLst>
                            <a:glow>
                              <a:srgbClr val="000000"/>
                            </a:glow>
                            <a:reflection stA="0" endPos="0" fadeDir="0" sx="0" sy="0"/>
                          </a:effectLst>
                          <a:latin typeface="+mn-ea"/>
                          <a:ea typeface="+mn-ea"/>
                        </a:rPr>
                        <a:t>Conditions to the Obligations of Buyer</a:t>
                      </a:r>
                      <a:r>
                        <a:rPr lang="en-US" sz="1000" u="none" strike="noStrike" kern="0" spc="0" dirty="0" smtClean="0">
                          <a:ln>
                            <a:noFill/>
                          </a:ln>
                          <a:effectLst>
                            <a:glow>
                              <a:srgbClr val="000000"/>
                            </a:glow>
                            <a:reflection stA="0" endPos="0" fadeDir="0" sx="0" sy="0"/>
                          </a:effectLst>
                          <a:latin typeface="+mn-ea"/>
                          <a:ea typeface="+mn-ea"/>
                        </a:rPr>
                        <a:t>.  The obligations of Buyer to consummate the transactions contemplated by this Agreement are subject to the satisfaction or, to the extent permitted, waiver in writing at the Closing, of each of the following conditions:</a:t>
                      </a:r>
                    </a:p>
                    <a:p>
                      <a:pPr marL="228600" lvl="0" indent="-228600" algn="l" fontAlgn="base">
                        <a:lnSpc>
                          <a:spcPct val="110000"/>
                        </a:lnSpc>
                        <a:spcAft>
                          <a:spcPts val="0"/>
                        </a:spcAft>
                        <a:buFont typeface="+mj-lt"/>
                        <a:buAutoNum type="alphaLcPeriod"/>
                        <a:tabLst>
                          <a:tab pos="2176145" algn="l"/>
                        </a:tabLst>
                      </a:pPr>
                      <a:r>
                        <a:rPr lang="en-US" sz="1000" u="sng" strike="noStrike" kern="0" spc="0" dirty="0" smtClean="0">
                          <a:ln>
                            <a:noFill/>
                          </a:ln>
                          <a:effectLst>
                            <a:glow>
                              <a:srgbClr val="000000"/>
                            </a:glow>
                            <a:reflection stA="0" endPos="0" fadeDir="0" sx="0" sy="0"/>
                          </a:effectLst>
                          <a:latin typeface="+mn-ea"/>
                          <a:ea typeface="+mn-ea"/>
                        </a:rPr>
                        <a:t>Representations and Warranties</a:t>
                      </a:r>
                      <a:r>
                        <a:rPr lang="en-US" sz="1000" u="none" strike="noStrike" kern="0" spc="0" dirty="0" smtClean="0">
                          <a:ln>
                            <a:noFill/>
                          </a:ln>
                          <a:effectLst>
                            <a:glow>
                              <a:srgbClr val="000000"/>
                            </a:glow>
                            <a:reflection stA="0" endPos="0" fadeDir="0" sx="0" sy="0"/>
                          </a:effectLst>
                          <a:latin typeface="+mn-ea"/>
                          <a:ea typeface="+mn-ea"/>
                        </a:rPr>
                        <a:t>.  (</a:t>
                      </a:r>
                      <a:r>
                        <a:rPr lang="en-US" sz="1000" u="none" strike="noStrike" kern="0" spc="0" dirty="0" err="1" smtClean="0">
                          <a:ln>
                            <a:noFill/>
                          </a:ln>
                          <a:effectLst>
                            <a:glow>
                              <a:srgbClr val="000000"/>
                            </a:glow>
                            <a:reflection stA="0" endPos="0" fadeDir="0" sx="0" sy="0"/>
                          </a:effectLst>
                          <a:latin typeface="+mn-ea"/>
                          <a:ea typeface="+mn-ea"/>
                        </a:rPr>
                        <a:t>i</a:t>
                      </a:r>
                      <a:r>
                        <a:rPr lang="en-US" sz="1000" u="none" strike="noStrike" kern="0" spc="0" dirty="0" smtClean="0">
                          <a:ln>
                            <a:noFill/>
                          </a:ln>
                          <a:effectLst>
                            <a:glow>
                              <a:srgbClr val="000000"/>
                            </a:glow>
                            <a:reflection stA="0" endPos="0" fadeDir="0" sx="0" sy="0"/>
                          </a:effectLst>
                          <a:latin typeface="+mn-ea"/>
                          <a:ea typeface="+mn-ea"/>
                        </a:rPr>
                        <a:t>) The Fundamental Warranties of each of Seller shall be true and correct in all respects as of the date hereof and as of the Closing Date as if made on and as of the Closing Date (except to the extent expressly made as of a certain date, in which case as if made on and as of such date) and (ii) the representations and warranties of Seller set forth in Articles IV and V without giving effect to any materiality or “Seller Material Adverse Effect” qualifications therein shall be true and correct in all material respects as of the date hereof and as of the Closing Date as if made on and as of the Closing Date (except to the extent expressly made as of a certain date, in which case as of such date).</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1. Rep bring down CP</a:t>
            </a:r>
            <a:endParaRPr lang="ko-KR" altLang="en-US" dirty="0">
              <a:latin typeface="+mn-ea"/>
              <a:ea typeface="+mn-ea"/>
            </a:endParaRPr>
          </a:p>
        </p:txBody>
      </p:sp>
    </p:spTree>
    <p:extLst>
      <p:ext uri="{BB962C8B-B14F-4D97-AF65-F5344CB8AC3E}">
        <p14:creationId xmlns:p14="http://schemas.microsoft.com/office/powerpoint/2010/main" val="100955947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 Closing </a:t>
            </a:r>
            <a:r>
              <a:rPr lang="en-US" altLang="ko-KR" dirty="0">
                <a:latin typeface="+mn-ea"/>
              </a:rPr>
              <a:t>Conditions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327228845"/>
              </p:ext>
            </p:extLst>
          </p:nvPr>
        </p:nvGraphicFramePr>
        <p:xfrm>
          <a:off x="439738" y="1031875"/>
          <a:ext cx="9188450" cy="311649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거래종결의 조건으로</a:t>
                      </a:r>
                      <a:r>
                        <a:rPr lang="en-US" sz="1000">
                          <a:effectLst/>
                          <a:latin typeface="+mn-ea"/>
                          <a:ea typeface="+mn-ea"/>
                          <a:cs typeface="Times New Roman" panose="02020603050405020304" pitchFamily="18" charset="0"/>
                        </a:rPr>
                        <a:t> MAE</a:t>
                      </a:r>
                      <a:r>
                        <a:rPr lang="ko-KR" sz="1000">
                          <a:effectLst/>
                          <a:latin typeface="+mn-ea"/>
                          <a:ea typeface="+mn-ea"/>
                          <a:cs typeface="Times New Roman" panose="02020603050405020304" pitchFamily="18" charset="0"/>
                        </a:rPr>
                        <a:t>가 발생하지 않을 것을 단독 </a:t>
                      </a:r>
                      <a:r>
                        <a:rPr lang="en-US" sz="1000">
                          <a:effectLst/>
                          <a:latin typeface="+mn-ea"/>
                          <a:ea typeface="+mn-ea"/>
                          <a:cs typeface="Times New Roman" panose="02020603050405020304" pitchFamily="18" charset="0"/>
                        </a:rPr>
                        <a:t>CP</a:t>
                      </a:r>
                      <a:r>
                        <a:rPr lang="ko-KR" sz="1000">
                          <a:effectLst/>
                          <a:latin typeface="+mn-ea"/>
                          <a:ea typeface="+mn-ea"/>
                          <a:cs typeface="Times New Roman" panose="02020603050405020304" pitchFamily="18" charset="0"/>
                        </a:rPr>
                        <a:t>로 정하는 경우가 있음</a:t>
                      </a:r>
                      <a:r>
                        <a:rPr lang="en-US" sz="1000">
                          <a:effectLst/>
                          <a:latin typeface="+mn-ea"/>
                          <a:ea typeface="+mn-ea"/>
                          <a:cs typeface="Times New Roman" panose="02020603050405020304" pitchFamily="18" charset="0"/>
                        </a:rPr>
                        <a:t>.</a:t>
                      </a:r>
                      <a:endParaRPr lang="ko-KR" sz="100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46712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매도인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매도인 입장에서는 </a:t>
                      </a:r>
                      <a:r>
                        <a:rPr lang="ko-KR" sz="1000" cap="all" dirty="0">
                          <a:effectLst/>
                          <a:latin typeface="+mn-ea"/>
                          <a:ea typeface="+mn-ea"/>
                          <a:cs typeface="Times New Roman" panose="02020603050405020304" pitchFamily="18" charset="0"/>
                        </a:rPr>
                        <a:t>제</a:t>
                      </a:r>
                      <a:r>
                        <a:rPr lang="en-US" sz="1000" dirty="0">
                          <a:effectLst/>
                          <a:latin typeface="+mn-ea"/>
                          <a:ea typeface="+mn-ea"/>
                          <a:cs typeface="Times New Roman" panose="02020603050405020304" pitchFamily="18" charset="0"/>
                        </a:rPr>
                        <a:t>4.04</a:t>
                      </a:r>
                      <a:r>
                        <a:rPr lang="ko-KR" sz="1000" cap="all" dirty="0">
                          <a:effectLst/>
                          <a:latin typeface="+mn-ea"/>
                          <a:ea typeface="+mn-ea"/>
                          <a:cs typeface="Times New Roman" panose="02020603050405020304" pitchFamily="18" charset="0"/>
                        </a:rPr>
                        <a:t>조 </a:t>
                      </a:r>
                      <a:r>
                        <a:rPr lang="en-US" sz="1000" dirty="0">
                          <a:effectLst/>
                          <a:latin typeface="+mn-ea"/>
                          <a:ea typeface="+mn-ea"/>
                          <a:cs typeface="Times New Roman" panose="02020603050405020304" pitchFamily="18" charset="0"/>
                        </a:rPr>
                        <a:t>(a)</a:t>
                      </a:r>
                      <a:r>
                        <a:rPr lang="ko-KR" sz="1000" dirty="0">
                          <a:effectLst/>
                          <a:latin typeface="+mn-ea"/>
                          <a:ea typeface="+mn-ea"/>
                          <a:cs typeface="Times New Roman" panose="02020603050405020304" pitchFamily="18" charset="0"/>
                        </a:rPr>
                        <a:t>에</a:t>
                      </a:r>
                      <a:r>
                        <a:rPr lang="en-US" sz="1000" dirty="0">
                          <a:effectLst/>
                          <a:latin typeface="+mn-ea"/>
                          <a:ea typeface="+mn-ea"/>
                          <a:cs typeface="Times New Roman" panose="02020603050405020304" pitchFamily="18" charset="0"/>
                        </a:rPr>
                        <a:t> Balance Sheet </a:t>
                      </a:r>
                      <a:r>
                        <a:rPr lang="en-US" sz="1000" dirty="0" smtClean="0">
                          <a:effectLst/>
                          <a:latin typeface="+mn-ea"/>
                          <a:ea typeface="+mn-ea"/>
                          <a:cs typeface="Times New Roman" panose="02020603050405020304" pitchFamily="18" charset="0"/>
                        </a:rPr>
                        <a:t>Date </a:t>
                      </a:r>
                      <a:r>
                        <a:rPr lang="ko-KR" sz="1000" dirty="0" smtClean="0">
                          <a:effectLst/>
                          <a:latin typeface="+mn-ea"/>
                          <a:ea typeface="+mn-ea"/>
                          <a:cs typeface="Times New Roman" panose="02020603050405020304" pitchFamily="18" charset="0"/>
                        </a:rPr>
                        <a:t>이후에</a:t>
                      </a:r>
                      <a:r>
                        <a:rPr lang="en-US" sz="1000" dirty="0" smtClean="0">
                          <a:effectLst/>
                          <a:latin typeface="+mn-ea"/>
                          <a:ea typeface="+mn-ea"/>
                          <a:cs typeface="Times New Roman" panose="02020603050405020304" pitchFamily="18" charset="0"/>
                        </a:rPr>
                        <a:t> </a:t>
                      </a:r>
                      <a:r>
                        <a:rPr lang="en-US" sz="1000" dirty="0">
                          <a:effectLst/>
                          <a:latin typeface="+mn-ea"/>
                          <a:ea typeface="+mn-ea"/>
                          <a:cs typeface="Times New Roman" panose="02020603050405020304" pitchFamily="18" charset="0"/>
                        </a:rPr>
                        <a:t>MAE</a:t>
                      </a:r>
                      <a:r>
                        <a:rPr lang="ko-KR" sz="1000" dirty="0">
                          <a:effectLst/>
                          <a:latin typeface="+mn-ea"/>
                          <a:ea typeface="+mn-ea"/>
                          <a:cs typeface="Times New Roman" panose="02020603050405020304" pitchFamily="18" charset="0"/>
                        </a:rPr>
                        <a:t>가 </a:t>
                      </a:r>
                      <a:r>
                        <a:rPr lang="ko-KR" sz="1000" cap="all" dirty="0">
                          <a:effectLst/>
                          <a:latin typeface="+mn-ea"/>
                          <a:ea typeface="+mn-ea"/>
                          <a:cs typeface="Times New Roman" panose="02020603050405020304" pitchFamily="18" charset="0"/>
                        </a:rPr>
                        <a:t>존재하지 않는</a:t>
                      </a:r>
                      <a:r>
                        <a:rPr lang="ko-KR" sz="1000" dirty="0">
                          <a:effectLst/>
                          <a:latin typeface="+mn-ea"/>
                          <a:ea typeface="+mn-ea"/>
                          <a:cs typeface="Times New Roman" panose="02020603050405020304" pitchFamily="18" charset="0"/>
                        </a:rPr>
                        <a:t>다는 </a:t>
                      </a:r>
                      <a:r>
                        <a:rPr lang="ko-KR" sz="1000" cap="all" dirty="0">
                          <a:effectLst/>
                          <a:latin typeface="+mn-ea"/>
                          <a:ea typeface="+mn-ea"/>
                          <a:cs typeface="Times New Roman" panose="02020603050405020304" pitchFamily="18" charset="0"/>
                        </a:rPr>
                        <a:t>진술보장</a:t>
                      </a:r>
                      <a:r>
                        <a:rPr lang="en-US" sz="1000" dirty="0">
                          <a:effectLst/>
                          <a:latin typeface="+mn-ea"/>
                          <a:ea typeface="+mn-ea"/>
                          <a:cs typeface="Times New Roman" panose="02020603050405020304" pitchFamily="18" charset="0"/>
                        </a:rPr>
                        <a:t>(</a:t>
                      </a:r>
                      <a:r>
                        <a:rPr lang="ko-KR" sz="1000" cap="all" dirty="0">
                          <a:effectLst/>
                          <a:latin typeface="+mn-ea"/>
                          <a:ea typeface="+mn-ea"/>
                          <a:cs typeface="Times New Roman" panose="02020603050405020304" pitchFamily="18" charset="0"/>
                        </a:rPr>
                        <a:t>이른바 </a:t>
                      </a:r>
                      <a:r>
                        <a:rPr lang="en-US" sz="1000" dirty="0">
                          <a:effectLst/>
                          <a:latin typeface="+mn-ea"/>
                          <a:ea typeface="+mn-ea"/>
                          <a:cs typeface="Times New Roman" panose="02020603050405020304" pitchFamily="18" charset="0"/>
                        </a:rPr>
                        <a:t>“back door MAE”)</a:t>
                      </a:r>
                      <a:r>
                        <a:rPr lang="ko-KR" sz="1000" dirty="0">
                          <a:effectLst/>
                          <a:latin typeface="+mn-ea"/>
                          <a:ea typeface="+mn-ea"/>
                          <a:cs typeface="Times New Roman" panose="02020603050405020304" pitchFamily="18" charset="0"/>
                        </a:rPr>
                        <a:t>가 있다는 이유로 위와 같은 </a:t>
                      </a:r>
                      <a:r>
                        <a:rPr lang="ko-KR" sz="1000" cap="all" dirty="0">
                          <a:effectLst/>
                          <a:latin typeface="+mn-ea"/>
                          <a:ea typeface="+mn-ea"/>
                          <a:cs typeface="Times New Roman" panose="02020603050405020304" pitchFamily="18" charset="0"/>
                        </a:rPr>
                        <a:t>별도의 선행조건</a:t>
                      </a:r>
                      <a:r>
                        <a:rPr lang="ko-KR" sz="1000" dirty="0">
                          <a:effectLst/>
                          <a:latin typeface="+mn-ea"/>
                          <a:ea typeface="+mn-ea"/>
                          <a:cs typeface="Times New Roman" panose="02020603050405020304" pitchFamily="18" charset="0"/>
                        </a:rPr>
                        <a:t>을 수용하지 않는 경우가 있으나</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매수인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 입장에서는 </a:t>
                      </a:r>
                      <a:r>
                        <a:rPr lang="ko-KR" sz="1000" cap="all" dirty="0">
                          <a:effectLst/>
                          <a:latin typeface="+mn-ea"/>
                          <a:ea typeface="+mn-ea"/>
                          <a:cs typeface="Times New Roman" panose="02020603050405020304" pitchFamily="18" charset="0"/>
                        </a:rPr>
                        <a:t>명시적으로 </a:t>
                      </a:r>
                      <a:r>
                        <a:rPr lang="en-US" sz="1000" dirty="0">
                          <a:effectLst/>
                          <a:latin typeface="+mn-ea"/>
                          <a:ea typeface="+mn-ea"/>
                          <a:cs typeface="Times New Roman" panose="02020603050405020304" pitchFamily="18" charset="0"/>
                        </a:rPr>
                        <a:t>walk away</a:t>
                      </a:r>
                      <a:r>
                        <a:rPr lang="ko-KR" sz="1000" dirty="0">
                          <a:effectLst/>
                          <a:latin typeface="+mn-ea"/>
                          <a:ea typeface="+mn-ea"/>
                          <a:cs typeface="Times New Roman" panose="02020603050405020304" pitchFamily="18" charset="0"/>
                        </a:rPr>
                        <a:t>할 수 있는 권리를 갖는다는 측면에서 </a:t>
                      </a:r>
                      <a:r>
                        <a:rPr lang="ko-KR" sz="1000" cap="all" dirty="0">
                          <a:effectLst/>
                          <a:latin typeface="+mn-ea"/>
                          <a:ea typeface="+mn-ea"/>
                          <a:cs typeface="Times New Roman" panose="02020603050405020304" pitchFamily="18" charset="0"/>
                        </a:rPr>
                        <a:t>선행조건에 </a:t>
                      </a:r>
                      <a:r>
                        <a:rPr lang="ko-KR" sz="1000" dirty="0">
                          <a:effectLst/>
                          <a:latin typeface="+mn-ea"/>
                          <a:ea typeface="+mn-ea"/>
                          <a:cs typeface="Times New Roman" panose="02020603050405020304" pitchFamily="18" charset="0"/>
                        </a:rPr>
                        <a:t>추가</a:t>
                      </a:r>
                      <a:r>
                        <a:rPr lang="ko-KR" sz="1000" cap="all" dirty="0">
                          <a:effectLst/>
                          <a:latin typeface="+mn-ea"/>
                          <a:ea typeface="+mn-ea"/>
                          <a:cs typeface="Times New Roman" panose="02020603050405020304" pitchFamily="18" charset="0"/>
                        </a:rPr>
                        <a:t>할 것을</a:t>
                      </a:r>
                      <a:r>
                        <a:rPr lang="ko-KR" sz="1000" dirty="0">
                          <a:effectLst/>
                          <a:latin typeface="+mn-ea"/>
                          <a:ea typeface="+mn-ea"/>
                          <a:cs typeface="Times New Roman" panose="02020603050405020304" pitchFamily="18" charset="0"/>
                        </a:rPr>
                        <a:t> 고려할 수 있음</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latinLnBrk="1">
                        <a:lnSpc>
                          <a:spcPct val="110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latinLnBrk="1">
                        <a:lnSpc>
                          <a:spcPct val="110000"/>
                        </a:lnSpc>
                        <a:spcAft>
                          <a:spcPts val="0"/>
                        </a:spcAft>
                      </a:pPr>
                      <a:r>
                        <a:rPr lang="en-US" sz="1000" dirty="0">
                          <a:effectLst/>
                          <a:latin typeface="+mn-ea"/>
                          <a:ea typeface="+mn-ea"/>
                          <a:cs typeface="Times New Roman" panose="02020603050405020304" pitchFamily="18" charset="0"/>
                        </a:rPr>
                        <a:t>ABA Private Target Deal Points Study</a:t>
                      </a:r>
                      <a:r>
                        <a:rPr lang="ko-KR" sz="1000" dirty="0">
                          <a:effectLst/>
                          <a:latin typeface="+mn-ea"/>
                          <a:ea typeface="+mn-ea"/>
                          <a:cs typeface="Times New Roman" panose="02020603050405020304" pitchFamily="18" charset="0"/>
                        </a:rPr>
                        <a:t>에 따르면</a:t>
                      </a:r>
                      <a:r>
                        <a:rPr lang="en-US" sz="1000" dirty="0">
                          <a:effectLst/>
                          <a:latin typeface="+mn-ea"/>
                          <a:ea typeface="+mn-ea"/>
                          <a:cs typeface="Times New Roman" panose="02020603050405020304" pitchFamily="18" charset="0"/>
                        </a:rPr>
                        <a:t> stand-alone MAE condition</a:t>
                      </a:r>
                      <a:r>
                        <a:rPr lang="ko-KR" sz="1000" dirty="0">
                          <a:effectLst/>
                          <a:latin typeface="+mn-ea"/>
                          <a:ea typeface="+mn-ea"/>
                          <a:cs typeface="Times New Roman" panose="02020603050405020304" pitchFamily="18" charset="0"/>
                        </a:rPr>
                        <a:t>과</a:t>
                      </a:r>
                      <a:r>
                        <a:rPr lang="en-US" sz="1000" dirty="0">
                          <a:effectLst/>
                          <a:latin typeface="+mn-ea"/>
                          <a:ea typeface="+mn-ea"/>
                          <a:cs typeface="Times New Roman" panose="02020603050405020304" pitchFamily="18" charset="0"/>
                        </a:rPr>
                        <a:t> back-door MAE condition</a:t>
                      </a:r>
                      <a:r>
                        <a:rPr lang="ko-KR" sz="1000" dirty="0">
                          <a:effectLst/>
                          <a:latin typeface="+mn-ea"/>
                          <a:ea typeface="+mn-ea"/>
                          <a:cs typeface="Times New Roman" panose="02020603050405020304" pitchFamily="18" charset="0"/>
                        </a:rPr>
                        <a:t>을 모두 포함하는 경우가 전체 딜의</a:t>
                      </a:r>
                      <a:r>
                        <a:rPr lang="en-US" sz="1000" dirty="0">
                          <a:effectLst/>
                          <a:latin typeface="+mn-ea"/>
                          <a:ea typeface="+mn-ea"/>
                          <a:cs typeface="Times New Roman" panose="02020603050405020304" pitchFamily="18" charset="0"/>
                        </a:rPr>
                        <a:t> 50%</a:t>
                      </a:r>
                      <a:r>
                        <a:rPr lang="ko-KR" sz="1000" dirty="0">
                          <a:effectLst/>
                          <a:latin typeface="+mn-ea"/>
                          <a:ea typeface="+mn-ea"/>
                          <a:cs typeface="Times New Roman" panose="02020603050405020304" pitchFamily="18" charset="0"/>
                        </a:rPr>
                        <a:t>를 넘었다고 하고</a:t>
                      </a:r>
                      <a:r>
                        <a:rPr lang="en-US" sz="1000" dirty="0">
                          <a:effectLst/>
                          <a:latin typeface="+mn-ea"/>
                          <a:ea typeface="+mn-ea"/>
                          <a:cs typeface="Times New Roman" panose="02020603050405020304" pitchFamily="18" charset="0"/>
                        </a:rPr>
                        <a:t>, stand-alone MAE</a:t>
                      </a:r>
                      <a:r>
                        <a:rPr lang="ko-KR" sz="1000" dirty="0">
                          <a:effectLst/>
                          <a:latin typeface="+mn-ea"/>
                          <a:ea typeface="+mn-ea"/>
                          <a:cs typeface="Times New Roman" panose="02020603050405020304" pitchFamily="18" charset="0"/>
                        </a:rPr>
                        <a:t>만 갖는 경우는</a:t>
                      </a:r>
                      <a:r>
                        <a:rPr lang="en-US" sz="1000" dirty="0">
                          <a:effectLst/>
                          <a:latin typeface="+mn-ea"/>
                          <a:ea typeface="+mn-ea"/>
                          <a:cs typeface="Times New Roman" panose="02020603050405020304" pitchFamily="18" charset="0"/>
                        </a:rPr>
                        <a:t> 29%, back-door MAE condition</a:t>
                      </a:r>
                      <a:r>
                        <a:rPr lang="ko-KR" sz="1000" dirty="0">
                          <a:effectLst/>
                          <a:latin typeface="+mn-ea"/>
                          <a:ea typeface="+mn-ea"/>
                          <a:cs typeface="Times New Roman" panose="02020603050405020304" pitchFamily="18" charset="0"/>
                        </a:rPr>
                        <a:t>만 갖는 경우는</a:t>
                      </a:r>
                      <a:r>
                        <a:rPr lang="en-US" sz="1000" dirty="0">
                          <a:effectLst/>
                          <a:latin typeface="+mn-ea"/>
                          <a:ea typeface="+mn-ea"/>
                          <a:cs typeface="Times New Roman" panose="02020603050405020304" pitchFamily="18" charset="0"/>
                        </a:rPr>
                        <a:t> 9</a:t>
                      </a:r>
                      <a:r>
                        <a:rPr lang="en-US"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였다고 </a:t>
                      </a:r>
                      <a:r>
                        <a:rPr lang="ko-KR" altLang="en-US" sz="1000" dirty="0" smtClean="0">
                          <a:effectLst/>
                          <a:latin typeface="+mn-ea"/>
                          <a:ea typeface="+mn-ea"/>
                          <a:cs typeface="Times New Roman" panose="02020603050405020304" pitchFamily="18" charset="0"/>
                        </a:rPr>
                        <a:t>함</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19895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l" fontAlgn="base">
                        <a:lnSpc>
                          <a:spcPct val="110000"/>
                        </a:lnSpc>
                        <a:spcAft>
                          <a:spcPts val="0"/>
                        </a:spcAft>
                        <a:buFont typeface="Times New Roman" panose="02020603050405020304" pitchFamily="18" charset="0"/>
                        <a:buAutoNum type="arabicPeriod"/>
                        <a:tabLst>
                          <a:tab pos="2176145" algn="l"/>
                        </a:tabLst>
                      </a:pPr>
                      <a:r>
                        <a:rPr lang="en-US" sz="1000" u="sng" strike="noStrike" kern="0" spc="0" dirty="0" smtClean="0">
                          <a:ln>
                            <a:noFill/>
                          </a:ln>
                          <a:effectLst>
                            <a:glow>
                              <a:srgbClr val="000000"/>
                            </a:glow>
                            <a:outerShdw sx="0" sy="0">
                              <a:srgbClr val="000000"/>
                            </a:outerShdw>
                            <a:reflection stA="0" endPos="0" fadeDir="0" sx="0" sy="0"/>
                          </a:effectLst>
                          <a:latin typeface="+mn-ea"/>
                          <a:ea typeface="+mn-ea"/>
                        </a:rPr>
                        <a:t> Conditions </a:t>
                      </a:r>
                      <a:r>
                        <a:rPr lang="en-US" sz="1000" u="sng" strike="noStrike" kern="0" spc="0" dirty="0">
                          <a:ln>
                            <a:noFill/>
                          </a:ln>
                          <a:effectLst>
                            <a:glow>
                              <a:srgbClr val="000000"/>
                            </a:glow>
                            <a:outerShdw sx="0" sy="0">
                              <a:srgbClr val="000000"/>
                            </a:outerShdw>
                            <a:reflection stA="0" endPos="0" fadeDir="0" sx="0" sy="0"/>
                          </a:effectLst>
                          <a:latin typeface="+mn-ea"/>
                          <a:ea typeface="+mn-ea"/>
                        </a:rPr>
                        <a:t>to the Obligations of Buyer</a:t>
                      </a:r>
                      <a:endParaRPr lang="ko-KR" sz="1000" u="none" strike="noStrike" kern="0" spc="0" dirty="0">
                        <a:ln>
                          <a:noFill/>
                        </a:ln>
                        <a:effectLst>
                          <a:glow>
                            <a:srgbClr val="000000"/>
                          </a:glow>
                          <a:outerShdw sx="0" sy="0">
                            <a:srgbClr val="000000"/>
                          </a:outerShdw>
                          <a:reflection stA="0" endPos="0" fadeDir="0" sx="0" sy="0"/>
                        </a:effectLst>
                        <a:latin typeface="+mn-ea"/>
                        <a:ea typeface="+mn-ea"/>
                      </a:endParaRPr>
                    </a:p>
                    <a:p>
                      <a:pPr algn="l">
                        <a:lnSpc>
                          <a:spcPct val="110000"/>
                        </a:lnSpc>
                        <a:spcAft>
                          <a:spcPts val="0"/>
                        </a:spcAft>
                      </a:pPr>
                      <a:r>
                        <a:rPr lang="en-US" sz="1000" dirty="0">
                          <a:effectLst/>
                          <a:latin typeface="+mn-ea"/>
                          <a:ea typeface="+mn-ea"/>
                        </a:rPr>
                        <a:t>.  The obligations of Buyer to consummate the transactions contemplated by this Agreement are subject to the satisfaction or, to the extent permitted, waiver in writing at the Closing, of each of the following conditions:</a:t>
                      </a:r>
                      <a:endParaRPr lang="ko-KR" sz="1000" dirty="0">
                        <a:effectLst/>
                        <a:latin typeface="+mn-ea"/>
                        <a:ea typeface="+mn-ea"/>
                      </a:endParaRPr>
                    </a:p>
                    <a:p>
                      <a:pPr marL="228600" lvl="0" indent="-228600" algn="l" fontAlgn="base">
                        <a:lnSpc>
                          <a:spcPct val="110000"/>
                        </a:lnSpc>
                        <a:spcAft>
                          <a:spcPts val="0"/>
                        </a:spcAft>
                        <a:buSzPct val="100000"/>
                        <a:buFont typeface="+mj-lt"/>
                        <a:buAutoNum type="alphaLcPeriod" startAt="3"/>
                        <a:tabLst>
                          <a:tab pos="1371600" algn="l"/>
                        </a:tabLst>
                      </a:pPr>
                      <a:r>
                        <a:rPr lang="en-US" sz="1000" u="sng" strike="noStrike" dirty="0" smtClean="0">
                          <a:ln>
                            <a:noFill/>
                          </a:ln>
                          <a:effectLst>
                            <a:outerShdw sx="0" sy="0">
                              <a:srgbClr val="000000"/>
                            </a:outerShdw>
                          </a:effectLst>
                          <a:latin typeface="+mn-ea"/>
                          <a:ea typeface="+mn-ea"/>
                        </a:rPr>
                        <a:t>No Material Adverse Effect</a:t>
                      </a:r>
                      <a:r>
                        <a:rPr lang="en-US" sz="1000" u="none" strike="noStrike" dirty="0" smtClean="0">
                          <a:ln>
                            <a:noFill/>
                          </a:ln>
                          <a:effectLst>
                            <a:outerShdw sx="0" sy="0">
                              <a:srgbClr val="000000"/>
                            </a:outerShdw>
                          </a:effectLst>
                          <a:latin typeface="+mn-ea"/>
                          <a:ea typeface="+mn-ea"/>
                        </a:rPr>
                        <a:t>.  No Material Adverse Effect shall have occurred.  </a:t>
                      </a:r>
                      <a:endParaRPr lang="ko-KR" sz="1000" u="none" strike="noStrike" dirty="0" smtClean="0">
                        <a:ln>
                          <a:noFill/>
                        </a:ln>
                        <a:effectLst>
                          <a:outerShdw sx="0" sy="0">
                            <a:srgbClr val="000000"/>
                          </a:outerShdw>
                        </a:effectLst>
                        <a:latin typeface="+mn-ea"/>
                        <a:ea typeface="+mn-ea"/>
                      </a:endParaRPr>
                    </a:p>
                    <a:p>
                      <a:pPr algn="l" latinLnBrk="1">
                        <a:lnSpc>
                          <a:spcPct val="110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2. No MAE</a:t>
            </a:r>
            <a:endParaRPr lang="ko-KR" altLang="en-US" dirty="0">
              <a:latin typeface="+mn-ea"/>
              <a:ea typeface="+mn-ea"/>
            </a:endParaRPr>
          </a:p>
        </p:txBody>
      </p:sp>
    </p:spTree>
    <p:extLst>
      <p:ext uri="{BB962C8B-B14F-4D97-AF65-F5344CB8AC3E}">
        <p14:creationId xmlns:p14="http://schemas.microsoft.com/office/powerpoint/2010/main" val="37306358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 Closing </a:t>
            </a:r>
            <a:r>
              <a:rPr lang="en-US" altLang="ko-KR" dirty="0">
                <a:latin typeface="+mn-ea"/>
              </a:rPr>
              <a:t>Conditions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2638256473"/>
              </p:ext>
            </p:extLst>
          </p:nvPr>
        </p:nvGraphicFramePr>
        <p:xfrm>
          <a:off x="439738" y="1031875"/>
          <a:ext cx="9188450" cy="287670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기타 선행조건</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82681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매수인 입장에서는 </a:t>
                      </a:r>
                      <a:r>
                        <a:rPr lang="ko-KR" sz="1000" dirty="0" smtClean="0">
                          <a:effectLst/>
                          <a:latin typeface="+mn-ea"/>
                          <a:ea typeface="+mn-ea"/>
                          <a:cs typeface="Times New Roman" panose="02020603050405020304" pitchFamily="18" charset="0"/>
                        </a:rPr>
                        <a:t>기타 </a:t>
                      </a:r>
                      <a:r>
                        <a:rPr lang="ko-KR" sz="1000" dirty="0">
                          <a:effectLst/>
                          <a:latin typeface="+mn-ea"/>
                          <a:ea typeface="+mn-ea"/>
                          <a:cs typeface="Times New Roman" panose="02020603050405020304" pitchFamily="18" charset="0"/>
                        </a:rPr>
                        <a:t>다음 선행조건을 </a:t>
                      </a:r>
                      <a:r>
                        <a:rPr lang="ko-KR" altLang="en-US" sz="1000" dirty="0" smtClean="0">
                          <a:effectLst/>
                          <a:latin typeface="+mn-ea"/>
                          <a:ea typeface="+mn-ea"/>
                          <a:cs typeface="Times New Roman" panose="02020603050405020304" pitchFamily="18" charset="0"/>
                        </a:rPr>
                        <a:t>요청하는 </a:t>
                      </a:r>
                      <a:r>
                        <a:rPr lang="ko-KR" sz="1000" dirty="0" smtClean="0">
                          <a:effectLst/>
                          <a:latin typeface="+mn-ea"/>
                          <a:ea typeface="+mn-ea"/>
                          <a:cs typeface="Times New Roman" panose="02020603050405020304" pitchFamily="18" charset="0"/>
                        </a:rPr>
                        <a:t>경우도 있</a:t>
                      </a:r>
                      <a:r>
                        <a:rPr lang="ko-KR" altLang="en-US" sz="1000" dirty="0" smtClean="0">
                          <a:effectLst/>
                          <a:latin typeface="+mn-ea"/>
                          <a:ea typeface="+mn-ea"/>
                          <a:cs typeface="Times New Roman" panose="02020603050405020304" pitchFamily="18" charset="0"/>
                        </a:rPr>
                        <a:t>으나</a:t>
                      </a:r>
                      <a:r>
                        <a:rPr lang="en-US" altLang="ko-KR" sz="1000" dirty="0" smtClean="0">
                          <a:effectLst/>
                          <a:latin typeface="+mn-ea"/>
                          <a:ea typeface="+mn-ea"/>
                          <a:cs typeface="Times New Roman" panose="02020603050405020304" pitchFamily="18" charset="0"/>
                        </a:rPr>
                        <a:t>,</a:t>
                      </a:r>
                      <a:r>
                        <a:rPr lang="en-US" altLang="ko-KR" sz="1000" baseline="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매도인 입장에서는 </a:t>
                      </a:r>
                      <a:r>
                        <a:rPr lang="en-US" altLang="ko-KR" sz="1000" dirty="0" smtClean="0">
                          <a:effectLst/>
                          <a:latin typeface="+mn-ea"/>
                          <a:ea typeface="+mn-ea"/>
                          <a:cs typeface="Times New Roman" panose="02020603050405020304" pitchFamily="18" charset="0"/>
                        </a:rPr>
                        <a:t>deal certainty</a:t>
                      </a:r>
                      <a:r>
                        <a:rPr lang="ko-KR" altLang="en-US" sz="1000" dirty="0" smtClean="0">
                          <a:effectLst/>
                          <a:latin typeface="+mn-ea"/>
                          <a:ea typeface="+mn-ea"/>
                          <a:cs typeface="Times New Roman" panose="02020603050405020304" pitchFamily="18" charset="0"/>
                        </a:rPr>
                        <a:t>에 매우 큰 영향을 주는 </a:t>
                      </a:r>
                      <a:r>
                        <a:rPr lang="ko-KR" altLang="en-US" sz="1000" dirty="0" err="1" smtClean="0">
                          <a:effectLst/>
                          <a:latin typeface="+mn-ea"/>
                          <a:ea typeface="+mn-ea"/>
                          <a:cs typeface="Times New Roman" panose="02020603050405020304" pitchFamily="18" charset="0"/>
                        </a:rPr>
                        <a:t>선행조건이여서</a:t>
                      </a:r>
                      <a:r>
                        <a:rPr lang="ko-KR" altLang="en-US" sz="1000" dirty="0" smtClean="0">
                          <a:effectLst/>
                          <a:latin typeface="+mn-ea"/>
                          <a:ea typeface="+mn-ea"/>
                          <a:cs typeface="Times New Roman" panose="02020603050405020304" pitchFamily="18" charset="0"/>
                        </a:rPr>
                        <a:t> 수용되는 경우가 많지 않음</a:t>
                      </a:r>
                      <a:r>
                        <a:rPr lang="en-US" altLang="ko-KR" sz="1000" dirty="0" smtClean="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0" indent="0" algn="l" latinLnBrk="1">
                        <a:lnSpc>
                          <a:spcPct val="110000"/>
                        </a:lnSpc>
                        <a:spcAft>
                          <a:spcPts val="0"/>
                        </a:spcAft>
                        <a:buFont typeface="Arial" panose="020B0604020202020204" pitchFamily="34" charset="0"/>
                        <a:buNone/>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228600" lvl="0" indent="-228600" algn="l" latinLnBrk="1">
                        <a:lnSpc>
                          <a:spcPct val="110000"/>
                        </a:lnSpc>
                        <a:spcAft>
                          <a:spcPts val="0"/>
                        </a:spcAft>
                        <a:buFont typeface="+mj-lt"/>
                        <a:buAutoNum type="arabicPeriod"/>
                        <a:tabLst>
                          <a:tab pos="457200" algn="l"/>
                        </a:tabLst>
                      </a:pPr>
                      <a:r>
                        <a:rPr lang="ko-KR" sz="1000" dirty="0" err="1">
                          <a:effectLst/>
                          <a:latin typeface="+mn-ea"/>
                          <a:ea typeface="+mn-ea"/>
                          <a:cs typeface="Times New Roman" panose="02020603050405020304" pitchFamily="18" charset="0"/>
                        </a:rPr>
                        <a:t>확인실사가</a:t>
                      </a:r>
                      <a:r>
                        <a:rPr lang="ko-KR" sz="1000" dirty="0">
                          <a:effectLst/>
                          <a:latin typeface="+mn-ea"/>
                          <a:ea typeface="+mn-ea"/>
                          <a:cs typeface="Times New Roman" panose="02020603050405020304" pitchFamily="18" charset="0"/>
                        </a:rPr>
                        <a:t> 매수인에게 만족스럽게 완료될 것</a:t>
                      </a:r>
                    </a:p>
                    <a:p>
                      <a:pPr marL="447675" lvl="0" indent="-171450" algn="l" latinLnBrk="1">
                        <a:lnSpc>
                          <a:spcPct val="110000"/>
                        </a:lnSpc>
                        <a:spcAft>
                          <a:spcPts val="0"/>
                        </a:spcAft>
                        <a:buFont typeface="Wingdings" panose="05000000000000000000" pitchFamily="2" charset="2"/>
                        <a:buChar char="§"/>
                        <a:tabLst>
                          <a:tab pos="914400" algn="l"/>
                        </a:tabLst>
                      </a:pPr>
                      <a:r>
                        <a:rPr lang="ko-KR" sz="1000" dirty="0">
                          <a:effectLst/>
                          <a:latin typeface="+mn-ea"/>
                          <a:ea typeface="+mn-ea"/>
                          <a:cs typeface="Times New Roman" panose="02020603050405020304" pitchFamily="18" charset="0"/>
                        </a:rPr>
                        <a:t>계약 체결 후 거래종결 전에 매수인의 </a:t>
                      </a:r>
                      <a:r>
                        <a:rPr lang="ko-KR" sz="1000" dirty="0" err="1">
                          <a:effectLst/>
                          <a:latin typeface="+mn-ea"/>
                          <a:ea typeface="+mn-ea"/>
                          <a:cs typeface="Times New Roman" panose="02020603050405020304" pitchFamily="18" charset="0"/>
                        </a:rPr>
                        <a:t>확인실사가</a:t>
                      </a:r>
                      <a:r>
                        <a:rPr lang="ko-KR" sz="1000" dirty="0">
                          <a:effectLst/>
                          <a:latin typeface="+mn-ea"/>
                          <a:ea typeface="+mn-ea"/>
                          <a:cs typeface="Times New Roman" panose="02020603050405020304" pitchFamily="18" charset="0"/>
                        </a:rPr>
                        <a:t> 진행되는 경우에 선행조건으로 포함하는 경우가 있음</a:t>
                      </a:r>
                      <a:r>
                        <a:rPr lang="en-US" sz="1000" dirty="0" smtClean="0">
                          <a:effectLst/>
                          <a:latin typeface="+mn-ea"/>
                          <a:ea typeface="+mn-ea"/>
                          <a:cs typeface="Times New Roman" panose="02020603050405020304" pitchFamily="18" charset="0"/>
                        </a:rPr>
                        <a:t>.</a:t>
                      </a:r>
                    </a:p>
                    <a:p>
                      <a:pPr marL="447675" lvl="0" indent="-171450" algn="l" latinLnBrk="1">
                        <a:lnSpc>
                          <a:spcPct val="110000"/>
                        </a:lnSpc>
                        <a:spcAft>
                          <a:spcPts val="0"/>
                        </a:spcAft>
                        <a:buFont typeface="Wingdings" panose="05000000000000000000" pitchFamily="2" charset="2"/>
                        <a:buChar char="§"/>
                        <a:tabLst>
                          <a:tab pos="914400" algn="l"/>
                        </a:tabLst>
                      </a:pPr>
                      <a:endParaRPr lang="ko-KR" sz="1000" dirty="0">
                        <a:effectLst/>
                        <a:latin typeface="+mn-ea"/>
                        <a:ea typeface="+mn-ea"/>
                        <a:cs typeface="Times New Roman" panose="02020603050405020304" pitchFamily="18" charset="0"/>
                      </a:endParaRPr>
                    </a:p>
                    <a:p>
                      <a:pPr marL="228600" lvl="0" indent="-228600" algn="l" latinLnBrk="1">
                        <a:lnSpc>
                          <a:spcPct val="110000"/>
                        </a:lnSpc>
                        <a:spcAft>
                          <a:spcPts val="0"/>
                        </a:spcAft>
                        <a:buFont typeface="+mj-lt"/>
                        <a:buAutoNum type="arabicPeriod" startAt="2"/>
                        <a:tabLst>
                          <a:tab pos="457200" algn="l"/>
                        </a:tabLst>
                      </a:pPr>
                      <a:r>
                        <a:rPr lang="ko-KR" sz="1000" dirty="0">
                          <a:effectLst/>
                          <a:latin typeface="+mn-ea"/>
                          <a:ea typeface="+mn-ea"/>
                          <a:cs typeface="Times New Roman" panose="02020603050405020304" pitchFamily="18" charset="0"/>
                        </a:rPr>
                        <a:t>매수인의 인수금융 자금조달이 완료되었을 </a:t>
                      </a:r>
                      <a:r>
                        <a:rPr lang="ko-KR" sz="1000" dirty="0" smtClean="0">
                          <a:effectLst/>
                          <a:latin typeface="+mn-ea"/>
                          <a:ea typeface="+mn-ea"/>
                          <a:cs typeface="Times New Roman" panose="02020603050405020304" pitchFamily="18" charset="0"/>
                        </a:rPr>
                        <a:t>것</a:t>
                      </a:r>
                      <a:r>
                        <a:rPr lang="en-US" sz="1000" dirty="0" smtClean="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이른바 </a:t>
                      </a:r>
                      <a:r>
                        <a:rPr lang="en-US" sz="1000" dirty="0">
                          <a:effectLst/>
                          <a:latin typeface="+mn-ea"/>
                          <a:ea typeface="+mn-ea"/>
                          <a:cs typeface="Times New Roman" panose="02020603050405020304" pitchFamily="18" charset="0"/>
                        </a:rPr>
                        <a:t>financing out)</a:t>
                      </a:r>
                      <a:endParaRPr lang="ko-KR" sz="1000" dirty="0">
                        <a:effectLst/>
                        <a:latin typeface="+mn-ea"/>
                        <a:ea typeface="+mn-ea"/>
                        <a:cs typeface="Times New Roman" panose="02020603050405020304" pitchFamily="18" charset="0"/>
                      </a:endParaRPr>
                    </a:p>
                    <a:p>
                      <a:pPr marL="447675" lvl="0" indent="-171450" algn="l" defTabSz="914400" rtl="0" eaLnBrk="1" latinLnBrk="1" hangingPunct="1">
                        <a:lnSpc>
                          <a:spcPct val="110000"/>
                        </a:lnSpc>
                        <a:spcAft>
                          <a:spcPts val="0"/>
                        </a:spcAft>
                        <a:buFont typeface="Wingdings" panose="05000000000000000000" pitchFamily="2" charset="2"/>
                        <a:buChar char="§"/>
                        <a:tabLst>
                          <a:tab pos="914400" algn="l"/>
                        </a:tabLst>
                      </a:pPr>
                      <a:r>
                        <a:rPr lang="ko-KR" sz="1000" kern="1200" dirty="0">
                          <a:solidFill>
                            <a:schemeClr val="tx1"/>
                          </a:solidFill>
                          <a:effectLst/>
                          <a:latin typeface="+mn-ea"/>
                          <a:ea typeface="+mn-ea"/>
                          <a:cs typeface="Times New Roman" panose="02020603050405020304" pitchFamily="18" charset="0"/>
                        </a:rPr>
                        <a:t>이는 사실상 매수인에게 일방적인 </a:t>
                      </a:r>
                      <a:r>
                        <a:rPr lang="ko-KR" sz="1000" kern="1200" dirty="0" err="1">
                          <a:solidFill>
                            <a:schemeClr val="tx1"/>
                          </a:solidFill>
                          <a:effectLst/>
                          <a:latin typeface="+mn-ea"/>
                          <a:ea typeface="+mn-ea"/>
                          <a:cs typeface="Times New Roman" panose="02020603050405020304" pitchFamily="18" charset="0"/>
                        </a:rPr>
                        <a:t>해지권</a:t>
                      </a:r>
                      <a:r>
                        <a:rPr lang="en-US" sz="1000" kern="1200" dirty="0">
                          <a:solidFill>
                            <a:schemeClr val="tx1"/>
                          </a:solidFill>
                          <a:effectLst/>
                          <a:latin typeface="+mn-ea"/>
                          <a:ea typeface="+mn-ea"/>
                          <a:cs typeface="Times New Roman" panose="02020603050405020304" pitchFamily="18" charset="0"/>
                        </a:rPr>
                        <a:t>(walk away right)</a:t>
                      </a:r>
                      <a:r>
                        <a:rPr lang="ko-KR" sz="1000" kern="1200" dirty="0">
                          <a:solidFill>
                            <a:schemeClr val="tx1"/>
                          </a:solidFill>
                          <a:effectLst/>
                          <a:latin typeface="+mn-ea"/>
                          <a:ea typeface="+mn-ea"/>
                          <a:cs typeface="Times New Roman" panose="02020603050405020304" pitchFamily="18" charset="0"/>
                        </a:rPr>
                        <a:t>을 부여하는 조항이 될 수 있으므로 매도인 입장에서는</a:t>
                      </a:r>
                      <a:r>
                        <a:rPr lang="en-US" sz="1000" kern="1200" dirty="0">
                          <a:solidFill>
                            <a:schemeClr val="tx1"/>
                          </a:solidFill>
                          <a:effectLst/>
                          <a:latin typeface="+mn-ea"/>
                          <a:ea typeface="+mn-ea"/>
                          <a:cs typeface="Times New Roman" panose="02020603050405020304" pitchFamily="18" charset="0"/>
                        </a:rPr>
                        <a:t> push back </a:t>
                      </a:r>
                      <a:r>
                        <a:rPr lang="ko-KR" sz="1000" kern="1200" dirty="0">
                          <a:solidFill>
                            <a:schemeClr val="tx1"/>
                          </a:solidFill>
                          <a:effectLst/>
                          <a:latin typeface="+mn-ea"/>
                          <a:ea typeface="+mn-ea"/>
                          <a:cs typeface="Times New Roman" panose="02020603050405020304" pitchFamily="18" charset="0"/>
                        </a:rPr>
                        <a:t>하려 할 가능성이 높음</a:t>
                      </a:r>
                    </a:p>
                    <a:p>
                      <a:pPr marL="447675" lvl="0" indent="-171450" algn="l" latinLnBrk="1">
                        <a:lnSpc>
                          <a:spcPct val="110000"/>
                        </a:lnSpc>
                        <a:spcAft>
                          <a:spcPts val="0"/>
                        </a:spcAft>
                        <a:buFont typeface="Wingdings" panose="05000000000000000000" pitchFamily="2" charset="2"/>
                        <a:buChar char="§"/>
                        <a:tabLst>
                          <a:tab pos="914400" algn="l"/>
                        </a:tabLst>
                      </a:pPr>
                      <a:r>
                        <a:rPr lang="ko-KR" sz="1000" dirty="0">
                          <a:solidFill>
                            <a:schemeClr val="tx1"/>
                          </a:solidFill>
                          <a:effectLst/>
                          <a:latin typeface="+mn-ea"/>
                          <a:ea typeface="+mn-ea"/>
                          <a:cs typeface="Times New Roman" panose="02020603050405020304" pitchFamily="18" charset="0"/>
                        </a:rPr>
                        <a:t>주로 매수인이 사모펀드</a:t>
                      </a:r>
                      <a:r>
                        <a:rPr lang="en-US" sz="1000" dirty="0">
                          <a:solidFill>
                            <a:schemeClr val="tx1"/>
                          </a:solidFill>
                          <a:effectLst/>
                          <a:latin typeface="+mn-ea"/>
                          <a:ea typeface="+mn-ea"/>
                          <a:cs typeface="Times New Roman" panose="02020603050405020304" pitchFamily="18" charset="0"/>
                        </a:rPr>
                        <a:t>(</a:t>
                      </a:r>
                      <a:r>
                        <a:rPr lang="en-US" sz="1000" dirty="0" smtClean="0">
                          <a:solidFill>
                            <a:schemeClr val="tx1"/>
                          </a:solidFill>
                          <a:effectLst/>
                          <a:latin typeface="+mn-ea"/>
                          <a:ea typeface="+mn-ea"/>
                          <a:cs typeface="Times New Roman" panose="02020603050405020304" pitchFamily="18" charset="0"/>
                        </a:rPr>
                        <a:t>Private Equity)</a:t>
                      </a:r>
                      <a:r>
                        <a:rPr lang="ko-KR" sz="1000" dirty="0">
                          <a:solidFill>
                            <a:schemeClr val="tx1"/>
                          </a:solidFill>
                          <a:effectLst/>
                          <a:latin typeface="+mn-ea"/>
                          <a:ea typeface="+mn-ea"/>
                          <a:cs typeface="Times New Roman" panose="02020603050405020304" pitchFamily="18" charset="0"/>
                        </a:rPr>
                        <a:t>가 설</a:t>
                      </a:r>
                      <a:r>
                        <a:rPr lang="ko-KR" sz="1000" dirty="0">
                          <a:effectLst/>
                          <a:latin typeface="+mn-ea"/>
                          <a:ea typeface="+mn-ea"/>
                          <a:cs typeface="Times New Roman" panose="02020603050405020304" pitchFamily="18" charset="0"/>
                        </a:rPr>
                        <a:t>립한 특수목적법인</a:t>
                      </a:r>
                      <a:r>
                        <a:rPr lang="en-US" sz="1000" dirty="0">
                          <a:effectLst/>
                          <a:latin typeface="+mn-ea"/>
                          <a:ea typeface="+mn-ea"/>
                          <a:cs typeface="Times New Roman" panose="02020603050405020304" pitchFamily="18" charset="0"/>
                        </a:rPr>
                        <a:t>(SPC)</a:t>
                      </a:r>
                      <a:r>
                        <a:rPr lang="ko-KR" sz="1000" dirty="0">
                          <a:effectLst/>
                          <a:latin typeface="+mn-ea"/>
                          <a:ea typeface="+mn-ea"/>
                          <a:cs typeface="Times New Roman" panose="02020603050405020304" pitchFamily="18" charset="0"/>
                        </a:rPr>
                        <a:t>인 경우에 요구됨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l" fontAlgn="base">
                        <a:lnSpc>
                          <a:spcPct val="110000"/>
                        </a:lnSpc>
                        <a:spcAft>
                          <a:spcPts val="0"/>
                        </a:spcAft>
                        <a:buFont typeface="Times New Roman" panose="02020603050405020304" pitchFamily="18" charset="0"/>
                        <a:buNone/>
                        <a:tabLst>
                          <a:tab pos="2176145" algn="l"/>
                        </a:tabLst>
                      </a:pPr>
                      <a:r>
                        <a:rPr lang="en-US" sz="1000" u="none" strike="noStrike" kern="0" spc="0" dirty="0" smtClean="0">
                          <a:ln>
                            <a:noFill/>
                          </a:ln>
                          <a:effectLst>
                            <a:glow>
                              <a:srgbClr val="000000"/>
                            </a:glow>
                            <a:reflection stA="0" endPos="0" fadeDir="0" sx="0" sy="0"/>
                          </a:effectLst>
                          <a:latin typeface="+mn-ea"/>
                          <a:ea typeface="+mn-ea"/>
                        </a:rPr>
                        <a:t>N/A</a:t>
                      </a:r>
                      <a:endParaRPr lang="ko-KR" sz="1000" u="none" dirty="0">
                        <a:effectLst>
                          <a:glow>
                            <a:srgbClr val="000000"/>
                          </a:glow>
                          <a:reflection stA="0" endPos="0" fadeDir="0" sx="0" s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3. Other</a:t>
            </a:r>
            <a:endParaRPr lang="ko-KR" altLang="en-US" dirty="0">
              <a:latin typeface="+mn-ea"/>
              <a:ea typeface="+mn-ea"/>
            </a:endParaRPr>
          </a:p>
        </p:txBody>
      </p:sp>
    </p:spTree>
    <p:extLst>
      <p:ext uri="{BB962C8B-B14F-4D97-AF65-F5344CB8AC3E}">
        <p14:creationId xmlns:p14="http://schemas.microsoft.com/office/powerpoint/2010/main" val="34294766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160200210"/>
              </p:ext>
            </p:extLst>
          </p:nvPr>
        </p:nvGraphicFramePr>
        <p:xfrm>
          <a:off x="439738" y="1031875"/>
          <a:ext cx="9188450" cy="275681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27000" indent="-127000" algn="l" latinLnBrk="1">
                        <a:lnSpc>
                          <a:spcPct val="110000"/>
                        </a:lnSpc>
                        <a:spcAft>
                          <a:spcPts val="0"/>
                        </a:spcAft>
                      </a:pPr>
                      <a:r>
                        <a:rPr lang="ko-KR" altLang="en-US" sz="1000" dirty="0" smtClean="0">
                          <a:effectLst/>
                          <a:latin typeface="+mn-ea"/>
                          <a:ea typeface="+mn-ea"/>
                          <a:cs typeface="Times New Roman" panose="02020603050405020304" pitchFamily="18" charset="0"/>
                        </a:rPr>
                        <a:t>손해배상 및 그 제한에 관해 기재함</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70691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altLang="en-US" sz="1000" dirty="0" smtClean="0">
                          <a:effectLst/>
                          <a:latin typeface="+mn-ea"/>
                          <a:ea typeface="+mn-ea"/>
                          <a:cs typeface="바탕" panose="02030600000101010101" pitchFamily="18" charset="-127"/>
                        </a:rPr>
                        <a:t>손해배상에 있어 광범위하고 간략한 손해배상 조항을 두는 경우도 존재하나</a:t>
                      </a:r>
                      <a:r>
                        <a:rPr lang="en-US" altLang="ko-KR" sz="1000" dirty="0" smtClean="0">
                          <a:effectLst/>
                          <a:latin typeface="+mn-ea"/>
                          <a:ea typeface="+mn-ea"/>
                          <a:cs typeface="바탕" panose="02030600000101010101" pitchFamily="18" charset="-127"/>
                        </a:rPr>
                        <a:t>, </a:t>
                      </a:r>
                      <a:r>
                        <a:rPr lang="ko-KR" altLang="en-US" sz="1000" dirty="0" smtClean="0">
                          <a:effectLst/>
                          <a:latin typeface="+mn-ea"/>
                          <a:ea typeface="+mn-ea"/>
                          <a:cs typeface="바탕" panose="02030600000101010101" pitchFamily="18" charset="-127"/>
                        </a:rPr>
                        <a:t>표준 </a:t>
                      </a:r>
                      <a:r>
                        <a:rPr lang="en-US" altLang="ko-KR" sz="1000" dirty="0" smtClean="0">
                          <a:effectLst/>
                          <a:latin typeface="+mn-ea"/>
                          <a:ea typeface="+mn-ea"/>
                          <a:cs typeface="바탕" panose="02030600000101010101" pitchFamily="18" charset="-127"/>
                        </a:rPr>
                        <a:t>SPA</a:t>
                      </a:r>
                      <a:r>
                        <a:rPr lang="ko-KR" altLang="en-US" sz="1000" dirty="0" smtClean="0">
                          <a:effectLst/>
                          <a:latin typeface="+mn-ea"/>
                          <a:ea typeface="+mn-ea"/>
                          <a:cs typeface="바탕" panose="02030600000101010101" pitchFamily="18" charset="-127"/>
                        </a:rPr>
                        <a:t>와 같이 손해배상의 제한 사항들을 규정하는 것이 법인 간 주식매매계약에서는 통상인 관행으로 보임</a:t>
                      </a:r>
                      <a:r>
                        <a:rPr lang="en-US" altLang="ko-KR" sz="1000" dirty="0" smtClean="0">
                          <a:effectLst/>
                          <a:latin typeface="+mn-ea"/>
                          <a:ea typeface="+mn-ea"/>
                          <a:cs typeface="바탕" panose="02030600000101010101" pitchFamily="18" charset="-127"/>
                        </a:rPr>
                        <a:t>. </a:t>
                      </a:r>
                    </a:p>
                    <a:p>
                      <a:pPr marL="171450" indent="-171450" algn="l" latinLnBrk="1">
                        <a:lnSpc>
                          <a:spcPct val="110000"/>
                        </a:lnSpc>
                        <a:spcAft>
                          <a:spcPts val="0"/>
                        </a:spcAft>
                        <a:buFont typeface="Wingdings" panose="05000000000000000000" pitchFamily="2" charset="2"/>
                        <a:buChar char="§"/>
                      </a:pPr>
                      <a:r>
                        <a:rPr lang="ko-KR" altLang="en-US" sz="1000" dirty="0" smtClean="0">
                          <a:effectLst/>
                          <a:latin typeface="+mn-ea"/>
                          <a:ea typeface="+mn-ea"/>
                          <a:cs typeface="바탕" panose="02030600000101010101" pitchFamily="18" charset="-127"/>
                        </a:rPr>
                        <a:t>다만</a:t>
                      </a:r>
                      <a:r>
                        <a:rPr lang="en-US" altLang="ko-KR" sz="1000" dirty="0" smtClean="0">
                          <a:effectLst/>
                          <a:latin typeface="+mn-ea"/>
                          <a:ea typeface="+mn-ea"/>
                          <a:cs typeface="바탕" panose="02030600000101010101" pitchFamily="18" charset="-127"/>
                        </a:rPr>
                        <a:t>, </a:t>
                      </a:r>
                      <a:r>
                        <a:rPr lang="ko-KR" altLang="en-US" sz="1000" dirty="0" smtClean="0">
                          <a:effectLst/>
                          <a:latin typeface="+mn-ea"/>
                          <a:ea typeface="+mn-ea"/>
                          <a:cs typeface="바탕" panose="02030600000101010101" pitchFamily="18" charset="-127"/>
                        </a:rPr>
                        <a:t>손해배상의 제한이 되는 것은 </a:t>
                      </a:r>
                      <a:r>
                        <a:rPr lang="ko-KR" altLang="en-US" sz="1000" dirty="0" err="1" smtClean="0">
                          <a:effectLst/>
                          <a:latin typeface="+mn-ea"/>
                          <a:ea typeface="+mn-ea"/>
                          <a:cs typeface="바탕" panose="02030600000101010101" pitchFamily="18" charset="-127"/>
                        </a:rPr>
                        <a:t>진술보장에</a:t>
                      </a:r>
                      <a:r>
                        <a:rPr lang="ko-KR" altLang="en-US" sz="1000" dirty="0" smtClean="0">
                          <a:effectLst/>
                          <a:latin typeface="+mn-ea"/>
                          <a:ea typeface="+mn-ea"/>
                          <a:cs typeface="바탕" panose="02030600000101010101" pitchFamily="18" charset="-127"/>
                        </a:rPr>
                        <a:t> 따른 손해배상이고</a:t>
                      </a:r>
                      <a:r>
                        <a:rPr lang="en-US" altLang="ko-KR" sz="1000" dirty="0" smtClean="0">
                          <a:effectLst/>
                          <a:latin typeface="+mn-ea"/>
                          <a:ea typeface="+mn-ea"/>
                          <a:cs typeface="바탕" panose="02030600000101010101" pitchFamily="18" charset="-127"/>
                        </a:rPr>
                        <a:t>, </a:t>
                      </a:r>
                      <a:r>
                        <a:rPr lang="ko-KR" altLang="en-US" sz="1000" dirty="0" smtClean="0">
                          <a:effectLst/>
                          <a:latin typeface="+mn-ea"/>
                          <a:ea typeface="+mn-ea"/>
                          <a:cs typeface="바탕" panose="02030600000101010101" pitchFamily="18" charset="-127"/>
                        </a:rPr>
                        <a:t>본 계약상의 확약이나 진술 보장을 제외한 기타 의무를 위반하는 경우 또는 사기에 의한 진술보장 위반의 경우에는 원칙적으로 손해배상 제한을 적용하지 않고 있음</a:t>
                      </a:r>
                      <a:r>
                        <a:rPr lang="en-US" altLang="ko-KR" sz="1000" dirty="0" smtClean="0">
                          <a:effectLst/>
                          <a:latin typeface="+mn-ea"/>
                          <a:ea typeface="+mn-ea"/>
                          <a:cs typeface="바탕" panose="02030600000101010101" pitchFamily="18" charset="-127"/>
                        </a:rPr>
                        <a:t>. </a:t>
                      </a:r>
                      <a:r>
                        <a:rPr lang="ko-KR" altLang="en-US" sz="1000" dirty="0" smtClean="0">
                          <a:effectLst/>
                          <a:latin typeface="+mn-ea"/>
                          <a:ea typeface="+mn-ea"/>
                          <a:cs typeface="바탕" panose="02030600000101010101" pitchFamily="18" charset="-127"/>
                        </a:rPr>
                        <a:t>손해배상을 제한하는 방법으로는 기한에 대한 제한과 금액에 대한 제한이 존재하며</a:t>
                      </a:r>
                      <a:r>
                        <a:rPr lang="en-US" altLang="ko-KR" sz="1000" dirty="0" smtClean="0">
                          <a:effectLst/>
                          <a:latin typeface="+mn-ea"/>
                          <a:ea typeface="+mn-ea"/>
                          <a:cs typeface="바탕" panose="02030600000101010101" pitchFamily="18" charset="-127"/>
                        </a:rPr>
                        <a:t>, </a:t>
                      </a:r>
                      <a:r>
                        <a:rPr lang="ko-KR" altLang="en-US" sz="1000" dirty="0" smtClean="0">
                          <a:effectLst/>
                          <a:latin typeface="+mn-ea"/>
                          <a:ea typeface="+mn-ea"/>
                          <a:cs typeface="바탕" panose="02030600000101010101" pitchFamily="18" charset="-127"/>
                        </a:rPr>
                        <a:t>그밖에 매수인이 알고 있었던 사항에 대한 손해배상금지</a:t>
                      </a:r>
                      <a:r>
                        <a:rPr lang="en-US" altLang="ko-KR" sz="1000" dirty="0" smtClean="0">
                          <a:effectLst/>
                          <a:latin typeface="+mn-ea"/>
                          <a:ea typeface="+mn-ea"/>
                          <a:cs typeface="바탕" panose="02030600000101010101" pitchFamily="18" charset="-127"/>
                        </a:rPr>
                        <a:t>(</a:t>
                      </a:r>
                      <a:r>
                        <a:rPr lang="ko-KR" altLang="en-US" sz="1000" dirty="0" smtClean="0">
                          <a:effectLst/>
                          <a:latin typeface="+mn-ea"/>
                          <a:ea typeface="+mn-ea"/>
                          <a:cs typeface="바탕" panose="02030600000101010101" pitchFamily="18" charset="-127"/>
                        </a:rPr>
                        <a:t>이른바 ‘</a:t>
                      </a:r>
                      <a:r>
                        <a:rPr lang="en-US" altLang="ko-KR" sz="1000" dirty="0" smtClean="0">
                          <a:effectLst/>
                          <a:latin typeface="+mn-ea"/>
                          <a:ea typeface="+mn-ea"/>
                          <a:cs typeface="바탕" panose="02030600000101010101" pitchFamily="18" charset="-127"/>
                        </a:rPr>
                        <a:t>anti-sandbagging’) </a:t>
                      </a:r>
                      <a:r>
                        <a:rPr lang="ko-KR" altLang="en-US" sz="1000" dirty="0" smtClean="0">
                          <a:effectLst/>
                          <a:latin typeface="+mn-ea"/>
                          <a:ea typeface="+mn-ea"/>
                          <a:cs typeface="바탕" panose="02030600000101010101" pitchFamily="18" charset="-127"/>
                        </a:rPr>
                        <a:t>등의 방식으로 규정하고 있음</a:t>
                      </a:r>
                      <a:r>
                        <a:rPr lang="en-US" altLang="ko-KR" sz="1000" dirty="0" smtClean="0">
                          <a:effectLst/>
                          <a:latin typeface="+mn-ea"/>
                          <a:ea typeface="+mn-ea"/>
                          <a:cs typeface="바탕" panose="02030600000101010101" pitchFamily="18" charset="-127"/>
                        </a:rPr>
                        <a:t>.</a:t>
                      </a:r>
                    </a:p>
                    <a:p>
                      <a:pPr marL="171450" indent="-171450" algn="l" latinLnBrk="1">
                        <a:lnSpc>
                          <a:spcPct val="110000"/>
                        </a:lnSpc>
                        <a:spcAft>
                          <a:spcPts val="0"/>
                        </a:spcAft>
                        <a:buFont typeface="Wingdings" panose="05000000000000000000" pitchFamily="2" charset="2"/>
                        <a:buChar char="§"/>
                      </a:pPr>
                      <a:r>
                        <a:rPr lang="ko-KR" altLang="en-US" sz="1000" dirty="0" smtClean="0">
                          <a:effectLst/>
                          <a:latin typeface="+mn-ea"/>
                          <a:ea typeface="+mn-ea"/>
                          <a:cs typeface="바탕" panose="02030600000101010101" pitchFamily="18" charset="-127"/>
                        </a:rPr>
                        <a:t>또한 실사 당시 발견한 사항으로 거래종결 전후로 치유가 불가능하나 대상회사에 유의미한 손해가 발생할 수 있는 경우에는 특별손해배상</a:t>
                      </a:r>
                      <a:r>
                        <a:rPr lang="en-US" altLang="ko-KR" sz="1000" dirty="0" smtClean="0">
                          <a:effectLst/>
                          <a:latin typeface="+mn-ea"/>
                          <a:ea typeface="+mn-ea"/>
                          <a:cs typeface="바탕" panose="02030600000101010101" pitchFamily="18" charset="-127"/>
                        </a:rPr>
                        <a:t>(special indemnity)</a:t>
                      </a:r>
                      <a:r>
                        <a:rPr lang="ko-KR" altLang="en-US" sz="1000" dirty="0" smtClean="0">
                          <a:effectLst/>
                          <a:latin typeface="+mn-ea"/>
                          <a:ea typeface="+mn-ea"/>
                          <a:cs typeface="바탕" panose="02030600000101010101" pitchFamily="18" charset="-127"/>
                        </a:rPr>
                        <a:t>의 대상으로 하여 위의 손해배상 제한 규정이 적용되지 않도록 규정할 수도 있음</a:t>
                      </a:r>
                      <a:r>
                        <a:rPr lang="en-US" altLang="ko-KR" sz="1000" dirty="0" smtClean="0">
                          <a:effectLst/>
                          <a:latin typeface="+mn-ea"/>
                          <a:ea typeface="+mn-ea"/>
                          <a:cs typeface="바탕" panose="02030600000101010101" pitchFamily="18" charset="-127"/>
                        </a:rPr>
                        <a:t>.</a:t>
                      </a:r>
                      <a:endParaRPr lang="en-US" altLang="ko-KR" sz="1000" dirty="0">
                        <a:effectLst/>
                        <a:latin typeface="+mn-ea"/>
                        <a:ea typeface="+mn-ea"/>
                        <a:cs typeface="바탕" panose="02030600000101010101" pitchFamily="18" charset="-127"/>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ct val="110000"/>
                        </a:lnSpc>
                        <a:spcAft>
                          <a:spcPts val="0"/>
                        </a:spcAft>
                      </a:pPr>
                      <a:r>
                        <a:rPr lang="en-US" altLang="ko-KR" sz="1000" dirty="0" smtClean="0">
                          <a:effectLst/>
                          <a:latin typeface="+mn-ea"/>
                          <a:ea typeface="+mn-ea"/>
                          <a:cs typeface="Times New Roman" panose="02020603050405020304" pitchFamily="18" charset="0"/>
                        </a:rPr>
                        <a:t>N/A</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1. Overview</a:t>
            </a:r>
            <a:endParaRPr lang="ko-KR" altLang="en-US" dirty="0">
              <a:latin typeface="+mn-ea"/>
              <a:ea typeface="+mn-ea"/>
            </a:endParaRPr>
          </a:p>
        </p:txBody>
      </p:sp>
    </p:spTree>
    <p:extLst>
      <p:ext uri="{BB962C8B-B14F-4D97-AF65-F5344CB8AC3E}">
        <p14:creationId xmlns:p14="http://schemas.microsoft.com/office/powerpoint/2010/main" val="24791317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98070932"/>
              </p:ext>
            </p:extLst>
          </p:nvPr>
        </p:nvGraphicFramePr>
        <p:xfrm>
          <a:off x="439738" y="1031875"/>
          <a:ext cx="9188450" cy="263691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27000" indent="-127000" algn="l" latinLnBrk="1">
                        <a:lnSpc>
                          <a:spcPct val="110000"/>
                        </a:lnSpc>
                        <a:spcAft>
                          <a:spcPts val="0"/>
                        </a:spcAft>
                      </a:pPr>
                      <a:r>
                        <a:rPr lang="ko-KR" sz="1000">
                          <a:effectLst/>
                          <a:latin typeface="+mn-ea"/>
                          <a:ea typeface="+mn-ea"/>
                          <a:cs typeface="Times New Roman" panose="02020603050405020304" pitchFamily="18" charset="0"/>
                        </a:rPr>
                        <a:t>매도인이 매수인으로 하여금 진술보장보험을 가입하도록 요구하고 매수인이 이에 동의하여 진술보장보험에 가입한 경우</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58702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latinLnBrk="1">
                        <a:lnSpc>
                          <a:spcPct val="110000"/>
                        </a:lnSpc>
                        <a:spcAft>
                          <a:spcPts val="0"/>
                        </a:spcAft>
                        <a:buFont typeface="Wingdings" panose="05000000000000000000" pitchFamily="2" charset="2"/>
                        <a:buChar char="§"/>
                      </a:pPr>
                      <a:r>
                        <a:rPr lang="ko-KR" sz="1000" dirty="0">
                          <a:effectLst/>
                          <a:latin typeface="+mn-ea"/>
                          <a:ea typeface="+mn-ea"/>
                          <a:cs typeface="바탕" panose="02030600000101010101" pitchFamily="18" charset="-127"/>
                        </a:rPr>
                        <a:t>최근</a:t>
                      </a:r>
                      <a:r>
                        <a:rPr lang="ko-KR" sz="1000" dirty="0">
                          <a:effectLst/>
                          <a:latin typeface="+mn-ea"/>
                          <a:ea typeface="+mn-ea"/>
                          <a:cs typeface="Times New Roman" panose="02020603050405020304" pitchFamily="18" charset="0"/>
                        </a:rPr>
                        <a:t> 진술보장보험</a:t>
                      </a:r>
                      <a:r>
                        <a:rPr lang="en-US" sz="1000" dirty="0">
                          <a:effectLst/>
                          <a:latin typeface="+mn-ea"/>
                          <a:ea typeface="+mn-ea"/>
                          <a:cs typeface="Times New Roman" panose="02020603050405020304" pitchFamily="18" charset="0"/>
                        </a:rPr>
                        <a:t>(W&amp;I Insurance)</a:t>
                      </a:r>
                      <a:r>
                        <a:rPr lang="ko-KR" sz="1000" dirty="0">
                          <a:effectLst/>
                          <a:latin typeface="+mn-ea"/>
                          <a:ea typeface="+mn-ea"/>
                          <a:cs typeface="바탕" panose="02030600000101010101" pitchFamily="18" charset="-127"/>
                        </a:rPr>
                        <a:t>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사용이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늘어남에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따라</a:t>
                      </a:r>
                      <a:r>
                        <a:rPr lang="ko-KR" sz="1000" dirty="0">
                          <a:effectLst/>
                          <a:latin typeface="+mn-ea"/>
                          <a:ea typeface="+mn-ea"/>
                          <a:cs typeface="Times New Roman" panose="02020603050405020304" pitchFamily="18" charset="0"/>
                        </a:rPr>
                        <a:t> 진술보장보험</a:t>
                      </a:r>
                      <a:r>
                        <a:rPr lang="ko-KR" sz="1000" dirty="0">
                          <a:effectLst/>
                          <a:latin typeface="+mn-ea"/>
                          <a:ea typeface="+mn-ea"/>
                          <a:cs typeface="바탕" panose="02030600000101010101" pitchFamily="18" charset="-127"/>
                        </a:rPr>
                        <a:t>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가입하도록</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요구하는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매도인들이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늘어남</a:t>
                      </a:r>
                      <a:r>
                        <a:rPr lang="en-US" sz="1000" dirty="0">
                          <a:effectLst/>
                          <a:latin typeface="+mn-ea"/>
                          <a:ea typeface="+mn-ea"/>
                          <a:cs typeface="바탕" panose="02030600000101010101" pitchFamily="18" charset="-127"/>
                        </a:rPr>
                        <a:t>. </a:t>
                      </a:r>
                      <a:r>
                        <a:rPr lang="en-US" sz="1000" dirty="0">
                          <a:effectLst/>
                          <a:latin typeface="+mn-ea"/>
                          <a:ea typeface="+mn-ea"/>
                          <a:cs typeface="Times New Roman" panose="02020603050405020304" pitchFamily="18" charset="0"/>
                        </a:rPr>
                        <a:t>Global Markets &amp; Experts</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en-US" sz="1000" dirty="0">
                          <a:effectLst/>
                          <a:latin typeface="+mn-ea"/>
                          <a:ea typeface="+mn-ea"/>
                          <a:cs typeface="Times New Roman" panose="02020603050405020304" pitchFamily="18" charset="0"/>
                        </a:rPr>
                        <a:t> UK</a:t>
                      </a:r>
                      <a:r>
                        <a:rPr lang="ko-KR" sz="1000" dirty="0">
                          <a:effectLst/>
                          <a:latin typeface="+mn-ea"/>
                          <a:ea typeface="+mn-ea"/>
                          <a:cs typeface="바탕" panose="02030600000101010101" pitchFamily="18" charset="-127"/>
                        </a:rPr>
                        <a:t>에서는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전체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딜의</a:t>
                      </a:r>
                      <a:r>
                        <a:rPr lang="en-US" sz="1000" dirty="0">
                          <a:effectLst/>
                          <a:latin typeface="+mn-ea"/>
                          <a:ea typeface="+mn-ea"/>
                          <a:cs typeface="Times New Roman" panose="02020603050405020304" pitchFamily="18" charset="0"/>
                        </a:rPr>
                        <a:t> 56%, Western Europe</a:t>
                      </a:r>
                      <a:r>
                        <a:rPr lang="ko-KR" sz="1000" dirty="0">
                          <a:effectLst/>
                          <a:latin typeface="+mn-ea"/>
                          <a:ea typeface="+mn-ea"/>
                          <a:cs typeface="바탕" panose="02030600000101010101" pitchFamily="18" charset="-127"/>
                        </a:rPr>
                        <a:t>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전체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딜의</a:t>
                      </a:r>
                      <a:r>
                        <a:rPr lang="en-US" sz="1000" dirty="0">
                          <a:effectLst/>
                          <a:latin typeface="+mn-ea"/>
                          <a:ea typeface="+mn-ea"/>
                          <a:cs typeface="Times New Roman" panose="02020603050405020304" pitchFamily="18" charset="0"/>
                        </a:rPr>
                        <a:t> 40%, </a:t>
                      </a:r>
                      <a:r>
                        <a:rPr lang="ko-KR" sz="1000" dirty="0">
                          <a:effectLst/>
                          <a:latin typeface="+mn-ea"/>
                          <a:ea typeface="+mn-ea"/>
                          <a:cs typeface="바탕" panose="02030600000101010101" pitchFamily="18" charset="-127"/>
                        </a:rPr>
                        <a:t>북미의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전체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딜의</a:t>
                      </a:r>
                      <a:r>
                        <a:rPr lang="en-US" sz="1000" dirty="0">
                          <a:effectLst/>
                          <a:latin typeface="+mn-ea"/>
                          <a:ea typeface="+mn-ea"/>
                          <a:cs typeface="Times New Roman" panose="02020603050405020304" pitchFamily="18" charset="0"/>
                        </a:rPr>
                        <a:t> 33%, </a:t>
                      </a:r>
                      <a:r>
                        <a:rPr lang="ko-KR" sz="1000" dirty="0">
                          <a:effectLst/>
                          <a:latin typeface="+mn-ea"/>
                          <a:ea typeface="+mn-ea"/>
                          <a:cs typeface="바탕" panose="02030600000101010101" pitchFamily="18" charset="-127"/>
                        </a:rPr>
                        <a:t>아시아에서는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전체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딜의</a:t>
                      </a:r>
                      <a:r>
                        <a:rPr lang="en-US" sz="1000" dirty="0">
                          <a:effectLst/>
                          <a:latin typeface="+mn-ea"/>
                          <a:ea typeface="+mn-ea"/>
                          <a:cs typeface="Times New Roman" panose="02020603050405020304" pitchFamily="18" charset="0"/>
                        </a:rPr>
                        <a:t> 8%</a:t>
                      </a:r>
                      <a:r>
                        <a:rPr lang="ko-KR" sz="1000" dirty="0">
                          <a:effectLst/>
                          <a:latin typeface="+mn-ea"/>
                          <a:ea typeface="+mn-ea"/>
                          <a:cs typeface="바탕" panose="02030600000101010101" pitchFamily="18" charset="-127"/>
                        </a:rPr>
                        <a:t>에서</a:t>
                      </a:r>
                      <a:r>
                        <a:rPr lang="en-US" sz="1000" dirty="0">
                          <a:effectLst/>
                          <a:latin typeface="+mn-ea"/>
                          <a:ea typeface="+mn-ea"/>
                          <a:cs typeface="Times New Roman" panose="02020603050405020304" pitchFamily="18" charset="0"/>
                        </a:rPr>
                        <a:t> W&amp;I Insurance</a:t>
                      </a:r>
                      <a:r>
                        <a:rPr lang="ko-KR" sz="1000" dirty="0">
                          <a:effectLst/>
                          <a:latin typeface="+mn-ea"/>
                          <a:ea typeface="+mn-ea"/>
                          <a:cs typeface="바탕" panose="02030600000101010101" pitchFamily="18" charset="-127"/>
                        </a:rPr>
                        <a:t>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사용되었음</a:t>
                      </a:r>
                      <a:r>
                        <a:rPr lang="en-US" sz="1000" dirty="0" smtClean="0">
                          <a:effectLst/>
                          <a:latin typeface="+mn-ea"/>
                          <a:ea typeface="+mn-ea"/>
                          <a:cs typeface="바탕" panose="02030600000101010101" pitchFamily="18" charset="-127"/>
                        </a:rPr>
                        <a:t>.</a:t>
                      </a:r>
                      <a:r>
                        <a:rPr lang="en-US" sz="1000" dirty="0">
                          <a:effectLst/>
                          <a:latin typeface="+mn-ea"/>
                          <a:ea typeface="+mn-ea"/>
                          <a:cs typeface="바탕" panose="02030600000101010101" pitchFamily="18" charset="-127"/>
                        </a:rPr>
                        <a:t> </a:t>
                      </a:r>
                      <a:endParaRPr lang="ko-KR" sz="1000" dirty="0">
                        <a:effectLst/>
                        <a:latin typeface="+mn-ea"/>
                        <a:ea typeface="+mn-ea"/>
                        <a:cs typeface="Times New Roman" panose="02020603050405020304" pitchFamily="18" charset="0"/>
                      </a:endParaRPr>
                    </a:p>
                    <a:p>
                      <a:pPr marL="171450" indent="-171450" algn="l" latinLnBrk="1">
                        <a:lnSpc>
                          <a:spcPct val="110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당사자들이 진술보장보험에 가입한 경우</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손해가 발생하더라도 매수인은 원칙적으로 매도인에게 직접 손해배상을 청구할 수는 없고</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진술보장보험을 통해 손해를 전보 받게 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 입장에서는 진술보장보험으로 보장을 받지 못하는 부분에 대해 매도인에게 추가 손해배상을 할 수 있도록 하는 규정의 추가를 요구하는 것이 </a:t>
                      </a:r>
                      <a:r>
                        <a:rPr lang="ko-KR" sz="1000" dirty="0" err="1">
                          <a:effectLst/>
                          <a:latin typeface="+mn-ea"/>
                          <a:ea typeface="+mn-ea"/>
                          <a:cs typeface="Times New Roman" panose="02020603050405020304" pitchFamily="18" charset="0"/>
                        </a:rPr>
                        <a:t>합리적임</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관련</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예시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조항은 표준</a:t>
                      </a:r>
                      <a:r>
                        <a:rPr lang="en-US" sz="1000" dirty="0">
                          <a:effectLst/>
                          <a:latin typeface="+mn-ea"/>
                          <a:ea typeface="+mn-ea"/>
                          <a:cs typeface="바탕" panose="02030600000101010101" pitchFamily="18" charset="-127"/>
                        </a:rPr>
                        <a:t> SPA</a:t>
                      </a:r>
                      <a:r>
                        <a:rPr lang="en-US" sz="1000" dirty="0">
                          <a:effectLst/>
                          <a:latin typeface="+mn-ea"/>
                          <a:ea typeface="+mn-ea"/>
                          <a:cs typeface="Times New Roman" panose="02020603050405020304" pitchFamily="18" charset="0"/>
                        </a:rPr>
                        <a:t> </a:t>
                      </a:r>
                      <a:r>
                        <a:rPr lang="en-US" sz="1000" b="1" u="sng" dirty="0">
                          <a:effectLst/>
                          <a:latin typeface="+mn-ea"/>
                          <a:ea typeface="+mn-ea"/>
                          <a:cs typeface="Times New Roman" panose="02020603050405020304" pitchFamily="18" charset="0"/>
                        </a:rPr>
                        <a:t>Attachment 3</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참고하실</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있음</a:t>
                      </a:r>
                      <a:r>
                        <a:rPr lang="en-US" sz="1000" dirty="0">
                          <a:effectLst/>
                          <a:latin typeface="+mn-ea"/>
                          <a:ea typeface="+mn-ea"/>
                          <a:cs typeface="바탕" panose="02030600000101010101" pitchFamily="18" charset="-127"/>
                        </a:rPr>
                        <a:t>. </a:t>
                      </a:r>
                      <a:endParaRPr lang="en-US" sz="1000" dirty="0" smtClean="0">
                        <a:effectLst/>
                        <a:latin typeface="+mn-ea"/>
                        <a:ea typeface="+mn-ea"/>
                        <a:cs typeface="바탕" panose="02030600000101010101" pitchFamily="18" charset="-127"/>
                      </a:endParaRPr>
                    </a:p>
                    <a:p>
                      <a:pPr marL="171450" indent="-171450" algn="l" latinLnBrk="1">
                        <a:lnSpc>
                          <a:spcPct val="110000"/>
                        </a:lnSpc>
                        <a:spcAft>
                          <a:spcPts val="0"/>
                        </a:spcAft>
                        <a:buFont typeface="Wingdings" panose="05000000000000000000" pitchFamily="2" charset="2"/>
                        <a:buChar char="§"/>
                      </a:pPr>
                      <a:r>
                        <a:rPr lang="ko-KR" sz="1000" dirty="0" smtClean="0">
                          <a:effectLst/>
                          <a:latin typeface="+mn-ea"/>
                          <a:ea typeface="+mn-ea"/>
                          <a:cs typeface="Times New Roman" panose="02020603050405020304" pitchFamily="18" charset="0"/>
                        </a:rPr>
                        <a:t>진술보장보험 </a:t>
                      </a:r>
                      <a:r>
                        <a:rPr lang="ko-KR" sz="1000" dirty="0">
                          <a:effectLst/>
                          <a:latin typeface="+mn-ea"/>
                          <a:ea typeface="+mn-ea"/>
                          <a:cs typeface="Times New Roman" panose="02020603050405020304" pitchFamily="18" charset="0"/>
                        </a:rPr>
                        <a:t>가입과 관련한 보험료를 누가 </a:t>
                      </a:r>
                      <a:r>
                        <a:rPr lang="ko-KR" sz="1000" dirty="0" err="1">
                          <a:effectLst/>
                          <a:latin typeface="+mn-ea"/>
                          <a:ea typeface="+mn-ea"/>
                          <a:cs typeface="Times New Roman" panose="02020603050405020304" pitchFamily="18" charset="0"/>
                        </a:rPr>
                        <a:t>부담할지에</a:t>
                      </a:r>
                      <a:r>
                        <a:rPr lang="ko-KR" sz="1000" dirty="0">
                          <a:effectLst/>
                          <a:latin typeface="+mn-ea"/>
                          <a:ea typeface="+mn-ea"/>
                          <a:cs typeface="Times New Roman" panose="02020603050405020304" pitchFamily="18" charset="0"/>
                        </a:rPr>
                        <a:t> 관해 매도인과 합의 필요</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9947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ct val="110000"/>
                        </a:lnSpc>
                        <a:spcAft>
                          <a:spcPts val="0"/>
                        </a:spcAft>
                      </a:pPr>
                      <a:r>
                        <a:rPr lang="en-US" sz="1000" b="1" u="sng" dirty="0">
                          <a:effectLst/>
                          <a:latin typeface="+mn-ea"/>
                          <a:ea typeface="+mn-ea"/>
                          <a:cs typeface="Times New Roman" panose="02020603050405020304" pitchFamily="18" charset="0"/>
                        </a:rPr>
                        <a:t>Attachment 3</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참조</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2. W&amp;I Insurance </a:t>
            </a:r>
            <a:endParaRPr lang="ko-KR" altLang="en-US" dirty="0">
              <a:latin typeface="+mn-ea"/>
              <a:ea typeface="+mn-ea"/>
            </a:endParaRPr>
          </a:p>
        </p:txBody>
      </p:sp>
    </p:spTree>
    <p:extLst>
      <p:ext uri="{BB962C8B-B14F-4D97-AF65-F5344CB8AC3E}">
        <p14:creationId xmlns:p14="http://schemas.microsoft.com/office/powerpoint/2010/main" val="27223936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339928158"/>
              </p:ext>
            </p:extLst>
          </p:nvPr>
        </p:nvGraphicFramePr>
        <p:xfrm>
          <a:off x="439738" y="1031875"/>
          <a:ext cx="9188450" cy="443534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손해배상의 기간 제한에 관해 기재함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54618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당사자들이 합의한 바에 따라 달라지나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대체적으로</a:t>
                      </a:r>
                      <a:r>
                        <a:rPr lang="en-US" sz="1000" dirty="0">
                          <a:effectLst/>
                          <a:latin typeface="+mn-ea"/>
                          <a:ea typeface="+mn-ea"/>
                          <a:cs typeface="Times New Roman" panose="02020603050405020304" pitchFamily="18" charset="0"/>
                        </a:rPr>
                        <a:t> 6</a:t>
                      </a:r>
                      <a:r>
                        <a:rPr lang="ko-KR" sz="1000" dirty="0">
                          <a:effectLst/>
                          <a:latin typeface="+mn-ea"/>
                          <a:ea typeface="+mn-ea"/>
                          <a:cs typeface="Times New Roman" panose="02020603050405020304" pitchFamily="18" charset="0"/>
                        </a:rPr>
                        <a:t>개월 이상</a:t>
                      </a:r>
                      <a:r>
                        <a:rPr lang="en-US" sz="1000" dirty="0">
                          <a:effectLst/>
                          <a:latin typeface="+mn-ea"/>
                          <a:ea typeface="+mn-ea"/>
                          <a:cs typeface="Times New Roman" panose="02020603050405020304" pitchFamily="18" charset="0"/>
                        </a:rPr>
                        <a:t>, 5</a:t>
                      </a:r>
                      <a:r>
                        <a:rPr lang="ko-KR" sz="1000" dirty="0">
                          <a:effectLst/>
                          <a:latin typeface="+mn-ea"/>
                          <a:ea typeface="+mn-ea"/>
                          <a:cs typeface="Times New Roman" panose="02020603050405020304" pitchFamily="18" charset="0"/>
                        </a:rPr>
                        <a:t>년 미만의 기간으로 정해짐</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algn="l" latinLnBrk="1">
                        <a:lnSpc>
                          <a:spcPct val="110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a:lnSpc>
                          <a:spcPct val="110000"/>
                        </a:lnSpc>
                        <a:spcAft>
                          <a:spcPts val="0"/>
                        </a:spcAft>
                      </a:pPr>
                      <a:r>
                        <a:rPr lang="en-US" sz="1000" dirty="0">
                          <a:effectLst/>
                          <a:latin typeface="+mn-ea"/>
                          <a:ea typeface="+mn-ea"/>
                          <a:cs typeface="Times New Roman" panose="02020603050405020304" pitchFamily="18" charset="0"/>
                        </a:rPr>
                        <a:t>ABA Private Target Deal Points Study</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en-US" sz="1000" dirty="0">
                          <a:effectLst/>
                          <a:latin typeface="+mn-ea"/>
                          <a:ea typeface="+mn-ea"/>
                          <a:cs typeface="Times New Roman" panose="02020603050405020304" pitchFamily="18" charset="0"/>
                        </a:rPr>
                        <a:t> 12 – 18 </a:t>
                      </a:r>
                      <a:r>
                        <a:rPr lang="ko-KR" sz="1000" dirty="0">
                          <a:effectLst/>
                          <a:latin typeface="+mn-ea"/>
                          <a:ea typeface="+mn-ea"/>
                          <a:cs typeface="바탕" panose="02030600000101010101" pitchFamily="18" charset="-127"/>
                        </a:rPr>
                        <a:t>개월이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통상적이라고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하며</a:t>
                      </a:r>
                      <a:r>
                        <a:rPr lang="en-US" sz="1000" dirty="0">
                          <a:effectLst/>
                          <a:latin typeface="+mn-ea"/>
                          <a:ea typeface="+mn-ea"/>
                          <a:cs typeface="Times New Roman" panose="02020603050405020304" pitchFamily="18" charset="0"/>
                        </a:rPr>
                        <a:t>, Global Markets &amp; Experts</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북미가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평균</a:t>
                      </a:r>
                      <a:r>
                        <a:rPr lang="en-US" sz="1000" dirty="0">
                          <a:effectLst/>
                          <a:latin typeface="+mn-ea"/>
                          <a:ea typeface="+mn-ea"/>
                          <a:cs typeface="Times New Roman" panose="02020603050405020304" pitchFamily="18" charset="0"/>
                        </a:rPr>
                        <a:t> 12</a:t>
                      </a:r>
                      <a:r>
                        <a:rPr lang="ko-KR" sz="1000" dirty="0">
                          <a:effectLst/>
                          <a:latin typeface="+mn-ea"/>
                          <a:ea typeface="+mn-ea"/>
                          <a:cs typeface="바탕" panose="02030600000101010101" pitchFamily="18" charset="-127"/>
                        </a:rPr>
                        <a:t>개월로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가장</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짧고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아시아가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평균</a:t>
                      </a:r>
                      <a:r>
                        <a:rPr lang="en-US" sz="1000" dirty="0">
                          <a:effectLst/>
                          <a:latin typeface="+mn-ea"/>
                          <a:ea typeface="+mn-ea"/>
                          <a:cs typeface="Times New Roman" panose="02020603050405020304" pitchFamily="18" charset="0"/>
                        </a:rPr>
                        <a:t> 24</a:t>
                      </a:r>
                      <a:r>
                        <a:rPr lang="ko-KR" sz="1000" dirty="0">
                          <a:effectLst/>
                          <a:latin typeface="+mn-ea"/>
                          <a:ea typeface="+mn-ea"/>
                          <a:cs typeface="바탕" panose="02030600000101010101" pitchFamily="18" charset="-127"/>
                        </a:rPr>
                        <a:t>개월로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가장</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보임</a:t>
                      </a:r>
                      <a:r>
                        <a:rPr lang="en-US" sz="1000" dirty="0">
                          <a:effectLst/>
                          <a:latin typeface="+mn-ea"/>
                          <a:ea typeface="+mn-ea"/>
                          <a:cs typeface="바탕" panose="02030600000101010101" pitchFamily="18" charset="-127"/>
                        </a:rPr>
                        <a:t>.</a:t>
                      </a:r>
                      <a:endParaRPr lang="ko-KR" sz="1000" dirty="0">
                        <a:effectLst/>
                        <a:latin typeface="+mn-ea"/>
                        <a:ea typeface="+mn-ea"/>
                        <a:cs typeface="Times New Roman" panose="02020603050405020304" pitchFamily="18" charset="0"/>
                      </a:endParaRPr>
                    </a:p>
                    <a:p>
                      <a:pPr marL="0" indent="0" algn="l">
                        <a:lnSpc>
                          <a:spcPct val="110000"/>
                        </a:lnSpc>
                        <a:spcAft>
                          <a:spcPts val="0"/>
                        </a:spcAft>
                        <a:buFont typeface="Wingdings" panose="05000000000000000000" pitchFamily="2" charset="2"/>
                        <a:buNone/>
                      </a:pPr>
                      <a:endParaRPr lang="ko-KR" sz="1000" dirty="0">
                        <a:effectLst/>
                        <a:latin typeface="+mn-ea"/>
                        <a:ea typeface="+mn-ea"/>
                        <a:cs typeface="Times New Roman" panose="02020603050405020304" pitchFamily="18" charset="0"/>
                      </a:endParaRPr>
                    </a:p>
                    <a:p>
                      <a:pPr marL="342900" lvl="0" indent="-342900" algn="l">
                        <a:lnSpc>
                          <a:spcPct val="110000"/>
                        </a:lnSpc>
                        <a:spcAft>
                          <a:spcPts val="0"/>
                        </a:spcAft>
                        <a:buFont typeface="Wingdings" panose="05000000000000000000" pitchFamily="2" charset="2"/>
                        <a:buChar char="§"/>
                      </a:pPr>
                      <a:r>
                        <a:rPr lang="ko-KR" sz="1000" b="1" u="none" dirty="0">
                          <a:effectLst/>
                          <a:latin typeface="+mn-ea"/>
                          <a:ea typeface="+mn-ea"/>
                          <a:cs typeface="바탕" panose="02030600000101010101" pitchFamily="18" charset="-127"/>
                        </a:rPr>
                        <a:t>근본적</a:t>
                      </a:r>
                      <a:r>
                        <a:rPr lang="ko-KR" sz="1000" b="1" u="none" dirty="0">
                          <a:effectLst/>
                          <a:latin typeface="+mn-ea"/>
                          <a:ea typeface="+mn-ea"/>
                          <a:cs typeface="Times New Roman" panose="02020603050405020304" pitchFamily="18" charset="0"/>
                        </a:rPr>
                        <a:t> </a:t>
                      </a:r>
                      <a:r>
                        <a:rPr lang="ko-KR" sz="1000" b="1" u="none" dirty="0">
                          <a:effectLst/>
                          <a:latin typeface="+mn-ea"/>
                          <a:ea typeface="+mn-ea"/>
                          <a:cs typeface="바탕" panose="02030600000101010101" pitchFamily="18" charset="-127"/>
                        </a:rPr>
                        <a:t>진술보장</a:t>
                      </a:r>
                      <a:r>
                        <a:rPr lang="en-US" sz="1000" b="1" u="sng" dirty="0">
                          <a:effectLst/>
                          <a:latin typeface="+mn-ea"/>
                          <a:ea typeface="+mn-ea"/>
                          <a:cs typeface="바탕" panose="02030600000101010101" pitchFamily="18" charset="-127"/>
                        </a:rPr>
                        <a:t>:</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하기 표준</a:t>
                      </a:r>
                      <a:r>
                        <a:rPr lang="en-US" sz="1000" dirty="0">
                          <a:effectLst/>
                          <a:latin typeface="+mn-ea"/>
                          <a:ea typeface="+mn-ea"/>
                          <a:cs typeface="Times New Roman" panose="02020603050405020304" pitchFamily="18" charset="0"/>
                        </a:rPr>
                        <a:t> SPA</a:t>
                      </a:r>
                      <a:r>
                        <a:rPr lang="ko-KR" sz="1000" dirty="0">
                          <a:effectLst/>
                          <a:latin typeface="+mn-ea"/>
                          <a:ea typeface="+mn-ea"/>
                          <a:cs typeface="Times New Roman" panose="02020603050405020304" pitchFamily="18" charset="0"/>
                        </a:rPr>
                        <a:t>문구와 </a:t>
                      </a:r>
                      <a:r>
                        <a:rPr lang="ko-KR" sz="1000" dirty="0">
                          <a:effectLst/>
                          <a:latin typeface="+mn-ea"/>
                          <a:ea typeface="+mn-ea"/>
                          <a:cs typeface="바탕" panose="02030600000101010101" pitchFamily="18" charset="-127"/>
                        </a:rPr>
                        <a:t>같이</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없이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유효하게</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존속한다</a:t>
                      </a:r>
                      <a:r>
                        <a:rPr lang="en-US" sz="1000" dirty="0">
                          <a:effectLst/>
                          <a:latin typeface="+mn-ea"/>
                          <a:ea typeface="+mn-ea"/>
                          <a:cs typeface="Times New Roman" panose="02020603050405020304" pitchFamily="18" charset="0"/>
                        </a:rPr>
                        <a:t>’</a:t>
                      </a:r>
                      <a:r>
                        <a:rPr lang="ko-KR" sz="1000" dirty="0">
                          <a:effectLst/>
                          <a:latin typeface="+mn-ea"/>
                          <a:ea typeface="+mn-ea"/>
                          <a:cs typeface="바탕" panose="02030600000101010101" pitchFamily="18" charset="-127"/>
                        </a:rPr>
                        <a:t>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규정하는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있으나</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사례에서는</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법령이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허용하는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기간까지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존속한다고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규정하는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경우도</a:t>
                      </a:r>
                      <a:r>
                        <a:rPr lang="ko-KR" sz="1000" dirty="0">
                          <a:effectLst/>
                          <a:latin typeface="+mn-ea"/>
                          <a:ea typeface="+mn-ea"/>
                          <a:cs typeface="Times New Roman" panose="02020603050405020304" pitchFamily="18" charset="0"/>
                        </a:rPr>
                        <a:t> 있음</a:t>
                      </a:r>
                      <a:r>
                        <a:rPr lang="en-US" sz="1000" dirty="0">
                          <a:effectLst/>
                          <a:latin typeface="+mn-ea"/>
                          <a:ea typeface="+mn-ea"/>
                          <a:cs typeface="Times New Roman" panose="02020603050405020304" pitchFamily="18" charset="0"/>
                        </a:rPr>
                        <a:t>. Global Markets &amp; Experts</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없이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존속하는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경우는</a:t>
                      </a:r>
                      <a:r>
                        <a:rPr lang="en-US" sz="1000" dirty="0">
                          <a:effectLst/>
                          <a:latin typeface="+mn-ea"/>
                          <a:ea typeface="+mn-ea"/>
                          <a:cs typeface="Times New Roman" panose="02020603050405020304" pitchFamily="18" charset="0"/>
                        </a:rPr>
                        <a:t> 19%, 3-5</a:t>
                      </a:r>
                      <a:r>
                        <a:rPr lang="ko-KR" sz="1000" dirty="0">
                          <a:effectLst/>
                          <a:latin typeface="+mn-ea"/>
                          <a:ea typeface="+mn-ea"/>
                          <a:cs typeface="바탕" panose="02030600000101010101" pitchFamily="18" charset="-127"/>
                        </a:rPr>
                        <a:t>년이</a:t>
                      </a:r>
                      <a:r>
                        <a:rPr lang="en-US" sz="1000" dirty="0">
                          <a:effectLst/>
                          <a:latin typeface="+mn-ea"/>
                          <a:ea typeface="+mn-ea"/>
                          <a:cs typeface="Times New Roman" panose="02020603050405020304" pitchFamily="18" charset="0"/>
                        </a:rPr>
                        <a:t> 35%, 6</a:t>
                      </a:r>
                      <a:r>
                        <a:rPr lang="ko-KR" sz="1000" dirty="0">
                          <a:effectLst/>
                          <a:latin typeface="+mn-ea"/>
                          <a:ea typeface="+mn-ea"/>
                          <a:cs typeface="바탕" panose="02030600000101010101" pitchFamily="18" charset="-127"/>
                        </a:rPr>
                        <a:t>년보다</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기간이</a:t>
                      </a:r>
                      <a:r>
                        <a:rPr lang="en-US" sz="1000" dirty="0">
                          <a:effectLst/>
                          <a:latin typeface="+mn-ea"/>
                          <a:ea typeface="+mn-ea"/>
                          <a:cs typeface="Times New Roman" panose="02020603050405020304" pitchFamily="18" charset="0"/>
                        </a:rPr>
                        <a:t> 24%</a:t>
                      </a:r>
                      <a:r>
                        <a:rPr lang="ko-KR" sz="1000" dirty="0">
                          <a:effectLst/>
                          <a:latin typeface="+mn-ea"/>
                          <a:ea typeface="+mn-ea"/>
                          <a:cs typeface="바탕" panose="02030600000101010101" pitchFamily="18" charset="-127"/>
                        </a:rPr>
                        <a:t>라고</a:t>
                      </a:r>
                      <a:r>
                        <a:rPr lang="ko-KR" sz="1000" dirty="0">
                          <a:effectLst/>
                          <a:latin typeface="+mn-ea"/>
                          <a:ea typeface="+mn-ea"/>
                          <a:cs typeface="Times New Roman" panose="02020603050405020304" pitchFamily="18" charset="0"/>
                        </a:rPr>
                        <a:t> 함</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342900" lvl="0" indent="-342900" algn="l" latinLnBrk="1">
                        <a:lnSpc>
                          <a:spcPct val="110000"/>
                        </a:lnSpc>
                        <a:spcAft>
                          <a:spcPts val="0"/>
                        </a:spcAft>
                        <a:buFont typeface="Wingdings" panose="05000000000000000000" pitchFamily="2" charset="2"/>
                        <a:buChar char="§"/>
                      </a:pPr>
                      <a:r>
                        <a:rPr lang="ko-KR" sz="1000" b="1" u="none" dirty="0">
                          <a:effectLst/>
                          <a:latin typeface="+mn-ea"/>
                          <a:ea typeface="+mn-ea"/>
                          <a:cs typeface="바탕" panose="02030600000101010101" pitchFamily="18" charset="-127"/>
                        </a:rPr>
                        <a:t>근본적 진술보장 이외의 진술보장</a:t>
                      </a:r>
                      <a:r>
                        <a:rPr lang="en-US" sz="1000" b="1" dirty="0">
                          <a:effectLst/>
                          <a:latin typeface="+mn-ea"/>
                          <a:ea typeface="+mn-ea"/>
                          <a:cs typeface="바탕" panose="02030600000101010101" pitchFamily="18" charset="-127"/>
                        </a:rPr>
                        <a:t>: </a:t>
                      </a:r>
                      <a:r>
                        <a:rPr lang="ko-KR" sz="1000" dirty="0">
                          <a:effectLst/>
                          <a:latin typeface="+mn-ea"/>
                          <a:ea typeface="+mn-ea"/>
                          <a:cs typeface="바탕" panose="02030600000101010101" pitchFamily="18" charset="-127"/>
                        </a:rPr>
                        <a:t>기타 인사노무</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조세</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환경</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보건</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안전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관련</a:t>
                      </a:r>
                      <a:r>
                        <a:rPr lang="ko-KR" sz="1000" dirty="0">
                          <a:effectLst/>
                          <a:latin typeface="+mn-ea"/>
                          <a:ea typeface="+mn-ea"/>
                          <a:cs typeface="Times New Roman" panose="02020603050405020304" pitchFamily="18" charset="0"/>
                        </a:rPr>
                        <a:t> </a:t>
                      </a:r>
                      <a:r>
                        <a:rPr lang="ko-KR" sz="1000" dirty="0" err="1" smtClean="0">
                          <a:effectLst/>
                          <a:latin typeface="+mn-ea"/>
                          <a:ea typeface="+mn-ea"/>
                          <a:cs typeface="바탕" panose="02030600000101010101" pitchFamily="18" charset="-127"/>
                        </a:rPr>
                        <a:t>진술보장의</a:t>
                      </a:r>
                      <a:r>
                        <a:rPr lang="ko-KR" sz="1000" dirty="0" smtClean="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대상회사에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금전적인</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손해가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발생할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있으며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각</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소멸시효</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내지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제척기간이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적용되므로</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그</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최종</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소멸시효</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내지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제척기간까지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존속하는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규정하거나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그보다</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짧은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기간으로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규정하는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있음</a:t>
                      </a:r>
                      <a:r>
                        <a:rPr lang="en-US" sz="1000" dirty="0">
                          <a:effectLst/>
                          <a:latin typeface="+mn-ea"/>
                          <a:ea typeface="+mn-ea"/>
                          <a:cs typeface="바탕" panose="02030600000101010101" pitchFamily="18" charset="-127"/>
                        </a:rPr>
                        <a:t>. </a:t>
                      </a:r>
                      <a:endParaRPr lang="ko-KR" sz="1000" dirty="0">
                        <a:effectLst/>
                        <a:latin typeface="+mn-ea"/>
                        <a:ea typeface="+mn-ea"/>
                        <a:cs typeface="Times New Roman" panose="02020603050405020304" pitchFamily="18" charset="0"/>
                      </a:endParaRPr>
                    </a:p>
                    <a:p>
                      <a:pPr marL="342900" lvl="0" indent="-342900" algn="l" latinLnBrk="1">
                        <a:lnSpc>
                          <a:spcPct val="110000"/>
                        </a:lnSpc>
                        <a:spcAft>
                          <a:spcPts val="0"/>
                        </a:spcAft>
                        <a:buFont typeface="Wingdings" panose="05000000000000000000" pitchFamily="2" charset="2"/>
                        <a:buChar char="§"/>
                      </a:pPr>
                      <a:r>
                        <a:rPr lang="ko-KR" sz="1000" b="1" dirty="0">
                          <a:effectLst/>
                          <a:latin typeface="+mn-ea"/>
                          <a:ea typeface="+mn-ea"/>
                          <a:cs typeface="Times New Roman" panose="02020603050405020304" pitchFamily="18" charset="0"/>
                        </a:rPr>
                        <a:t>확약</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확약에 대해서도 존속기간을 적용하는 경우가 있으나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확약은 매도인이 스스로의 의지에 의해 이행 여부를 선택할 수 있는 것이므로 매수인 입장에서는 가급적 존속기간을 두지 않도록 해야 </a:t>
                      </a:r>
                      <a:r>
                        <a:rPr lang="ko-KR" sz="1000" dirty="0" smtClean="0">
                          <a:effectLst/>
                          <a:latin typeface="+mn-ea"/>
                          <a:ea typeface="+mn-ea"/>
                          <a:cs typeface="Times New Roman" panose="02020603050405020304" pitchFamily="18" charset="0"/>
                        </a:rPr>
                        <a:t>함</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43874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l" fontAlgn="base">
                        <a:lnSpc>
                          <a:spcPct val="110000"/>
                        </a:lnSpc>
                        <a:spcAft>
                          <a:spcPts val="0"/>
                        </a:spcAft>
                        <a:buFont typeface="Times New Roman" panose="02020603050405020304" pitchFamily="18" charset="0"/>
                        <a:buNone/>
                        <a:tabLst>
                          <a:tab pos="2176145" algn="l"/>
                        </a:tabLst>
                      </a:pPr>
                      <a:r>
                        <a:rPr lang="en-US" sz="1000" u="sng" strike="noStrike" kern="0" spc="0" dirty="0" smtClean="0">
                          <a:ln>
                            <a:noFill/>
                          </a:ln>
                          <a:effectLst>
                            <a:glow>
                              <a:srgbClr val="000000"/>
                            </a:glow>
                            <a:outerShdw sx="0" sy="0">
                              <a:srgbClr val="000000"/>
                            </a:outerShdw>
                            <a:reflection stA="0" endPos="0" fadeDir="0" sx="0" sy="0"/>
                          </a:effectLst>
                          <a:latin typeface="+mn-ea"/>
                          <a:ea typeface="+mn-ea"/>
                        </a:rPr>
                        <a:t>Section 9.01. Survival</a:t>
                      </a:r>
                      <a:r>
                        <a:rPr lang="en-US" sz="1000" u="none" strike="noStrike" kern="0" spc="0" dirty="0">
                          <a:ln>
                            <a:noFill/>
                          </a:ln>
                          <a:effectLst>
                            <a:glow>
                              <a:srgbClr val="000000"/>
                            </a:glow>
                            <a:outerShdw sx="0" sy="0">
                              <a:srgbClr val="000000"/>
                            </a:outerShdw>
                            <a:reflection stA="0" endPos="0" fadeDir="0" sx="0" sy="0"/>
                          </a:effectLst>
                          <a:latin typeface="+mn-ea"/>
                          <a:ea typeface="+mn-ea"/>
                        </a:rPr>
                        <a:t>.  	</a:t>
                      </a:r>
                      <a:endParaRPr lang="ko-KR" sz="1000" u="none" strike="noStrike" kern="0" spc="0" dirty="0">
                        <a:ln>
                          <a:noFill/>
                        </a:ln>
                        <a:effectLst>
                          <a:glow>
                            <a:srgbClr val="000000"/>
                          </a:glow>
                          <a:outerShdw sx="0" sy="0">
                            <a:srgbClr val="000000"/>
                          </a:outerShdw>
                          <a:reflection stA="0" endPos="0" fadeDir="0" sx="0" sy="0"/>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The Fundamental Warranties shall survive the Closing indefinitely.	</a:t>
                      </a:r>
                      <a:endParaRPr lang="ko-KR" sz="10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The representations and warranties of the parties hereto contained in this Agreement shall survive the Closing for a period of [•] years from the Closing Date; </a:t>
                      </a:r>
                      <a:r>
                        <a:rPr lang="en-US" sz="1000" u="sng" strike="noStrike" dirty="0">
                          <a:ln>
                            <a:noFill/>
                          </a:ln>
                          <a:effectLst/>
                          <a:latin typeface="+mn-ea"/>
                          <a:ea typeface="+mn-ea"/>
                        </a:rPr>
                        <a:t>provided</a:t>
                      </a:r>
                      <a:r>
                        <a:rPr lang="en-US" sz="1000" u="none" strike="noStrike" dirty="0">
                          <a:ln>
                            <a:noFill/>
                          </a:ln>
                          <a:solidFill>
                            <a:srgbClr val="000000"/>
                          </a:solidFill>
                          <a:effectLst>
                            <a:outerShdw sx="0" sy="0">
                              <a:srgbClr val="000000"/>
                            </a:outerShdw>
                          </a:effectLst>
                          <a:latin typeface="+mn-ea"/>
                          <a:ea typeface="+mn-ea"/>
                        </a:rPr>
                        <a:t>, </a:t>
                      </a:r>
                      <a:r>
                        <a:rPr lang="en-US" sz="1000" u="sng" strike="noStrike" dirty="0">
                          <a:ln>
                            <a:noFill/>
                          </a:ln>
                          <a:effectLst/>
                          <a:latin typeface="+mn-ea"/>
                          <a:ea typeface="+mn-ea"/>
                        </a:rPr>
                        <a:t>however</a:t>
                      </a:r>
                      <a:r>
                        <a:rPr lang="en-US" sz="1000" u="none" strike="noStrike" dirty="0">
                          <a:ln>
                            <a:noFill/>
                          </a:ln>
                          <a:effectLst>
                            <a:outerShdw sx="0" sy="0">
                              <a:srgbClr val="000000"/>
                            </a:outerShdw>
                          </a:effectLst>
                          <a:latin typeface="+mn-ea"/>
                          <a:ea typeface="+mn-ea"/>
                        </a:rPr>
                        <a:t>, that (</a:t>
                      </a:r>
                      <a:r>
                        <a:rPr lang="en-US" sz="1000" u="none" strike="noStrike" dirty="0" err="1">
                          <a:ln>
                            <a:noFill/>
                          </a:ln>
                          <a:effectLst>
                            <a:outerShdw sx="0" sy="0">
                              <a:srgbClr val="000000"/>
                            </a:outerShdw>
                          </a:effectLst>
                          <a:latin typeface="+mn-ea"/>
                          <a:ea typeface="+mn-ea"/>
                        </a:rPr>
                        <a:t>i</a:t>
                      </a:r>
                      <a:r>
                        <a:rPr lang="en-US" sz="1000" u="none" strike="noStrike" dirty="0">
                          <a:ln>
                            <a:noFill/>
                          </a:ln>
                          <a:effectLst>
                            <a:outerShdw sx="0" sy="0">
                              <a:srgbClr val="000000"/>
                            </a:outerShdw>
                          </a:effectLst>
                          <a:latin typeface="+mn-ea"/>
                          <a:ea typeface="+mn-ea"/>
                        </a:rPr>
                        <a:t>) the representations and warranties contained in </a:t>
                      </a:r>
                      <a:r>
                        <a:rPr lang="en-US" sz="1000" u="sng" strike="noStrike" dirty="0">
                          <a:ln>
                            <a:noFill/>
                          </a:ln>
                          <a:effectLst>
                            <a:outerShdw sx="0" sy="0">
                              <a:srgbClr val="000000"/>
                            </a:outerShdw>
                          </a:effectLst>
                          <a:latin typeface="+mn-ea"/>
                          <a:ea typeface="+mn-ea"/>
                        </a:rPr>
                        <a:t>Sections 4.11 (Employee Benefit </a:t>
                      </a:r>
                      <a:r>
                        <a:rPr lang="en-US" sz="1000" u="sng" strike="noStrike" dirty="0" smtClean="0">
                          <a:ln>
                            <a:noFill/>
                          </a:ln>
                          <a:effectLst>
                            <a:outerShdw sx="0" sy="0">
                              <a:srgbClr val="000000"/>
                            </a:outerShdw>
                          </a:effectLst>
                          <a:latin typeface="+mn-ea"/>
                          <a:ea typeface="+mn-ea"/>
                        </a:rPr>
                        <a:t>Plans/ERISA</a:t>
                      </a:r>
                      <a:r>
                        <a:rPr lang="en-US" sz="1000" u="sng" dirty="0" smtClean="0">
                          <a:effectLst/>
                          <a:latin typeface="+mn-ea"/>
                          <a:ea typeface="+mn-ea"/>
                        </a:rPr>
                        <a:t>)</a:t>
                      </a:r>
                      <a:r>
                        <a:rPr lang="en-US" sz="1000" dirty="0" smtClean="0">
                          <a:effectLst/>
                          <a:latin typeface="+mn-ea"/>
                          <a:ea typeface="+mn-ea"/>
                        </a:rPr>
                        <a:t>, </a:t>
                      </a:r>
                      <a:r>
                        <a:rPr lang="en-US" sz="1000" u="sng" dirty="0">
                          <a:effectLst/>
                          <a:latin typeface="+mn-ea"/>
                          <a:ea typeface="+mn-ea"/>
                        </a:rPr>
                        <a:t>4.13 (Environmental Matters)</a:t>
                      </a:r>
                      <a:r>
                        <a:rPr lang="en-US" sz="1000" dirty="0">
                          <a:effectLst/>
                          <a:latin typeface="+mn-ea"/>
                          <a:ea typeface="+mn-ea"/>
                        </a:rPr>
                        <a:t>, and </a:t>
                      </a:r>
                      <a:r>
                        <a:rPr lang="en-US" sz="1000" u="sng" dirty="0">
                          <a:effectLst/>
                          <a:latin typeface="+mn-ea"/>
                          <a:ea typeface="+mn-ea"/>
                        </a:rPr>
                        <a:t>4.15 (Labor Matters)</a:t>
                      </a:r>
                      <a:r>
                        <a:rPr lang="en-US" sz="1000" dirty="0">
                          <a:effectLst/>
                          <a:latin typeface="+mn-ea"/>
                          <a:ea typeface="+mn-ea"/>
                        </a:rPr>
                        <a:t> shall survive the Closing for a period of [•] years from the Closing Date, and (iv) the representations and warranties contained in </a:t>
                      </a:r>
                      <a:r>
                        <a:rPr lang="en-US" sz="1000" u="sng" dirty="0">
                          <a:effectLst/>
                          <a:latin typeface="+mn-ea"/>
                          <a:ea typeface="+mn-ea"/>
                        </a:rPr>
                        <a:t>Section 4.18 (Taxes)</a:t>
                      </a:r>
                      <a:r>
                        <a:rPr lang="en-US" sz="1000" dirty="0">
                          <a:effectLst/>
                          <a:latin typeface="+mn-ea"/>
                          <a:ea typeface="+mn-ea"/>
                        </a:rPr>
                        <a:t> shall survive the Closing for [•] days after the expiration of the applicable statute of limitations</a:t>
                      </a:r>
                      <a:r>
                        <a:rPr lang="en-US" sz="1000" dirty="0" smtClean="0">
                          <a:effectLst/>
                          <a:latin typeface="+mn-ea"/>
                          <a:ea typeface="+mn-ea"/>
                        </a:rPr>
                        <a:t>.</a:t>
                      </a:r>
                      <a:r>
                        <a:rPr lang="en-US" sz="1000" b="1"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3. Survival Period </a:t>
            </a:r>
            <a:endParaRPr lang="ko-KR" altLang="en-US" dirty="0">
              <a:latin typeface="+mn-ea"/>
              <a:ea typeface="+mn-ea"/>
            </a:endParaRPr>
          </a:p>
        </p:txBody>
      </p:sp>
    </p:spTree>
    <p:extLst>
      <p:ext uri="{BB962C8B-B14F-4D97-AF65-F5344CB8AC3E}">
        <p14:creationId xmlns:p14="http://schemas.microsoft.com/office/powerpoint/2010/main" val="22827098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126974952"/>
              </p:ext>
            </p:extLst>
          </p:nvPr>
        </p:nvGraphicFramePr>
        <p:xfrm>
          <a:off x="439738" y="1031875"/>
          <a:ext cx="9188450" cy="527460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손해배상의 금액 제한에 관해 기재함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02576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ct val="110000"/>
                        </a:lnSpc>
                        <a:spcAft>
                          <a:spcPts val="0"/>
                        </a:spcAft>
                      </a:pPr>
                      <a:r>
                        <a:rPr lang="en-US" sz="1000" b="1" dirty="0">
                          <a:effectLst/>
                          <a:latin typeface="+mn-ea"/>
                          <a:ea typeface="+mn-ea"/>
                          <a:cs typeface="Times New Roman" panose="02020603050405020304" pitchFamily="18" charset="0"/>
                        </a:rPr>
                        <a:t>1. De-</a:t>
                      </a:r>
                      <a:r>
                        <a:rPr lang="en-US" sz="1000" b="1" dirty="0" err="1">
                          <a:effectLst/>
                          <a:latin typeface="+mn-ea"/>
                          <a:ea typeface="+mn-ea"/>
                          <a:cs typeface="Times New Roman" panose="02020603050405020304" pitchFamily="18" charset="0"/>
                        </a:rPr>
                        <a:t>minimis</a:t>
                      </a:r>
                      <a:endParaRPr lang="ko-KR" sz="1000" dirty="0">
                        <a:effectLst/>
                        <a:latin typeface="+mn-ea"/>
                        <a:ea typeface="+mn-ea"/>
                        <a:cs typeface="Times New Roman" panose="02020603050405020304" pitchFamily="18" charset="0"/>
                      </a:endParaRPr>
                    </a:p>
                    <a:p>
                      <a:pPr marL="447675" lvl="0" indent="-268288" algn="l">
                        <a:lnSpc>
                          <a:spcPct val="110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손해배상을 청구하기 위한 최소 기준 관련 규정으로</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최소 기준은 당사자들의 합의에 따라 달라지는데</a:t>
                      </a:r>
                      <a:r>
                        <a:rPr lang="en-US" sz="1000" dirty="0">
                          <a:effectLst/>
                          <a:latin typeface="+mn-ea"/>
                          <a:ea typeface="+mn-ea"/>
                          <a:cs typeface="Times New Roman" panose="02020603050405020304" pitchFamily="18" charset="0"/>
                        </a:rPr>
                        <a:t>, ABA Private Target Deal Points Study</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이러한</a:t>
                      </a:r>
                      <a:r>
                        <a:rPr lang="en-US" sz="1000" dirty="0">
                          <a:effectLst/>
                          <a:latin typeface="+mn-ea"/>
                          <a:ea typeface="+mn-ea"/>
                          <a:cs typeface="Times New Roman" panose="02020603050405020304" pitchFamily="18" charset="0"/>
                        </a:rPr>
                        <a:t> de </a:t>
                      </a:r>
                      <a:r>
                        <a:rPr lang="en-US" sz="1000" dirty="0" err="1">
                          <a:effectLst/>
                          <a:latin typeface="+mn-ea"/>
                          <a:ea typeface="+mn-ea"/>
                          <a:cs typeface="Times New Roman" panose="02020603050405020304" pitchFamily="18" charset="0"/>
                        </a:rPr>
                        <a:t>minimis</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제한이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없는</a:t>
                      </a:r>
                      <a:r>
                        <a:rPr lang="en-US" sz="1000" dirty="0">
                          <a:effectLst/>
                          <a:latin typeface="+mn-ea"/>
                          <a:ea typeface="+mn-ea"/>
                          <a:cs typeface="Times New Roman" panose="02020603050405020304" pitchFamily="18" charset="0"/>
                        </a:rPr>
                        <a:t> deal</a:t>
                      </a:r>
                      <a:r>
                        <a:rPr lang="ko-KR" sz="1000" dirty="0">
                          <a:effectLst/>
                          <a:latin typeface="+mn-ea"/>
                          <a:ea typeface="+mn-ea"/>
                          <a:cs typeface="바탕" panose="02030600000101010101" pitchFamily="18" charset="-127"/>
                        </a:rPr>
                        <a:t>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많고</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줄어들고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추세라고</a:t>
                      </a:r>
                      <a:r>
                        <a:rPr lang="ko-KR" sz="1000" dirty="0">
                          <a:effectLst/>
                          <a:latin typeface="+mn-ea"/>
                          <a:ea typeface="+mn-ea"/>
                          <a:cs typeface="Times New Roman" panose="02020603050405020304" pitchFamily="18" charset="0"/>
                        </a:rPr>
                        <a:t> 함</a:t>
                      </a:r>
                      <a:r>
                        <a:rPr lang="en-US" sz="1000" dirty="0">
                          <a:effectLst/>
                          <a:latin typeface="+mn-ea"/>
                          <a:ea typeface="+mn-ea"/>
                          <a:cs typeface="Times New Roman" panose="02020603050405020304" pitchFamily="18" charset="0"/>
                        </a:rPr>
                        <a:t>. Global Markets &amp; Experts</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따르면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가장</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일반적인</a:t>
                      </a:r>
                      <a:r>
                        <a:rPr lang="en-US" sz="1000" dirty="0">
                          <a:effectLst/>
                          <a:latin typeface="+mn-ea"/>
                          <a:ea typeface="+mn-ea"/>
                          <a:cs typeface="Times New Roman" panose="02020603050405020304" pitchFamily="18" charset="0"/>
                        </a:rPr>
                        <a:t> de </a:t>
                      </a:r>
                      <a:r>
                        <a:rPr lang="en-US" sz="1000" dirty="0" err="1">
                          <a:effectLst/>
                          <a:latin typeface="+mn-ea"/>
                          <a:ea typeface="+mn-ea"/>
                          <a:cs typeface="Times New Roman" panose="02020603050405020304" pitchFamily="18" charset="0"/>
                        </a:rPr>
                        <a:t>minimis</a:t>
                      </a:r>
                      <a:r>
                        <a:rPr lang="ko-KR" sz="1000" dirty="0">
                          <a:effectLst/>
                          <a:latin typeface="+mn-ea"/>
                          <a:ea typeface="+mn-ea"/>
                          <a:cs typeface="바탕" panose="02030600000101010101" pitchFamily="18" charset="-127"/>
                        </a:rPr>
                        <a:t>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가격의</a:t>
                      </a:r>
                      <a:r>
                        <a:rPr lang="en-US" sz="1000" dirty="0">
                          <a:effectLst/>
                          <a:latin typeface="+mn-ea"/>
                          <a:ea typeface="+mn-ea"/>
                          <a:cs typeface="Times New Roman" panose="02020603050405020304" pitchFamily="18" charset="0"/>
                        </a:rPr>
                        <a:t> 0.1%</a:t>
                      </a:r>
                      <a:r>
                        <a:rPr lang="ko-KR" sz="1000" dirty="0">
                          <a:effectLst/>
                          <a:latin typeface="+mn-ea"/>
                          <a:ea typeface="+mn-ea"/>
                          <a:cs typeface="바탕" panose="02030600000101010101" pitchFamily="18" charset="-127"/>
                        </a:rPr>
                        <a:t>라고</a:t>
                      </a:r>
                      <a:r>
                        <a:rPr lang="ko-KR" sz="1000" dirty="0">
                          <a:effectLst/>
                          <a:latin typeface="+mn-ea"/>
                          <a:ea typeface="+mn-ea"/>
                          <a:cs typeface="Times New Roman" panose="02020603050405020304" pitchFamily="18" charset="0"/>
                        </a:rPr>
                        <a:t> 함</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algn="l">
                        <a:lnSpc>
                          <a:spcPct val="110000"/>
                        </a:lnSpc>
                        <a:spcAft>
                          <a:spcPts val="0"/>
                        </a:spcAft>
                      </a:pPr>
                      <a:r>
                        <a:rPr lang="en-US" sz="1000" b="1" dirty="0">
                          <a:effectLst/>
                          <a:latin typeface="+mn-ea"/>
                          <a:ea typeface="+mn-ea"/>
                          <a:cs typeface="Times New Roman" panose="02020603050405020304" pitchFamily="18" charset="0"/>
                        </a:rPr>
                        <a:t>2. Basket</a:t>
                      </a:r>
                      <a:endParaRPr lang="ko-KR" sz="1000" dirty="0">
                        <a:effectLst/>
                        <a:latin typeface="+mn-ea"/>
                        <a:ea typeface="+mn-ea"/>
                        <a:cs typeface="Times New Roman" panose="02020603050405020304" pitchFamily="18" charset="0"/>
                      </a:endParaRPr>
                    </a:p>
                    <a:p>
                      <a:pPr marL="447675" lvl="0" indent="-268288" algn="l">
                        <a:lnSpc>
                          <a:spcPct val="110000"/>
                        </a:lnSpc>
                        <a:spcAft>
                          <a:spcPts val="0"/>
                        </a:spcAft>
                        <a:buFont typeface="Wingdings" panose="05000000000000000000" pitchFamily="2" charset="2"/>
                        <a:buChar char="§"/>
                      </a:pPr>
                      <a:r>
                        <a:rPr lang="ko-KR" sz="1000" dirty="0">
                          <a:effectLst/>
                          <a:latin typeface="+mn-ea"/>
                          <a:ea typeface="+mn-ea"/>
                          <a:cs typeface="바탕" panose="02030600000101010101" pitchFamily="18" charset="-127"/>
                        </a:rPr>
                        <a:t>최소 기준을 넘은 손해배상액을 합쳐 일정한 금액 이상이 되어야 비로소 손해배상을 청구할 수 있도록 </a:t>
                      </a:r>
                      <a:r>
                        <a:rPr lang="ko-KR" sz="1000" dirty="0">
                          <a:solidFill>
                            <a:schemeClr val="tx1"/>
                          </a:solidFill>
                          <a:effectLst/>
                          <a:latin typeface="+mn-ea"/>
                          <a:ea typeface="+mn-ea"/>
                          <a:cs typeface="바탕" panose="02030600000101010101" pitchFamily="18" charset="-127"/>
                        </a:rPr>
                        <a:t>하는 규정으로</a:t>
                      </a:r>
                      <a:r>
                        <a:rPr lang="en-US" sz="1000" dirty="0">
                          <a:solidFill>
                            <a:schemeClr val="tx1"/>
                          </a:solidFill>
                          <a:effectLst/>
                          <a:latin typeface="+mn-ea"/>
                          <a:ea typeface="+mn-ea"/>
                          <a:cs typeface="바탕" panose="02030600000101010101" pitchFamily="18" charset="-127"/>
                        </a:rPr>
                        <a:t>, </a:t>
                      </a:r>
                      <a:r>
                        <a:rPr lang="en-US" altLang="ko-KR" sz="1000" dirty="0" smtClean="0">
                          <a:solidFill>
                            <a:schemeClr val="tx1"/>
                          </a:solidFill>
                          <a:effectLst/>
                          <a:latin typeface="+mn-ea"/>
                          <a:ea typeface="+mn-ea"/>
                          <a:cs typeface="바탕" panose="02030600000101010101" pitchFamily="18" charset="-127"/>
                        </a:rPr>
                        <a:t>Basket</a:t>
                      </a:r>
                      <a:r>
                        <a:rPr lang="ko-KR" sz="1000" dirty="0" smtClean="0">
                          <a:solidFill>
                            <a:schemeClr val="tx1"/>
                          </a:solidFill>
                          <a:effectLst/>
                          <a:latin typeface="+mn-ea"/>
                          <a:ea typeface="+mn-ea"/>
                          <a:cs typeface="바탕" panose="02030600000101010101" pitchFamily="18" charset="-127"/>
                        </a:rPr>
                        <a:t> </a:t>
                      </a:r>
                      <a:r>
                        <a:rPr lang="ko-KR" sz="1000" dirty="0">
                          <a:solidFill>
                            <a:schemeClr val="tx1"/>
                          </a:solidFill>
                          <a:effectLst/>
                          <a:latin typeface="+mn-ea"/>
                          <a:ea typeface="+mn-ea"/>
                          <a:cs typeface="바탕" panose="02030600000101010101" pitchFamily="18" charset="-127"/>
                        </a:rPr>
                        <a:t>기준은 당사자들의 합의에 따라 달라지는데</a:t>
                      </a:r>
                      <a:r>
                        <a:rPr lang="en-US" sz="1000" dirty="0">
                          <a:solidFill>
                            <a:schemeClr val="tx1"/>
                          </a:solidFill>
                          <a:effectLst/>
                          <a:latin typeface="+mn-ea"/>
                          <a:ea typeface="+mn-ea"/>
                          <a:cs typeface="바탕" panose="02030600000101010101" pitchFamily="18" charset="-127"/>
                        </a:rPr>
                        <a:t>, </a:t>
                      </a:r>
                      <a:r>
                        <a:rPr lang="ko-KR" sz="1000" dirty="0">
                          <a:solidFill>
                            <a:schemeClr val="tx1"/>
                          </a:solidFill>
                          <a:effectLst/>
                          <a:latin typeface="+mn-ea"/>
                          <a:ea typeface="+mn-ea"/>
                          <a:cs typeface="바탕" panose="02030600000101010101" pitchFamily="18" charset="-127"/>
                        </a:rPr>
                        <a:t>표준</a:t>
                      </a:r>
                      <a:r>
                        <a:rPr lang="en-US" sz="1000" dirty="0">
                          <a:solidFill>
                            <a:schemeClr val="tx1"/>
                          </a:solidFill>
                          <a:effectLst/>
                          <a:latin typeface="+mn-ea"/>
                          <a:ea typeface="+mn-ea"/>
                          <a:cs typeface="바탕" panose="02030600000101010101" pitchFamily="18" charset="-127"/>
                        </a:rPr>
                        <a:t> SPA</a:t>
                      </a:r>
                      <a:r>
                        <a:rPr lang="ko-KR" sz="1000" dirty="0">
                          <a:solidFill>
                            <a:schemeClr val="tx1"/>
                          </a:solidFill>
                          <a:effectLst/>
                          <a:latin typeface="+mn-ea"/>
                          <a:ea typeface="+mn-ea"/>
                          <a:cs typeface="바탕" panose="02030600000101010101" pitchFamily="18" charset="-127"/>
                        </a:rPr>
                        <a:t>문구는</a:t>
                      </a:r>
                      <a:r>
                        <a:rPr lang="en-US" sz="1000" dirty="0">
                          <a:solidFill>
                            <a:schemeClr val="tx1"/>
                          </a:solidFill>
                          <a:effectLst/>
                          <a:latin typeface="+mn-ea"/>
                          <a:ea typeface="+mn-ea"/>
                          <a:cs typeface="Times New Roman" panose="02020603050405020304" pitchFamily="18" charset="0"/>
                        </a:rPr>
                        <a:t> </a:t>
                      </a:r>
                      <a:r>
                        <a:rPr lang="en-US" sz="1000" dirty="0" smtClean="0">
                          <a:solidFill>
                            <a:schemeClr val="tx1"/>
                          </a:solidFill>
                          <a:effectLst/>
                          <a:latin typeface="+mn-ea"/>
                          <a:ea typeface="+mn-ea"/>
                          <a:cs typeface="Times New Roman" panose="02020603050405020304" pitchFamily="18" charset="0"/>
                        </a:rPr>
                        <a:t>Basket</a:t>
                      </a:r>
                      <a:r>
                        <a:rPr lang="ko-KR" sz="1000" dirty="0">
                          <a:solidFill>
                            <a:schemeClr val="tx1"/>
                          </a:solidFill>
                          <a:effectLst/>
                          <a:latin typeface="+mn-ea"/>
                          <a:ea typeface="+mn-ea"/>
                          <a:cs typeface="바탕" panose="02030600000101010101" pitchFamily="18" charset="-127"/>
                        </a:rPr>
                        <a:t>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범위를</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초과하면</a:t>
                      </a:r>
                      <a:r>
                        <a:rPr lang="ko-KR" sz="1000" dirty="0">
                          <a:solidFill>
                            <a:schemeClr val="tx1"/>
                          </a:solidFill>
                          <a:effectLst/>
                          <a:latin typeface="+mn-ea"/>
                          <a:ea typeface="+mn-ea"/>
                          <a:cs typeface="Times New Roman" panose="02020603050405020304" pitchFamily="18" charset="0"/>
                        </a:rPr>
                        <a:t> </a:t>
                      </a:r>
                      <a:r>
                        <a:rPr lang="ko-KR" sz="1000" dirty="0" err="1">
                          <a:solidFill>
                            <a:schemeClr val="tx1"/>
                          </a:solidFill>
                          <a:effectLst/>
                          <a:latin typeface="+mn-ea"/>
                          <a:ea typeface="+mn-ea"/>
                          <a:cs typeface="Times New Roman" panose="02020603050405020304" pitchFamily="18" charset="0"/>
                        </a:rPr>
                        <a:t>초과분</a:t>
                      </a:r>
                      <a:r>
                        <a:rPr lang="ko-KR" sz="1000" dirty="0">
                          <a:solidFill>
                            <a:schemeClr val="tx1"/>
                          </a:solidFill>
                          <a:effectLst/>
                          <a:latin typeface="+mn-ea"/>
                          <a:ea typeface="+mn-ea"/>
                          <a:cs typeface="Times New Roman" panose="02020603050405020304" pitchFamily="18" charset="0"/>
                        </a:rPr>
                        <a:t> </a:t>
                      </a:r>
                      <a:r>
                        <a:rPr lang="ko-KR" sz="1000" dirty="0" smtClean="0">
                          <a:solidFill>
                            <a:schemeClr val="tx1"/>
                          </a:solidFill>
                          <a:effectLst/>
                          <a:latin typeface="+mn-ea"/>
                          <a:ea typeface="+mn-ea"/>
                          <a:cs typeface="Times New Roman" panose="02020603050405020304" pitchFamily="18" charset="0"/>
                        </a:rPr>
                        <a:t>뿐</a:t>
                      </a:r>
                      <a:r>
                        <a:rPr lang="ko-KR" altLang="en-US" sz="1000" dirty="0" smtClean="0">
                          <a:solidFill>
                            <a:schemeClr val="tx1"/>
                          </a:solidFill>
                          <a:effectLst/>
                          <a:latin typeface="+mn-ea"/>
                          <a:ea typeface="+mn-ea"/>
                          <a:cs typeface="Times New Roman" panose="02020603050405020304" pitchFamily="18" charset="0"/>
                        </a:rPr>
                        <a:t>만</a:t>
                      </a:r>
                      <a:r>
                        <a:rPr lang="ko-KR" sz="1000" dirty="0" smtClean="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Times New Roman" panose="02020603050405020304" pitchFamily="18" charset="0"/>
                        </a:rPr>
                        <a:t>아니라 </a:t>
                      </a:r>
                      <a:r>
                        <a:rPr lang="ko-KR" sz="1000" dirty="0">
                          <a:solidFill>
                            <a:schemeClr val="tx1"/>
                          </a:solidFill>
                          <a:effectLst/>
                          <a:latin typeface="+mn-ea"/>
                          <a:ea typeface="+mn-ea"/>
                          <a:cs typeface="바탕" panose="02030600000101010101" pitchFamily="18" charset="-127"/>
                        </a:rPr>
                        <a:t>모든</a:t>
                      </a:r>
                      <a:r>
                        <a:rPr lang="ko-KR" sz="1000" dirty="0">
                          <a:solidFill>
                            <a:schemeClr val="tx1"/>
                          </a:solidFill>
                          <a:effectLst/>
                          <a:latin typeface="+mn-ea"/>
                          <a:ea typeface="+mn-ea"/>
                          <a:cs typeface="Times New Roman" panose="02020603050405020304" pitchFamily="18" charset="0"/>
                        </a:rPr>
                        <a:t> </a:t>
                      </a:r>
                      <a:r>
                        <a:rPr lang="ko-KR" sz="1000" dirty="0" err="1">
                          <a:solidFill>
                            <a:schemeClr val="tx1"/>
                          </a:solidFill>
                          <a:effectLst/>
                          <a:latin typeface="+mn-ea"/>
                          <a:ea typeface="+mn-ea"/>
                          <a:cs typeface="바탕" panose="02030600000101010101" pitchFamily="18" charset="-127"/>
                        </a:rPr>
                        <a:t>손해금액을</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청구할</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있도록</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규정되어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있음</a:t>
                      </a:r>
                      <a:r>
                        <a:rPr lang="en-US" sz="1000" dirty="0">
                          <a:solidFill>
                            <a:schemeClr val="tx1"/>
                          </a:solidFill>
                          <a:effectLst/>
                          <a:latin typeface="+mn-ea"/>
                          <a:ea typeface="+mn-ea"/>
                          <a:cs typeface="바탕" panose="02030600000101010101" pitchFamily="18" charset="-127"/>
                        </a:rPr>
                        <a:t>(</a:t>
                      </a:r>
                      <a:r>
                        <a:rPr lang="ko-KR" sz="1000" dirty="0">
                          <a:solidFill>
                            <a:schemeClr val="tx1"/>
                          </a:solidFill>
                          <a:effectLst/>
                          <a:latin typeface="+mn-ea"/>
                          <a:ea typeface="+mn-ea"/>
                          <a:cs typeface="바탕" panose="02030600000101010101" pitchFamily="18" charset="-127"/>
                        </a:rPr>
                        <a:t>이른바</a:t>
                      </a:r>
                      <a:r>
                        <a:rPr lang="en-US" sz="1000" dirty="0">
                          <a:solidFill>
                            <a:schemeClr val="tx1"/>
                          </a:solidFill>
                          <a:effectLst/>
                          <a:latin typeface="+mn-ea"/>
                          <a:ea typeface="+mn-ea"/>
                          <a:cs typeface="Times New Roman" panose="02020603050405020304" pitchFamily="18" charset="0"/>
                        </a:rPr>
                        <a:t> tipping basket </a:t>
                      </a:r>
                      <a:r>
                        <a:rPr lang="ko-KR" sz="1000" dirty="0">
                          <a:solidFill>
                            <a:schemeClr val="tx1"/>
                          </a:solidFill>
                          <a:effectLst/>
                          <a:latin typeface="+mn-ea"/>
                          <a:ea typeface="+mn-ea"/>
                          <a:cs typeface="바탕" panose="02030600000101010101" pitchFamily="18" charset="-127"/>
                        </a:rPr>
                        <a:t>또는</a:t>
                      </a:r>
                      <a:r>
                        <a:rPr lang="en-US" sz="1000" dirty="0">
                          <a:solidFill>
                            <a:schemeClr val="tx1"/>
                          </a:solidFill>
                          <a:effectLst/>
                          <a:latin typeface="+mn-ea"/>
                          <a:ea typeface="+mn-ea"/>
                          <a:cs typeface="Times New Roman" panose="02020603050405020304" pitchFamily="18" charset="0"/>
                        </a:rPr>
                        <a:t> first dollar </a:t>
                      </a:r>
                      <a:r>
                        <a:rPr lang="ko-KR" sz="1000" dirty="0">
                          <a:solidFill>
                            <a:schemeClr val="tx1"/>
                          </a:solidFill>
                          <a:effectLst/>
                          <a:latin typeface="+mn-ea"/>
                          <a:ea typeface="+mn-ea"/>
                          <a:cs typeface="바탕" panose="02030600000101010101" pitchFamily="18" charset="-127"/>
                        </a:rPr>
                        <a:t>조항</a:t>
                      </a:r>
                      <a:r>
                        <a:rPr lang="en-US" sz="1000" dirty="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p>
                      <a:pPr marL="447675" lvl="0" indent="-268288" algn="l">
                        <a:lnSpc>
                          <a:spcPct val="110000"/>
                        </a:lnSpc>
                        <a:spcAft>
                          <a:spcPts val="0"/>
                        </a:spcAft>
                        <a:buFont typeface="Wingdings" panose="05000000000000000000" pitchFamily="2" charset="2"/>
                        <a:buChar char="§"/>
                      </a:pPr>
                      <a:r>
                        <a:rPr lang="ko-KR" sz="1000" dirty="0">
                          <a:solidFill>
                            <a:schemeClr val="tx1"/>
                          </a:solidFill>
                          <a:effectLst/>
                          <a:latin typeface="+mn-ea"/>
                          <a:ea typeface="+mn-ea"/>
                          <a:cs typeface="바탕" panose="02030600000101010101" pitchFamily="18" charset="-127"/>
                        </a:rPr>
                        <a:t>매도인</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입장에서는</a:t>
                      </a:r>
                      <a:r>
                        <a:rPr lang="en-US" sz="1000" dirty="0">
                          <a:solidFill>
                            <a:schemeClr val="tx1"/>
                          </a:solidFill>
                          <a:effectLst/>
                          <a:latin typeface="+mn-ea"/>
                          <a:ea typeface="+mn-ea"/>
                          <a:cs typeface="Times New Roman" panose="02020603050405020304" pitchFamily="18" charset="0"/>
                        </a:rPr>
                        <a:t> Basket</a:t>
                      </a:r>
                      <a:r>
                        <a:rPr lang="ko-KR" sz="1000" dirty="0">
                          <a:solidFill>
                            <a:schemeClr val="tx1"/>
                          </a:solidFill>
                          <a:effectLst/>
                          <a:latin typeface="+mn-ea"/>
                          <a:ea typeface="+mn-ea"/>
                          <a:cs typeface="바탕" panose="02030600000101010101" pitchFamily="18" charset="-127"/>
                        </a:rPr>
                        <a:t>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범위를</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초과하는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금액에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대해서만</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청구할</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있는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것을</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선호할</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수</a:t>
                      </a:r>
                      <a:r>
                        <a:rPr lang="ko-KR" sz="1000" dirty="0">
                          <a:solidFill>
                            <a:schemeClr val="tx1"/>
                          </a:solidFill>
                          <a:effectLst/>
                          <a:latin typeface="+mn-ea"/>
                          <a:ea typeface="+mn-ea"/>
                          <a:cs typeface="Times New Roman" panose="02020603050405020304" pitchFamily="18" charset="0"/>
                        </a:rPr>
                        <a:t> </a:t>
                      </a:r>
                      <a:r>
                        <a:rPr lang="ko-KR" sz="1000" dirty="0" smtClean="0">
                          <a:solidFill>
                            <a:schemeClr val="tx1"/>
                          </a:solidFill>
                          <a:effectLst/>
                          <a:latin typeface="+mn-ea"/>
                          <a:ea typeface="+mn-ea"/>
                          <a:cs typeface="바탕" panose="02030600000101010101" pitchFamily="18" charset="-127"/>
                        </a:rPr>
                        <a:t>있</a:t>
                      </a:r>
                      <a:r>
                        <a:rPr lang="ko-KR" altLang="en-US" sz="1000" dirty="0" smtClean="0">
                          <a:solidFill>
                            <a:schemeClr val="tx1"/>
                          </a:solidFill>
                          <a:effectLst/>
                          <a:latin typeface="+mn-ea"/>
                          <a:ea typeface="+mn-ea"/>
                          <a:cs typeface="바탕" panose="02030600000101010101" pitchFamily="18" charset="-127"/>
                        </a:rPr>
                        <a:t>음</a:t>
                      </a:r>
                      <a:r>
                        <a:rPr lang="en-US" sz="1000" dirty="0" smtClean="0">
                          <a:solidFill>
                            <a:schemeClr val="tx1"/>
                          </a:solidFill>
                          <a:effectLst/>
                          <a:latin typeface="+mn-ea"/>
                          <a:ea typeface="+mn-ea"/>
                          <a:cs typeface="Times New Roman" panose="02020603050405020304" pitchFamily="18" charset="0"/>
                        </a:rPr>
                        <a:t>(</a:t>
                      </a:r>
                      <a:r>
                        <a:rPr lang="ko-KR" sz="1000" dirty="0">
                          <a:solidFill>
                            <a:schemeClr val="tx1"/>
                          </a:solidFill>
                          <a:effectLst/>
                          <a:latin typeface="+mn-ea"/>
                          <a:ea typeface="+mn-ea"/>
                          <a:cs typeface="바탕" panose="02030600000101010101" pitchFamily="18" charset="-127"/>
                        </a:rPr>
                        <a:t>이른바</a:t>
                      </a:r>
                      <a:r>
                        <a:rPr lang="en-US" sz="1000" dirty="0">
                          <a:solidFill>
                            <a:schemeClr val="tx1"/>
                          </a:solidFill>
                          <a:effectLst/>
                          <a:latin typeface="+mn-ea"/>
                          <a:ea typeface="+mn-ea"/>
                          <a:cs typeface="Times New Roman" panose="02020603050405020304" pitchFamily="18" charset="0"/>
                        </a:rPr>
                        <a:t> deductible). ABA Private Target Deal Points Study</a:t>
                      </a:r>
                      <a:r>
                        <a:rPr lang="ko-KR" sz="1000" dirty="0">
                          <a:solidFill>
                            <a:schemeClr val="tx1"/>
                          </a:solidFill>
                          <a:effectLst/>
                          <a:latin typeface="+mn-ea"/>
                          <a:ea typeface="+mn-ea"/>
                          <a:cs typeface="바탕" panose="02030600000101010101" pitchFamily="18" charset="-127"/>
                        </a:rPr>
                        <a:t>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따르면</a:t>
                      </a:r>
                      <a:r>
                        <a:rPr lang="en-US" sz="1000" dirty="0">
                          <a:solidFill>
                            <a:schemeClr val="tx1"/>
                          </a:solidFill>
                          <a:effectLst/>
                          <a:latin typeface="+mn-ea"/>
                          <a:ea typeface="+mn-ea"/>
                          <a:cs typeface="Times New Roman" panose="02020603050405020304" pitchFamily="18" charset="0"/>
                        </a:rPr>
                        <a:t> Basket</a:t>
                      </a:r>
                      <a:r>
                        <a:rPr lang="ko-KR" sz="1000" dirty="0">
                          <a:solidFill>
                            <a:schemeClr val="tx1"/>
                          </a:solidFill>
                          <a:effectLst/>
                          <a:latin typeface="+mn-ea"/>
                          <a:ea typeface="+mn-ea"/>
                          <a:cs typeface="바탕" panose="02030600000101010101" pitchFamily="18" charset="-127"/>
                        </a:rPr>
                        <a:t>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가격의</a:t>
                      </a:r>
                      <a:r>
                        <a:rPr lang="en-US" sz="1000" dirty="0">
                          <a:solidFill>
                            <a:schemeClr val="tx1"/>
                          </a:solidFill>
                          <a:effectLst/>
                          <a:latin typeface="+mn-ea"/>
                          <a:ea typeface="+mn-ea"/>
                          <a:cs typeface="Times New Roman" panose="02020603050405020304" pitchFamily="18" charset="0"/>
                        </a:rPr>
                        <a:t> 1%</a:t>
                      </a:r>
                      <a:r>
                        <a:rPr lang="ko-KR" sz="1000" dirty="0">
                          <a:solidFill>
                            <a:schemeClr val="tx1"/>
                          </a:solidFill>
                          <a:effectLst/>
                          <a:latin typeface="+mn-ea"/>
                          <a:ea typeface="+mn-ea"/>
                          <a:cs typeface="바탕" panose="02030600000101010101" pitchFamily="18" charset="-127"/>
                        </a:rPr>
                        <a:t>를</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넘지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않는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것이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일반적이고</a:t>
                      </a:r>
                      <a:r>
                        <a:rPr lang="en-US"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그</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중에도</a:t>
                      </a:r>
                      <a:r>
                        <a:rPr lang="en-US" sz="1000" dirty="0">
                          <a:solidFill>
                            <a:schemeClr val="tx1"/>
                          </a:solidFill>
                          <a:effectLst/>
                          <a:latin typeface="+mn-ea"/>
                          <a:ea typeface="+mn-ea"/>
                          <a:cs typeface="Times New Roman" panose="02020603050405020304" pitchFamily="18" charset="0"/>
                        </a:rPr>
                        <a:t> 0.5%</a:t>
                      </a:r>
                      <a:r>
                        <a:rPr lang="ko-KR" sz="1000" dirty="0">
                          <a:solidFill>
                            <a:schemeClr val="tx1"/>
                          </a:solidFill>
                          <a:effectLst/>
                          <a:latin typeface="+mn-ea"/>
                          <a:ea typeface="+mn-ea"/>
                          <a:cs typeface="바탕" panose="02030600000101010101" pitchFamily="18" charset="-127"/>
                        </a:rPr>
                        <a:t>를</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넘지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않는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경우가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많다고</a:t>
                      </a:r>
                      <a:r>
                        <a:rPr lang="ko-KR" sz="1000" dirty="0">
                          <a:solidFill>
                            <a:schemeClr val="tx1"/>
                          </a:solidFill>
                          <a:effectLst/>
                          <a:latin typeface="+mn-ea"/>
                          <a:ea typeface="+mn-ea"/>
                          <a:cs typeface="Times New Roman" panose="02020603050405020304" pitchFamily="18" charset="0"/>
                        </a:rPr>
                        <a:t> 함</a:t>
                      </a:r>
                      <a:r>
                        <a:rPr lang="en-US" sz="1000" dirty="0">
                          <a:solidFill>
                            <a:schemeClr val="tx1"/>
                          </a:solidFill>
                          <a:effectLst/>
                          <a:latin typeface="+mn-ea"/>
                          <a:ea typeface="+mn-ea"/>
                          <a:cs typeface="Times New Roman" panose="02020603050405020304" pitchFamily="18" charset="0"/>
                        </a:rPr>
                        <a:t>. Global Markets &amp; Experts</a:t>
                      </a:r>
                      <a:r>
                        <a:rPr lang="ko-KR" sz="1000" dirty="0">
                          <a:solidFill>
                            <a:schemeClr val="tx1"/>
                          </a:solidFill>
                          <a:effectLst/>
                          <a:latin typeface="+mn-ea"/>
                          <a:ea typeface="+mn-ea"/>
                          <a:cs typeface="바탕" panose="02030600000101010101" pitchFamily="18" charset="-127"/>
                        </a:rPr>
                        <a:t>에서도</a:t>
                      </a:r>
                      <a:r>
                        <a:rPr lang="en-US" sz="1000" dirty="0">
                          <a:solidFill>
                            <a:schemeClr val="tx1"/>
                          </a:solidFill>
                          <a:effectLst/>
                          <a:latin typeface="+mn-ea"/>
                          <a:ea typeface="+mn-ea"/>
                          <a:cs typeface="Times New Roman" panose="02020603050405020304" pitchFamily="18" charset="0"/>
                        </a:rPr>
                        <a:t> 1% </a:t>
                      </a:r>
                      <a:r>
                        <a:rPr lang="ko-KR" sz="1000" dirty="0">
                          <a:solidFill>
                            <a:schemeClr val="tx1"/>
                          </a:solidFill>
                          <a:effectLst/>
                          <a:latin typeface="+mn-ea"/>
                          <a:ea typeface="+mn-ea"/>
                          <a:cs typeface="바탕" panose="02030600000101010101" pitchFamily="18" charset="-127"/>
                        </a:rPr>
                        <a:t>정도가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가장</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일반적인</a:t>
                      </a:r>
                      <a:r>
                        <a:rPr lang="en-US" sz="1000" dirty="0">
                          <a:solidFill>
                            <a:schemeClr val="tx1"/>
                          </a:solidFill>
                          <a:effectLst/>
                          <a:latin typeface="+mn-ea"/>
                          <a:ea typeface="+mn-ea"/>
                          <a:cs typeface="Times New Roman" panose="02020603050405020304" pitchFamily="18" charset="0"/>
                        </a:rPr>
                        <a:t> Basket</a:t>
                      </a:r>
                      <a:r>
                        <a:rPr lang="ko-KR" sz="1000" dirty="0">
                          <a:solidFill>
                            <a:schemeClr val="tx1"/>
                          </a:solidFill>
                          <a:effectLst/>
                          <a:latin typeface="+mn-ea"/>
                          <a:ea typeface="+mn-ea"/>
                          <a:cs typeface="바탕" panose="02030600000101010101" pitchFamily="18" charset="-127"/>
                        </a:rPr>
                        <a:t>이라고</a:t>
                      </a:r>
                      <a:r>
                        <a:rPr lang="ko-KR" sz="1000" dirty="0">
                          <a:solidFill>
                            <a:schemeClr val="tx1"/>
                          </a:solidFill>
                          <a:effectLst/>
                          <a:latin typeface="+mn-ea"/>
                          <a:ea typeface="+mn-ea"/>
                          <a:cs typeface="Times New Roman" panose="02020603050405020304" pitchFamily="18" charset="0"/>
                        </a:rPr>
                        <a:t> 함</a:t>
                      </a:r>
                      <a:r>
                        <a:rPr lang="en-US" sz="1000" dirty="0" smtClean="0">
                          <a:solidFill>
                            <a:schemeClr val="tx1"/>
                          </a:solidFill>
                          <a:effectLst/>
                          <a:latin typeface="+mn-ea"/>
                          <a:ea typeface="+mn-ea"/>
                          <a:cs typeface="Times New Roman" panose="02020603050405020304" pitchFamily="18" charset="0"/>
                        </a:rPr>
                        <a:t>.</a:t>
                      </a:r>
                      <a:endParaRPr lang="ko-KR" sz="1000" dirty="0">
                        <a:solidFill>
                          <a:schemeClr val="tx1"/>
                        </a:solidFill>
                        <a:effectLst/>
                        <a:latin typeface="+mn-ea"/>
                        <a:ea typeface="+mn-ea"/>
                        <a:cs typeface="Times New Roman" panose="02020603050405020304" pitchFamily="18" charset="0"/>
                      </a:endParaRPr>
                    </a:p>
                    <a:p>
                      <a:pPr algn="l"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3. Cap</a:t>
                      </a:r>
                      <a:endParaRPr lang="ko-KR" sz="1000" dirty="0">
                        <a:solidFill>
                          <a:schemeClr val="tx1"/>
                        </a:solidFill>
                        <a:effectLst/>
                        <a:latin typeface="+mn-ea"/>
                        <a:ea typeface="+mn-ea"/>
                        <a:cs typeface="Times New Roman" panose="02020603050405020304" pitchFamily="18" charset="0"/>
                      </a:endParaRPr>
                    </a:p>
                    <a:p>
                      <a:pPr marL="447675" lvl="0" indent="-268288" algn="l" latinLnBrk="1">
                        <a:lnSpc>
                          <a:spcPct val="110000"/>
                        </a:lnSpc>
                        <a:spcAft>
                          <a:spcPts val="0"/>
                        </a:spcAft>
                        <a:buFont typeface="Wingdings" panose="05000000000000000000" pitchFamily="2" charset="2"/>
                        <a:buChar char="§"/>
                      </a:pPr>
                      <a:r>
                        <a:rPr lang="ko-KR" sz="1000" dirty="0">
                          <a:solidFill>
                            <a:schemeClr val="tx1"/>
                          </a:solidFill>
                          <a:effectLst/>
                          <a:latin typeface="+mn-ea"/>
                          <a:ea typeface="+mn-ea"/>
                          <a:cs typeface="Times New Roman" panose="02020603050405020304" pitchFamily="18" charset="0"/>
                        </a:rPr>
                        <a:t>손해배상 청구 </a:t>
                      </a:r>
                      <a:r>
                        <a:rPr lang="ko-KR" altLang="en-US" sz="1000" dirty="0" smtClean="0">
                          <a:solidFill>
                            <a:schemeClr val="tx1"/>
                          </a:solidFill>
                          <a:effectLst/>
                          <a:latin typeface="+mn-ea"/>
                          <a:ea typeface="+mn-ea"/>
                          <a:cs typeface="Times New Roman" panose="02020603050405020304" pitchFamily="18" charset="0"/>
                        </a:rPr>
                        <a:t>한도</a:t>
                      </a:r>
                      <a:r>
                        <a:rPr lang="ko-KR" sz="1000" dirty="0" smtClean="0">
                          <a:solidFill>
                            <a:schemeClr val="tx1"/>
                          </a:solidFill>
                          <a:effectLst/>
                          <a:latin typeface="+mn-ea"/>
                          <a:ea typeface="+mn-ea"/>
                          <a:cs typeface="Times New Roman" panose="02020603050405020304" pitchFamily="18" charset="0"/>
                        </a:rPr>
                        <a:t>액</a:t>
                      </a:r>
                      <a:r>
                        <a:rPr lang="en-US" sz="1000" dirty="0">
                          <a:solidFill>
                            <a:schemeClr val="tx1"/>
                          </a:solidFill>
                          <a:effectLst/>
                          <a:latin typeface="+mn-ea"/>
                          <a:ea typeface="+mn-ea"/>
                          <a:cs typeface="Times New Roman" panose="02020603050405020304" pitchFamily="18" charset="0"/>
                        </a:rPr>
                        <a:t>(</a:t>
                      </a:r>
                      <a:r>
                        <a:rPr lang="ko-KR" sz="1000" dirty="0">
                          <a:solidFill>
                            <a:schemeClr val="tx1"/>
                          </a:solidFill>
                          <a:effectLst/>
                          <a:latin typeface="+mn-ea"/>
                          <a:ea typeface="+mn-ea"/>
                          <a:cs typeface="Times New Roman" panose="02020603050405020304" pitchFamily="18" charset="0"/>
                        </a:rPr>
                        <a:t>이른바 </a:t>
                      </a:r>
                      <a:r>
                        <a:rPr lang="en-US" sz="1000" dirty="0">
                          <a:solidFill>
                            <a:schemeClr val="tx1"/>
                          </a:solidFill>
                          <a:effectLst/>
                          <a:latin typeface="+mn-ea"/>
                          <a:ea typeface="+mn-ea"/>
                          <a:cs typeface="Times New Roman" panose="02020603050405020304" pitchFamily="18" charset="0"/>
                        </a:rPr>
                        <a:t>cap amount)</a:t>
                      </a:r>
                      <a:r>
                        <a:rPr lang="ko-KR" sz="1000" dirty="0">
                          <a:solidFill>
                            <a:schemeClr val="tx1"/>
                          </a:solidFill>
                          <a:effectLst/>
                          <a:latin typeface="+mn-ea"/>
                          <a:ea typeface="+mn-ea"/>
                          <a:cs typeface="Times New Roman" panose="02020603050405020304" pitchFamily="18" charset="0"/>
                        </a:rPr>
                        <a:t>에 관한 규정을 두는 것이 통상적임</a:t>
                      </a:r>
                      <a:r>
                        <a:rPr lang="en-US" sz="1000" dirty="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한도액</a:t>
                      </a:r>
                      <a:r>
                        <a:rPr lang="ko-KR" sz="1000" dirty="0" smtClean="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기준은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당사자들의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합의와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거래</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규모에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따라서</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많이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달라지는데</a:t>
                      </a:r>
                      <a:r>
                        <a:rPr lang="en-US" sz="1000" dirty="0">
                          <a:solidFill>
                            <a:schemeClr val="tx1"/>
                          </a:solidFill>
                          <a:effectLst/>
                          <a:latin typeface="+mn-ea"/>
                          <a:ea typeface="+mn-ea"/>
                          <a:cs typeface="Times New Roman" panose="02020603050405020304" pitchFamily="18" charset="0"/>
                        </a:rPr>
                        <a:t>, ABA Private Target Deal Points</a:t>
                      </a:r>
                      <a:r>
                        <a:rPr lang="ko-KR" sz="1000" dirty="0">
                          <a:solidFill>
                            <a:schemeClr val="tx1"/>
                          </a:solidFill>
                          <a:effectLst/>
                          <a:latin typeface="+mn-ea"/>
                          <a:ea typeface="+mn-ea"/>
                          <a:cs typeface="바탕" panose="02030600000101010101" pitchFamily="18" charset="-127"/>
                        </a:rPr>
                        <a:t>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따르면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거래금액의</a:t>
                      </a:r>
                      <a:r>
                        <a:rPr lang="en-US" sz="1000" dirty="0">
                          <a:solidFill>
                            <a:schemeClr val="tx1"/>
                          </a:solidFill>
                          <a:effectLst/>
                          <a:latin typeface="+mn-ea"/>
                          <a:ea typeface="+mn-ea"/>
                          <a:cs typeface="Times New Roman" panose="02020603050405020304" pitchFamily="18" charset="0"/>
                        </a:rPr>
                        <a:t> 1%</a:t>
                      </a:r>
                      <a:r>
                        <a:rPr lang="ko-KR" sz="1000" dirty="0">
                          <a:solidFill>
                            <a:schemeClr val="tx1"/>
                          </a:solidFill>
                          <a:effectLst/>
                          <a:latin typeface="+mn-ea"/>
                          <a:ea typeface="+mn-ea"/>
                          <a:cs typeface="바탕" panose="02030600000101010101" pitchFamily="18" charset="-127"/>
                        </a:rPr>
                        <a:t>에서</a:t>
                      </a:r>
                      <a:r>
                        <a:rPr lang="en-US" sz="1000" dirty="0">
                          <a:solidFill>
                            <a:schemeClr val="tx1"/>
                          </a:solidFill>
                          <a:effectLst/>
                          <a:latin typeface="+mn-ea"/>
                          <a:ea typeface="+mn-ea"/>
                          <a:cs typeface="Times New Roman" panose="02020603050405020304" pitchFamily="18" charset="0"/>
                        </a:rPr>
                        <a:t> 10% </a:t>
                      </a:r>
                      <a:r>
                        <a:rPr lang="ko-KR" sz="1000" dirty="0">
                          <a:solidFill>
                            <a:schemeClr val="tx1"/>
                          </a:solidFill>
                          <a:effectLst/>
                          <a:latin typeface="+mn-ea"/>
                          <a:ea typeface="+mn-ea"/>
                          <a:cs typeface="바탕" panose="02030600000101010101" pitchFamily="18" charset="-127"/>
                        </a:rPr>
                        <a:t>사이에서</a:t>
                      </a:r>
                      <a:r>
                        <a:rPr lang="en-US" sz="1000" dirty="0">
                          <a:solidFill>
                            <a:schemeClr val="tx1"/>
                          </a:solidFill>
                          <a:effectLst/>
                          <a:latin typeface="+mn-ea"/>
                          <a:ea typeface="+mn-ea"/>
                          <a:cs typeface="Times New Roman" panose="02020603050405020304" pitchFamily="18" charset="0"/>
                        </a:rPr>
                        <a:t> cap</a:t>
                      </a:r>
                      <a:r>
                        <a:rPr lang="ko-KR" sz="1000" dirty="0">
                          <a:solidFill>
                            <a:schemeClr val="tx1"/>
                          </a:solidFill>
                          <a:effectLst/>
                          <a:latin typeface="+mn-ea"/>
                          <a:ea typeface="+mn-ea"/>
                          <a:cs typeface="바탕" panose="02030600000101010101" pitchFamily="18" charset="-127"/>
                        </a:rPr>
                        <a:t>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결정되는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경우가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전체</a:t>
                      </a:r>
                      <a:r>
                        <a:rPr lang="en-US" sz="1000" dirty="0">
                          <a:solidFill>
                            <a:schemeClr val="tx1"/>
                          </a:solidFill>
                          <a:effectLst/>
                          <a:latin typeface="+mn-ea"/>
                          <a:ea typeface="+mn-ea"/>
                          <a:cs typeface="Times New Roman" panose="02020603050405020304" pitchFamily="18" charset="0"/>
                        </a:rPr>
                        <a:t> deal </a:t>
                      </a:r>
                      <a:r>
                        <a:rPr lang="ko-KR" sz="1000" dirty="0">
                          <a:solidFill>
                            <a:schemeClr val="tx1"/>
                          </a:solidFill>
                          <a:effectLst/>
                          <a:latin typeface="+mn-ea"/>
                          <a:ea typeface="+mn-ea"/>
                          <a:cs typeface="바탕" panose="02030600000101010101" pitchFamily="18" charset="-127"/>
                        </a:rPr>
                        <a:t>중</a:t>
                      </a:r>
                      <a:r>
                        <a:rPr lang="en-US" sz="1000" dirty="0">
                          <a:solidFill>
                            <a:schemeClr val="tx1"/>
                          </a:solidFill>
                          <a:effectLst/>
                          <a:latin typeface="+mn-ea"/>
                          <a:ea typeface="+mn-ea"/>
                          <a:cs typeface="Times New Roman" panose="02020603050405020304" pitchFamily="18" charset="0"/>
                        </a:rPr>
                        <a:t> 40% </a:t>
                      </a:r>
                      <a:r>
                        <a:rPr lang="ko-KR" sz="1000" dirty="0">
                          <a:solidFill>
                            <a:schemeClr val="tx1"/>
                          </a:solidFill>
                          <a:effectLst/>
                          <a:latin typeface="+mn-ea"/>
                          <a:ea typeface="+mn-ea"/>
                          <a:cs typeface="바탕" panose="02030600000101010101" pitchFamily="18" charset="-127"/>
                        </a:rPr>
                        <a:t>정도</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된다고</a:t>
                      </a:r>
                      <a:r>
                        <a:rPr lang="ko-KR" sz="1000" dirty="0">
                          <a:solidFill>
                            <a:schemeClr val="tx1"/>
                          </a:solidFill>
                          <a:effectLst/>
                          <a:latin typeface="+mn-ea"/>
                          <a:ea typeface="+mn-ea"/>
                          <a:cs typeface="Times New Roman" panose="02020603050405020304" pitchFamily="18" charset="0"/>
                        </a:rPr>
                        <a:t> 함</a:t>
                      </a:r>
                      <a:r>
                        <a:rPr lang="en-US" sz="1000" dirty="0">
                          <a:solidFill>
                            <a:schemeClr val="tx1"/>
                          </a:solidFill>
                          <a:effectLst/>
                          <a:latin typeface="+mn-ea"/>
                          <a:ea typeface="+mn-ea"/>
                          <a:cs typeface="Times New Roman" panose="02020603050405020304" pitchFamily="18" charset="0"/>
                        </a:rPr>
                        <a:t>. </a:t>
                      </a:r>
                      <a:endParaRPr lang="en-US" sz="1000" dirty="0" smtClean="0">
                        <a:solidFill>
                          <a:schemeClr val="tx1"/>
                        </a:solidFill>
                        <a:effectLst/>
                        <a:latin typeface="+mn-ea"/>
                        <a:ea typeface="+mn-ea"/>
                        <a:cs typeface="Times New Roman" panose="02020603050405020304" pitchFamily="18" charset="0"/>
                      </a:endParaRPr>
                    </a:p>
                    <a:p>
                      <a:pPr marL="447675" lvl="0" indent="-268288" algn="l" latinLnBrk="1">
                        <a:lnSpc>
                          <a:spcPct val="110000"/>
                        </a:lnSpc>
                        <a:spcAft>
                          <a:spcPts val="0"/>
                        </a:spcAft>
                        <a:buFont typeface="Wingdings" panose="05000000000000000000" pitchFamily="2" charset="2"/>
                        <a:buChar char="§"/>
                      </a:pPr>
                      <a:r>
                        <a:rPr lang="en-US" sz="1000" dirty="0" smtClean="0">
                          <a:solidFill>
                            <a:schemeClr val="tx1"/>
                          </a:solidFill>
                          <a:effectLst/>
                          <a:latin typeface="+mn-ea"/>
                          <a:ea typeface="+mn-ea"/>
                          <a:cs typeface="Times New Roman" panose="02020603050405020304" pitchFamily="18" charset="0"/>
                        </a:rPr>
                        <a:t>Global </a:t>
                      </a:r>
                      <a:r>
                        <a:rPr lang="en-US" sz="1000" dirty="0">
                          <a:solidFill>
                            <a:schemeClr val="tx1"/>
                          </a:solidFill>
                          <a:effectLst/>
                          <a:latin typeface="+mn-ea"/>
                          <a:ea typeface="+mn-ea"/>
                          <a:cs typeface="Times New Roman" panose="02020603050405020304" pitchFamily="18" charset="0"/>
                        </a:rPr>
                        <a:t>Markets &amp; Experts</a:t>
                      </a:r>
                      <a:r>
                        <a:rPr lang="ko-KR" sz="1000" dirty="0">
                          <a:solidFill>
                            <a:schemeClr val="tx1"/>
                          </a:solidFill>
                          <a:effectLst/>
                          <a:latin typeface="+mn-ea"/>
                          <a:ea typeface="+mn-ea"/>
                          <a:cs typeface="바탕" panose="02030600000101010101" pitchFamily="18" charset="-127"/>
                        </a:rPr>
                        <a:t>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따르면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평균적으로</a:t>
                      </a:r>
                      <a:r>
                        <a:rPr lang="en-US" sz="1000" dirty="0">
                          <a:solidFill>
                            <a:schemeClr val="tx1"/>
                          </a:solidFill>
                          <a:effectLst/>
                          <a:latin typeface="+mn-ea"/>
                          <a:ea typeface="+mn-ea"/>
                          <a:cs typeface="Times New Roman" panose="02020603050405020304" pitchFamily="18" charset="0"/>
                        </a:rPr>
                        <a:t> cap</a:t>
                      </a:r>
                      <a:r>
                        <a:rPr lang="ko-KR" sz="1000" dirty="0">
                          <a:solidFill>
                            <a:schemeClr val="tx1"/>
                          </a:solidFill>
                          <a:effectLst/>
                          <a:latin typeface="+mn-ea"/>
                          <a:ea typeface="+mn-ea"/>
                          <a:cs typeface="바탕" panose="02030600000101010101" pitchFamily="18" charset="-127"/>
                        </a:rPr>
                        <a:t>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거래금액의</a:t>
                      </a:r>
                      <a:r>
                        <a:rPr lang="en-US" sz="1000" dirty="0">
                          <a:solidFill>
                            <a:schemeClr val="tx1"/>
                          </a:solidFill>
                          <a:effectLst/>
                          <a:latin typeface="+mn-ea"/>
                          <a:ea typeface="+mn-ea"/>
                          <a:cs typeface="Times New Roman" panose="02020603050405020304" pitchFamily="18" charset="0"/>
                        </a:rPr>
                        <a:t> 23% </a:t>
                      </a:r>
                      <a:r>
                        <a:rPr lang="ko-KR" sz="1000" dirty="0">
                          <a:solidFill>
                            <a:schemeClr val="tx1"/>
                          </a:solidFill>
                          <a:effectLst/>
                          <a:latin typeface="+mn-ea"/>
                          <a:ea typeface="+mn-ea"/>
                          <a:cs typeface="바탕" panose="02030600000101010101" pitchFamily="18" charset="-127"/>
                        </a:rPr>
                        <a:t>이고</a:t>
                      </a:r>
                      <a:r>
                        <a:rPr lang="en-US"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북미는</a:t>
                      </a:r>
                      <a:r>
                        <a:rPr lang="en-US" sz="1000" dirty="0">
                          <a:solidFill>
                            <a:schemeClr val="tx1"/>
                          </a:solidFill>
                          <a:effectLst/>
                          <a:latin typeface="+mn-ea"/>
                          <a:ea typeface="+mn-ea"/>
                          <a:cs typeface="Times New Roman" panose="02020603050405020304" pitchFamily="18" charset="0"/>
                        </a:rPr>
                        <a:t> 19%, UK</a:t>
                      </a:r>
                      <a:r>
                        <a:rPr lang="ko-KR" sz="1000" dirty="0">
                          <a:solidFill>
                            <a:schemeClr val="tx1"/>
                          </a:solidFill>
                          <a:effectLst/>
                          <a:latin typeface="+mn-ea"/>
                          <a:ea typeface="+mn-ea"/>
                          <a:cs typeface="바탕" panose="02030600000101010101" pitchFamily="18" charset="-127"/>
                        </a:rPr>
                        <a:t>는</a:t>
                      </a:r>
                      <a:r>
                        <a:rPr lang="en-US" sz="1000" dirty="0">
                          <a:solidFill>
                            <a:schemeClr val="tx1"/>
                          </a:solidFill>
                          <a:effectLst/>
                          <a:latin typeface="+mn-ea"/>
                          <a:ea typeface="+mn-ea"/>
                          <a:cs typeface="Times New Roman" panose="02020603050405020304" pitchFamily="18" charset="0"/>
                        </a:rPr>
                        <a:t> 32%, </a:t>
                      </a:r>
                      <a:r>
                        <a:rPr lang="ko-KR" sz="1000" dirty="0">
                          <a:solidFill>
                            <a:schemeClr val="tx1"/>
                          </a:solidFill>
                          <a:effectLst/>
                          <a:latin typeface="+mn-ea"/>
                          <a:ea typeface="+mn-ea"/>
                          <a:cs typeface="바탕" panose="02030600000101010101" pitchFamily="18" charset="-127"/>
                        </a:rPr>
                        <a:t>그리고</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아시아는</a:t>
                      </a:r>
                      <a:r>
                        <a:rPr lang="en-US" sz="1000" dirty="0">
                          <a:solidFill>
                            <a:schemeClr val="tx1"/>
                          </a:solidFill>
                          <a:effectLst/>
                          <a:latin typeface="+mn-ea"/>
                          <a:ea typeface="+mn-ea"/>
                          <a:cs typeface="Times New Roman" panose="02020603050405020304" pitchFamily="18" charset="0"/>
                        </a:rPr>
                        <a:t> 18%</a:t>
                      </a:r>
                      <a:r>
                        <a:rPr lang="ko-KR" sz="1000" dirty="0">
                          <a:solidFill>
                            <a:schemeClr val="tx1"/>
                          </a:solidFill>
                          <a:effectLst/>
                          <a:latin typeface="+mn-ea"/>
                          <a:ea typeface="+mn-ea"/>
                          <a:cs typeface="바탕" panose="02030600000101010101" pitchFamily="18" charset="-127"/>
                        </a:rPr>
                        <a:t>였다고</a:t>
                      </a:r>
                      <a:r>
                        <a:rPr lang="ko-KR" sz="1000" dirty="0">
                          <a:solidFill>
                            <a:schemeClr val="tx1"/>
                          </a:solidFill>
                          <a:effectLst/>
                          <a:latin typeface="+mn-ea"/>
                          <a:ea typeface="+mn-ea"/>
                          <a:cs typeface="Times New Roman" panose="02020603050405020304" pitchFamily="18" charset="0"/>
                        </a:rPr>
                        <a:t> </a:t>
                      </a:r>
                      <a:r>
                        <a:rPr lang="ko-KR" altLang="en-US" sz="1000" dirty="0" smtClean="0">
                          <a:solidFill>
                            <a:schemeClr val="tx1"/>
                          </a:solidFill>
                          <a:effectLst/>
                          <a:latin typeface="+mn-ea"/>
                          <a:ea typeface="+mn-ea"/>
                          <a:cs typeface="Times New Roman" panose="02020603050405020304" pitchFamily="18" charset="0"/>
                        </a:rPr>
                        <a:t>함</a:t>
                      </a:r>
                      <a:r>
                        <a:rPr lang="en-US" sz="1000" dirty="0" smtClean="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근본적</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진술보장</a:t>
                      </a:r>
                      <a:r>
                        <a:rPr lang="en-US" sz="1000" dirty="0">
                          <a:solidFill>
                            <a:schemeClr val="tx1"/>
                          </a:solidFill>
                          <a:effectLst/>
                          <a:latin typeface="+mn-ea"/>
                          <a:ea typeface="+mn-ea"/>
                          <a:cs typeface="Times New Roman" panose="02020603050405020304" pitchFamily="18" charset="0"/>
                        </a:rPr>
                        <a:t>(Fundamental Warranties)</a:t>
                      </a:r>
                      <a:r>
                        <a:rPr lang="ko-KR" sz="1000" dirty="0">
                          <a:solidFill>
                            <a:schemeClr val="tx1"/>
                          </a:solidFill>
                          <a:effectLst/>
                          <a:latin typeface="+mn-ea"/>
                          <a:ea typeface="+mn-ea"/>
                          <a:cs typeface="바탕" panose="02030600000101010101" pitchFamily="18" charset="-127"/>
                        </a:rPr>
                        <a:t>에</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대해서는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가격의</a:t>
                      </a:r>
                      <a:r>
                        <a:rPr lang="en-US" sz="1000" dirty="0">
                          <a:solidFill>
                            <a:schemeClr val="tx1"/>
                          </a:solidFill>
                          <a:effectLst/>
                          <a:latin typeface="+mn-ea"/>
                          <a:ea typeface="+mn-ea"/>
                          <a:cs typeface="Times New Roman" panose="02020603050405020304" pitchFamily="18" charset="0"/>
                        </a:rPr>
                        <a:t> 100%</a:t>
                      </a:r>
                      <a:r>
                        <a:rPr lang="ko-KR" sz="1000" dirty="0">
                          <a:solidFill>
                            <a:schemeClr val="tx1"/>
                          </a:solidFill>
                          <a:effectLst/>
                          <a:latin typeface="+mn-ea"/>
                          <a:ea typeface="+mn-ea"/>
                          <a:cs typeface="바탕" panose="02030600000101010101" pitchFamily="18" charset="-127"/>
                        </a:rPr>
                        <a:t>인</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경우가</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제일</a:t>
                      </a:r>
                      <a:r>
                        <a:rPr lang="ko-KR" sz="1000" dirty="0">
                          <a:solidFill>
                            <a:schemeClr val="tx1"/>
                          </a:solidFill>
                          <a:effectLst/>
                          <a:latin typeface="+mn-ea"/>
                          <a:ea typeface="+mn-ea"/>
                          <a:cs typeface="Times New Roman" panose="02020603050405020304" pitchFamily="18" charset="0"/>
                        </a:rPr>
                        <a:t> </a:t>
                      </a:r>
                      <a:r>
                        <a:rPr lang="ko-KR" sz="1000" dirty="0" smtClean="0">
                          <a:solidFill>
                            <a:schemeClr val="tx1"/>
                          </a:solidFill>
                          <a:effectLst/>
                          <a:latin typeface="+mn-ea"/>
                          <a:ea typeface="+mn-ea"/>
                          <a:cs typeface="바탕" panose="02030600000101010101" pitchFamily="18" charset="-127"/>
                        </a:rPr>
                        <a:t>많았고</a:t>
                      </a:r>
                      <a:r>
                        <a:rPr lang="en-US" sz="1000" dirty="0" smtClean="0">
                          <a:solidFill>
                            <a:schemeClr val="tx1"/>
                          </a:solidFill>
                          <a:effectLst/>
                          <a:latin typeface="+mn-ea"/>
                          <a:ea typeface="+mn-ea"/>
                          <a:cs typeface="Times New Roman" panose="02020603050405020304" pitchFamily="18" charset="0"/>
                        </a:rPr>
                        <a:t>(</a:t>
                      </a:r>
                      <a:r>
                        <a:rPr lang="en-US" sz="1000" dirty="0">
                          <a:solidFill>
                            <a:schemeClr val="tx1"/>
                          </a:solidFill>
                          <a:effectLst/>
                          <a:latin typeface="+mn-ea"/>
                          <a:ea typeface="+mn-ea"/>
                          <a:cs typeface="Times New Roman" panose="02020603050405020304" pitchFamily="18" charset="0"/>
                        </a:rPr>
                        <a:t>67%), cap</a:t>
                      </a:r>
                      <a:r>
                        <a:rPr lang="ko-KR" sz="1000" dirty="0">
                          <a:solidFill>
                            <a:schemeClr val="tx1"/>
                          </a:solidFill>
                          <a:effectLst/>
                          <a:latin typeface="+mn-ea"/>
                          <a:ea typeface="+mn-ea"/>
                          <a:cs typeface="바탕" panose="02030600000101010101" pitchFamily="18" charset="-127"/>
                        </a:rPr>
                        <a:t>이</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없는</a:t>
                      </a:r>
                      <a:r>
                        <a:rPr lang="ko-KR" sz="1000" dirty="0">
                          <a:solidFill>
                            <a:schemeClr val="tx1"/>
                          </a:solidFill>
                          <a:effectLst/>
                          <a:latin typeface="+mn-ea"/>
                          <a:ea typeface="+mn-ea"/>
                          <a:cs typeface="Times New Roman" panose="02020603050405020304" pitchFamily="18" charset="0"/>
                        </a:rPr>
                        <a:t> </a:t>
                      </a:r>
                      <a:r>
                        <a:rPr lang="ko-KR" sz="1000" dirty="0">
                          <a:solidFill>
                            <a:schemeClr val="tx1"/>
                          </a:solidFill>
                          <a:effectLst/>
                          <a:latin typeface="+mn-ea"/>
                          <a:ea typeface="+mn-ea"/>
                          <a:cs typeface="바탕" panose="02030600000101010101" pitchFamily="18" charset="-127"/>
                        </a:rPr>
                        <a:t>경우도</a:t>
                      </a:r>
                      <a:r>
                        <a:rPr lang="en-US" sz="1000" dirty="0">
                          <a:solidFill>
                            <a:schemeClr val="tx1"/>
                          </a:solidFill>
                          <a:effectLst/>
                          <a:latin typeface="+mn-ea"/>
                          <a:ea typeface="+mn-ea"/>
                          <a:cs typeface="Times New Roman" panose="02020603050405020304" pitchFamily="18" charset="0"/>
                        </a:rPr>
                        <a:t> 18%</a:t>
                      </a:r>
                      <a:r>
                        <a:rPr lang="ko-KR" sz="1000" dirty="0">
                          <a:solidFill>
                            <a:schemeClr val="tx1"/>
                          </a:solidFill>
                          <a:effectLst/>
                          <a:latin typeface="+mn-ea"/>
                          <a:ea typeface="+mn-ea"/>
                          <a:cs typeface="바탕" panose="02030600000101010101" pitchFamily="18" charset="-127"/>
                        </a:rPr>
                        <a:t>였다고</a:t>
                      </a:r>
                      <a:r>
                        <a:rPr lang="ko-KR" sz="1000" dirty="0">
                          <a:solidFill>
                            <a:schemeClr val="tx1"/>
                          </a:solidFill>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함</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79842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l" fontAlgn="base">
                        <a:lnSpc>
                          <a:spcPct val="110000"/>
                        </a:lnSpc>
                        <a:spcAft>
                          <a:spcPts val="0"/>
                        </a:spcAft>
                        <a:buFont typeface="+mj-lt"/>
                        <a:buNone/>
                      </a:pPr>
                      <a:r>
                        <a:rPr lang="en-US" sz="1000" dirty="0" smtClean="0">
                          <a:effectLst/>
                          <a:latin typeface="+mn-ea"/>
                          <a:ea typeface="+mn-ea"/>
                        </a:rPr>
                        <a:t>Section </a:t>
                      </a:r>
                      <a:r>
                        <a:rPr lang="en-US" sz="1000" dirty="0">
                          <a:effectLst/>
                          <a:latin typeface="+mn-ea"/>
                          <a:ea typeface="+mn-ea"/>
                        </a:rPr>
                        <a:t>9.04  </a:t>
                      </a:r>
                      <a:r>
                        <a:rPr lang="en-US" sz="1000" u="sng" dirty="0">
                          <a:effectLst/>
                          <a:latin typeface="+mn-ea"/>
                          <a:ea typeface="+mn-ea"/>
                        </a:rPr>
                        <a:t>Limitations on Liability</a:t>
                      </a:r>
                      <a:endParaRPr lang="ko-KR" sz="1000" dirty="0">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Except in the case of fraud by Seller or any breach of the Fundamental Warranties of Seller </a:t>
                      </a:r>
                      <a:r>
                        <a:rPr lang="en-US" sz="1000" u="none" strike="noStrike" dirty="0" smtClean="0">
                          <a:ln>
                            <a:noFill/>
                          </a:ln>
                          <a:effectLst>
                            <a:outerShdw sx="0" sy="0">
                              <a:srgbClr val="000000"/>
                            </a:outerShdw>
                          </a:effectLst>
                          <a:latin typeface="+mn-ea"/>
                          <a:ea typeface="+mn-ea"/>
                        </a:rPr>
                        <a:t>or </a:t>
                      </a:r>
                      <a:r>
                        <a:rPr lang="en-US" sz="1000" u="none" strike="noStrike" dirty="0">
                          <a:ln>
                            <a:noFill/>
                          </a:ln>
                          <a:effectLst>
                            <a:outerShdw sx="0" sy="0">
                              <a:srgbClr val="000000"/>
                            </a:outerShdw>
                          </a:effectLst>
                          <a:latin typeface="+mn-ea"/>
                          <a:ea typeface="+mn-ea"/>
                        </a:rPr>
                        <a:t>the representations and warranties contained in </a:t>
                      </a:r>
                      <a:r>
                        <a:rPr lang="en-US" sz="1000" u="sng" strike="noStrike" dirty="0">
                          <a:ln>
                            <a:noFill/>
                          </a:ln>
                          <a:effectLst>
                            <a:outerShdw sx="0" sy="0">
                              <a:srgbClr val="000000"/>
                            </a:outerShdw>
                          </a:effectLst>
                          <a:latin typeface="+mn-ea"/>
                          <a:ea typeface="+mn-ea"/>
                        </a:rPr>
                        <a:t>Section 4.18 (Taxes)</a:t>
                      </a:r>
                      <a:r>
                        <a:rPr lang="en-US" sz="1000" u="none" strike="noStrike" dirty="0">
                          <a:ln>
                            <a:noFill/>
                          </a:ln>
                          <a:effectLst>
                            <a:outerShdw sx="0" sy="0">
                              <a:srgbClr val="000000"/>
                            </a:outerShdw>
                          </a:effectLst>
                          <a:latin typeface="+mn-ea"/>
                          <a:ea typeface="+mn-ea"/>
                        </a:rPr>
                        <a:t>, Buyer Indemnified Parties shall not be entitled to recover under </a:t>
                      </a:r>
                      <a:r>
                        <a:rPr lang="en-US" sz="1000" u="sng" strike="noStrike" dirty="0">
                          <a:ln>
                            <a:noFill/>
                          </a:ln>
                          <a:effectLst>
                            <a:outerShdw sx="0" sy="0">
                              <a:srgbClr val="000000"/>
                            </a:outerShdw>
                          </a:effectLst>
                          <a:latin typeface="+mn-ea"/>
                          <a:ea typeface="+mn-ea"/>
                        </a:rPr>
                        <a:t>Section 9.02(a)</a:t>
                      </a:r>
                      <a:r>
                        <a:rPr lang="en-US" sz="1000" u="none" strike="noStrike" dirty="0">
                          <a:ln>
                            <a:noFill/>
                          </a:ln>
                          <a:effectLst>
                            <a:outerShdw sx="0" sy="0">
                              <a:srgbClr val="000000"/>
                            </a:outerShdw>
                          </a:effectLst>
                          <a:latin typeface="+mn-ea"/>
                          <a:ea typeface="+mn-ea"/>
                        </a:rPr>
                        <a:t> (</a:t>
                      </a:r>
                      <a:r>
                        <a:rPr lang="en-US" sz="1000" u="none" strike="noStrike" dirty="0" err="1">
                          <a:ln>
                            <a:noFill/>
                          </a:ln>
                          <a:effectLst>
                            <a:outerShdw sx="0" sy="0">
                              <a:srgbClr val="000000"/>
                            </a:outerShdw>
                          </a:effectLst>
                          <a:latin typeface="+mn-ea"/>
                          <a:ea typeface="+mn-ea"/>
                        </a:rPr>
                        <a:t>i</a:t>
                      </a:r>
                      <a:r>
                        <a:rPr lang="en-US" sz="1000" u="none" strike="noStrike" dirty="0">
                          <a:ln>
                            <a:noFill/>
                          </a:ln>
                          <a:effectLst>
                            <a:outerShdw sx="0" sy="0">
                              <a:srgbClr val="000000"/>
                            </a:outerShdw>
                          </a:effectLst>
                          <a:latin typeface="+mn-ea"/>
                          <a:ea typeface="+mn-ea"/>
                        </a:rPr>
                        <a:t>) in respect of Losses incurred or sustained by Buyer Indemnified Parties for a breach or group of breaches relating to the same claim or incident, unless the Losses from such breach or group of breaches exceed $[•], and (ii) unless and until the total amount of all Losses for which Buyer Indemnified Parties would be entitled to seek indemnity under </a:t>
                      </a:r>
                      <a:r>
                        <a:rPr lang="en-US" sz="1000" u="sng" strike="noStrike" dirty="0">
                          <a:ln>
                            <a:noFill/>
                          </a:ln>
                          <a:effectLst>
                            <a:outerShdw sx="0" sy="0">
                              <a:srgbClr val="000000"/>
                            </a:outerShdw>
                          </a:effectLst>
                          <a:latin typeface="+mn-ea"/>
                          <a:ea typeface="+mn-ea"/>
                        </a:rPr>
                        <a:t>Section 9.02(a)</a:t>
                      </a:r>
                      <a:r>
                        <a:rPr lang="en-US" sz="1000" u="none" strike="noStrike" dirty="0">
                          <a:ln>
                            <a:noFill/>
                          </a:ln>
                          <a:effectLst>
                            <a:outerShdw sx="0" sy="0">
                              <a:srgbClr val="000000"/>
                            </a:outerShdw>
                          </a:effectLst>
                          <a:latin typeface="+mn-ea"/>
                          <a:ea typeface="+mn-ea"/>
                        </a:rPr>
                        <a:t> exceeds on a cumulative basis $[•], in which event, Seller shall be required to pay the entire amount of all such Losses.</a:t>
                      </a:r>
                      <a:endParaRPr lang="ko-KR" sz="10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Absent fraud, in no event shall the aggregate liability of an Indemnifying Party under </a:t>
                      </a:r>
                      <a:r>
                        <a:rPr lang="en-US" sz="1000" u="sng" strike="noStrike" dirty="0">
                          <a:ln>
                            <a:noFill/>
                          </a:ln>
                          <a:effectLst>
                            <a:outerShdw sx="0" sy="0">
                              <a:srgbClr val="000000"/>
                            </a:outerShdw>
                          </a:effectLst>
                          <a:latin typeface="+mn-ea"/>
                          <a:ea typeface="+mn-ea"/>
                        </a:rPr>
                        <a:t>Sections 9.02(a)</a:t>
                      </a:r>
                      <a:r>
                        <a:rPr lang="en-US" sz="1000" u="none" strike="noStrike" dirty="0">
                          <a:ln>
                            <a:noFill/>
                          </a:ln>
                          <a:effectLst>
                            <a:outerShdw sx="0" sy="0">
                              <a:srgbClr val="000000"/>
                            </a:outerShdw>
                          </a:effectLst>
                          <a:latin typeface="+mn-ea"/>
                          <a:ea typeface="+mn-ea"/>
                        </a:rPr>
                        <a:t> or </a:t>
                      </a:r>
                      <a:r>
                        <a:rPr lang="en-US" sz="1000" u="sng" strike="noStrike" dirty="0">
                          <a:ln>
                            <a:noFill/>
                          </a:ln>
                          <a:effectLst>
                            <a:outerShdw sx="0" sy="0">
                              <a:srgbClr val="000000"/>
                            </a:outerShdw>
                          </a:effectLst>
                          <a:latin typeface="+mn-ea"/>
                          <a:ea typeface="+mn-ea"/>
                        </a:rPr>
                        <a:t>9.03(a)</a:t>
                      </a:r>
                      <a:r>
                        <a:rPr lang="en-US" sz="1000" u="none" strike="noStrike" dirty="0">
                          <a:ln>
                            <a:noFill/>
                          </a:ln>
                          <a:effectLst>
                            <a:outerShdw sx="0" sy="0">
                              <a:srgbClr val="000000"/>
                            </a:outerShdw>
                          </a:effectLst>
                          <a:latin typeface="+mn-ea"/>
                          <a:ea typeface="+mn-ea"/>
                        </a:rPr>
                        <a:t> (other than in connection with any breach of any Fundamental Warranty) exceed [•]% of the Final Purchase Price. </a:t>
                      </a:r>
                      <a:r>
                        <a:rPr lang="en-US" sz="1000" b="1"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4. </a:t>
            </a:r>
            <a:r>
              <a:rPr lang="en-US" altLang="ko-KR" dirty="0" smtClean="0">
                <a:latin typeface="+mn-ea"/>
                <a:ea typeface="+mn-ea"/>
              </a:rPr>
              <a:t>Limitation of Liability</a:t>
            </a:r>
            <a:endParaRPr lang="ko-KR" altLang="en-US" dirty="0">
              <a:latin typeface="+mn-ea"/>
              <a:ea typeface="+mn-ea"/>
            </a:endParaRPr>
          </a:p>
        </p:txBody>
      </p:sp>
    </p:spTree>
    <p:extLst>
      <p:ext uri="{BB962C8B-B14F-4D97-AF65-F5344CB8AC3E}">
        <p14:creationId xmlns:p14="http://schemas.microsoft.com/office/powerpoint/2010/main" val="32808257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976903569"/>
              </p:ext>
            </p:extLst>
          </p:nvPr>
        </p:nvGraphicFramePr>
        <p:xfrm>
          <a:off x="439738" y="1031875"/>
          <a:ext cx="9188450" cy="371597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계약체결일까지 매수인이 알고 있었던 사항에 대한 손해배상 청구 가능하게 하는 문구 </a:t>
                      </a:r>
                      <a:r>
                        <a:rPr lang="en-US" sz="1000">
                          <a:effectLst/>
                          <a:latin typeface="+mn-ea"/>
                          <a:ea typeface="+mn-ea"/>
                          <a:cs typeface="Times New Roman" panose="02020603050405020304" pitchFamily="18" charset="0"/>
                        </a:rPr>
                        <a:t>(</a:t>
                      </a:r>
                      <a:r>
                        <a:rPr lang="ko-KR" sz="1000">
                          <a:effectLst/>
                          <a:latin typeface="+mn-ea"/>
                          <a:ea typeface="+mn-ea"/>
                          <a:cs typeface="Times New Roman" panose="02020603050405020304" pitchFamily="18" charset="0"/>
                        </a:rPr>
                        <a:t>이른바</a:t>
                      </a:r>
                      <a:r>
                        <a:rPr lang="en-US" sz="1000">
                          <a:effectLst/>
                          <a:latin typeface="+mn-ea"/>
                          <a:ea typeface="+mn-ea"/>
                          <a:cs typeface="Times New Roman" panose="02020603050405020304" pitchFamily="18" charset="0"/>
                        </a:rPr>
                        <a:t> sandbagging)</a:t>
                      </a:r>
                      <a:endParaRPr lang="ko-KR" sz="100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94670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매수인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매수인 </a:t>
                      </a:r>
                      <a:r>
                        <a:rPr lang="ko-KR" sz="1000" dirty="0">
                          <a:effectLst/>
                          <a:latin typeface="+mn-ea"/>
                          <a:ea typeface="+mn-ea"/>
                          <a:cs typeface="바탕" panose="02030600000101010101" pitchFamily="18" charset="-127"/>
                        </a:rPr>
                        <a:t>입장에서는</a:t>
                      </a:r>
                      <a:r>
                        <a:rPr lang="en-US" sz="1000" dirty="0">
                          <a:effectLst/>
                          <a:latin typeface="+mn-ea"/>
                          <a:ea typeface="+mn-ea"/>
                          <a:cs typeface="바탕" panose="02030600000101010101" pitchFamily="18" charset="-127"/>
                        </a:rPr>
                        <a:t> anti-sandbagging </a:t>
                      </a:r>
                      <a:r>
                        <a:rPr lang="ko-KR" sz="1000" dirty="0">
                          <a:effectLst/>
                          <a:latin typeface="+mn-ea"/>
                          <a:ea typeface="+mn-ea"/>
                          <a:cs typeface="바탕" panose="02030600000101010101" pitchFamily="18" charset="-127"/>
                        </a:rPr>
                        <a:t>조항은 가능한 삭제를 하는 것이 유리함</a:t>
                      </a:r>
                      <a:r>
                        <a:rPr lang="en-US" sz="1000" dirty="0">
                          <a:effectLst/>
                          <a:latin typeface="+mn-ea"/>
                          <a:ea typeface="+mn-ea"/>
                          <a:cs typeface="바탕" panose="02030600000101010101" pitchFamily="18" charset="-127"/>
                        </a:rPr>
                        <a:t>.</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매수인이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알고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있었던</a:t>
                      </a:r>
                      <a:r>
                        <a:rPr lang="en-US" sz="1000" dirty="0">
                          <a:effectLst/>
                          <a:latin typeface="+mn-ea"/>
                          <a:ea typeface="+mn-ea"/>
                          <a:cs typeface="Times New Roman" panose="02020603050405020304" pitchFamily="18" charset="0"/>
                        </a:rPr>
                        <a:t> breach</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대해서도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매도인에게</a:t>
                      </a:r>
                      <a:r>
                        <a:rPr lang="en-US" sz="1000" dirty="0">
                          <a:effectLst/>
                          <a:latin typeface="+mn-ea"/>
                          <a:ea typeface="+mn-ea"/>
                          <a:cs typeface="Times New Roman" panose="02020603050405020304" pitchFamily="18" charset="0"/>
                        </a:rPr>
                        <a:t> claim</a:t>
                      </a:r>
                      <a:r>
                        <a:rPr lang="ko-KR" sz="1000" dirty="0">
                          <a:effectLst/>
                          <a:latin typeface="+mn-ea"/>
                          <a:ea typeface="+mn-ea"/>
                          <a:cs typeface="바탕" panose="02030600000101010101" pitchFamily="18" charset="-127"/>
                        </a:rPr>
                        <a:t>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명확히</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하기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위해</a:t>
                      </a:r>
                      <a:r>
                        <a:rPr lang="ko-KR" sz="1000" dirty="0">
                          <a:effectLst/>
                          <a:latin typeface="+mn-ea"/>
                          <a:ea typeface="+mn-ea"/>
                          <a:cs typeface="Times New Roman" panose="02020603050405020304" pitchFamily="18" charset="0"/>
                        </a:rPr>
                        <a:t> 하기 </a:t>
                      </a:r>
                      <a:r>
                        <a:rPr lang="ko-KR" sz="1000" dirty="0">
                          <a:effectLst/>
                          <a:latin typeface="+mn-ea"/>
                          <a:ea typeface="+mn-ea"/>
                          <a:cs typeface="바탕" panose="02030600000101010101" pitchFamily="18" charset="-127"/>
                        </a:rPr>
                        <a:t>같이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명시적으로</a:t>
                      </a:r>
                      <a:r>
                        <a:rPr lang="en-US" sz="1000" dirty="0">
                          <a:effectLst/>
                          <a:latin typeface="+mn-ea"/>
                          <a:ea typeface="+mn-ea"/>
                          <a:cs typeface="Times New Roman" panose="02020603050405020304" pitchFamily="18" charset="0"/>
                        </a:rPr>
                        <a:t> pro-sandbagging </a:t>
                      </a:r>
                      <a:r>
                        <a:rPr lang="ko-KR" sz="1000" dirty="0">
                          <a:effectLst/>
                          <a:latin typeface="+mn-ea"/>
                          <a:ea typeface="+mn-ea"/>
                          <a:cs typeface="바탕" panose="02030600000101010101" pitchFamily="18" charset="-127"/>
                        </a:rPr>
                        <a:t>문구를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넣는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고려해볼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있음</a:t>
                      </a:r>
                      <a:r>
                        <a:rPr lang="en-US" sz="1000" dirty="0">
                          <a:effectLst/>
                          <a:latin typeface="+mn-ea"/>
                          <a:ea typeface="+mn-ea"/>
                          <a:cs typeface="Times New Roman" panose="02020603050405020304" pitchFamily="18" charset="0"/>
                        </a:rPr>
                        <a:t>. Jurisdiction</a:t>
                      </a:r>
                      <a:r>
                        <a:rPr lang="ko-KR" sz="1000" dirty="0">
                          <a:effectLst/>
                          <a:latin typeface="+mn-ea"/>
                          <a:ea typeface="+mn-ea"/>
                          <a:cs typeface="바탕" panose="02030600000101010101" pitchFamily="18" charset="-127"/>
                        </a:rPr>
                        <a:t>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따라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같은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문구가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없더라도</a:t>
                      </a:r>
                      <a:r>
                        <a:rPr lang="en-US" sz="1000" dirty="0">
                          <a:effectLst/>
                          <a:latin typeface="+mn-ea"/>
                          <a:ea typeface="+mn-ea"/>
                          <a:cs typeface="Times New Roman" panose="02020603050405020304" pitchFamily="18" charset="0"/>
                        </a:rPr>
                        <a:t> sandbagging</a:t>
                      </a:r>
                      <a:r>
                        <a:rPr lang="ko-KR" sz="1000" dirty="0">
                          <a:effectLst/>
                          <a:latin typeface="+mn-ea"/>
                          <a:ea typeface="+mn-ea"/>
                          <a:cs typeface="바탕" panose="02030600000101010101" pitchFamily="18" charset="-127"/>
                        </a:rPr>
                        <a:t>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인정하는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곳도</a:t>
                      </a:r>
                      <a:r>
                        <a:rPr lang="ko-KR" sz="1000" dirty="0">
                          <a:effectLst/>
                          <a:latin typeface="+mn-ea"/>
                          <a:ea typeface="+mn-ea"/>
                          <a:cs typeface="Times New Roman" panose="02020603050405020304" pitchFamily="18" charset="0"/>
                        </a:rPr>
                        <a:t> </a:t>
                      </a:r>
                      <a:r>
                        <a:rPr lang="ko-KR" sz="1000" dirty="0" smtClean="0">
                          <a:effectLst/>
                          <a:latin typeface="+mn-ea"/>
                          <a:ea typeface="+mn-ea"/>
                          <a:cs typeface="바탕" panose="02030600000101010101" pitchFamily="18" charset="-127"/>
                        </a:rPr>
                        <a:t>있지만</a:t>
                      </a:r>
                      <a:r>
                        <a:rPr lang="en-US" sz="1000" dirty="0" smtClean="0">
                          <a:effectLst/>
                          <a:latin typeface="+mn-ea"/>
                          <a:ea typeface="+mn-ea"/>
                          <a:cs typeface="Times New Roman" panose="02020603050405020304" pitchFamily="18" charset="0"/>
                        </a:rPr>
                        <a:t>(</a:t>
                      </a:r>
                      <a:r>
                        <a:rPr lang="ko-KR" sz="1000" dirty="0">
                          <a:effectLst/>
                          <a:latin typeface="+mn-ea"/>
                          <a:ea typeface="+mn-ea"/>
                          <a:cs typeface="바탕" panose="02030600000101010101" pitchFamily="18" charset="-127"/>
                        </a:rPr>
                        <a:t>예컨대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한국</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대법원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또는</a:t>
                      </a:r>
                      <a:r>
                        <a:rPr lang="ko-KR" sz="1000" dirty="0">
                          <a:effectLst/>
                          <a:latin typeface="+mn-ea"/>
                          <a:ea typeface="+mn-ea"/>
                          <a:cs typeface="Times New Roman" panose="02020603050405020304" pitchFamily="18" charset="0"/>
                        </a:rPr>
                        <a:t> </a:t>
                      </a:r>
                      <a:r>
                        <a:rPr lang="ko-KR" sz="1000" dirty="0" err="1">
                          <a:effectLst/>
                          <a:latin typeface="+mn-ea"/>
                          <a:ea typeface="+mn-ea"/>
                          <a:cs typeface="바탕" panose="02030600000101010101" pitchFamily="18" charset="-127"/>
                        </a:rPr>
                        <a:t>뉴욕주</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매수인의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권리를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명확하게</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하기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위해서는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위와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같은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문구를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넣는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필요함</a:t>
                      </a:r>
                      <a:r>
                        <a:rPr lang="en-US" sz="1000" dirty="0" smtClean="0">
                          <a:effectLst/>
                          <a:latin typeface="+mn-ea"/>
                          <a:ea typeface="+mn-ea"/>
                          <a:cs typeface="Times New Roman" panose="02020603050405020304" pitchFamily="18" charset="0"/>
                        </a:rPr>
                        <a:t>.</a:t>
                      </a:r>
                      <a:r>
                        <a:rPr lang="en-US" sz="1000" dirty="0" smtClean="0">
                          <a:solidFill>
                            <a:srgbClr val="C00000"/>
                          </a:solidFill>
                          <a:effectLst/>
                          <a:latin typeface="+mn-ea"/>
                          <a:ea typeface="+mn-ea"/>
                          <a:cs typeface="Times New Roman" panose="02020603050405020304" pitchFamily="18" charset="0"/>
                        </a:rPr>
                        <a:t>*</a:t>
                      </a:r>
                      <a:r>
                        <a:rPr lang="en-US" sz="1000" dirty="0" smtClean="0">
                          <a:effectLst/>
                          <a:latin typeface="+mn-ea"/>
                          <a:ea typeface="+mn-ea"/>
                          <a:cs typeface="Times New Roman" panose="02020603050405020304" pitchFamily="18" charset="0"/>
                        </a:rPr>
                        <a:t>  </a:t>
                      </a:r>
                    </a:p>
                    <a:p>
                      <a:pPr marL="228600" indent="-228600" algn="l">
                        <a:lnSpc>
                          <a:spcPct val="110000"/>
                        </a:lnSpc>
                        <a:spcAft>
                          <a:spcPts val="0"/>
                        </a:spcAft>
                        <a:buFont typeface="+mj-lt"/>
                        <a:buAutoNum type="arabicPeriod"/>
                      </a:pPr>
                      <a:endParaRPr lang="ko-KR" sz="1000" dirty="0">
                        <a:effectLst/>
                        <a:latin typeface="+mn-ea"/>
                        <a:ea typeface="+mn-ea"/>
                        <a:cs typeface="Times New Roman" panose="02020603050405020304" pitchFamily="18" charset="0"/>
                      </a:endParaRPr>
                    </a:p>
                    <a:p>
                      <a:pPr marL="228600" indent="-228600" algn="l" latinLnBrk="0">
                        <a:lnSpc>
                          <a:spcPct val="110000"/>
                        </a:lnSpc>
                        <a:spcAft>
                          <a:spcPts val="0"/>
                        </a:spcAft>
                        <a:buFont typeface="+mj-lt"/>
                        <a:buAutoNum type="arabicPeriod"/>
                      </a:pPr>
                      <a:r>
                        <a:rPr lang="ko-KR" sz="1000" b="1" dirty="0">
                          <a:effectLst/>
                          <a:latin typeface="+mn-ea"/>
                          <a:ea typeface="+mn-ea"/>
                          <a:cs typeface="바탕" panose="02030600000101010101" pitchFamily="18" charset="-127"/>
                        </a:rPr>
                        <a:t>매도인</a:t>
                      </a:r>
                      <a:r>
                        <a:rPr lang="en-US" sz="1000" dirty="0">
                          <a:effectLst/>
                          <a:latin typeface="+mn-ea"/>
                          <a:ea typeface="+mn-ea"/>
                          <a:cs typeface="바탕" panose="02030600000101010101" pitchFamily="18" charset="-127"/>
                        </a:rPr>
                        <a:t>: </a:t>
                      </a:r>
                      <a:r>
                        <a:rPr lang="ko-KR" sz="1000" dirty="0">
                          <a:effectLst/>
                          <a:latin typeface="+mn-ea"/>
                          <a:ea typeface="+mn-ea"/>
                          <a:cs typeface="바탕" panose="02030600000101010101" pitchFamily="18" charset="-127"/>
                        </a:rPr>
                        <a:t>매도인</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입장에서는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아래와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같은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문구를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넣어서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매수인의</a:t>
                      </a:r>
                      <a:r>
                        <a:rPr lang="ko-KR" sz="1000" dirty="0">
                          <a:effectLst/>
                          <a:latin typeface="+mn-ea"/>
                          <a:ea typeface="+mn-ea"/>
                          <a:cs typeface="Times New Roman" panose="02020603050405020304" pitchFamily="18" charset="0"/>
                        </a:rPr>
                        <a:t> </a:t>
                      </a:r>
                      <a:r>
                        <a:rPr lang="en-US" sz="1000" dirty="0">
                          <a:effectLst/>
                          <a:latin typeface="+mn-ea"/>
                          <a:ea typeface="+mn-ea"/>
                          <a:cs typeface="Times New Roman" panose="02020603050405020304" pitchFamily="18" charset="0"/>
                        </a:rPr>
                        <a:t>sandbagging </a:t>
                      </a:r>
                      <a:r>
                        <a:rPr lang="ko-KR" sz="1000" dirty="0">
                          <a:effectLst/>
                          <a:latin typeface="+mn-ea"/>
                          <a:ea typeface="+mn-ea"/>
                          <a:cs typeface="바탕" panose="02030600000101010101" pitchFamily="18" charset="-127"/>
                        </a:rPr>
                        <a:t>권리를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제한하려고</a:t>
                      </a:r>
                      <a:r>
                        <a:rPr lang="ko-KR" sz="1000" dirty="0">
                          <a:effectLst/>
                          <a:latin typeface="+mn-ea"/>
                          <a:ea typeface="+mn-ea"/>
                          <a:cs typeface="Times New Roman" panose="02020603050405020304" pitchFamily="18" charset="0"/>
                        </a:rPr>
                        <a:t> 함</a:t>
                      </a:r>
                      <a:r>
                        <a:rPr lang="en-US" sz="1000" dirty="0">
                          <a:effectLst/>
                          <a:latin typeface="+mn-ea"/>
                          <a:ea typeface="+mn-ea"/>
                          <a:cs typeface="Times New Roman" panose="02020603050405020304" pitchFamily="18" charset="0"/>
                        </a:rPr>
                        <a:t>. </a:t>
                      </a:r>
                      <a:r>
                        <a:rPr lang="en-US" sz="1000" dirty="0" smtClean="0">
                          <a:effectLst/>
                          <a:latin typeface="+mn-ea"/>
                          <a:ea typeface="+mn-ea"/>
                          <a:cs typeface="Times New Roman" panose="02020603050405020304" pitchFamily="18" charset="0"/>
                        </a:rPr>
                        <a:t/>
                      </a:r>
                      <a:br>
                        <a:rPr lang="en-US" sz="1000" dirty="0" smtClean="0">
                          <a:effectLst/>
                          <a:latin typeface="+mn-ea"/>
                          <a:ea typeface="+mn-ea"/>
                          <a:cs typeface="Times New Roman" panose="02020603050405020304" pitchFamily="18" charset="0"/>
                        </a:rPr>
                      </a:br>
                      <a:r>
                        <a:rPr lang="en-US" sz="1000" dirty="0" smtClean="0">
                          <a:effectLst/>
                          <a:latin typeface="+mn-ea"/>
                          <a:ea typeface="+mn-ea"/>
                          <a:cs typeface="Times New Roman" panose="02020603050405020304" pitchFamily="18" charset="0"/>
                        </a:rPr>
                        <a:t>“</a:t>
                      </a:r>
                      <a:r>
                        <a:rPr lang="en-US" sz="1000" dirty="0">
                          <a:effectLst/>
                          <a:latin typeface="+mn-ea"/>
                          <a:ea typeface="+mn-ea"/>
                          <a:cs typeface="Times New Roman" panose="02020603050405020304" pitchFamily="18" charset="0"/>
                        </a:rPr>
                        <a:t>Seller shall not be liable under this Article IX for any Losses based upon or arising out of any inaccuracy in or breach of any of the representations or warranties of Seller contained in this Agreement if Buyer had knowledge of such inaccuracy or breach before the Closing.”</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31884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9.07   </a:t>
                      </a:r>
                      <a:r>
                        <a:rPr lang="en-US" sz="1000" u="sng" dirty="0">
                          <a:effectLst/>
                          <a:latin typeface="+mn-ea"/>
                          <a:ea typeface="+mn-ea"/>
                        </a:rPr>
                        <a:t>Effect of Investigation</a:t>
                      </a:r>
                      <a:r>
                        <a:rPr lang="en-US" sz="1000" dirty="0">
                          <a:effectLst/>
                          <a:latin typeface="+mn-ea"/>
                          <a:ea typeface="+mn-ea"/>
                        </a:rPr>
                        <a:t>.  The representations, warranties and covenants of the Indemnifying Party, and the Indemnified Party's right to indemnification with respect thereto, shall not be affected or deemed waived by reason of any investigation made by or on behalf of the Indemnified Party (including by any of its representatives) or by reason of the fact that the Indemnified Party or any of its representatives knew or should have known that any such representation or warranty is, was or might be inaccurate or by reason of the Indemnified Party's waiver of any condition set forth in</a:t>
                      </a:r>
                      <a:r>
                        <a:rPr lang="en-US" sz="1000" kern="1200" dirty="0">
                          <a:solidFill>
                            <a:schemeClr val="tx1"/>
                          </a:solidFill>
                          <a:effectLst/>
                          <a:latin typeface="+mn-ea"/>
                          <a:ea typeface="+mn-ea"/>
                          <a:cs typeface="+mn-cs"/>
                        </a:rPr>
                        <a:t> Section 8.02 or Section 8.03, a</a:t>
                      </a:r>
                      <a:r>
                        <a:rPr lang="en-US" sz="1000" dirty="0">
                          <a:effectLst/>
                          <a:latin typeface="+mn-ea"/>
                          <a:ea typeface="+mn-ea"/>
                        </a:rPr>
                        <a:t>s the case may be.</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5. </a:t>
            </a:r>
            <a:r>
              <a:rPr lang="en-US" altLang="ko-KR" dirty="0" smtClean="0">
                <a:latin typeface="+mn-ea"/>
                <a:ea typeface="+mn-ea"/>
              </a:rPr>
              <a:t>Anti-Sandbagging</a:t>
            </a:r>
            <a:endParaRPr lang="ko-KR" altLang="en-US" dirty="0">
              <a:latin typeface="+mn-ea"/>
              <a:ea typeface="+mn-ea"/>
            </a:endParaRPr>
          </a:p>
        </p:txBody>
      </p:sp>
      <p:sp>
        <p:nvSpPr>
          <p:cNvPr id="2" name="직사각형 1"/>
          <p:cNvSpPr/>
          <p:nvPr/>
        </p:nvSpPr>
        <p:spPr>
          <a:xfrm>
            <a:off x="439738" y="4892612"/>
            <a:ext cx="9188450" cy="369332"/>
          </a:xfrm>
          <a:prstGeom prst="rect">
            <a:avLst/>
          </a:prstGeom>
        </p:spPr>
        <p:txBody>
          <a:bodyPr wrap="square">
            <a:spAutoFit/>
          </a:bodyPr>
          <a:lstStyle/>
          <a:p>
            <a:r>
              <a:rPr lang="en-US" altLang="ko-KR" sz="900" b="0" dirty="0" smtClean="0">
                <a:solidFill>
                  <a:schemeClr val="tx1"/>
                </a:solidFill>
                <a:latin typeface="+mn-ea"/>
                <a:ea typeface="+mn-ea"/>
              </a:rPr>
              <a:t>* UK </a:t>
            </a:r>
            <a:r>
              <a:rPr lang="en-US" altLang="ko-KR" sz="900" b="0" dirty="0" err="1">
                <a:solidFill>
                  <a:schemeClr val="tx1"/>
                </a:solidFill>
                <a:latin typeface="+mn-ea"/>
                <a:ea typeface="+mn-ea"/>
              </a:rPr>
              <a:t>법상</a:t>
            </a:r>
            <a:r>
              <a:rPr lang="en-US" altLang="ko-KR" sz="900" b="0" dirty="0">
                <a:solidFill>
                  <a:schemeClr val="tx1"/>
                </a:solidFill>
                <a:latin typeface="+mn-ea"/>
                <a:ea typeface="+mn-ea"/>
              </a:rPr>
              <a:t> pro-sandbagging </a:t>
            </a:r>
            <a:r>
              <a:rPr lang="en-US" altLang="ko-KR" sz="900" b="0" dirty="0" err="1">
                <a:solidFill>
                  <a:schemeClr val="tx1"/>
                </a:solidFill>
                <a:latin typeface="+mn-ea"/>
                <a:ea typeface="+mn-ea"/>
              </a:rPr>
              <a:t>조항은</a:t>
            </a:r>
            <a:r>
              <a:rPr lang="en-US" altLang="ko-KR" sz="900" b="0" dirty="0">
                <a:solidFill>
                  <a:schemeClr val="tx1"/>
                </a:solidFill>
                <a:latin typeface="+mn-ea"/>
                <a:ea typeface="+mn-ea"/>
              </a:rPr>
              <a:t> enforceable </a:t>
            </a:r>
            <a:r>
              <a:rPr lang="en-US" altLang="ko-KR" sz="900" b="0" dirty="0" err="1">
                <a:solidFill>
                  <a:schemeClr val="tx1"/>
                </a:solidFill>
                <a:latin typeface="+mn-ea"/>
                <a:ea typeface="+mn-ea"/>
              </a:rPr>
              <a:t>하지</a:t>
            </a:r>
            <a:r>
              <a:rPr lang="en-US" altLang="ko-KR" sz="900" b="0" dirty="0">
                <a:solidFill>
                  <a:schemeClr val="tx1"/>
                </a:solidFill>
                <a:latin typeface="+mn-ea"/>
                <a:ea typeface="+mn-ea"/>
              </a:rPr>
              <a:t> </a:t>
            </a:r>
            <a:r>
              <a:rPr lang="en-US" altLang="ko-KR" sz="900" b="0" dirty="0" err="1">
                <a:solidFill>
                  <a:schemeClr val="tx1"/>
                </a:solidFill>
                <a:latin typeface="+mn-ea"/>
                <a:ea typeface="+mn-ea"/>
              </a:rPr>
              <a:t>않다고</a:t>
            </a:r>
            <a:r>
              <a:rPr lang="en-US" altLang="ko-KR" sz="900" b="0" dirty="0">
                <a:solidFill>
                  <a:schemeClr val="tx1"/>
                </a:solidFill>
                <a:latin typeface="+mn-ea"/>
                <a:ea typeface="+mn-ea"/>
              </a:rPr>
              <a:t> </a:t>
            </a:r>
            <a:r>
              <a:rPr lang="en-US" altLang="ko-KR" sz="900" b="0" dirty="0" err="1">
                <a:solidFill>
                  <a:schemeClr val="tx1"/>
                </a:solidFill>
                <a:latin typeface="+mn-ea"/>
                <a:ea typeface="+mn-ea"/>
              </a:rPr>
              <a:t>보는</a:t>
            </a:r>
            <a:r>
              <a:rPr lang="en-US" altLang="ko-KR" sz="900" b="0" dirty="0">
                <a:solidFill>
                  <a:schemeClr val="tx1"/>
                </a:solidFill>
                <a:latin typeface="+mn-ea"/>
                <a:ea typeface="+mn-ea"/>
              </a:rPr>
              <a:t> </a:t>
            </a:r>
            <a:r>
              <a:rPr lang="en-US" altLang="ko-KR" sz="900" b="0" dirty="0" err="1">
                <a:solidFill>
                  <a:schemeClr val="tx1"/>
                </a:solidFill>
                <a:latin typeface="+mn-ea"/>
                <a:ea typeface="+mn-ea"/>
              </a:rPr>
              <a:t>견해가</a:t>
            </a:r>
            <a:r>
              <a:rPr lang="en-US" altLang="ko-KR" sz="900" b="0" dirty="0">
                <a:solidFill>
                  <a:schemeClr val="tx1"/>
                </a:solidFill>
                <a:latin typeface="+mn-ea"/>
                <a:ea typeface="+mn-ea"/>
              </a:rPr>
              <a:t> </a:t>
            </a:r>
            <a:r>
              <a:rPr lang="en-US" altLang="ko-KR" sz="900" b="0" dirty="0" err="1">
                <a:solidFill>
                  <a:schemeClr val="tx1"/>
                </a:solidFill>
                <a:latin typeface="+mn-ea"/>
                <a:ea typeface="+mn-ea"/>
              </a:rPr>
              <a:t>있기</a:t>
            </a:r>
            <a:r>
              <a:rPr lang="en-US" altLang="ko-KR" sz="900" b="0" dirty="0">
                <a:solidFill>
                  <a:schemeClr val="tx1"/>
                </a:solidFill>
                <a:latin typeface="+mn-ea"/>
                <a:ea typeface="+mn-ea"/>
              </a:rPr>
              <a:t> </a:t>
            </a:r>
            <a:r>
              <a:rPr lang="en-US" altLang="ko-KR" sz="900" b="0" dirty="0" err="1">
                <a:solidFill>
                  <a:schemeClr val="tx1"/>
                </a:solidFill>
                <a:latin typeface="+mn-ea"/>
                <a:ea typeface="+mn-ea"/>
              </a:rPr>
              <a:t>때문에</a:t>
            </a:r>
            <a:r>
              <a:rPr lang="en-US" altLang="ko-KR" sz="900" b="0" dirty="0">
                <a:solidFill>
                  <a:schemeClr val="tx1"/>
                </a:solidFill>
                <a:latin typeface="+mn-ea"/>
                <a:ea typeface="+mn-ea"/>
              </a:rPr>
              <a:t>, </a:t>
            </a:r>
            <a:r>
              <a:rPr lang="en-US" altLang="ko-KR" sz="900" b="0" dirty="0" err="1">
                <a:solidFill>
                  <a:schemeClr val="tx1"/>
                </a:solidFill>
                <a:latin typeface="+mn-ea"/>
                <a:ea typeface="+mn-ea"/>
              </a:rPr>
              <a:t>매수인</a:t>
            </a:r>
            <a:r>
              <a:rPr lang="en-US" altLang="ko-KR" sz="900" b="0" dirty="0">
                <a:solidFill>
                  <a:schemeClr val="tx1"/>
                </a:solidFill>
                <a:latin typeface="+mn-ea"/>
                <a:ea typeface="+mn-ea"/>
              </a:rPr>
              <a:t> </a:t>
            </a:r>
            <a:r>
              <a:rPr lang="en-US" altLang="ko-KR" sz="900" b="0" dirty="0" err="1">
                <a:solidFill>
                  <a:schemeClr val="tx1"/>
                </a:solidFill>
                <a:latin typeface="+mn-ea"/>
                <a:ea typeface="+mn-ea"/>
              </a:rPr>
              <a:t>입장에서는</a:t>
            </a:r>
            <a:r>
              <a:rPr lang="en-US" altLang="ko-KR" sz="900" b="0" dirty="0">
                <a:solidFill>
                  <a:schemeClr val="tx1"/>
                </a:solidFill>
                <a:latin typeface="+mn-ea"/>
                <a:ea typeface="+mn-ea"/>
              </a:rPr>
              <a:t> </a:t>
            </a:r>
            <a:r>
              <a:rPr lang="en-US" altLang="ko-KR" sz="900" b="0" dirty="0" err="1">
                <a:solidFill>
                  <a:schemeClr val="tx1"/>
                </a:solidFill>
                <a:latin typeface="+mn-ea"/>
                <a:ea typeface="+mn-ea"/>
              </a:rPr>
              <a:t>알고</a:t>
            </a:r>
            <a:r>
              <a:rPr lang="en-US" altLang="ko-KR" sz="900" b="0" dirty="0">
                <a:solidFill>
                  <a:schemeClr val="tx1"/>
                </a:solidFill>
                <a:latin typeface="+mn-ea"/>
                <a:ea typeface="+mn-ea"/>
              </a:rPr>
              <a:t> </a:t>
            </a:r>
            <a:r>
              <a:rPr lang="en-US" altLang="ko-KR" sz="900" b="0" dirty="0" err="1">
                <a:solidFill>
                  <a:schemeClr val="tx1"/>
                </a:solidFill>
                <a:latin typeface="+mn-ea"/>
                <a:ea typeface="+mn-ea"/>
              </a:rPr>
              <a:t>있는</a:t>
            </a:r>
            <a:r>
              <a:rPr lang="en-US" altLang="ko-KR" sz="900" b="0" dirty="0">
                <a:solidFill>
                  <a:schemeClr val="tx1"/>
                </a:solidFill>
                <a:latin typeface="+mn-ea"/>
                <a:ea typeface="+mn-ea"/>
              </a:rPr>
              <a:t> </a:t>
            </a:r>
            <a:r>
              <a:rPr lang="en-US" altLang="ko-KR" sz="900" b="0" dirty="0" err="1">
                <a:solidFill>
                  <a:schemeClr val="tx1"/>
                </a:solidFill>
                <a:latin typeface="+mn-ea"/>
                <a:ea typeface="+mn-ea"/>
              </a:rPr>
              <a:t>사항</a:t>
            </a:r>
            <a:r>
              <a:rPr lang="en-US" altLang="ko-KR" sz="900" b="0" dirty="0">
                <a:solidFill>
                  <a:schemeClr val="tx1"/>
                </a:solidFill>
                <a:latin typeface="+mn-ea"/>
                <a:ea typeface="+mn-ea"/>
              </a:rPr>
              <a:t> 중 </a:t>
            </a:r>
            <a:r>
              <a:rPr lang="en-US" altLang="ko-KR" sz="900" b="0" dirty="0" err="1">
                <a:solidFill>
                  <a:schemeClr val="tx1"/>
                </a:solidFill>
                <a:latin typeface="+mn-ea"/>
                <a:ea typeface="+mn-ea"/>
              </a:rPr>
              <a:t>면책을</a:t>
            </a:r>
            <a:r>
              <a:rPr lang="en-US" altLang="ko-KR" sz="900" b="0" dirty="0">
                <a:solidFill>
                  <a:schemeClr val="tx1"/>
                </a:solidFill>
                <a:latin typeface="+mn-ea"/>
                <a:ea typeface="+mn-ea"/>
              </a:rPr>
              <a:t> </a:t>
            </a:r>
            <a:r>
              <a:rPr lang="en-US" altLang="ko-KR" sz="900" b="0" dirty="0" err="1">
                <a:solidFill>
                  <a:schemeClr val="tx1"/>
                </a:solidFill>
                <a:latin typeface="+mn-ea"/>
                <a:ea typeface="+mn-ea"/>
              </a:rPr>
              <a:t>받아야</a:t>
            </a:r>
            <a:r>
              <a:rPr lang="en-US" altLang="ko-KR" sz="900" b="0" dirty="0">
                <a:solidFill>
                  <a:schemeClr val="tx1"/>
                </a:solidFill>
                <a:latin typeface="+mn-ea"/>
                <a:ea typeface="+mn-ea"/>
              </a:rPr>
              <a:t> </a:t>
            </a:r>
            <a:r>
              <a:rPr lang="en-US" altLang="ko-KR" sz="900" b="0" dirty="0" err="1">
                <a:solidFill>
                  <a:schemeClr val="tx1"/>
                </a:solidFill>
                <a:latin typeface="+mn-ea"/>
                <a:ea typeface="+mn-ea"/>
              </a:rPr>
              <a:t>한다고</a:t>
            </a:r>
            <a:r>
              <a:rPr lang="en-US" altLang="ko-KR" sz="900" b="0" dirty="0">
                <a:solidFill>
                  <a:schemeClr val="tx1"/>
                </a:solidFill>
                <a:latin typeface="+mn-ea"/>
                <a:ea typeface="+mn-ea"/>
              </a:rPr>
              <a:t> </a:t>
            </a:r>
            <a:r>
              <a:rPr lang="en-US" altLang="ko-KR" sz="900" b="0" dirty="0" err="1">
                <a:solidFill>
                  <a:schemeClr val="tx1"/>
                </a:solidFill>
                <a:latin typeface="+mn-ea"/>
                <a:ea typeface="+mn-ea"/>
              </a:rPr>
              <a:t>판단되는</a:t>
            </a:r>
            <a:r>
              <a:rPr lang="en-US" altLang="ko-KR" sz="900" b="0" dirty="0">
                <a:solidFill>
                  <a:schemeClr val="tx1"/>
                </a:solidFill>
                <a:latin typeface="+mn-ea"/>
                <a:ea typeface="+mn-ea"/>
              </a:rPr>
              <a:t> </a:t>
            </a:r>
            <a:r>
              <a:rPr lang="en-US" altLang="ko-KR" sz="900" b="0" dirty="0" err="1">
                <a:solidFill>
                  <a:schemeClr val="tx1"/>
                </a:solidFill>
                <a:latin typeface="+mn-ea"/>
                <a:ea typeface="+mn-ea"/>
              </a:rPr>
              <a:t>사항에</a:t>
            </a:r>
            <a:r>
              <a:rPr lang="en-US" altLang="ko-KR" sz="900" b="0" dirty="0">
                <a:solidFill>
                  <a:schemeClr val="tx1"/>
                </a:solidFill>
                <a:latin typeface="+mn-ea"/>
                <a:ea typeface="+mn-ea"/>
              </a:rPr>
              <a:t> </a:t>
            </a:r>
            <a:r>
              <a:rPr lang="en-US" altLang="ko-KR" sz="900" b="0" dirty="0" err="1">
                <a:solidFill>
                  <a:schemeClr val="tx1"/>
                </a:solidFill>
                <a:latin typeface="+mn-ea"/>
                <a:ea typeface="+mn-ea"/>
              </a:rPr>
              <a:t>대해서는</a:t>
            </a:r>
            <a:r>
              <a:rPr lang="en-US" altLang="ko-KR" sz="900" b="0" dirty="0">
                <a:solidFill>
                  <a:schemeClr val="tx1"/>
                </a:solidFill>
                <a:latin typeface="+mn-ea"/>
                <a:ea typeface="+mn-ea"/>
              </a:rPr>
              <a:t> special </a:t>
            </a:r>
            <a:r>
              <a:rPr lang="en-US" altLang="ko-KR" sz="900" b="0" dirty="0" err="1">
                <a:solidFill>
                  <a:schemeClr val="tx1"/>
                </a:solidFill>
                <a:latin typeface="+mn-ea"/>
                <a:ea typeface="+mn-ea"/>
              </a:rPr>
              <a:t>indemnity를</a:t>
            </a:r>
            <a:r>
              <a:rPr lang="en-US" altLang="ko-KR" sz="900" b="0" dirty="0">
                <a:solidFill>
                  <a:schemeClr val="tx1"/>
                </a:solidFill>
                <a:latin typeface="+mn-ea"/>
                <a:ea typeface="+mn-ea"/>
              </a:rPr>
              <a:t> </a:t>
            </a:r>
            <a:r>
              <a:rPr lang="en-US" altLang="ko-KR" sz="900" b="0" dirty="0" err="1">
                <a:solidFill>
                  <a:schemeClr val="tx1"/>
                </a:solidFill>
                <a:latin typeface="+mn-ea"/>
                <a:ea typeface="+mn-ea"/>
              </a:rPr>
              <a:t>받는</a:t>
            </a:r>
            <a:r>
              <a:rPr lang="en-US" altLang="ko-KR" sz="900" b="0" dirty="0">
                <a:solidFill>
                  <a:schemeClr val="tx1"/>
                </a:solidFill>
                <a:latin typeface="+mn-ea"/>
                <a:ea typeface="+mn-ea"/>
              </a:rPr>
              <a:t> </a:t>
            </a:r>
            <a:r>
              <a:rPr lang="en-US" altLang="ko-KR" sz="900" b="0" dirty="0" err="1">
                <a:solidFill>
                  <a:schemeClr val="tx1"/>
                </a:solidFill>
                <a:latin typeface="+mn-ea"/>
                <a:ea typeface="+mn-ea"/>
              </a:rPr>
              <a:t>것을</a:t>
            </a:r>
            <a:r>
              <a:rPr lang="en-US" altLang="ko-KR" sz="900" b="0" dirty="0">
                <a:solidFill>
                  <a:schemeClr val="tx1"/>
                </a:solidFill>
                <a:latin typeface="+mn-ea"/>
                <a:ea typeface="+mn-ea"/>
              </a:rPr>
              <a:t> </a:t>
            </a:r>
            <a:r>
              <a:rPr lang="en-US" altLang="ko-KR" sz="900" b="0" dirty="0" err="1">
                <a:solidFill>
                  <a:schemeClr val="tx1"/>
                </a:solidFill>
                <a:latin typeface="+mn-ea"/>
                <a:ea typeface="+mn-ea"/>
              </a:rPr>
              <a:t>고려해볼</a:t>
            </a:r>
            <a:r>
              <a:rPr lang="en-US" altLang="ko-KR" sz="900" b="0" dirty="0">
                <a:solidFill>
                  <a:schemeClr val="tx1"/>
                </a:solidFill>
                <a:latin typeface="+mn-ea"/>
                <a:ea typeface="+mn-ea"/>
              </a:rPr>
              <a:t> 수 </a:t>
            </a:r>
            <a:r>
              <a:rPr lang="en-US" altLang="ko-KR" sz="900" b="0" dirty="0" err="1">
                <a:solidFill>
                  <a:schemeClr val="tx1"/>
                </a:solidFill>
                <a:latin typeface="+mn-ea"/>
                <a:ea typeface="+mn-ea"/>
              </a:rPr>
              <a:t>있음</a:t>
            </a:r>
            <a:r>
              <a:rPr lang="en-US" altLang="ko-KR" sz="900" b="0" dirty="0">
                <a:solidFill>
                  <a:schemeClr val="tx1"/>
                </a:solidFill>
                <a:latin typeface="+mn-ea"/>
                <a:ea typeface="+mn-ea"/>
              </a:rPr>
              <a:t>. </a:t>
            </a:r>
            <a:endParaRPr lang="ko-KR" altLang="en-US" sz="900" b="0" dirty="0">
              <a:solidFill>
                <a:schemeClr val="tx1"/>
              </a:solidFill>
              <a:latin typeface="+mn-ea"/>
              <a:ea typeface="+mn-ea"/>
            </a:endParaRPr>
          </a:p>
        </p:txBody>
      </p:sp>
    </p:spTree>
    <p:extLst>
      <p:ext uri="{BB962C8B-B14F-4D97-AF65-F5344CB8AC3E}">
        <p14:creationId xmlns:p14="http://schemas.microsoft.com/office/powerpoint/2010/main" val="35189500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VIII. Indemnification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556744261"/>
              </p:ext>
            </p:extLst>
          </p:nvPr>
        </p:nvGraphicFramePr>
        <p:xfrm>
          <a:off x="439738" y="1031875"/>
          <a:ext cx="9188450" cy="464142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0420">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간접적 손해에 대한 손해배상 청구 금지</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94670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a:lnSpc>
                          <a:spcPct val="110000"/>
                        </a:lnSpc>
                        <a:spcAft>
                          <a:spcPts val="0"/>
                        </a:spcAft>
                        <a:buFont typeface="+mj-lt"/>
                        <a:buAutoNum type="arabicPeriod"/>
                      </a:pPr>
                      <a:r>
                        <a:rPr lang="ko-KR" altLang="en-US" sz="1000" b="1" dirty="0" smtClean="0">
                          <a:effectLst/>
                          <a:latin typeface="+mn-ea"/>
                          <a:ea typeface="+mn-ea"/>
                          <a:cs typeface="Times New Roman" panose="02020603050405020304" pitchFamily="18" charset="0"/>
                        </a:rPr>
                        <a:t>매도인</a:t>
                      </a:r>
                      <a:r>
                        <a:rPr lang="en-US" sz="100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매도인의 경우</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일반적으로 아래와 같이 부가적</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간접적</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결과적</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특별</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초과</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징벌적 손해</a:t>
                      </a:r>
                      <a:r>
                        <a:rPr lang="en-US" altLang="ko-KR" sz="1000" b="0" dirty="0" smtClean="0">
                          <a:effectLst/>
                          <a:latin typeface="+mn-ea"/>
                          <a:ea typeface="+mn-ea"/>
                          <a:cs typeface="Times New Roman" panose="02020603050405020304" pitchFamily="18" charset="0"/>
                        </a:rPr>
                        <a:t>(incidental, indirect, consequential, special, exemplary or punitive damages or loss) </a:t>
                      </a:r>
                      <a:r>
                        <a:rPr lang="ko-KR" altLang="en-US" sz="1000" b="0" dirty="0" smtClean="0">
                          <a:effectLst/>
                          <a:latin typeface="+mn-ea"/>
                          <a:ea typeface="+mn-ea"/>
                          <a:cs typeface="Times New Roman" panose="02020603050405020304" pitchFamily="18" charset="0"/>
                        </a:rPr>
                        <a:t>등을 제외하여 자신의 손해배상의무 범위를 줄여보려고 할 수 있음</a:t>
                      </a:r>
                      <a:r>
                        <a:rPr lang="en-US" sz="1000" dirty="0" smtClean="0">
                          <a:effectLst/>
                          <a:latin typeface="+mn-ea"/>
                          <a:ea typeface="+mn-ea"/>
                          <a:cs typeface="Times New Roman" panose="02020603050405020304" pitchFamily="18" charset="0"/>
                        </a:rPr>
                        <a:t>.  </a:t>
                      </a:r>
                    </a:p>
                    <a:p>
                      <a:pPr marL="228600" indent="-228600" algn="l">
                        <a:lnSpc>
                          <a:spcPct val="110000"/>
                        </a:lnSpc>
                        <a:spcAft>
                          <a:spcPts val="0"/>
                        </a:spcAft>
                        <a:buFont typeface="+mj-lt"/>
                        <a:buAutoNum type="arabicPeriod"/>
                      </a:pPr>
                      <a:endParaRPr lang="ko-KR" sz="1000" dirty="0">
                        <a:effectLst/>
                        <a:latin typeface="+mn-ea"/>
                        <a:ea typeface="+mn-ea"/>
                        <a:cs typeface="Times New Roman" panose="02020603050405020304" pitchFamily="18" charset="0"/>
                      </a:endParaRPr>
                    </a:p>
                    <a:p>
                      <a:pPr marL="228600" indent="-228600" algn="l" latinLnBrk="0">
                        <a:lnSpc>
                          <a:spcPct val="110000"/>
                        </a:lnSpc>
                        <a:spcAft>
                          <a:spcPts val="0"/>
                        </a:spcAft>
                        <a:buFont typeface="+mj-lt"/>
                        <a:buAutoNum type="arabicPeriod"/>
                      </a:pPr>
                      <a:r>
                        <a:rPr lang="ko-KR" sz="1000" b="1" dirty="0" smtClean="0">
                          <a:effectLst/>
                          <a:latin typeface="+mn-ea"/>
                          <a:ea typeface="+mn-ea"/>
                          <a:cs typeface="바탕" panose="02030600000101010101" pitchFamily="18" charset="-127"/>
                        </a:rPr>
                        <a:t>매</a:t>
                      </a:r>
                      <a:r>
                        <a:rPr lang="ko-KR" altLang="en-US" sz="1000" b="1" dirty="0" smtClean="0">
                          <a:effectLst/>
                          <a:latin typeface="+mn-ea"/>
                          <a:ea typeface="+mn-ea"/>
                          <a:cs typeface="바탕" panose="02030600000101010101" pitchFamily="18" charset="-127"/>
                        </a:rPr>
                        <a:t>수</a:t>
                      </a:r>
                      <a:r>
                        <a:rPr lang="ko-KR" sz="1000" b="1" dirty="0" smtClean="0">
                          <a:effectLst/>
                          <a:latin typeface="+mn-ea"/>
                          <a:ea typeface="+mn-ea"/>
                          <a:cs typeface="바탕" panose="02030600000101010101" pitchFamily="18" charset="-127"/>
                        </a:rPr>
                        <a:t>인</a:t>
                      </a:r>
                      <a:r>
                        <a:rPr lang="en-US" sz="1000" dirty="0">
                          <a:effectLst/>
                          <a:latin typeface="+mn-ea"/>
                          <a:ea typeface="+mn-ea"/>
                          <a:cs typeface="바탕" panose="02030600000101010101" pitchFamily="18" charset="-127"/>
                        </a:rPr>
                        <a:t>: </a:t>
                      </a:r>
                      <a:r>
                        <a:rPr lang="ko-KR" altLang="en-US" sz="1000" b="0" dirty="0" smtClean="0">
                          <a:effectLst/>
                          <a:latin typeface="+mn-ea"/>
                          <a:ea typeface="+mn-ea"/>
                          <a:cs typeface="Times New Roman" panose="02020603050405020304" pitchFamily="18" charset="0"/>
                        </a:rPr>
                        <a:t>매수인의 경우</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위의 예시처럼 특정 항목에 대하여 예외를 기재하는 것을 고려해볼 수 있고</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좀더 </a:t>
                      </a:r>
                      <a:r>
                        <a:rPr lang="en-US" altLang="ko-KR" sz="1000" b="0" dirty="0" smtClean="0">
                          <a:effectLst/>
                          <a:latin typeface="+mn-ea"/>
                          <a:ea typeface="+mn-ea"/>
                          <a:cs typeface="Times New Roman" panose="02020603050405020304" pitchFamily="18" charset="0"/>
                        </a:rPr>
                        <a:t>aggressive</a:t>
                      </a:r>
                      <a:r>
                        <a:rPr lang="ko-KR" altLang="en-US" sz="1000" b="0" dirty="0" smtClean="0">
                          <a:effectLst/>
                          <a:latin typeface="+mn-ea"/>
                          <a:ea typeface="+mn-ea"/>
                          <a:cs typeface="Times New Roman" panose="02020603050405020304" pitchFamily="18" charset="0"/>
                        </a:rPr>
                        <a:t>한 입장을 취한다면 위에 나열된 </a:t>
                      </a:r>
                      <a:r>
                        <a:rPr lang="en-US" altLang="ko-KR" sz="1000" b="0" dirty="0" smtClean="0">
                          <a:effectLst/>
                          <a:latin typeface="+mn-ea"/>
                          <a:ea typeface="+mn-ea"/>
                          <a:cs typeface="Times New Roman" panose="02020603050405020304" pitchFamily="18" charset="0"/>
                        </a:rPr>
                        <a:t>Loss</a:t>
                      </a:r>
                      <a:r>
                        <a:rPr lang="ko-KR" altLang="en-US" sz="1000" b="0" dirty="0" smtClean="0">
                          <a:effectLst/>
                          <a:latin typeface="+mn-ea"/>
                          <a:ea typeface="+mn-ea"/>
                          <a:cs typeface="Times New Roman" panose="02020603050405020304" pitchFamily="18" charset="0"/>
                        </a:rPr>
                        <a:t>의 종류 중에서 몇 가지를 삭제하고 법원이나 중재에서 결정되도록 제안하는 것을 고려해볼 수 있음</a:t>
                      </a:r>
                      <a:r>
                        <a:rPr lang="en-US" altLang="ko-KR" sz="1000" b="0" dirty="0" smtClean="0">
                          <a:effectLst/>
                          <a:latin typeface="+mn-ea"/>
                          <a:ea typeface="+mn-ea"/>
                          <a:cs typeface="Times New Roman" panose="02020603050405020304" pitchFamily="18" charset="0"/>
                        </a:rPr>
                        <a:t>.</a:t>
                      </a:r>
                    </a:p>
                    <a:p>
                      <a:pPr marL="0" indent="0" algn="l" latinLnBrk="0">
                        <a:lnSpc>
                          <a:spcPct val="110000"/>
                        </a:lnSpc>
                        <a:spcAft>
                          <a:spcPts val="0"/>
                        </a:spcAft>
                        <a:buFont typeface="+mj-lt"/>
                        <a:buNone/>
                      </a:pPr>
                      <a:endParaRPr lang="en-US" altLang="ko-KR" sz="1000" b="0" dirty="0" smtClean="0">
                        <a:effectLst/>
                        <a:latin typeface="+mn-ea"/>
                        <a:ea typeface="+mn-ea"/>
                        <a:cs typeface="Times New Roman" panose="02020603050405020304" pitchFamily="18" charset="0"/>
                      </a:endParaRPr>
                    </a:p>
                    <a:p>
                      <a:pPr marL="0" indent="0" algn="l" latinLnBrk="0">
                        <a:lnSpc>
                          <a:spcPct val="110000"/>
                        </a:lnSpc>
                        <a:spcAft>
                          <a:spcPts val="0"/>
                        </a:spcAft>
                        <a:buFont typeface="+mj-lt"/>
                        <a:buNone/>
                      </a:pPr>
                      <a:r>
                        <a:rPr lang="en-US" altLang="ko-KR" sz="1000" b="0" dirty="0" smtClean="0">
                          <a:effectLst/>
                          <a:latin typeface="+mn-ea"/>
                          <a:ea typeface="+mn-ea"/>
                          <a:cs typeface="Times New Roman" panose="02020603050405020304" pitchFamily="18" charset="0"/>
                        </a:rPr>
                        <a:t>ABA Private Target Deal Points Study</a:t>
                      </a:r>
                      <a:r>
                        <a:rPr lang="ko-KR" altLang="en-US" sz="1000" b="0" dirty="0" smtClean="0">
                          <a:effectLst/>
                          <a:latin typeface="+mn-ea"/>
                          <a:ea typeface="+mn-ea"/>
                          <a:cs typeface="Times New Roman" panose="02020603050405020304" pitchFamily="18" charset="0"/>
                        </a:rPr>
                        <a:t>에 따르면 </a:t>
                      </a:r>
                      <a:r>
                        <a:rPr lang="en-US" altLang="ko-KR" sz="1000" b="0" dirty="0" smtClean="0">
                          <a:effectLst/>
                          <a:latin typeface="+mn-ea"/>
                          <a:ea typeface="+mn-ea"/>
                          <a:cs typeface="Times New Roman" panose="02020603050405020304" pitchFamily="18" charset="0"/>
                        </a:rPr>
                        <a:t>punitive damages</a:t>
                      </a:r>
                      <a:r>
                        <a:rPr lang="ko-KR" altLang="en-US" sz="1000" b="0" dirty="0" smtClean="0">
                          <a:effectLst/>
                          <a:latin typeface="+mn-ea"/>
                          <a:ea typeface="+mn-ea"/>
                          <a:cs typeface="Times New Roman" panose="02020603050405020304" pitchFamily="18" charset="0"/>
                        </a:rPr>
                        <a:t>의 경우 명시적으로 제외되는 경우가 많았고</a:t>
                      </a:r>
                      <a:r>
                        <a:rPr lang="en-US" altLang="ko-KR" sz="1000" b="0" dirty="0" smtClean="0">
                          <a:effectLst/>
                          <a:latin typeface="+mn-ea"/>
                          <a:ea typeface="+mn-ea"/>
                          <a:cs typeface="Times New Roman" panose="02020603050405020304" pitchFamily="18" charset="0"/>
                        </a:rPr>
                        <a:t>, incidental damages, consequential damages, lost profits, damages based on multiple </a:t>
                      </a:r>
                      <a:r>
                        <a:rPr lang="ko-KR" altLang="en-US" sz="1000" b="0" dirty="0" smtClean="0">
                          <a:effectLst/>
                          <a:latin typeface="+mn-ea"/>
                          <a:ea typeface="+mn-ea"/>
                          <a:cs typeface="Times New Roman" panose="02020603050405020304" pitchFamily="18" charset="0"/>
                        </a:rPr>
                        <a:t>등은 </a:t>
                      </a:r>
                      <a:r>
                        <a:rPr lang="en-US" altLang="ko-KR" sz="1000" b="0" dirty="0" smtClean="0">
                          <a:effectLst/>
                          <a:latin typeface="+mn-ea"/>
                          <a:ea typeface="+mn-ea"/>
                          <a:cs typeface="Times New Roman" panose="02020603050405020304" pitchFamily="18" charset="0"/>
                        </a:rPr>
                        <a:t>silent</a:t>
                      </a:r>
                      <a:r>
                        <a:rPr lang="ko-KR" altLang="en-US" sz="1000" b="0" dirty="0" smtClean="0">
                          <a:effectLst/>
                          <a:latin typeface="+mn-ea"/>
                          <a:ea typeface="+mn-ea"/>
                          <a:cs typeface="Times New Roman" panose="02020603050405020304" pitchFamily="18" charset="0"/>
                        </a:rPr>
                        <a:t>한 경우가 명시적으로 제외되는 경우보다 많았음</a:t>
                      </a:r>
                      <a:r>
                        <a:rPr lang="en-US" altLang="ko-KR" sz="1000" b="0" dirty="0" smtClean="0">
                          <a:effectLst/>
                          <a:latin typeface="+mn-ea"/>
                          <a:ea typeface="+mn-ea"/>
                          <a:cs typeface="Times New Roman" panose="02020603050405020304" pitchFamily="18" charset="0"/>
                        </a:rPr>
                        <a:t>.  </a:t>
                      </a:r>
                    </a:p>
                    <a:p>
                      <a:pPr marL="0" indent="0" algn="l">
                        <a:lnSpc>
                          <a:spcPct val="110000"/>
                        </a:lnSpc>
                        <a:spcAft>
                          <a:spcPts val="0"/>
                        </a:spcAft>
                        <a:buFont typeface="+mj-lt"/>
                        <a:buNone/>
                      </a:pPr>
                      <a:endParaRPr lang="en-US" altLang="ko-KR" sz="1000" b="0" dirty="0" smtClean="0">
                        <a:effectLst/>
                        <a:latin typeface="+mn-ea"/>
                        <a:ea typeface="+mn-ea"/>
                        <a:cs typeface="Times New Roman" panose="02020603050405020304" pitchFamily="18" charset="0"/>
                      </a:endParaRPr>
                    </a:p>
                    <a:p>
                      <a:pPr marL="0" indent="0" algn="l">
                        <a:lnSpc>
                          <a:spcPct val="110000"/>
                        </a:lnSpc>
                        <a:spcAft>
                          <a:spcPts val="0"/>
                        </a:spcAft>
                        <a:buFont typeface="+mj-lt"/>
                        <a:buNone/>
                      </a:pPr>
                      <a:r>
                        <a:rPr lang="ko-KR" altLang="en-US" sz="1000" b="0" dirty="0" smtClean="0">
                          <a:effectLst/>
                          <a:latin typeface="+mn-ea"/>
                          <a:ea typeface="+mn-ea"/>
                          <a:cs typeface="Times New Roman" panose="02020603050405020304" pitchFamily="18" charset="0"/>
                        </a:rPr>
                        <a:t>참고로 통계에 따르면 기업가치 산정에 적용된 </a:t>
                      </a:r>
                      <a:r>
                        <a:rPr lang="en-US" altLang="ko-KR" sz="1000" b="0" dirty="0" smtClean="0">
                          <a:effectLst/>
                          <a:latin typeface="+mn-ea"/>
                          <a:ea typeface="+mn-ea"/>
                          <a:cs typeface="Times New Roman" panose="02020603050405020304" pitchFamily="18" charset="0"/>
                        </a:rPr>
                        <a:t>multiple</a:t>
                      </a:r>
                      <a:r>
                        <a:rPr lang="ko-KR" altLang="en-US" sz="1000" b="0" dirty="0" smtClean="0">
                          <a:effectLst/>
                          <a:latin typeface="+mn-ea"/>
                          <a:ea typeface="+mn-ea"/>
                          <a:cs typeface="Times New Roman" panose="02020603050405020304" pitchFamily="18" charset="0"/>
                        </a:rPr>
                        <a:t>을 손해배상 산정에 적용하는 방안</a:t>
                      </a:r>
                      <a:r>
                        <a:rPr lang="en-US" altLang="ko-KR" sz="1000" b="0" dirty="0" smtClean="0">
                          <a:effectLst/>
                          <a:latin typeface="+mn-ea"/>
                          <a:ea typeface="+mn-ea"/>
                          <a:cs typeface="Times New Roman" panose="02020603050405020304" pitchFamily="18" charset="0"/>
                        </a:rPr>
                        <a:t>(damages based on multiple)</a:t>
                      </a:r>
                      <a:r>
                        <a:rPr lang="ko-KR" altLang="en-US" sz="1000" b="0" dirty="0" smtClean="0">
                          <a:effectLst/>
                          <a:latin typeface="+mn-ea"/>
                          <a:ea typeface="+mn-ea"/>
                          <a:cs typeface="Times New Roman" panose="02020603050405020304" pitchFamily="18" charset="0"/>
                        </a:rPr>
                        <a:t>의 경우</a:t>
                      </a:r>
                      <a:r>
                        <a:rPr lang="en-US" altLang="ko-KR" sz="1000" b="0" dirty="0" smtClean="0">
                          <a:effectLst/>
                          <a:latin typeface="+mn-ea"/>
                          <a:ea typeface="+mn-ea"/>
                          <a:cs typeface="Times New Roman" panose="02020603050405020304" pitchFamily="18" charset="0"/>
                        </a:rPr>
                        <a:t>, 86%</a:t>
                      </a:r>
                      <a:r>
                        <a:rPr lang="ko-KR" altLang="en-US" sz="1000" b="0" dirty="0" smtClean="0">
                          <a:effectLst/>
                          <a:latin typeface="+mn-ea"/>
                          <a:ea typeface="+mn-ea"/>
                          <a:cs typeface="Times New Roman" panose="02020603050405020304" pitchFamily="18" charset="0"/>
                        </a:rPr>
                        <a:t>가 규정을 두지 않았고</a:t>
                      </a:r>
                      <a:r>
                        <a:rPr lang="en-US" altLang="ko-KR" sz="1000" b="0" dirty="0" smtClean="0">
                          <a:effectLst/>
                          <a:latin typeface="+mn-ea"/>
                          <a:ea typeface="+mn-ea"/>
                          <a:cs typeface="Times New Roman" panose="02020603050405020304" pitchFamily="18" charset="0"/>
                        </a:rPr>
                        <a:t>, 13% </a:t>
                      </a:r>
                      <a:r>
                        <a:rPr lang="ko-KR" altLang="en-US" sz="1000" b="0" dirty="0" smtClean="0">
                          <a:effectLst/>
                          <a:latin typeface="+mn-ea"/>
                          <a:ea typeface="+mn-ea"/>
                          <a:cs typeface="Times New Roman" panose="02020603050405020304" pitchFamily="18" charset="0"/>
                        </a:rPr>
                        <a:t>가 명시적 배제</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단 </a:t>
                      </a:r>
                      <a:r>
                        <a:rPr lang="en-US" altLang="ko-KR" sz="1000" b="0" dirty="0" smtClean="0">
                          <a:effectLst/>
                          <a:latin typeface="+mn-ea"/>
                          <a:ea typeface="+mn-ea"/>
                          <a:cs typeface="Times New Roman" panose="02020603050405020304" pitchFamily="18" charset="0"/>
                        </a:rPr>
                        <a:t>1% </a:t>
                      </a:r>
                      <a:r>
                        <a:rPr lang="ko-KR" altLang="en-US" sz="1000" b="0" dirty="0" smtClean="0">
                          <a:effectLst/>
                          <a:latin typeface="+mn-ea"/>
                          <a:ea typeface="+mn-ea"/>
                          <a:cs typeface="Times New Roman" panose="02020603050405020304" pitchFamily="18" charset="0"/>
                        </a:rPr>
                        <a:t>만이 명시적 허용이었다고 함</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기대이익 상실</a:t>
                      </a:r>
                      <a:r>
                        <a:rPr lang="en-US" altLang="ko-KR" sz="1000" b="0" dirty="0" smtClean="0">
                          <a:effectLst/>
                          <a:latin typeface="+mn-ea"/>
                          <a:ea typeface="+mn-ea"/>
                          <a:cs typeface="Times New Roman" panose="02020603050405020304" pitchFamily="18" charset="0"/>
                        </a:rPr>
                        <a:t>(lost profits)</a:t>
                      </a:r>
                      <a:r>
                        <a:rPr lang="ko-KR" altLang="en-US" sz="1000" b="0" dirty="0" smtClean="0">
                          <a:effectLst/>
                          <a:latin typeface="+mn-ea"/>
                          <a:ea typeface="+mn-ea"/>
                          <a:cs typeface="Times New Roman" panose="02020603050405020304" pitchFamily="18" charset="0"/>
                        </a:rPr>
                        <a:t>의 경우</a:t>
                      </a:r>
                      <a:r>
                        <a:rPr lang="en-US" altLang="ko-KR" sz="1000" b="0" dirty="0" smtClean="0">
                          <a:effectLst/>
                          <a:latin typeface="+mn-ea"/>
                          <a:ea typeface="+mn-ea"/>
                          <a:cs typeface="Times New Roman" panose="02020603050405020304" pitchFamily="18" charset="0"/>
                        </a:rPr>
                        <a:t>, 74%</a:t>
                      </a:r>
                      <a:r>
                        <a:rPr lang="ko-KR" altLang="en-US" sz="1000" b="0" dirty="0" smtClean="0">
                          <a:effectLst/>
                          <a:latin typeface="+mn-ea"/>
                          <a:ea typeface="+mn-ea"/>
                          <a:cs typeface="Times New Roman" panose="02020603050405020304" pitchFamily="18" charset="0"/>
                        </a:rPr>
                        <a:t>가 규정을 두지 않았고</a:t>
                      </a:r>
                      <a:r>
                        <a:rPr lang="en-US" altLang="ko-KR" sz="1000" b="0" dirty="0" smtClean="0">
                          <a:effectLst/>
                          <a:latin typeface="+mn-ea"/>
                          <a:ea typeface="+mn-ea"/>
                          <a:cs typeface="Times New Roman" panose="02020603050405020304" pitchFamily="18" charset="0"/>
                        </a:rPr>
                        <a:t>, 20%</a:t>
                      </a:r>
                      <a:r>
                        <a:rPr lang="ko-KR" altLang="en-US" sz="1000" b="0" dirty="0" smtClean="0">
                          <a:effectLst/>
                          <a:latin typeface="+mn-ea"/>
                          <a:ea typeface="+mn-ea"/>
                          <a:cs typeface="Times New Roman" panose="02020603050405020304" pitchFamily="18" charset="0"/>
                        </a:rPr>
                        <a:t>가 명시적 배제</a:t>
                      </a:r>
                      <a:r>
                        <a:rPr lang="en-US" altLang="ko-KR" sz="1000" b="0" dirty="0" smtClean="0">
                          <a:effectLst/>
                          <a:latin typeface="+mn-ea"/>
                          <a:ea typeface="+mn-ea"/>
                          <a:cs typeface="Times New Roman" panose="02020603050405020304" pitchFamily="18" charset="0"/>
                        </a:rPr>
                        <a:t>, 6%</a:t>
                      </a:r>
                      <a:r>
                        <a:rPr lang="ko-KR" altLang="en-US" sz="1000" b="0" dirty="0" smtClean="0">
                          <a:effectLst/>
                          <a:latin typeface="+mn-ea"/>
                          <a:ea typeface="+mn-ea"/>
                          <a:cs typeface="Times New Roman" panose="02020603050405020304" pitchFamily="18" charset="0"/>
                        </a:rPr>
                        <a:t>가 명시적 </a:t>
                      </a:r>
                      <a:r>
                        <a:rPr lang="ko-KR" altLang="en-US" sz="1000" b="0" dirty="0" err="1" smtClean="0">
                          <a:effectLst/>
                          <a:latin typeface="+mn-ea"/>
                          <a:ea typeface="+mn-ea"/>
                          <a:cs typeface="Times New Roman" panose="02020603050405020304" pitchFamily="18" charset="0"/>
                        </a:rPr>
                        <a:t>허용임</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만일 </a:t>
                      </a:r>
                      <a:r>
                        <a:rPr lang="ko-KR" altLang="en-US" sz="1000" b="0" dirty="0" err="1" smtClean="0">
                          <a:effectLst/>
                          <a:latin typeface="+mn-ea"/>
                          <a:ea typeface="+mn-ea"/>
                          <a:cs typeface="Times New Roman" panose="02020603050405020304" pitchFamily="18" charset="0"/>
                        </a:rPr>
                        <a:t>한국법이</a:t>
                      </a:r>
                      <a:r>
                        <a:rPr lang="ko-KR" altLang="en-US" sz="1000" b="0" dirty="0" smtClean="0">
                          <a:effectLst/>
                          <a:latin typeface="+mn-ea"/>
                          <a:ea typeface="+mn-ea"/>
                          <a:cs typeface="Times New Roman" panose="02020603050405020304" pitchFamily="18" charset="0"/>
                        </a:rPr>
                        <a:t> 적용된다면 </a:t>
                      </a:r>
                      <a:r>
                        <a:rPr lang="en-US" altLang="ko-KR" sz="1000" b="0" dirty="0" smtClean="0">
                          <a:effectLst/>
                          <a:latin typeface="+mn-ea"/>
                          <a:ea typeface="+mn-ea"/>
                          <a:cs typeface="Times New Roman" panose="02020603050405020304" pitchFamily="18" charset="0"/>
                        </a:rPr>
                        <a:t>damages based on multiple</a:t>
                      </a:r>
                      <a:r>
                        <a:rPr lang="ko-KR" altLang="en-US" sz="1000" b="0" dirty="0" smtClean="0">
                          <a:effectLst/>
                          <a:latin typeface="+mn-ea"/>
                          <a:ea typeface="+mn-ea"/>
                          <a:cs typeface="Times New Roman" panose="02020603050405020304" pitchFamily="18" charset="0"/>
                        </a:rPr>
                        <a:t>의 경우 명시적인 규정이 없다면 인정되지 않을 것이고</a:t>
                      </a:r>
                      <a:r>
                        <a:rPr lang="en-US" altLang="ko-KR" sz="1000" b="0" dirty="0" smtClean="0">
                          <a:effectLst/>
                          <a:latin typeface="+mn-ea"/>
                          <a:ea typeface="+mn-ea"/>
                          <a:cs typeface="Times New Roman" panose="02020603050405020304" pitchFamily="18" charset="0"/>
                        </a:rPr>
                        <a:t>, lost profit</a:t>
                      </a:r>
                      <a:r>
                        <a:rPr lang="ko-KR" altLang="en-US" sz="1000" b="0" dirty="0" smtClean="0">
                          <a:effectLst/>
                          <a:latin typeface="+mn-ea"/>
                          <a:ea typeface="+mn-ea"/>
                          <a:cs typeface="Times New Roman" panose="02020603050405020304" pitchFamily="18" charset="0"/>
                        </a:rPr>
                        <a:t>의 경우 </a:t>
                      </a:r>
                      <a:r>
                        <a:rPr lang="en-US" altLang="ko-KR" sz="1000" b="0" dirty="0" smtClean="0">
                          <a:effectLst/>
                          <a:latin typeface="+mn-ea"/>
                          <a:ea typeface="+mn-ea"/>
                          <a:cs typeface="Times New Roman" panose="02020603050405020304" pitchFamily="18" charset="0"/>
                        </a:rPr>
                        <a:t>breach</a:t>
                      </a:r>
                      <a:r>
                        <a:rPr lang="ko-KR" altLang="en-US" sz="1000" b="0" dirty="0" smtClean="0">
                          <a:effectLst/>
                          <a:latin typeface="+mn-ea"/>
                          <a:ea typeface="+mn-ea"/>
                          <a:cs typeface="Times New Roman" panose="02020603050405020304" pitchFamily="18" charset="0"/>
                        </a:rPr>
                        <a:t>와의 상당인과관계가 입증된다면 통상손해로서 인정될 가능성이 높음</a:t>
                      </a:r>
                      <a:r>
                        <a:rPr lang="en-US" altLang="ko-KR" sz="1000" b="0" dirty="0" smtClean="0">
                          <a:effectLst/>
                          <a:latin typeface="+mn-ea"/>
                          <a:ea typeface="+mn-ea"/>
                          <a:cs typeface="Times New Roman" panose="02020603050405020304" pitchFamily="18" charset="0"/>
                        </a:rPr>
                        <a:t>. </a:t>
                      </a:r>
                    </a:p>
                    <a:p>
                      <a:pPr marL="0" indent="0" algn="l">
                        <a:lnSpc>
                          <a:spcPct val="110000"/>
                        </a:lnSpc>
                        <a:spcAft>
                          <a:spcPts val="0"/>
                        </a:spcAft>
                        <a:buFont typeface="+mj-lt"/>
                        <a:buNone/>
                      </a:pPr>
                      <a:endParaRPr lang="en-US" altLang="ko-KR" sz="1000" b="0" dirty="0" smtClean="0">
                        <a:effectLst/>
                        <a:latin typeface="+mn-ea"/>
                        <a:ea typeface="+mn-ea"/>
                        <a:cs typeface="Times New Roman" panose="02020603050405020304" pitchFamily="18" charset="0"/>
                      </a:endParaRPr>
                    </a:p>
                    <a:p>
                      <a:pPr marL="0" indent="0" algn="l">
                        <a:lnSpc>
                          <a:spcPct val="110000"/>
                        </a:lnSpc>
                        <a:spcAft>
                          <a:spcPts val="0"/>
                        </a:spcAft>
                        <a:buFont typeface="+mj-lt"/>
                        <a:buNone/>
                      </a:pPr>
                      <a:r>
                        <a:rPr lang="ko-KR" altLang="en-US" sz="1000" b="0" dirty="0" smtClean="0">
                          <a:effectLst/>
                          <a:latin typeface="+mn-ea"/>
                          <a:ea typeface="+mn-ea"/>
                          <a:cs typeface="Times New Roman" panose="02020603050405020304" pitchFamily="18" charset="0"/>
                        </a:rPr>
                        <a:t>진술보장보험</a:t>
                      </a:r>
                      <a:r>
                        <a:rPr lang="en-US" altLang="ko-KR" sz="1000" b="0" dirty="0" smtClean="0">
                          <a:effectLst/>
                          <a:latin typeface="+mn-ea"/>
                          <a:ea typeface="+mn-ea"/>
                          <a:cs typeface="Times New Roman" panose="02020603050405020304" pitchFamily="18" charset="0"/>
                        </a:rPr>
                        <a:t>(W&amp;I</a:t>
                      </a:r>
                      <a:r>
                        <a:rPr lang="en-US" altLang="ko-KR" sz="1000" b="0" baseline="0" dirty="0" smtClean="0">
                          <a:effectLst/>
                          <a:latin typeface="+mn-ea"/>
                          <a:ea typeface="+mn-ea"/>
                          <a:cs typeface="Times New Roman" panose="02020603050405020304" pitchFamily="18" charset="0"/>
                        </a:rPr>
                        <a:t> insurance)</a:t>
                      </a:r>
                      <a:r>
                        <a:rPr lang="ko-KR" altLang="en-US" sz="1000" b="0" baseline="0" dirty="0" smtClean="0">
                          <a:effectLst/>
                          <a:latin typeface="+mn-ea"/>
                          <a:ea typeface="+mn-ea"/>
                          <a:cs typeface="Times New Roman" panose="02020603050405020304" pitchFamily="18" charset="0"/>
                        </a:rPr>
                        <a:t>가 있는 경우 </a:t>
                      </a:r>
                      <a:r>
                        <a:rPr lang="en-US" altLang="ko-KR" sz="1000" b="0" baseline="0" dirty="0" smtClean="0">
                          <a:effectLst/>
                          <a:latin typeface="+mn-ea"/>
                          <a:ea typeface="+mn-ea"/>
                          <a:cs typeface="Times New Roman" panose="02020603050405020304" pitchFamily="18" charset="0"/>
                        </a:rPr>
                        <a:t>no indirect damage </a:t>
                      </a:r>
                      <a:r>
                        <a:rPr lang="ko-KR" altLang="en-US" sz="1000" b="0" baseline="0" dirty="0" smtClean="0">
                          <a:effectLst/>
                          <a:latin typeface="+mn-ea"/>
                          <a:ea typeface="+mn-ea"/>
                          <a:cs typeface="Times New Roman" panose="02020603050405020304" pitchFamily="18" charset="0"/>
                        </a:rPr>
                        <a:t>문구는 </a:t>
                      </a:r>
                      <a:r>
                        <a:rPr lang="en-US" altLang="ko-KR" sz="1000" b="1" u="sng" baseline="0" dirty="0" smtClean="0">
                          <a:effectLst/>
                          <a:latin typeface="+mn-ea"/>
                          <a:ea typeface="+mn-ea"/>
                          <a:cs typeface="Times New Roman" panose="02020603050405020304" pitchFamily="18" charset="0"/>
                        </a:rPr>
                        <a:t>Attachment 3</a:t>
                      </a:r>
                      <a:r>
                        <a:rPr lang="en-US" altLang="ko-KR" sz="1000" b="0" baseline="0" dirty="0" smtClean="0">
                          <a:effectLst/>
                          <a:latin typeface="+mn-ea"/>
                          <a:ea typeface="+mn-ea"/>
                          <a:cs typeface="Times New Roman" panose="02020603050405020304" pitchFamily="18" charset="0"/>
                        </a:rPr>
                        <a:t>/</a:t>
                      </a:r>
                      <a:r>
                        <a:rPr lang="ko-KR" altLang="en-US" sz="1000" b="0" baseline="0" dirty="0" smtClean="0">
                          <a:effectLst/>
                          <a:latin typeface="+mn-ea"/>
                          <a:ea typeface="+mn-ea"/>
                          <a:cs typeface="Times New Roman" panose="02020603050405020304" pitchFamily="18" charset="0"/>
                        </a:rPr>
                        <a:t>추가 </a:t>
                      </a:r>
                      <a:r>
                        <a:rPr lang="en-US" altLang="ko-KR" sz="1000" b="0" baseline="0" dirty="0" smtClean="0">
                          <a:effectLst/>
                          <a:latin typeface="+mn-ea"/>
                          <a:ea typeface="+mn-ea"/>
                          <a:cs typeface="Times New Roman" panose="02020603050405020304" pitchFamily="18" charset="0"/>
                        </a:rPr>
                        <a:t>SPA </a:t>
                      </a:r>
                      <a:r>
                        <a:rPr lang="ko-KR" altLang="en-US" sz="1000" b="0" baseline="0" dirty="0" smtClean="0">
                          <a:effectLst/>
                          <a:latin typeface="+mn-ea"/>
                          <a:ea typeface="+mn-ea"/>
                          <a:cs typeface="Times New Roman" panose="02020603050405020304" pitchFamily="18" charset="0"/>
                        </a:rPr>
                        <a:t>문구 참고</a:t>
                      </a:r>
                      <a:r>
                        <a:rPr lang="en-US" altLang="ko-KR" sz="1000" b="0" baseline="0" dirty="0" smtClean="0">
                          <a:effectLst/>
                          <a:latin typeface="+mn-ea"/>
                          <a:ea typeface="+mn-ea"/>
                          <a:cs typeface="Times New Roman" panose="02020603050405020304" pitchFamily="18" charset="0"/>
                        </a:rPr>
                        <a:t>.</a:t>
                      </a:r>
                      <a:endParaRPr lang="en-US" altLang="ko-KR" sz="1000" b="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31884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smtClean="0">
                          <a:effectLst/>
                          <a:latin typeface="+mn-ea"/>
                          <a:ea typeface="+mn-ea"/>
                        </a:rPr>
                        <a:t>Section 9.10    </a:t>
                      </a:r>
                      <a:r>
                        <a:rPr lang="en-US" sz="1000" u="sng" dirty="0" smtClean="0">
                          <a:effectLst/>
                          <a:latin typeface="+mn-ea"/>
                          <a:ea typeface="+mn-ea"/>
                        </a:rPr>
                        <a:t>No Indirect Damage</a:t>
                      </a:r>
                      <a:r>
                        <a:rPr lang="en-US" sz="1000" dirty="0" smtClean="0">
                          <a:effectLst/>
                          <a:latin typeface="+mn-ea"/>
                          <a:ea typeface="+mn-ea"/>
                        </a:rPr>
                        <a:t>. In no event shall any party be liable (whether based on breach of contract, tort or otherwise) for any incidental, indirect, consequential, special, exemplary or punitive damages or loss, other than (</a:t>
                      </a:r>
                      <a:r>
                        <a:rPr lang="en-US" sz="1000" dirty="0" err="1" smtClean="0">
                          <a:effectLst/>
                          <a:latin typeface="+mn-ea"/>
                          <a:ea typeface="+mn-ea"/>
                        </a:rPr>
                        <a:t>i</a:t>
                      </a:r>
                      <a:r>
                        <a:rPr lang="en-US" sz="1000" dirty="0" smtClean="0">
                          <a:effectLst/>
                          <a:latin typeface="+mn-ea"/>
                          <a:ea typeface="+mn-ea"/>
                        </a:rPr>
                        <a:t>) any Loss which is a reasonably foreseeable consequence of the facts, matters and/or circumstances giving rise to the relevant claim, and (ii) Losses which are due to payments to a third party.</a:t>
                      </a:r>
                    </a:p>
                    <a:p>
                      <a:pPr marL="0" indent="0" algn="l">
                        <a:lnSpc>
                          <a:spcPct val="110000"/>
                        </a:lnSpc>
                        <a:spcAft>
                          <a:spcPts val="0"/>
                        </a:spcAft>
                        <a:tabLst>
                          <a:tab pos="2176145" algn="l"/>
                          <a:tab pos="540385" algn="l"/>
                        </a:tabLst>
                      </a:pPr>
                      <a:endParaRPr lang="en-US" sz="1000" dirty="0" smtClean="0">
                        <a:effectLst/>
                        <a:latin typeface="+mn-ea"/>
                        <a:ea typeface="+mn-ea"/>
                      </a:endParaRPr>
                    </a:p>
                    <a:p>
                      <a:pPr marL="0" indent="0" algn="l">
                        <a:lnSpc>
                          <a:spcPct val="110000"/>
                        </a:lnSpc>
                        <a:spcAft>
                          <a:spcPts val="0"/>
                        </a:spcAft>
                        <a:tabLst>
                          <a:tab pos="2176145" algn="l"/>
                          <a:tab pos="540385" algn="l"/>
                        </a:tabLst>
                      </a:pPr>
                      <a:r>
                        <a:rPr lang="en-US" altLang="ko-KR" sz="1000" u="sng" kern="1200" dirty="0" smtClean="0">
                          <a:solidFill>
                            <a:schemeClr val="tx1"/>
                          </a:solidFill>
                          <a:effectLst/>
                          <a:latin typeface="+mn-ea"/>
                          <a:ea typeface="+mn-ea"/>
                          <a:cs typeface="+mn-cs"/>
                        </a:rPr>
                        <a:t>“Losses</a:t>
                      </a:r>
                      <a:r>
                        <a:rPr lang="en-US" altLang="ko-KR" sz="1000" kern="1200" dirty="0" smtClean="0">
                          <a:solidFill>
                            <a:schemeClr val="tx1"/>
                          </a:solidFill>
                          <a:effectLst/>
                          <a:latin typeface="+mn-ea"/>
                          <a:ea typeface="+mn-ea"/>
                          <a:cs typeface="+mn-cs"/>
                        </a:rPr>
                        <a:t>” shall mean any Liabilities, Taxes, obligations, deficiencies, fines, penalties, losses, settlements, damages, claims, interest, awards, judgments, costs, fees and expenses (including reasonable attorneys’ fees and other out-of-pocket costs and expenses of investigating or contesting any of the foregoing).  [</a:t>
                      </a:r>
                      <a:r>
                        <a:rPr lang="en-US" altLang="ko-KR" sz="1000" u="sng" kern="1200" dirty="0" smtClean="0">
                          <a:solidFill>
                            <a:schemeClr val="tx1"/>
                          </a:solidFill>
                          <a:effectLst/>
                          <a:latin typeface="+mn-ea"/>
                          <a:ea typeface="+mn-ea"/>
                          <a:cs typeface="+mn-cs"/>
                        </a:rPr>
                        <a:t>Losses shall include incidental, consequential, special or indirect damages incurred by a Party (including lost profits) to the extent such losses were foreseeable, and in case of a Buyer, Losses incurred by Buyer may be calculated based on a price multiple used to determine the Purchase Price to the extent that such Losses affect Buyer’s valuation of the Company</a:t>
                      </a:r>
                      <a:r>
                        <a:rPr lang="en-US" altLang="ko-KR" sz="1000" kern="1200" dirty="0" smtClean="0">
                          <a:solidFill>
                            <a:schemeClr val="tx1"/>
                          </a:solidFill>
                          <a:effectLst/>
                          <a:latin typeface="+mn-ea"/>
                          <a:ea typeface="+mn-ea"/>
                          <a:cs typeface="+mn-cs"/>
                        </a:rPr>
                        <a:t>.]</a:t>
                      </a:r>
                      <a:r>
                        <a:rPr lang="en-US" sz="1000" dirty="0" smtClean="0">
                          <a:effectLst/>
                          <a:latin typeface="+mn-ea"/>
                          <a:ea typeface="+mn-ea"/>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7" name="TextBox 6"/>
          <p:cNvSpPr txBox="1"/>
          <p:nvPr/>
        </p:nvSpPr>
        <p:spPr>
          <a:xfrm>
            <a:off x="277813" y="671513"/>
            <a:ext cx="3716745" cy="276999"/>
          </a:xfrm>
          <a:prstGeom prst="rect">
            <a:avLst/>
          </a:prstGeom>
          <a:noFill/>
        </p:spPr>
        <p:txBody>
          <a:bodyPr wrap="square" rtlCol="0">
            <a:spAutoFit/>
          </a:bodyPr>
          <a:lstStyle/>
          <a:p>
            <a:r>
              <a:rPr lang="en-US" altLang="ko-KR" dirty="0" smtClean="0">
                <a:latin typeface="+mn-ea"/>
                <a:ea typeface="+mn-ea"/>
              </a:rPr>
              <a:t>6. No Indirect Damage</a:t>
            </a:r>
            <a:endParaRPr lang="ko-KR" altLang="en-US" dirty="0">
              <a:latin typeface="+mn-ea"/>
              <a:ea typeface="+mn-ea"/>
            </a:endParaRPr>
          </a:p>
        </p:txBody>
      </p:sp>
    </p:spTree>
    <p:extLst>
      <p:ext uri="{BB962C8B-B14F-4D97-AF65-F5344CB8AC3E}">
        <p14:creationId xmlns:p14="http://schemas.microsoft.com/office/powerpoint/2010/main" val="92057095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IX. Termination (1)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8" name="표 7"/>
          <p:cNvGraphicFramePr>
            <a:graphicFrameLocks noGrp="1"/>
          </p:cNvGraphicFramePr>
          <p:nvPr>
            <p:extLst>
              <p:ext uri="{D42A27DB-BD31-4B8C-83A1-F6EECF244321}">
                <p14:modId xmlns:p14="http://schemas.microsoft.com/office/powerpoint/2010/main" val="1452022020"/>
              </p:ext>
            </p:extLst>
          </p:nvPr>
        </p:nvGraphicFramePr>
        <p:xfrm>
          <a:off x="439738" y="671514"/>
          <a:ext cx="9188450" cy="5874756"/>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59586">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a:effectLst/>
                          <a:latin typeface="+mn-ea"/>
                          <a:ea typeface="+mn-ea"/>
                          <a:cs typeface="Times New Roman" panose="02020603050405020304" pitchFamily="18" charset="0"/>
                        </a:rPr>
                        <a:t>해제 사유</a:t>
                      </a:r>
                      <a:r>
                        <a:rPr lang="en-US" sz="1000">
                          <a:effectLst/>
                          <a:latin typeface="+mn-ea"/>
                          <a:ea typeface="+mn-ea"/>
                          <a:cs typeface="Times New Roman" panose="02020603050405020304" pitchFamily="18" charset="0"/>
                        </a:rPr>
                        <a:t>, </a:t>
                      </a:r>
                      <a:r>
                        <a:rPr lang="ko-KR" sz="1000">
                          <a:effectLst/>
                          <a:latin typeface="+mn-ea"/>
                          <a:ea typeface="+mn-ea"/>
                          <a:cs typeface="Times New Roman" panose="02020603050405020304" pitchFamily="18" charset="0"/>
                        </a:rPr>
                        <a:t>해제의 효력 등에 관해 기재함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43874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0">
                        <a:lnSpc>
                          <a:spcPct val="110000"/>
                        </a:lnSpc>
                        <a:spcAft>
                          <a:spcPts val="0"/>
                        </a:spcAft>
                        <a:buFont typeface="+mj-lt"/>
                        <a:buAutoNum type="arabicPeriod"/>
                      </a:pPr>
                      <a:r>
                        <a:rPr lang="ko-KR" sz="1000" b="1" dirty="0">
                          <a:effectLst/>
                          <a:latin typeface="+mn-ea"/>
                          <a:ea typeface="+mn-ea"/>
                          <a:cs typeface="Times New Roman" panose="02020603050405020304" pitchFamily="18" charset="0"/>
                        </a:rPr>
                        <a:t>거래종결 기한</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해제의 </a:t>
                      </a:r>
                      <a:r>
                        <a:rPr lang="ko-KR" sz="1000" dirty="0">
                          <a:effectLst/>
                          <a:latin typeface="+mn-ea"/>
                          <a:ea typeface="+mn-ea"/>
                          <a:cs typeface="바탕" panose="02030600000101010101" pitchFamily="18" charset="-127"/>
                        </a:rPr>
                        <a:t>경우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일반적인</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내용들</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외에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고려하여야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사항으로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거래종결기한</a:t>
                      </a:r>
                      <a:r>
                        <a:rPr lang="en-US" sz="1000" dirty="0">
                          <a:effectLst/>
                          <a:latin typeface="+mn-ea"/>
                          <a:ea typeface="+mn-ea"/>
                          <a:cs typeface="Times New Roman" panose="02020603050405020304" pitchFamily="18" charset="0"/>
                        </a:rPr>
                        <a:t>(</a:t>
                      </a:r>
                      <a:r>
                        <a:rPr lang="ko-KR" sz="1000" dirty="0">
                          <a:effectLst/>
                          <a:latin typeface="+mn-ea"/>
                          <a:ea typeface="+mn-ea"/>
                          <a:cs typeface="바탕" panose="02030600000101010101" pitchFamily="18" charset="-127"/>
                        </a:rPr>
                        <a:t>이른바</a:t>
                      </a:r>
                      <a:r>
                        <a:rPr lang="en-US" sz="1000" dirty="0">
                          <a:effectLst/>
                          <a:latin typeface="+mn-ea"/>
                          <a:ea typeface="+mn-ea"/>
                          <a:cs typeface="Times New Roman" panose="02020603050405020304" pitchFamily="18" charset="0"/>
                        </a:rPr>
                        <a:t> “Long Stop Date”, </a:t>
                      </a:r>
                      <a:r>
                        <a:rPr lang="ko-KR" sz="1000" dirty="0">
                          <a:effectLst/>
                          <a:latin typeface="+mn-ea"/>
                          <a:ea typeface="+mn-ea"/>
                          <a:cs typeface="Times New Roman" panose="02020603050405020304" pitchFamily="18" charset="0"/>
                        </a:rPr>
                        <a:t>하기 표준 </a:t>
                      </a:r>
                      <a:r>
                        <a:rPr lang="en-US" sz="1000" dirty="0">
                          <a:effectLst/>
                          <a:latin typeface="+mn-ea"/>
                          <a:ea typeface="+mn-ea"/>
                          <a:cs typeface="Times New Roman" panose="02020603050405020304" pitchFamily="18" charset="0"/>
                        </a:rPr>
                        <a:t>SPA</a:t>
                      </a:r>
                      <a:r>
                        <a:rPr lang="ko-KR" sz="1000" dirty="0">
                          <a:effectLst/>
                          <a:latin typeface="+mn-ea"/>
                          <a:ea typeface="+mn-ea"/>
                          <a:cs typeface="Times New Roman" panose="02020603050405020304" pitchFamily="18" charset="0"/>
                        </a:rPr>
                        <a:t>에서는 </a:t>
                      </a:r>
                      <a:r>
                        <a:rPr lang="en-US" sz="1000" dirty="0">
                          <a:effectLst/>
                          <a:latin typeface="+mn-ea"/>
                          <a:ea typeface="+mn-ea"/>
                          <a:cs typeface="Times New Roman" panose="02020603050405020304" pitchFamily="18" charset="0"/>
                        </a:rPr>
                        <a:t>“Termination Date”</a:t>
                      </a:r>
                      <a:r>
                        <a:rPr lang="ko-KR" sz="1000" dirty="0">
                          <a:effectLst/>
                          <a:latin typeface="+mn-ea"/>
                          <a:ea typeface="+mn-ea"/>
                          <a:cs typeface="Times New Roman" panose="02020603050405020304" pitchFamily="18" charset="0"/>
                        </a:rPr>
                        <a:t>으로 정의</a:t>
                      </a:r>
                      <a:r>
                        <a:rPr lang="en-US" sz="1000" dirty="0">
                          <a:effectLst/>
                          <a:latin typeface="+mn-ea"/>
                          <a:ea typeface="+mn-ea"/>
                          <a:cs typeface="Times New Roman" panose="02020603050405020304" pitchFamily="18" charset="0"/>
                        </a:rPr>
                        <a:t>)</a:t>
                      </a:r>
                      <a:r>
                        <a:rPr lang="ko-KR" sz="1000" dirty="0">
                          <a:effectLst/>
                          <a:latin typeface="+mn-ea"/>
                          <a:ea typeface="+mn-ea"/>
                          <a:cs typeface="바탕" panose="02030600000101010101" pitchFamily="18" charset="-127"/>
                        </a:rPr>
                        <a:t>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규정하는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고려할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있음</a:t>
                      </a:r>
                      <a:r>
                        <a:rPr lang="en-US" sz="1000" dirty="0">
                          <a:effectLst/>
                          <a:latin typeface="+mn-ea"/>
                          <a:ea typeface="+mn-ea"/>
                          <a:cs typeface="바탕" panose="02030600000101010101" pitchFamily="18" charset="-127"/>
                        </a:rPr>
                        <a:t>.</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542925" lvl="0" indent="-257175" algn="l">
                        <a:lnSpc>
                          <a:spcPct val="110000"/>
                        </a:lnSpc>
                        <a:spcAft>
                          <a:spcPts val="0"/>
                        </a:spcAft>
                        <a:buFont typeface="Wingdings" panose="05000000000000000000" pitchFamily="2" charset="2"/>
                        <a:buChar char="§"/>
                      </a:pPr>
                      <a:r>
                        <a:rPr lang="ko-KR" sz="1000" dirty="0">
                          <a:effectLst/>
                          <a:latin typeface="+mn-ea"/>
                          <a:ea typeface="+mn-ea"/>
                          <a:cs typeface="바탕" panose="02030600000101010101" pitchFamily="18" charset="-127"/>
                        </a:rPr>
                        <a:t>거래종결기한은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대체적으로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기업결합신고와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같이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정부기관의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승인까지</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일정한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시일이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필요한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주요한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아이템을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기준으로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하여</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일정을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정하며</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대략적으로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체결일로부터</a:t>
                      </a:r>
                      <a:r>
                        <a:rPr lang="en-US" sz="1000" dirty="0">
                          <a:effectLst/>
                          <a:latin typeface="+mn-ea"/>
                          <a:ea typeface="+mn-ea"/>
                          <a:cs typeface="Times New Roman" panose="02020603050405020304" pitchFamily="18" charset="0"/>
                        </a:rPr>
                        <a:t> 4-6</a:t>
                      </a:r>
                      <a:r>
                        <a:rPr lang="ko-KR" sz="1000" dirty="0">
                          <a:effectLst/>
                          <a:latin typeface="+mn-ea"/>
                          <a:ea typeface="+mn-ea"/>
                          <a:cs typeface="바탕" panose="02030600000101010101" pitchFamily="18" charset="-127"/>
                        </a:rPr>
                        <a:t>개월이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날을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거래종결기한으로</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정하는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것이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통상적임</a:t>
                      </a:r>
                      <a:r>
                        <a:rPr lang="en-US" sz="1000" dirty="0">
                          <a:effectLst/>
                          <a:latin typeface="+mn-ea"/>
                          <a:ea typeface="+mn-ea"/>
                          <a:cs typeface="바탕" panose="02030600000101010101" pitchFamily="18" charset="-127"/>
                        </a:rPr>
                        <a:t>.</a:t>
                      </a:r>
                      <a:r>
                        <a:rPr lang="en-US" sz="1000" dirty="0">
                          <a:effectLst/>
                          <a:latin typeface="+mn-ea"/>
                          <a:ea typeface="+mn-ea"/>
                          <a:cs typeface="Times New Roman" panose="02020603050405020304" pitchFamily="18" charset="0"/>
                        </a:rPr>
                        <a:t> </a:t>
                      </a:r>
                      <a:endParaRPr lang="en-US" sz="1000" dirty="0" smtClean="0">
                        <a:effectLst/>
                        <a:latin typeface="+mn-ea"/>
                        <a:ea typeface="+mn-ea"/>
                        <a:cs typeface="Times New Roman" panose="02020603050405020304" pitchFamily="18" charset="0"/>
                      </a:endParaRPr>
                    </a:p>
                    <a:p>
                      <a:pPr marL="542925" lvl="0" indent="-257175" algn="l">
                        <a:lnSpc>
                          <a:spcPct val="110000"/>
                        </a:lnSpc>
                        <a:spcAft>
                          <a:spcPts val="0"/>
                        </a:spcAft>
                        <a:buFont typeface="Wingdings" panose="05000000000000000000" pitchFamily="2" charset="2"/>
                        <a:buChar char="§"/>
                      </a:pPr>
                      <a:r>
                        <a:rPr lang="ko-KR" sz="1000" dirty="0" smtClean="0">
                          <a:effectLst/>
                          <a:latin typeface="+mn-ea"/>
                          <a:ea typeface="+mn-ea"/>
                          <a:cs typeface="바탕" panose="02030600000101010101" pitchFamily="18" charset="-127"/>
                        </a:rPr>
                        <a:t>거래종결기한이</a:t>
                      </a:r>
                      <a:r>
                        <a:rPr lang="ko-KR" sz="1000" dirty="0" smtClean="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도래하였을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때</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정부승인만이</a:t>
                      </a:r>
                      <a:r>
                        <a:rPr lang="en-US" sz="1000" dirty="0">
                          <a:effectLst/>
                          <a:latin typeface="+mn-ea"/>
                          <a:ea typeface="+mn-ea"/>
                          <a:cs typeface="Times New Roman" panose="02020603050405020304" pitchFamily="18" charset="0"/>
                        </a:rPr>
                        <a:t> pending </a:t>
                      </a:r>
                      <a:r>
                        <a:rPr lang="ko-KR" sz="1000" dirty="0">
                          <a:effectLst/>
                          <a:latin typeface="+mn-ea"/>
                          <a:ea typeface="+mn-ea"/>
                          <a:cs typeface="바탕" panose="02030600000101010101" pitchFamily="18" charset="-127"/>
                        </a:rPr>
                        <a:t>상태인</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경우에는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당사자</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일방</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또는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쌍방에</a:t>
                      </a:r>
                      <a:r>
                        <a:rPr lang="en-US" sz="1000" dirty="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일정 기간</a:t>
                      </a:r>
                      <a:r>
                        <a:rPr lang="en-US" altLang="ko-KR" sz="1000" dirty="0" smtClean="0">
                          <a:effectLst/>
                          <a:latin typeface="+mn-ea"/>
                          <a:ea typeface="+mn-ea"/>
                          <a:cs typeface="Times New Roman" panose="02020603050405020304" pitchFamily="18" charset="0"/>
                        </a:rPr>
                        <a:t>(</a:t>
                      </a:r>
                      <a:r>
                        <a:rPr lang="en-US" sz="1000" dirty="0" smtClean="0">
                          <a:effectLst/>
                          <a:latin typeface="+mn-ea"/>
                          <a:ea typeface="+mn-ea"/>
                          <a:cs typeface="Times New Roman" panose="02020603050405020304" pitchFamily="18" charset="0"/>
                        </a:rPr>
                        <a:t>1-2</a:t>
                      </a:r>
                      <a:r>
                        <a:rPr lang="ko-KR" sz="1000" dirty="0" smtClean="0">
                          <a:effectLst/>
                          <a:latin typeface="+mn-ea"/>
                          <a:ea typeface="+mn-ea"/>
                          <a:cs typeface="바탕" panose="02030600000101010101" pitchFamily="18" charset="-127"/>
                        </a:rPr>
                        <a:t>개월</a:t>
                      </a:r>
                      <a:r>
                        <a:rPr lang="en-US" altLang="ko-KR" sz="1000" dirty="0" smtClean="0">
                          <a:effectLst/>
                          <a:latin typeface="+mn-ea"/>
                          <a:ea typeface="+mn-ea"/>
                          <a:cs typeface="바탕" panose="02030600000101010101" pitchFamily="18" charset="-127"/>
                        </a:rPr>
                        <a:t>)</a:t>
                      </a:r>
                      <a:r>
                        <a:rPr lang="ko-KR" sz="1000" dirty="0" smtClean="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거래종결기한을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연장할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권리를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부여하는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경우도</a:t>
                      </a:r>
                      <a:r>
                        <a:rPr lang="ko-KR" sz="1000" dirty="0">
                          <a:effectLst/>
                          <a:latin typeface="+mn-ea"/>
                          <a:ea typeface="+mn-ea"/>
                          <a:cs typeface="Times New Roman" panose="02020603050405020304" pitchFamily="18" charset="0"/>
                        </a:rPr>
                        <a:t> </a:t>
                      </a:r>
                      <a:r>
                        <a:rPr lang="ko-KR" sz="1000" dirty="0" smtClean="0">
                          <a:effectLst/>
                          <a:latin typeface="+mn-ea"/>
                          <a:ea typeface="+mn-ea"/>
                          <a:cs typeface="바탕" panose="02030600000101010101" pitchFamily="18" charset="-127"/>
                        </a:rPr>
                        <a:t>있음</a:t>
                      </a:r>
                      <a:r>
                        <a:rPr lang="en-US" altLang="ko-KR" sz="1000" dirty="0" smtClean="0">
                          <a:effectLst/>
                          <a:latin typeface="+mn-ea"/>
                          <a:ea typeface="+mn-ea"/>
                          <a:cs typeface="바탕" panose="02030600000101010101" pitchFamily="18" charset="-127"/>
                        </a:rPr>
                        <a:t>.</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startAt="2"/>
                      </a:pPr>
                      <a:r>
                        <a:rPr lang="ko-KR" sz="1000" b="1" dirty="0">
                          <a:effectLst/>
                          <a:latin typeface="+mn-ea"/>
                          <a:ea typeface="+mn-ea"/>
                          <a:cs typeface="바탕" panose="02030600000101010101" pitchFamily="18" charset="-127"/>
                        </a:rPr>
                        <a:t>해제 기한</a:t>
                      </a:r>
                      <a:r>
                        <a:rPr lang="en-US" sz="1000" b="1" dirty="0">
                          <a:effectLst/>
                          <a:latin typeface="+mn-ea"/>
                          <a:ea typeface="+mn-ea"/>
                          <a:cs typeface="바탕" panose="02030600000101010101" pitchFamily="18" charset="-127"/>
                        </a:rPr>
                        <a:t>:</a:t>
                      </a:r>
                      <a:r>
                        <a:rPr lang="en-US" sz="1000" dirty="0">
                          <a:effectLst/>
                          <a:latin typeface="+mn-ea"/>
                          <a:ea typeface="+mn-ea"/>
                          <a:cs typeface="바탕" panose="02030600000101010101" pitchFamily="18" charset="-127"/>
                        </a:rPr>
                        <a:t> </a:t>
                      </a:r>
                      <a:r>
                        <a:rPr lang="ko-KR" sz="1000" dirty="0">
                          <a:effectLst/>
                          <a:latin typeface="+mn-ea"/>
                          <a:ea typeface="+mn-ea"/>
                          <a:cs typeface="바탕" panose="02030600000101010101" pitchFamily="18" charset="-127"/>
                        </a:rPr>
                        <a:t>주식매매계약의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해제는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거래종결</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전까지만</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가능하며</a:t>
                      </a:r>
                      <a:r>
                        <a:rPr lang="en-US"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거래종결이</a:t>
                      </a:r>
                      <a:r>
                        <a:rPr lang="ko-KR" sz="1000" dirty="0">
                          <a:effectLst/>
                          <a:latin typeface="+mn-ea"/>
                          <a:ea typeface="+mn-ea"/>
                          <a:cs typeface="Times New Roman" panose="02020603050405020304" pitchFamily="18" charset="0"/>
                        </a:rPr>
                        <a:t> </a:t>
                      </a:r>
                      <a:r>
                        <a:rPr lang="ko-KR" sz="1000" dirty="0" smtClean="0">
                          <a:effectLst/>
                          <a:latin typeface="+mn-ea"/>
                          <a:ea typeface="+mn-ea"/>
                          <a:cs typeface="바탕" panose="02030600000101010101" pitchFamily="18" charset="-127"/>
                        </a:rPr>
                        <a:t>이루어진</a:t>
                      </a:r>
                      <a:r>
                        <a:rPr lang="ko-KR" sz="1000" dirty="0" smtClean="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이후에는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해제를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할</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없되</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손해배상규정을</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통하여</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손해를</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회복하는</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방법이</a:t>
                      </a:r>
                      <a:r>
                        <a:rPr lang="ko-KR" sz="1000" dirty="0">
                          <a:effectLst/>
                          <a:latin typeface="+mn-ea"/>
                          <a:ea typeface="+mn-ea"/>
                          <a:cs typeface="Times New Roman" panose="02020603050405020304" pitchFamily="18" charset="0"/>
                        </a:rPr>
                        <a:t> </a:t>
                      </a:r>
                      <a:r>
                        <a:rPr lang="ko-KR" sz="1000" dirty="0">
                          <a:effectLst/>
                          <a:latin typeface="+mn-ea"/>
                          <a:ea typeface="+mn-ea"/>
                          <a:cs typeface="바탕" panose="02030600000101010101" pitchFamily="18" charset="-127"/>
                        </a:rPr>
                        <a:t>통상적임</a:t>
                      </a:r>
                      <a:r>
                        <a:rPr lang="en-US" sz="1000" dirty="0" smtClean="0">
                          <a:effectLst/>
                          <a:latin typeface="+mn-ea"/>
                          <a:ea typeface="+mn-ea"/>
                          <a:cs typeface="Times New Roman" panose="02020603050405020304" pitchFamily="18" charset="0"/>
                        </a:rPr>
                        <a:t>(9.08</a:t>
                      </a:r>
                      <a:r>
                        <a:rPr lang="ko-KR" sz="1000" dirty="0">
                          <a:effectLst/>
                          <a:latin typeface="+mn-ea"/>
                          <a:ea typeface="+mn-ea"/>
                          <a:cs typeface="Times New Roman" panose="02020603050405020304" pitchFamily="18" charset="0"/>
                        </a:rPr>
                        <a:t>조 </a:t>
                      </a:r>
                      <a:r>
                        <a:rPr lang="en-US" sz="1000" dirty="0">
                          <a:effectLst/>
                          <a:latin typeface="+mn-ea"/>
                          <a:ea typeface="+mn-ea"/>
                          <a:cs typeface="Times New Roman" panose="02020603050405020304" pitchFamily="18" charset="0"/>
                        </a:rPr>
                        <a:t>(Sole and Exclusive Remedy)).</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07643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10.01   </a:t>
                      </a:r>
                      <a:r>
                        <a:rPr lang="en-US" sz="1000" u="sng" dirty="0">
                          <a:effectLst/>
                          <a:latin typeface="+mn-ea"/>
                          <a:ea typeface="+mn-ea"/>
                        </a:rPr>
                        <a:t>Termination</a:t>
                      </a:r>
                      <a:endParaRPr lang="ko-KR" sz="1000" dirty="0">
                        <a:effectLst/>
                        <a:latin typeface="+mn-ea"/>
                        <a:ea typeface="+mn-ea"/>
                      </a:endParaRPr>
                    </a:p>
                    <a:p>
                      <a:pPr algn="l">
                        <a:lnSpc>
                          <a:spcPct val="110000"/>
                        </a:lnSpc>
                        <a:spcAft>
                          <a:spcPts val="0"/>
                        </a:spcAft>
                      </a:pPr>
                      <a:r>
                        <a:rPr lang="en-US" sz="1000" dirty="0">
                          <a:effectLst/>
                          <a:latin typeface="+mn-ea"/>
                          <a:ea typeface="+mn-ea"/>
                        </a:rPr>
                        <a:t>.  This Agreement may be terminated and the transactions contemplated hereby may be abandoned at any time prior to the Closing only as follows:</a:t>
                      </a:r>
                      <a:endParaRPr lang="ko-KR" sz="1000" dirty="0">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by mutual written agreement of Seller and Buyer;</a:t>
                      </a:r>
                      <a:endParaRPr lang="ko-KR" sz="9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by either Seller or Buyer at any time after [•] (the “</a:t>
                      </a:r>
                      <a:r>
                        <a:rPr lang="en-US" sz="900" u="sng" strike="noStrike" dirty="0">
                          <a:ln>
                            <a:noFill/>
                          </a:ln>
                          <a:effectLst>
                            <a:outerShdw sx="0" sy="0">
                              <a:srgbClr val="000000"/>
                            </a:outerShdw>
                          </a:effectLst>
                          <a:latin typeface="+mn-ea"/>
                          <a:ea typeface="+mn-ea"/>
                        </a:rPr>
                        <a:t>Termination Date</a:t>
                      </a:r>
                      <a:r>
                        <a:rPr lang="en-US" sz="900" u="none" strike="noStrike" dirty="0">
                          <a:ln>
                            <a:noFill/>
                          </a:ln>
                          <a:effectLst>
                            <a:outerShdw sx="0" sy="0">
                              <a:srgbClr val="000000"/>
                            </a:outerShdw>
                          </a:effectLst>
                          <a:latin typeface="+mn-ea"/>
                          <a:ea typeface="+mn-ea"/>
                        </a:rPr>
                        <a:t>”), if the Closing shall not have occurred on or prior to such time on such date; </a:t>
                      </a:r>
                      <a:r>
                        <a:rPr lang="en-US" sz="900" u="sng" strike="noStrike" dirty="0">
                          <a:ln>
                            <a:noFill/>
                          </a:ln>
                          <a:effectLst>
                            <a:outerShdw sx="0" sy="0">
                              <a:srgbClr val="000000"/>
                            </a:outerShdw>
                          </a:effectLst>
                          <a:latin typeface="+mn-ea"/>
                          <a:ea typeface="+mn-ea"/>
                        </a:rPr>
                        <a:t>provided</a:t>
                      </a:r>
                      <a:r>
                        <a:rPr lang="en-US" sz="900" u="none" strike="noStrike" dirty="0">
                          <a:ln>
                            <a:noFill/>
                          </a:ln>
                          <a:effectLst>
                            <a:outerShdw sx="0" sy="0">
                              <a:srgbClr val="000000"/>
                            </a:outerShdw>
                          </a:effectLst>
                          <a:latin typeface="+mn-ea"/>
                          <a:ea typeface="+mn-ea"/>
                        </a:rPr>
                        <a:t>, </a:t>
                      </a:r>
                      <a:r>
                        <a:rPr lang="en-US" sz="900" u="sng" strike="noStrike" dirty="0">
                          <a:ln>
                            <a:noFill/>
                          </a:ln>
                          <a:effectLst>
                            <a:outerShdw sx="0" sy="0">
                              <a:srgbClr val="000000"/>
                            </a:outerShdw>
                          </a:effectLst>
                          <a:latin typeface="+mn-ea"/>
                          <a:ea typeface="+mn-ea"/>
                        </a:rPr>
                        <a:t>however</a:t>
                      </a:r>
                      <a:r>
                        <a:rPr lang="en-US" sz="900" u="none" strike="noStrike" dirty="0">
                          <a:ln>
                            <a:noFill/>
                          </a:ln>
                          <a:effectLst>
                            <a:outerShdw sx="0" sy="0">
                              <a:srgbClr val="000000"/>
                            </a:outerShdw>
                          </a:effectLst>
                          <a:latin typeface="+mn-ea"/>
                          <a:ea typeface="+mn-ea"/>
                        </a:rPr>
                        <a:t>, that a party shall not have the right to terminate this Agreement pursuant to this </a:t>
                      </a:r>
                      <a:r>
                        <a:rPr lang="en-US" sz="900" u="sng" strike="noStrike" dirty="0">
                          <a:ln>
                            <a:noFill/>
                          </a:ln>
                          <a:effectLst>
                            <a:outerShdw sx="0" sy="0">
                              <a:srgbClr val="000000"/>
                            </a:outerShdw>
                          </a:effectLst>
                          <a:latin typeface="+mn-ea"/>
                          <a:ea typeface="+mn-ea"/>
                        </a:rPr>
                        <a:t>Section 10.01(b)</a:t>
                      </a:r>
                      <a:r>
                        <a:rPr lang="en-US" sz="900" u="none" strike="noStrike" dirty="0">
                          <a:ln>
                            <a:noFill/>
                          </a:ln>
                          <a:effectLst>
                            <a:outerShdw sx="0" sy="0">
                              <a:srgbClr val="000000"/>
                            </a:outerShdw>
                          </a:effectLst>
                          <a:latin typeface="+mn-ea"/>
                          <a:ea typeface="+mn-ea"/>
                        </a:rPr>
                        <a:t> if such party’s failure to perform or comply with any covenants or agreements of such party set forth in this Agreement (including under </a:t>
                      </a:r>
                      <a:r>
                        <a:rPr lang="en-US" sz="900" u="sng" strike="noStrike" dirty="0">
                          <a:ln>
                            <a:noFill/>
                          </a:ln>
                          <a:effectLst>
                            <a:outerShdw sx="0" sy="0">
                              <a:srgbClr val="000000"/>
                            </a:outerShdw>
                          </a:effectLst>
                          <a:latin typeface="+mn-ea"/>
                          <a:ea typeface="+mn-ea"/>
                        </a:rPr>
                        <a:t>Section 2.02</a:t>
                      </a:r>
                      <a:r>
                        <a:rPr lang="en-US" sz="900" u="none" strike="noStrike" dirty="0">
                          <a:ln>
                            <a:noFill/>
                          </a:ln>
                          <a:effectLst>
                            <a:outerShdw sx="0" sy="0">
                              <a:srgbClr val="000000"/>
                            </a:outerShdw>
                          </a:effectLst>
                          <a:latin typeface="+mn-ea"/>
                          <a:ea typeface="+mn-ea"/>
                        </a:rPr>
                        <a:t>) has resulted in or has contributed to the failure of the Closing to occur prior to the Termination Date;</a:t>
                      </a:r>
                      <a:endParaRPr lang="ko-KR" sz="9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by Seller or Buyer, if any Order or Law of the type that would give rise to the failure of the condition to the Closing set forth in </a:t>
                      </a:r>
                      <a:r>
                        <a:rPr lang="en-US" sz="900" u="sng" strike="noStrike" dirty="0">
                          <a:ln>
                            <a:noFill/>
                          </a:ln>
                          <a:effectLst>
                            <a:outerShdw sx="0" sy="0">
                              <a:srgbClr val="000000"/>
                            </a:outerShdw>
                          </a:effectLst>
                          <a:latin typeface="+mn-ea"/>
                          <a:ea typeface="+mn-ea"/>
                        </a:rPr>
                        <a:t>Section 8.01(a)</a:t>
                      </a:r>
                      <a:r>
                        <a:rPr lang="en-US" sz="900" u="none" strike="noStrike" dirty="0">
                          <a:ln>
                            <a:noFill/>
                          </a:ln>
                          <a:effectLst>
                            <a:outerShdw sx="0" sy="0">
                              <a:srgbClr val="000000"/>
                            </a:outerShdw>
                          </a:effectLst>
                          <a:latin typeface="+mn-ea"/>
                          <a:ea typeface="+mn-ea"/>
                        </a:rPr>
                        <a:t> and permanently prohibiting the consummation of the transactions contemplated by this Agreement shall have become final and non-appealable;</a:t>
                      </a:r>
                      <a:endParaRPr lang="ko-KR" sz="9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by Buyer, if any representation or warranty of Seller set forth in </a:t>
                      </a:r>
                      <a:r>
                        <a:rPr lang="en-US" sz="900" u="sng" strike="noStrike" dirty="0">
                          <a:ln>
                            <a:noFill/>
                          </a:ln>
                          <a:effectLst>
                            <a:outerShdw sx="0" sy="0">
                              <a:srgbClr val="000000"/>
                            </a:outerShdw>
                          </a:effectLst>
                          <a:latin typeface="+mn-ea"/>
                          <a:ea typeface="+mn-ea"/>
                        </a:rPr>
                        <a:t>Article V</a:t>
                      </a:r>
                      <a:r>
                        <a:rPr lang="en-US" sz="900" u="none" strike="noStrike" dirty="0">
                          <a:ln>
                            <a:noFill/>
                          </a:ln>
                          <a:effectLst>
                            <a:outerShdw sx="0" sy="0">
                              <a:srgbClr val="000000"/>
                            </a:outerShdw>
                          </a:effectLst>
                          <a:latin typeface="+mn-ea"/>
                          <a:ea typeface="+mn-ea"/>
                        </a:rPr>
                        <a:t> shall be or shall have become inaccurate or Seller shall have breached or failed to perform any of their respective covenants or other agreements set forth in this Agreement, which inaccuracy, breach or failure to perform would give rise to the failure of any of the conditions set forth in </a:t>
                      </a:r>
                      <a:r>
                        <a:rPr lang="en-US" sz="900" u="sng" strike="noStrike" dirty="0">
                          <a:ln>
                            <a:noFill/>
                          </a:ln>
                          <a:effectLst>
                            <a:outerShdw sx="0" sy="0">
                              <a:srgbClr val="000000"/>
                            </a:outerShdw>
                          </a:effectLst>
                          <a:latin typeface="+mn-ea"/>
                          <a:ea typeface="+mn-ea"/>
                        </a:rPr>
                        <a:t>Section 8.02(a)</a:t>
                      </a:r>
                      <a:r>
                        <a:rPr lang="en-US" sz="900" u="none" strike="noStrike" dirty="0">
                          <a:ln>
                            <a:noFill/>
                          </a:ln>
                          <a:effectLst>
                            <a:outerShdw sx="0" sy="0">
                              <a:srgbClr val="000000"/>
                            </a:outerShdw>
                          </a:effectLst>
                          <a:latin typeface="+mn-ea"/>
                          <a:ea typeface="+mn-ea"/>
                        </a:rPr>
                        <a:t>, or </a:t>
                      </a:r>
                      <a:r>
                        <a:rPr lang="en-US" sz="900" u="sng" strike="noStrike" dirty="0">
                          <a:ln>
                            <a:noFill/>
                          </a:ln>
                          <a:effectLst>
                            <a:outerShdw sx="0" sy="0">
                              <a:srgbClr val="000000"/>
                            </a:outerShdw>
                          </a:effectLst>
                          <a:latin typeface="+mn-ea"/>
                          <a:ea typeface="+mn-ea"/>
                        </a:rPr>
                        <a:t>Section 8.02(b)</a:t>
                      </a:r>
                      <a:r>
                        <a:rPr lang="en-US" sz="900" u="none" strike="noStrike" dirty="0">
                          <a:ln>
                            <a:noFill/>
                          </a:ln>
                          <a:effectLst>
                            <a:outerShdw sx="0" sy="0">
                              <a:srgbClr val="000000"/>
                            </a:outerShdw>
                          </a:effectLst>
                          <a:latin typeface="+mn-ea"/>
                          <a:ea typeface="+mn-ea"/>
                        </a:rPr>
                        <a:t>, and which inaccuracy, breach or failure to perform cannot be cured by Seller, as the case may be, or, if capable of being cured, shall not have been cured prior to the date that is [thirty (30)] calendar days after receipt by Seller of notice in writing from Buyer specifying the nature of such inaccuracy, breach or failure to perform and requesting that it be cured; </a:t>
                      </a:r>
                      <a:r>
                        <a:rPr lang="en-US" sz="900" u="sng" strike="noStrike" dirty="0">
                          <a:ln>
                            <a:noFill/>
                          </a:ln>
                          <a:effectLst>
                            <a:outerShdw sx="0" sy="0">
                              <a:srgbClr val="000000"/>
                            </a:outerShdw>
                          </a:effectLst>
                          <a:latin typeface="+mn-ea"/>
                          <a:ea typeface="+mn-ea"/>
                        </a:rPr>
                        <a:t>provided</a:t>
                      </a:r>
                      <a:r>
                        <a:rPr lang="en-US" sz="900" u="none" strike="noStrike" dirty="0">
                          <a:ln>
                            <a:noFill/>
                          </a:ln>
                          <a:effectLst>
                            <a:outerShdw sx="0" sy="0">
                              <a:srgbClr val="000000"/>
                            </a:outerShdw>
                          </a:effectLst>
                          <a:latin typeface="+mn-ea"/>
                          <a:ea typeface="+mn-ea"/>
                        </a:rPr>
                        <a:t>, </a:t>
                      </a:r>
                      <a:r>
                        <a:rPr lang="en-US" sz="900" u="sng" strike="noStrike" dirty="0">
                          <a:ln>
                            <a:noFill/>
                          </a:ln>
                          <a:effectLst>
                            <a:outerShdw sx="0" sy="0">
                              <a:srgbClr val="000000"/>
                            </a:outerShdw>
                          </a:effectLst>
                          <a:latin typeface="+mn-ea"/>
                          <a:ea typeface="+mn-ea"/>
                        </a:rPr>
                        <a:t>however</a:t>
                      </a:r>
                      <a:r>
                        <a:rPr lang="en-US" sz="900" u="none" strike="noStrike" dirty="0">
                          <a:ln>
                            <a:noFill/>
                          </a:ln>
                          <a:effectLst>
                            <a:outerShdw sx="0" sy="0">
                              <a:srgbClr val="000000"/>
                            </a:outerShdw>
                          </a:effectLst>
                          <a:latin typeface="+mn-ea"/>
                          <a:ea typeface="+mn-ea"/>
                        </a:rPr>
                        <a:t>, that Buyer shall not have the right to terminate this Agreement pursuant to this </a:t>
                      </a:r>
                      <a:r>
                        <a:rPr lang="en-US" sz="900" u="sng" strike="noStrike" dirty="0">
                          <a:ln>
                            <a:noFill/>
                          </a:ln>
                          <a:effectLst>
                            <a:outerShdw sx="0" sy="0">
                              <a:srgbClr val="000000"/>
                            </a:outerShdw>
                          </a:effectLst>
                          <a:latin typeface="+mn-ea"/>
                          <a:ea typeface="+mn-ea"/>
                        </a:rPr>
                        <a:t>Section 10.01(d)</a:t>
                      </a:r>
                      <a:r>
                        <a:rPr lang="en-US" sz="900" u="none" strike="noStrike" dirty="0">
                          <a:ln>
                            <a:noFill/>
                          </a:ln>
                          <a:effectLst>
                            <a:outerShdw sx="0" sy="0">
                              <a:srgbClr val="000000"/>
                            </a:outerShdw>
                          </a:effectLst>
                          <a:latin typeface="+mn-ea"/>
                          <a:ea typeface="+mn-ea"/>
                        </a:rPr>
                        <a:t> if Buyer has breached this Agreement such that any of the conditions to closing set forth in </a:t>
                      </a:r>
                      <a:r>
                        <a:rPr lang="en-US" sz="900" u="sng" strike="noStrike" dirty="0">
                          <a:ln>
                            <a:noFill/>
                          </a:ln>
                          <a:effectLst>
                            <a:outerShdw sx="0" sy="0">
                              <a:srgbClr val="000000"/>
                            </a:outerShdw>
                          </a:effectLst>
                          <a:latin typeface="+mn-ea"/>
                          <a:ea typeface="+mn-ea"/>
                        </a:rPr>
                        <a:t>Section 8.03</a:t>
                      </a:r>
                      <a:r>
                        <a:rPr lang="en-US" sz="900" u="none" strike="noStrike" dirty="0">
                          <a:ln>
                            <a:noFill/>
                          </a:ln>
                          <a:effectLst>
                            <a:outerShdw sx="0" sy="0">
                              <a:srgbClr val="000000"/>
                            </a:outerShdw>
                          </a:effectLst>
                          <a:latin typeface="+mn-ea"/>
                          <a:ea typeface="+mn-ea"/>
                        </a:rPr>
                        <a:t> would not then be satisfied as a result of such breach; </a:t>
                      </a:r>
                      <a:endParaRPr lang="ko-KR" sz="9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by Seller, if any representation or warranty of Buyer set forth in </a:t>
                      </a:r>
                      <a:r>
                        <a:rPr lang="en-US" sz="900" u="sng" strike="noStrike" dirty="0">
                          <a:ln>
                            <a:noFill/>
                          </a:ln>
                          <a:effectLst>
                            <a:outerShdw sx="0" sy="0">
                              <a:srgbClr val="000000"/>
                            </a:outerShdw>
                          </a:effectLst>
                          <a:latin typeface="+mn-ea"/>
                          <a:ea typeface="+mn-ea"/>
                        </a:rPr>
                        <a:t>Article VI</a:t>
                      </a:r>
                      <a:r>
                        <a:rPr lang="en-US" sz="900" u="none" strike="noStrike" dirty="0">
                          <a:ln>
                            <a:noFill/>
                          </a:ln>
                          <a:effectLst>
                            <a:outerShdw sx="0" sy="0">
                              <a:srgbClr val="000000"/>
                            </a:outerShdw>
                          </a:effectLst>
                          <a:latin typeface="+mn-ea"/>
                          <a:ea typeface="+mn-ea"/>
                        </a:rPr>
                        <a:t> shall be or shall have become inaccurate or Buyer shall have breached or failed to perform any of its covenants or other agreements set forth in this Agreement, which inaccuracy, breach or failure to perform would give rise to the failure of any of the conditions set forth in </a:t>
                      </a:r>
                      <a:r>
                        <a:rPr lang="en-US" sz="900" u="sng" strike="noStrike" dirty="0">
                          <a:ln>
                            <a:noFill/>
                          </a:ln>
                          <a:effectLst>
                            <a:outerShdw sx="0" sy="0">
                              <a:srgbClr val="000000"/>
                            </a:outerShdw>
                          </a:effectLst>
                          <a:latin typeface="+mn-ea"/>
                          <a:ea typeface="+mn-ea"/>
                        </a:rPr>
                        <a:t>Section 8.03(a)</a:t>
                      </a:r>
                      <a:r>
                        <a:rPr lang="en-US" sz="900" u="none" strike="noStrike" dirty="0">
                          <a:ln>
                            <a:noFill/>
                          </a:ln>
                          <a:effectLst>
                            <a:outerShdw sx="0" sy="0">
                              <a:srgbClr val="000000"/>
                            </a:outerShdw>
                          </a:effectLst>
                          <a:latin typeface="+mn-ea"/>
                          <a:ea typeface="+mn-ea"/>
                        </a:rPr>
                        <a:t> or </a:t>
                      </a:r>
                      <a:r>
                        <a:rPr lang="en-US" sz="900" u="sng" strike="noStrike" dirty="0">
                          <a:ln>
                            <a:noFill/>
                          </a:ln>
                          <a:effectLst>
                            <a:outerShdw sx="0" sy="0">
                              <a:srgbClr val="000000"/>
                            </a:outerShdw>
                          </a:effectLst>
                          <a:latin typeface="+mn-ea"/>
                          <a:ea typeface="+mn-ea"/>
                        </a:rPr>
                        <a:t>8.03(b)</a:t>
                      </a:r>
                      <a:r>
                        <a:rPr lang="en-US" sz="900" u="none" strike="noStrike" dirty="0">
                          <a:ln>
                            <a:noFill/>
                          </a:ln>
                          <a:effectLst>
                            <a:outerShdw sx="0" sy="0">
                              <a:srgbClr val="000000"/>
                            </a:outerShdw>
                          </a:effectLst>
                          <a:latin typeface="+mn-ea"/>
                          <a:ea typeface="+mn-ea"/>
                        </a:rPr>
                        <a:t>, and which inaccuracy, breach or failure to perform cannot be cured by Buyer, or, if capable of being cured, shall not have been cured prior to the date that is [thirty (30)] calendar days after receipt by Buyer of notice in writing from Seller specifying the nature of such inaccuracy, breach or failure to perform and requesting that it be cured; </a:t>
                      </a:r>
                      <a:r>
                        <a:rPr lang="en-US" sz="900" u="sng" strike="noStrike" dirty="0">
                          <a:ln>
                            <a:noFill/>
                          </a:ln>
                          <a:effectLst>
                            <a:outerShdw sx="0" sy="0">
                              <a:srgbClr val="000000"/>
                            </a:outerShdw>
                          </a:effectLst>
                          <a:latin typeface="+mn-ea"/>
                          <a:ea typeface="+mn-ea"/>
                        </a:rPr>
                        <a:t>provided</a:t>
                      </a:r>
                      <a:r>
                        <a:rPr lang="en-US" sz="900" u="none" strike="noStrike" dirty="0">
                          <a:ln>
                            <a:noFill/>
                          </a:ln>
                          <a:effectLst>
                            <a:outerShdw sx="0" sy="0">
                              <a:srgbClr val="000000"/>
                            </a:outerShdw>
                          </a:effectLst>
                          <a:latin typeface="+mn-ea"/>
                          <a:ea typeface="+mn-ea"/>
                        </a:rPr>
                        <a:t>, </a:t>
                      </a:r>
                      <a:r>
                        <a:rPr lang="en-US" sz="900" u="sng" strike="noStrike" dirty="0">
                          <a:ln>
                            <a:noFill/>
                          </a:ln>
                          <a:effectLst>
                            <a:outerShdw sx="0" sy="0">
                              <a:srgbClr val="000000"/>
                            </a:outerShdw>
                          </a:effectLst>
                          <a:latin typeface="+mn-ea"/>
                          <a:ea typeface="+mn-ea"/>
                        </a:rPr>
                        <a:t>however</a:t>
                      </a:r>
                      <a:r>
                        <a:rPr lang="en-US" sz="900" u="none" strike="noStrike" dirty="0">
                          <a:ln>
                            <a:noFill/>
                          </a:ln>
                          <a:effectLst>
                            <a:outerShdw sx="0" sy="0">
                              <a:srgbClr val="000000"/>
                            </a:outerShdw>
                          </a:effectLst>
                          <a:latin typeface="+mn-ea"/>
                          <a:ea typeface="+mn-ea"/>
                        </a:rPr>
                        <a:t>, that (</a:t>
                      </a:r>
                      <a:r>
                        <a:rPr lang="en-US" sz="900" u="none" strike="noStrike" dirty="0" err="1">
                          <a:ln>
                            <a:noFill/>
                          </a:ln>
                          <a:effectLst>
                            <a:outerShdw sx="0" sy="0">
                              <a:srgbClr val="000000"/>
                            </a:outerShdw>
                          </a:effectLst>
                          <a:latin typeface="+mn-ea"/>
                          <a:ea typeface="+mn-ea"/>
                        </a:rPr>
                        <a:t>i</a:t>
                      </a:r>
                      <a:r>
                        <a:rPr lang="en-US" sz="900" u="none" strike="noStrike" dirty="0">
                          <a:ln>
                            <a:noFill/>
                          </a:ln>
                          <a:effectLst>
                            <a:outerShdw sx="0" sy="0">
                              <a:srgbClr val="000000"/>
                            </a:outerShdw>
                          </a:effectLst>
                          <a:latin typeface="+mn-ea"/>
                          <a:ea typeface="+mn-ea"/>
                        </a:rPr>
                        <a:t>) Seller shall not have the right to terminate this Agreement pursuant to this </a:t>
                      </a:r>
                      <a:r>
                        <a:rPr lang="en-US" sz="900" u="sng" strike="noStrike" dirty="0">
                          <a:ln>
                            <a:noFill/>
                          </a:ln>
                          <a:effectLst>
                            <a:outerShdw sx="0" sy="0">
                              <a:srgbClr val="000000"/>
                            </a:outerShdw>
                          </a:effectLst>
                          <a:latin typeface="+mn-ea"/>
                          <a:ea typeface="+mn-ea"/>
                        </a:rPr>
                        <a:t>Section 10.01(e)</a:t>
                      </a:r>
                      <a:r>
                        <a:rPr lang="en-US" sz="900" u="none" strike="noStrike" dirty="0">
                          <a:ln>
                            <a:noFill/>
                          </a:ln>
                          <a:effectLst>
                            <a:outerShdw sx="0" sy="0">
                              <a:srgbClr val="000000"/>
                            </a:outerShdw>
                          </a:effectLst>
                          <a:latin typeface="+mn-ea"/>
                          <a:ea typeface="+mn-ea"/>
                        </a:rPr>
                        <a:t> if Seller have breached this Agreement such that any of the conditions to closing set forth in </a:t>
                      </a:r>
                      <a:r>
                        <a:rPr lang="en-US" sz="900" u="sng" strike="noStrike" dirty="0">
                          <a:ln>
                            <a:noFill/>
                          </a:ln>
                          <a:effectLst>
                            <a:outerShdw sx="0" sy="0">
                              <a:srgbClr val="000000"/>
                            </a:outerShdw>
                          </a:effectLst>
                          <a:latin typeface="+mn-ea"/>
                          <a:ea typeface="+mn-ea"/>
                        </a:rPr>
                        <a:t>Section 8.02</a:t>
                      </a:r>
                      <a:r>
                        <a:rPr lang="en-US" sz="900" u="none" strike="noStrike" dirty="0">
                          <a:ln>
                            <a:noFill/>
                          </a:ln>
                          <a:effectLst>
                            <a:outerShdw sx="0" sy="0">
                              <a:srgbClr val="000000"/>
                            </a:outerShdw>
                          </a:effectLst>
                          <a:latin typeface="+mn-ea"/>
                          <a:ea typeface="+mn-ea"/>
                        </a:rPr>
                        <a:t> would not then be satisfied as a result of such breach; or</a:t>
                      </a:r>
                      <a:endParaRPr lang="ko-KR" sz="900" u="none" strike="noStrike" dirty="0">
                        <a:ln>
                          <a:noFill/>
                        </a:ln>
                        <a:effectLst>
                          <a:outerShdw sx="0" sy="0">
                            <a:srgbClr val="000000"/>
                          </a:outerShdw>
                        </a:effectLst>
                        <a:latin typeface="+mn-ea"/>
                        <a:ea typeface="+mn-ea"/>
                      </a:endParaRPr>
                    </a:p>
                    <a:p>
                      <a:pPr marL="228600" lvl="0" indent="-228600" algn="l" fontAlgn="base">
                        <a:lnSpc>
                          <a:spcPct val="110000"/>
                        </a:lnSpc>
                        <a:spcAft>
                          <a:spcPts val="0"/>
                        </a:spcAft>
                        <a:buSzPct val="100000"/>
                        <a:buFont typeface="+mj-lt"/>
                        <a:buAutoNum type="alphaLcPeriod"/>
                        <a:tabLst>
                          <a:tab pos="1371600" algn="l"/>
                        </a:tabLst>
                      </a:pPr>
                      <a:r>
                        <a:rPr lang="en-US" sz="900" u="none" strike="noStrike" dirty="0">
                          <a:ln>
                            <a:noFill/>
                          </a:ln>
                          <a:effectLst>
                            <a:outerShdw sx="0" sy="0">
                              <a:srgbClr val="000000"/>
                            </a:outerShdw>
                          </a:effectLst>
                          <a:latin typeface="+mn-ea"/>
                          <a:ea typeface="+mn-ea"/>
                        </a:rPr>
                        <a:t>The party desiring to terminate this Agreement pursuant to any of clause (b), (c), (d), or (e) of this </a:t>
                      </a:r>
                      <a:r>
                        <a:rPr lang="en-US" sz="900" u="sng" strike="noStrike" dirty="0">
                          <a:ln>
                            <a:noFill/>
                          </a:ln>
                          <a:effectLst>
                            <a:outerShdw sx="0" sy="0">
                              <a:srgbClr val="000000"/>
                            </a:outerShdw>
                          </a:effectLst>
                          <a:latin typeface="+mn-ea"/>
                          <a:ea typeface="+mn-ea"/>
                        </a:rPr>
                        <a:t>Section 10.01</a:t>
                      </a:r>
                      <a:r>
                        <a:rPr lang="en-US" sz="900" u="none" strike="noStrike" dirty="0">
                          <a:ln>
                            <a:noFill/>
                          </a:ln>
                          <a:effectLst>
                            <a:outerShdw sx="0" sy="0">
                              <a:srgbClr val="000000"/>
                            </a:outerShdw>
                          </a:effectLst>
                          <a:latin typeface="+mn-ea"/>
                          <a:ea typeface="+mn-ea"/>
                        </a:rPr>
                        <a:t> shall give written notice of such termination to the other party in accordance with </a:t>
                      </a:r>
                      <a:r>
                        <a:rPr lang="en-US" sz="900" u="sng" strike="noStrike" dirty="0">
                          <a:ln>
                            <a:noFill/>
                          </a:ln>
                          <a:effectLst>
                            <a:outerShdw sx="0" sy="0">
                              <a:srgbClr val="000000"/>
                            </a:outerShdw>
                          </a:effectLst>
                          <a:latin typeface="+mn-ea"/>
                          <a:ea typeface="+mn-ea"/>
                        </a:rPr>
                        <a:t>Section 11.01</a:t>
                      </a:r>
                      <a:r>
                        <a:rPr lang="en-US" sz="900" u="none" strike="noStrike" dirty="0">
                          <a:ln>
                            <a:noFill/>
                          </a:ln>
                          <a:effectLst>
                            <a:outerShdw sx="0" sy="0">
                              <a:srgbClr val="000000"/>
                            </a:outerShdw>
                          </a:effectLst>
                          <a:latin typeface="+mn-ea"/>
                          <a:ea typeface="+mn-ea"/>
                        </a:rPr>
                        <a:t> specifying the provision or provisions hereof pursuant to which such termination is effected.</a:t>
                      </a:r>
                      <a:endParaRPr lang="ko-KR" sz="1000" u="none" strike="noStrike" dirty="0">
                        <a:ln>
                          <a:noFill/>
                        </a:ln>
                        <a:effectLst>
                          <a:outerShdw sx="0" sy="0">
                            <a:srgbClr val="000000"/>
                          </a:outerShdw>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02483311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IX. Termination (2)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8" name="표 7"/>
          <p:cNvGraphicFramePr>
            <a:graphicFrameLocks noGrp="1"/>
          </p:cNvGraphicFramePr>
          <p:nvPr>
            <p:extLst>
              <p:ext uri="{D42A27DB-BD31-4B8C-83A1-F6EECF244321}">
                <p14:modId xmlns:p14="http://schemas.microsoft.com/office/powerpoint/2010/main" val="4151941994"/>
              </p:ext>
            </p:extLst>
          </p:nvPr>
        </p:nvGraphicFramePr>
        <p:xfrm>
          <a:off x="439738" y="671514"/>
          <a:ext cx="9188450" cy="1438641"/>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438641">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추가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l" fontAlgn="base">
                        <a:lnSpc>
                          <a:spcPct val="110000"/>
                        </a:lnSpc>
                        <a:spcAft>
                          <a:spcPts val="0"/>
                        </a:spcAft>
                        <a:buFont typeface="Arial" panose="020B0604020202020204" pitchFamily="34" charset="0"/>
                        <a:buNone/>
                      </a:pPr>
                      <a:r>
                        <a:rPr lang="en-US" sz="1000" u="none" strike="noStrike" cap="all" dirty="0">
                          <a:ln>
                            <a:noFill/>
                          </a:ln>
                          <a:effectLst>
                            <a:outerShdw sx="0" sy="0">
                              <a:srgbClr val="000000"/>
                            </a:outerShdw>
                          </a:effectLst>
                          <a:latin typeface="+mn-ea"/>
                          <a:ea typeface="+mn-ea"/>
                          <a:cs typeface="Times New Roman" panose="02020603050405020304" pitchFamily="18" charset="0"/>
                        </a:rPr>
                        <a:t> </a:t>
                      </a:r>
                      <a:r>
                        <a:rPr lang="en-US" altLang="ko-KR" sz="1000" dirty="0" smtClean="0">
                          <a:effectLst/>
                          <a:latin typeface="+mn-ea"/>
                          <a:ea typeface="+mn-ea"/>
                        </a:rPr>
                        <a:t>Section 9.08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Sole and Exclusive Remedy</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After the Closing, to the extent permitted by the applicable Law, the provisions of this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Article IX</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shall provide the sole and exclusive remedy with respect to any and all Losses arising from the matters referred to in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Section 9.02</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or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Section 9.03</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as the case may be, and Buyer and Seller each expressly waive all other rights or causes of action it or its Affiliates may have against the other Party or its Affiliates now or in the future under any Law with respect to the subject matter hereof; </a:t>
                      </a:r>
                      <a:r>
                        <a:rPr lang="en-US" sz="1000" u="sng" strike="noStrike" kern="0" spc="0" dirty="0" smtClean="0">
                          <a:ln>
                            <a:noFill/>
                          </a:ln>
                          <a:effectLst/>
                          <a:latin typeface="+mn-ea"/>
                          <a:ea typeface="+mn-ea"/>
                        </a:rPr>
                        <a:t>provided</a:t>
                      </a:r>
                      <a:r>
                        <a:rPr lang="en-US" sz="1000" u="none" strike="noStrike" kern="0" spc="0" dirty="0" smtClean="0">
                          <a:ln>
                            <a:noFill/>
                          </a:ln>
                          <a:solidFill>
                            <a:srgbClr val="000000"/>
                          </a:solidFill>
                          <a:effectLst>
                            <a:glow>
                              <a:srgbClr val="000000"/>
                            </a:glow>
                            <a:outerShdw sx="0" sy="0">
                              <a:srgbClr val="000000"/>
                            </a:outerShdw>
                            <a:reflection stA="0" endPos="0" fadeDir="0" sx="0" sy="0"/>
                          </a:effectLst>
                          <a:latin typeface="+mn-ea"/>
                          <a:ea typeface="+mn-ea"/>
                        </a:rPr>
                        <a:t>, </a:t>
                      </a:r>
                      <a:r>
                        <a:rPr lang="en-US" sz="1000" u="sng" strike="noStrike" kern="0" spc="0" dirty="0" smtClean="0">
                          <a:ln>
                            <a:noFill/>
                          </a:ln>
                          <a:effectLst/>
                          <a:latin typeface="+mn-ea"/>
                          <a:ea typeface="+mn-ea"/>
                        </a:rPr>
                        <a:t>however</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that nothing in this </a:t>
                      </a:r>
                      <a:r>
                        <a:rPr lang="en-US" sz="1000" u="sng" strike="noStrike" kern="0" spc="0" dirty="0" smtClean="0">
                          <a:ln>
                            <a:noFill/>
                          </a:ln>
                          <a:effectLst>
                            <a:glow>
                              <a:srgbClr val="000000"/>
                            </a:glow>
                            <a:outerShdw sx="0" sy="0">
                              <a:srgbClr val="000000"/>
                            </a:outerShdw>
                            <a:reflection stA="0" endPos="0" fadeDir="0" sx="0" sy="0"/>
                          </a:effectLst>
                          <a:latin typeface="+mn-ea"/>
                          <a:ea typeface="+mn-ea"/>
                        </a:rPr>
                        <a:t>Section 9.08</a:t>
                      </a:r>
                      <a:r>
                        <a:rPr lang="en-US" sz="1000" u="none" strike="noStrike" kern="0" spc="0" dirty="0" smtClean="0">
                          <a:ln>
                            <a:noFill/>
                          </a:ln>
                          <a:effectLst>
                            <a:glow>
                              <a:srgbClr val="000000"/>
                            </a:glow>
                            <a:outerShdw sx="0" sy="0">
                              <a:srgbClr val="000000"/>
                            </a:outerShdw>
                            <a:reflection stA="0" endPos="0" fadeDir="0" sx="0" sy="0"/>
                          </a:effectLst>
                          <a:latin typeface="+mn-ea"/>
                          <a:ea typeface="+mn-ea"/>
                        </a:rPr>
                        <a:t> shall limit the rights or remedies of any Party in seeking or obtaining specific performance and other equitable relief in accordance with the terms of this Agreement, or seek any remedy on account of any Party’s fraud. </a:t>
                      </a:r>
                      <a:r>
                        <a:rPr lang="en-US" sz="1000" dirty="0">
                          <a:effectLst/>
                          <a:latin typeface="+mn-ea"/>
                          <a:ea typeface="+mn-ea"/>
                        </a:rPr>
                        <a:t> </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240135876"/>
                  </a:ext>
                </a:extLst>
              </a:tr>
            </a:tbl>
          </a:graphicData>
        </a:graphic>
      </p:graphicFrame>
    </p:spTree>
    <p:extLst>
      <p:ext uri="{BB962C8B-B14F-4D97-AF65-F5344CB8AC3E}">
        <p14:creationId xmlns:p14="http://schemas.microsoft.com/office/powerpoint/2010/main" val="11086044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X. </a:t>
            </a:r>
            <a:r>
              <a:rPr lang="ko-KR" altLang="en-US" dirty="0">
                <a:latin typeface="+mn-ea"/>
              </a:rPr>
              <a:t>기타 </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1. Dispute </a:t>
            </a:r>
            <a:r>
              <a:rPr lang="en-US" altLang="ko-KR" dirty="0" smtClean="0">
                <a:latin typeface="+mn-ea"/>
                <a:ea typeface="+mn-ea"/>
              </a:rPr>
              <a:t>Resolution (1) </a:t>
            </a:r>
            <a:endParaRPr lang="ko-KR" altLang="en-US" dirty="0">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802388977"/>
              </p:ext>
            </p:extLst>
          </p:nvPr>
        </p:nvGraphicFramePr>
        <p:xfrm>
          <a:off x="439738" y="1043677"/>
          <a:ext cx="9188450" cy="3892844"/>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72404">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분쟁 해결 수단으로서 소송과 중재 비교</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18675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r>
                        <a:rPr lang="ko-KR" altLang="en-US" sz="1000" b="0" dirty="0" smtClean="0">
                          <a:solidFill>
                            <a:schemeClr val="tx1"/>
                          </a:solidFill>
                          <a:effectLst/>
                          <a:latin typeface="+mn-ea"/>
                          <a:ea typeface="+mn-ea"/>
                          <a:cs typeface="Times New Roman" panose="02020603050405020304" pitchFamily="18" charset="0"/>
                        </a:rPr>
                        <a:t>소송과 중재 중 국내 </a:t>
                      </a:r>
                      <a:r>
                        <a:rPr lang="en-US" altLang="ko-KR" sz="1000" b="0" dirty="0" smtClean="0">
                          <a:solidFill>
                            <a:schemeClr val="tx1"/>
                          </a:solidFill>
                          <a:effectLst/>
                          <a:latin typeface="+mn-ea"/>
                          <a:ea typeface="+mn-ea"/>
                          <a:cs typeface="Times New Roman" panose="02020603050405020304" pitchFamily="18" charset="0"/>
                        </a:rPr>
                        <a:t>deal</a:t>
                      </a:r>
                      <a:r>
                        <a:rPr lang="ko-KR" altLang="en-US" sz="1000" b="0" dirty="0" smtClean="0">
                          <a:solidFill>
                            <a:schemeClr val="tx1"/>
                          </a:solidFill>
                          <a:effectLst/>
                          <a:latin typeface="+mn-ea"/>
                          <a:ea typeface="+mn-ea"/>
                          <a:cs typeface="Times New Roman" panose="02020603050405020304" pitchFamily="18" charset="0"/>
                        </a:rPr>
                        <a:t>에서는 비용적인 측면을 고려하여 소송으로 분쟁을 해결하고자 하는 경우가 많으나</a:t>
                      </a:r>
                      <a:r>
                        <a:rPr lang="en-US" altLang="ko-KR" sz="1000" b="0" dirty="0" smtClean="0">
                          <a:solidFill>
                            <a:schemeClr val="tx1"/>
                          </a:solidFill>
                          <a:effectLst/>
                          <a:latin typeface="+mn-ea"/>
                          <a:ea typeface="+mn-ea"/>
                          <a:cs typeface="Times New Roman" panose="02020603050405020304" pitchFamily="18" charset="0"/>
                        </a:rPr>
                        <a:t>, </a:t>
                      </a:r>
                      <a:r>
                        <a:rPr lang="ko-KR" altLang="en-US" sz="1000" b="0" dirty="0" smtClean="0">
                          <a:solidFill>
                            <a:schemeClr val="tx1"/>
                          </a:solidFill>
                          <a:effectLst/>
                          <a:latin typeface="+mn-ea"/>
                          <a:ea typeface="+mn-ea"/>
                          <a:cs typeface="Times New Roman" panose="02020603050405020304" pitchFamily="18" charset="0"/>
                        </a:rPr>
                        <a:t>아래와 같은 소송과 중재의 장단점을 비교하여 분쟁 해결 방식을 정하는 것이 </a:t>
                      </a:r>
                      <a:r>
                        <a:rPr lang="ko-KR" altLang="en-US" sz="1000" b="0" dirty="0" err="1" smtClean="0">
                          <a:solidFill>
                            <a:schemeClr val="tx1"/>
                          </a:solidFill>
                          <a:effectLst/>
                          <a:latin typeface="+mn-ea"/>
                          <a:ea typeface="+mn-ea"/>
                          <a:cs typeface="Times New Roman" panose="02020603050405020304" pitchFamily="18" charset="0"/>
                        </a:rPr>
                        <a:t>합리적임</a:t>
                      </a: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endParaRPr lang="en-US" altLang="ko-KR" sz="1000" b="0" dirty="0" smtClean="0">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endParaRPr>
                    </a:p>
                    <a:p>
                      <a:pPr marL="228600" indent="-228600" algn="l" latinLnBrk="1">
                        <a:lnSpc>
                          <a:spcPct val="110000"/>
                        </a:lnSpc>
                        <a:spcAft>
                          <a:spcPts val="0"/>
                        </a:spcAft>
                        <a:buFont typeface="Wingdings" panose="05000000000000000000" pitchFamily="2" charset="2"/>
                        <a:buChar char="§"/>
                      </a:pPr>
                      <a:r>
                        <a:rPr kumimoji="1" lang="ko-KR" altLang="en-US"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이하 표준 </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SPA</a:t>
                      </a:r>
                      <a:r>
                        <a:rPr kumimoji="1" lang="ko-KR" altLang="en-US"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에서는 미국 델라웨어 주법 및 </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ICC </a:t>
                      </a:r>
                      <a:r>
                        <a:rPr kumimoji="1" lang="ko-KR" altLang="en-US"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중재로 반영되어 있음</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 </a:t>
                      </a:r>
                      <a:r>
                        <a:rPr kumimoji="1" lang="ko-KR" altLang="en-US"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미국 딜에서 통상적으로 쓰이는 법원을 통한 분쟁해결 조항은 표준 </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SPA </a:t>
                      </a:r>
                      <a:r>
                        <a:rPr kumimoji="1" lang="en-US" altLang="ko-KR" sz="1000" b="1" i="0" u="sng" strike="noStrike" kern="1200" cap="none" normalizeH="0" baseline="0" dirty="0" smtClean="0">
                          <a:ln>
                            <a:noFill/>
                          </a:ln>
                          <a:solidFill>
                            <a:schemeClr val="tx1"/>
                          </a:solidFill>
                          <a:effectLst/>
                          <a:latin typeface="+mn-ea"/>
                          <a:ea typeface="+mn-ea"/>
                          <a:cs typeface="Times New Roman" panose="02020603050405020304" pitchFamily="18" charset="0"/>
                        </a:rPr>
                        <a:t>Attachment 4</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 </a:t>
                      </a:r>
                      <a:r>
                        <a:rPr kumimoji="1" lang="ko-KR" altLang="en-US"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를 참고</a:t>
                      </a:r>
                      <a:r>
                        <a:rPr kumimoji="1" lang="en-US" altLang="ko-KR" sz="1000" b="0" i="0" u="none" strike="noStrike" kern="1200" cap="none" normalizeH="0" baseline="0" dirty="0" smtClean="0">
                          <a:ln>
                            <a:noFill/>
                          </a:ln>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a:pPr>
                      <a:endParaRPr kumimoji="1" lang="ko-KR" sz="1000" b="0" i="0" u="none" strike="noStrike" kern="1200" cap="none" normalizeH="0" baseline="0" dirty="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graphicFrame>
        <p:nvGraphicFramePr>
          <p:cNvPr id="9" name="표 8"/>
          <p:cNvGraphicFramePr>
            <a:graphicFrameLocks noGrp="1"/>
          </p:cNvGraphicFramePr>
          <p:nvPr>
            <p:extLst>
              <p:ext uri="{D42A27DB-BD31-4B8C-83A1-F6EECF244321}">
                <p14:modId xmlns:p14="http://schemas.microsoft.com/office/powerpoint/2010/main" val="1320173516"/>
              </p:ext>
            </p:extLst>
          </p:nvPr>
        </p:nvGraphicFramePr>
        <p:xfrm>
          <a:off x="1495095" y="1990260"/>
          <a:ext cx="8032963" cy="2163603"/>
        </p:xfrm>
        <a:graphic>
          <a:graphicData uri="http://schemas.openxmlformats.org/drawingml/2006/table">
            <a:tbl>
              <a:tblPr firstRow="1" bandRow="1">
                <a:tableStyleId>{073A0DAA-6AF3-43AB-8588-CEC1D06C72B9}</a:tableStyleId>
              </a:tblPr>
              <a:tblGrid>
                <a:gridCol w="593961">
                  <a:extLst>
                    <a:ext uri="{9D8B030D-6E8A-4147-A177-3AD203B41FA5}">
                      <a16:colId xmlns:a16="http://schemas.microsoft.com/office/drawing/2014/main" val="214653204"/>
                    </a:ext>
                  </a:extLst>
                </a:gridCol>
                <a:gridCol w="3489494">
                  <a:extLst>
                    <a:ext uri="{9D8B030D-6E8A-4147-A177-3AD203B41FA5}">
                      <a16:colId xmlns:a16="http://schemas.microsoft.com/office/drawing/2014/main" val="1489506677"/>
                    </a:ext>
                  </a:extLst>
                </a:gridCol>
                <a:gridCol w="3949508">
                  <a:extLst>
                    <a:ext uri="{9D8B030D-6E8A-4147-A177-3AD203B41FA5}">
                      <a16:colId xmlns:a16="http://schemas.microsoft.com/office/drawing/2014/main" val="2865285229"/>
                    </a:ext>
                  </a:extLst>
                </a:gridCol>
              </a:tblGrid>
              <a:tr h="250906">
                <a:tc>
                  <a:txBody>
                    <a:bodyPr/>
                    <a:lstStyle/>
                    <a:p>
                      <a:pPr algn="l" latinLnBrk="0">
                        <a:lnSpc>
                          <a:spcPct val="120000"/>
                        </a:lnSpc>
                      </a:pPr>
                      <a:endParaRPr lang="ko-KR" altLang="en-US" sz="900" dirty="0">
                        <a:latin typeface="+mn-ea"/>
                        <a:ea typeface="+mn-ea"/>
                      </a:endParaRPr>
                    </a:p>
                  </a:txBody>
                  <a:tcP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tc>
                  <a:txBody>
                    <a:bodyPr/>
                    <a:lstStyle/>
                    <a:p>
                      <a:pPr algn="ctr" latinLnBrk="0">
                        <a:lnSpc>
                          <a:spcPct val="120000"/>
                        </a:lnSpc>
                      </a:pPr>
                      <a:r>
                        <a:rPr lang="ko-KR" altLang="en-US" sz="900" dirty="0" smtClean="0">
                          <a:latin typeface="+mn-ea"/>
                          <a:ea typeface="+mn-ea"/>
                        </a:rPr>
                        <a:t>장점</a:t>
                      </a:r>
                      <a:endParaRPr lang="ko-KR" altLang="en-US" sz="900" dirty="0">
                        <a:latin typeface="+mn-ea"/>
                        <a:ea typeface="+mn-ea"/>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tc>
                  <a:txBody>
                    <a:bodyPr/>
                    <a:lstStyle/>
                    <a:p>
                      <a:pPr algn="ctr" latinLnBrk="0">
                        <a:lnSpc>
                          <a:spcPct val="120000"/>
                        </a:lnSpc>
                      </a:pPr>
                      <a:r>
                        <a:rPr lang="ko-KR" altLang="en-US" sz="900" dirty="0" smtClean="0">
                          <a:latin typeface="+mn-ea"/>
                          <a:ea typeface="+mn-ea"/>
                        </a:rPr>
                        <a:t>단점</a:t>
                      </a:r>
                      <a:endParaRPr lang="ko-KR" altLang="en-US" sz="900" dirty="0">
                        <a:latin typeface="+mn-ea"/>
                        <a:ea typeface="+mn-ea"/>
                      </a:endParaRPr>
                    </a:p>
                  </a:txBody>
                  <a:tcP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47135588"/>
                  </a:ext>
                </a:extLst>
              </a:tr>
              <a:tr h="689242">
                <a:tc>
                  <a:txBody>
                    <a:bodyPr/>
                    <a:lstStyle/>
                    <a:p>
                      <a:pPr algn="ctr" latinLnBrk="0">
                        <a:lnSpc>
                          <a:spcPct val="120000"/>
                        </a:lnSpc>
                        <a:spcAft>
                          <a:spcPts val="0"/>
                        </a:spcAft>
                      </a:pPr>
                      <a:r>
                        <a:rPr lang="ko-KR" sz="900" b="1" dirty="0">
                          <a:effectLst/>
                          <a:latin typeface="+mn-ea"/>
                          <a:ea typeface="+mn-ea"/>
                          <a:cs typeface="Times New Roman" panose="02020603050405020304" pitchFamily="18" charset="0"/>
                        </a:rPr>
                        <a:t>소송</a:t>
                      </a:r>
                      <a:endParaRPr lang="ko-KR" sz="900"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상소 가능</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판결에 대한 집행 용이</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비용이 상대적으로 적게 소요</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제</a:t>
                      </a:r>
                      <a:r>
                        <a:rPr lang="en-US" altLang="ko-KR" sz="900" dirty="0" smtClean="0">
                          <a:effectLst/>
                          <a:latin typeface="+mn-ea"/>
                          <a:ea typeface="+mn-ea"/>
                          <a:cs typeface="Times New Roman" panose="02020603050405020304" pitchFamily="18" charset="0"/>
                        </a:rPr>
                        <a:t>3</a:t>
                      </a:r>
                      <a:r>
                        <a:rPr lang="ko-KR" altLang="en-US" sz="900" dirty="0" smtClean="0">
                          <a:effectLst/>
                          <a:latin typeface="+mn-ea"/>
                          <a:ea typeface="+mn-ea"/>
                          <a:cs typeface="Times New Roman" panose="02020603050405020304" pitchFamily="18" charset="0"/>
                        </a:rPr>
                        <a:t>자에 대한 증거 수집 가능</a:t>
                      </a:r>
                      <a:endParaRPr lang="ko-KR" altLang="en-US" sz="900" dirty="0">
                        <a:effectLst/>
                        <a:latin typeface="+mn-ea"/>
                        <a:ea typeface="+mn-ea"/>
                        <a:cs typeface="Times New Roman" panose="02020603050405020304" pitchFamily="18" charset="0"/>
                      </a:endParaRPr>
                    </a:p>
                  </a:txBody>
                  <a:tcPr marL="68580" marR="6858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상소 절차로 인하여 분쟁 해결 지연</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담당 재판부의 전문성 결여 가능성</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변론 절차 및 판결문 공개</a:t>
                      </a:r>
                      <a:endParaRPr lang="ko-KR" altLang="en-US" sz="900" dirty="0">
                        <a:effectLst/>
                        <a:latin typeface="+mn-ea"/>
                        <a:ea typeface="+mn-ea"/>
                        <a:cs typeface="Times New Roman" panose="02020603050405020304" pitchFamily="18" charset="0"/>
                      </a:endParaRPr>
                    </a:p>
                  </a:txBody>
                  <a:tcPr marL="68580" marR="68580" marT="0" marB="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2087457"/>
                  </a:ext>
                </a:extLst>
              </a:tr>
              <a:tr h="1218329">
                <a:tc>
                  <a:txBody>
                    <a:bodyPr/>
                    <a:lstStyle/>
                    <a:p>
                      <a:pPr algn="ctr" latinLnBrk="0">
                        <a:lnSpc>
                          <a:spcPct val="120000"/>
                        </a:lnSpc>
                        <a:spcAft>
                          <a:spcPts val="0"/>
                        </a:spcAft>
                      </a:pPr>
                      <a:r>
                        <a:rPr lang="ko-KR" sz="900" b="1" dirty="0">
                          <a:effectLst/>
                          <a:latin typeface="+mn-ea"/>
                          <a:ea typeface="+mn-ea"/>
                          <a:cs typeface="Times New Roman" panose="02020603050405020304" pitchFamily="18" charset="0"/>
                        </a:rPr>
                        <a:t>중재</a:t>
                      </a:r>
                      <a:endParaRPr lang="ko-KR" sz="900"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lumMod val="85000"/>
                      </a:schemeClr>
                    </a:solidFill>
                  </a:tcPr>
                </a:tc>
                <a:tc>
                  <a:txBody>
                    <a:bodyPr/>
                    <a:lstStyle/>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소송</a:t>
                      </a:r>
                      <a:r>
                        <a:rPr lang="en-US" altLang="ko-KR" sz="900" dirty="0" smtClean="0">
                          <a:effectLst/>
                          <a:latin typeface="+mn-ea"/>
                          <a:ea typeface="+mn-ea"/>
                          <a:cs typeface="Times New Roman" panose="02020603050405020304" pitchFamily="18" charset="0"/>
                        </a:rPr>
                        <a:t>(3</a:t>
                      </a:r>
                      <a:r>
                        <a:rPr lang="ko-KR" altLang="en-US" sz="900" dirty="0" smtClean="0">
                          <a:effectLst/>
                          <a:latin typeface="+mn-ea"/>
                          <a:ea typeface="+mn-ea"/>
                          <a:cs typeface="Times New Roman" panose="02020603050405020304" pitchFamily="18" charset="0"/>
                        </a:rPr>
                        <a:t>심</a:t>
                      </a:r>
                      <a:r>
                        <a:rPr lang="en-US" altLang="ko-KR" sz="900" dirty="0" smtClean="0">
                          <a:effectLst/>
                          <a:latin typeface="+mn-ea"/>
                          <a:ea typeface="+mn-ea"/>
                          <a:cs typeface="Times New Roman" panose="02020603050405020304" pitchFamily="18" charset="0"/>
                        </a:rPr>
                        <a:t>)</a:t>
                      </a:r>
                      <a:r>
                        <a:rPr lang="ko-KR" altLang="en-US" sz="900" dirty="0" smtClean="0">
                          <a:effectLst/>
                          <a:latin typeface="+mn-ea"/>
                          <a:ea typeface="+mn-ea"/>
                          <a:cs typeface="Times New Roman" panose="02020603050405020304" pitchFamily="18" charset="0"/>
                        </a:rPr>
                        <a:t>에 비하여 신속</a:t>
                      </a:r>
                      <a:r>
                        <a:rPr lang="en-US" altLang="ko-KR" sz="900" dirty="0" smtClean="0">
                          <a:effectLst/>
                          <a:latin typeface="+mn-ea"/>
                          <a:ea typeface="+mn-ea"/>
                          <a:cs typeface="Times New Roman" panose="02020603050405020304" pitchFamily="18" charset="0"/>
                        </a:rPr>
                        <a:t>(</a:t>
                      </a:r>
                      <a:r>
                        <a:rPr lang="ko-KR" altLang="en-US" sz="900" dirty="0" smtClean="0">
                          <a:effectLst/>
                          <a:latin typeface="+mn-ea"/>
                          <a:ea typeface="+mn-ea"/>
                          <a:cs typeface="Times New Roman" panose="02020603050405020304" pitchFamily="18" charset="0"/>
                        </a:rPr>
                        <a:t>단심</a:t>
                      </a:r>
                      <a:r>
                        <a:rPr lang="en-US" altLang="ko-KR" sz="900" dirty="0" smtClean="0">
                          <a:effectLst/>
                          <a:latin typeface="+mn-ea"/>
                          <a:ea typeface="+mn-ea"/>
                          <a:cs typeface="Times New Roman" panose="02020603050405020304" pitchFamily="18" charset="0"/>
                        </a:rPr>
                        <a:t>)</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절차가 상대적으로 유연</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중재판정부의 전문성 기대</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심리</a:t>
                      </a:r>
                      <a:r>
                        <a:rPr lang="en-US" altLang="ko-KR" sz="900" dirty="0" smtClean="0">
                          <a:effectLst/>
                          <a:latin typeface="+mn-ea"/>
                          <a:ea typeface="+mn-ea"/>
                          <a:cs typeface="Times New Roman" panose="02020603050405020304" pitchFamily="18" charset="0"/>
                        </a:rPr>
                        <a:t>/</a:t>
                      </a:r>
                      <a:r>
                        <a:rPr lang="ko-KR" altLang="en-US" sz="900" dirty="0" smtClean="0">
                          <a:effectLst/>
                          <a:latin typeface="+mn-ea"/>
                          <a:ea typeface="+mn-ea"/>
                          <a:cs typeface="Times New Roman" panose="02020603050405020304" pitchFamily="18" charset="0"/>
                        </a:rPr>
                        <a:t>판정의 기밀 유지</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증거조사의 범위가 넓음</a:t>
                      </a:r>
                      <a:r>
                        <a:rPr lang="en-US" altLang="ko-KR" sz="900" dirty="0" smtClean="0">
                          <a:effectLst/>
                          <a:latin typeface="+mn-ea"/>
                          <a:ea typeface="+mn-ea"/>
                          <a:cs typeface="Times New Roman" panose="02020603050405020304" pitchFamily="18" charset="0"/>
                        </a:rPr>
                        <a:t>(</a:t>
                      </a:r>
                      <a:r>
                        <a:rPr lang="ko-KR" altLang="en-US" sz="900" dirty="0" smtClean="0">
                          <a:effectLst/>
                          <a:latin typeface="+mn-ea"/>
                          <a:ea typeface="+mn-ea"/>
                          <a:cs typeface="Times New Roman" panose="02020603050405020304" pitchFamily="18" charset="0"/>
                        </a:rPr>
                        <a:t>단</a:t>
                      </a:r>
                      <a:r>
                        <a:rPr lang="en-US" altLang="ko-KR" sz="900" dirty="0" smtClean="0">
                          <a:effectLst/>
                          <a:latin typeface="+mn-ea"/>
                          <a:ea typeface="+mn-ea"/>
                          <a:cs typeface="Times New Roman" panose="02020603050405020304" pitchFamily="18" charset="0"/>
                        </a:rPr>
                        <a:t>, </a:t>
                      </a:r>
                      <a:r>
                        <a:rPr lang="ko-KR" altLang="en-US" sz="900" dirty="0" smtClean="0">
                          <a:effectLst/>
                          <a:latin typeface="+mn-ea"/>
                          <a:ea typeface="+mn-ea"/>
                          <a:cs typeface="Times New Roman" panose="02020603050405020304" pitchFamily="18" charset="0"/>
                        </a:rPr>
                        <a:t>이러한 이유로 신청인 측에 불리한 문서도 제출해야 할 수 있음</a:t>
                      </a:r>
                      <a:r>
                        <a:rPr lang="en-US" altLang="ko-KR" sz="900" dirty="0" smtClean="0">
                          <a:effectLst/>
                          <a:latin typeface="+mn-ea"/>
                          <a:ea typeface="+mn-ea"/>
                          <a:cs typeface="Times New Roman" panose="02020603050405020304" pitchFamily="18" charset="0"/>
                        </a:rPr>
                        <a:t>)</a:t>
                      </a:r>
                      <a:endParaRPr lang="en-US" altLang="ko-KR" sz="900" dirty="0">
                        <a:effectLst/>
                        <a:latin typeface="+mn-ea"/>
                        <a:ea typeface="+mn-ea"/>
                        <a:cs typeface="Times New Roman" panose="02020603050405020304" pitchFamily="18" charset="0"/>
                      </a:endParaRPr>
                    </a:p>
                  </a:txBody>
                  <a:tcPr marL="68580" marR="6858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tc>
                  <a:txBody>
                    <a:bodyPr/>
                    <a:lstStyle/>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상소 불가</a:t>
                      </a:r>
                    </a:p>
                    <a:p>
                      <a:pPr marL="268288" lvl="0" indent="-179388" algn="l" latinLnBrk="0">
                        <a:lnSpc>
                          <a:spcPct val="120000"/>
                        </a:lnSpc>
                        <a:spcAft>
                          <a:spcPts val="0"/>
                        </a:spcAft>
                        <a:buFont typeface="Times New Roman" panose="02020603050405020304" pitchFamily="18" charset="0"/>
                        <a:buChar char="-"/>
                      </a:pPr>
                      <a:r>
                        <a:rPr lang="ko-KR" altLang="en-US" sz="900" dirty="0" err="1" smtClean="0">
                          <a:effectLst/>
                          <a:latin typeface="+mn-ea"/>
                          <a:ea typeface="+mn-ea"/>
                          <a:cs typeface="Times New Roman" panose="02020603050405020304" pitchFamily="18" charset="0"/>
                        </a:rPr>
                        <a:t>중재판정에</a:t>
                      </a:r>
                      <a:r>
                        <a:rPr lang="ko-KR" altLang="en-US" sz="900" dirty="0" smtClean="0">
                          <a:effectLst/>
                          <a:latin typeface="+mn-ea"/>
                          <a:ea typeface="+mn-ea"/>
                          <a:cs typeface="Times New Roman" panose="02020603050405020304" pitchFamily="18" charset="0"/>
                        </a:rPr>
                        <a:t> 대한 임의 이행 거절 시 별도 소송을 통한 </a:t>
                      </a:r>
                      <a:r>
                        <a:rPr lang="ko-KR" altLang="en-US" sz="900" dirty="0" err="1" smtClean="0">
                          <a:effectLst/>
                          <a:latin typeface="+mn-ea"/>
                          <a:ea typeface="+mn-ea"/>
                          <a:cs typeface="Times New Roman" panose="02020603050405020304" pitchFamily="18" charset="0"/>
                        </a:rPr>
                        <a:t>집행판결</a:t>
                      </a:r>
                      <a:r>
                        <a:rPr lang="ko-KR" altLang="en-US" sz="900" dirty="0" smtClean="0">
                          <a:effectLst/>
                          <a:latin typeface="+mn-ea"/>
                          <a:ea typeface="+mn-ea"/>
                          <a:cs typeface="Times New Roman" panose="02020603050405020304" pitchFamily="18" charset="0"/>
                        </a:rPr>
                        <a:t> 필요</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비용이 상대적으로 많이 소요</a:t>
                      </a:r>
                      <a:r>
                        <a:rPr lang="en-US" altLang="ko-KR" sz="900" dirty="0" smtClean="0">
                          <a:effectLst/>
                          <a:latin typeface="+mn-ea"/>
                          <a:ea typeface="+mn-ea"/>
                          <a:cs typeface="Times New Roman" panose="02020603050405020304" pitchFamily="18" charset="0"/>
                        </a:rPr>
                        <a:t>(</a:t>
                      </a:r>
                      <a:r>
                        <a:rPr lang="ko-KR" altLang="en-US" sz="900" dirty="0" smtClean="0">
                          <a:effectLst/>
                          <a:latin typeface="+mn-ea"/>
                          <a:ea typeface="+mn-ea"/>
                          <a:cs typeface="Times New Roman" panose="02020603050405020304" pitchFamily="18" charset="0"/>
                        </a:rPr>
                        <a:t>단</a:t>
                      </a:r>
                      <a:r>
                        <a:rPr lang="en-US" altLang="ko-KR" sz="900" dirty="0" smtClean="0">
                          <a:effectLst/>
                          <a:latin typeface="+mn-ea"/>
                          <a:ea typeface="+mn-ea"/>
                          <a:cs typeface="Times New Roman" panose="02020603050405020304" pitchFamily="18" charset="0"/>
                        </a:rPr>
                        <a:t>, </a:t>
                      </a:r>
                      <a:r>
                        <a:rPr lang="ko-KR" altLang="en-US" sz="900" dirty="0" smtClean="0">
                          <a:effectLst/>
                          <a:latin typeface="+mn-ea"/>
                          <a:ea typeface="+mn-ea"/>
                          <a:cs typeface="Times New Roman" panose="02020603050405020304" pitchFamily="18" charset="0"/>
                        </a:rPr>
                        <a:t>이러한 이유로 소송과 달리 중재 신청 남용 방지 가능</a:t>
                      </a:r>
                      <a:r>
                        <a:rPr lang="en-US" altLang="ko-KR" sz="900" dirty="0" smtClean="0">
                          <a:effectLst/>
                          <a:latin typeface="+mn-ea"/>
                          <a:ea typeface="+mn-ea"/>
                          <a:cs typeface="Times New Roman" panose="02020603050405020304" pitchFamily="18" charset="0"/>
                        </a:rPr>
                        <a:t>)</a:t>
                      </a:r>
                    </a:p>
                    <a:p>
                      <a:pPr marL="268288" lvl="0" indent="-179388" algn="l" latinLnBrk="0">
                        <a:lnSpc>
                          <a:spcPct val="120000"/>
                        </a:lnSpc>
                        <a:spcAft>
                          <a:spcPts val="0"/>
                        </a:spcAft>
                        <a:buFont typeface="Times New Roman" panose="02020603050405020304" pitchFamily="18" charset="0"/>
                        <a:buChar char="-"/>
                      </a:pPr>
                      <a:r>
                        <a:rPr lang="ko-KR" altLang="en-US" sz="900" dirty="0" smtClean="0">
                          <a:effectLst/>
                          <a:latin typeface="+mn-ea"/>
                          <a:ea typeface="+mn-ea"/>
                          <a:cs typeface="Times New Roman" panose="02020603050405020304" pitchFamily="18" charset="0"/>
                        </a:rPr>
                        <a:t>제</a:t>
                      </a:r>
                      <a:r>
                        <a:rPr lang="en-US" altLang="ko-KR" sz="900" dirty="0" smtClean="0">
                          <a:effectLst/>
                          <a:latin typeface="+mn-ea"/>
                          <a:ea typeface="+mn-ea"/>
                          <a:cs typeface="Times New Roman" panose="02020603050405020304" pitchFamily="18" charset="0"/>
                        </a:rPr>
                        <a:t>3</a:t>
                      </a:r>
                      <a:r>
                        <a:rPr lang="ko-KR" altLang="en-US" sz="900" dirty="0" smtClean="0">
                          <a:effectLst/>
                          <a:latin typeface="+mn-ea"/>
                          <a:ea typeface="+mn-ea"/>
                          <a:cs typeface="Times New Roman" panose="02020603050405020304" pitchFamily="18" charset="0"/>
                        </a:rPr>
                        <a:t>자에 대한 증거 수집이 어려움</a:t>
                      </a:r>
                      <a:r>
                        <a:rPr lang="en-US" altLang="ko-KR" sz="900" dirty="0" smtClean="0">
                          <a:effectLst/>
                          <a:latin typeface="+mn-ea"/>
                          <a:ea typeface="+mn-ea"/>
                          <a:cs typeface="Times New Roman" panose="02020603050405020304" pitchFamily="18" charset="0"/>
                        </a:rPr>
                        <a:t>(</a:t>
                      </a:r>
                      <a:r>
                        <a:rPr lang="ko-KR" altLang="en-US" sz="900" dirty="0" err="1" smtClean="0">
                          <a:effectLst/>
                          <a:latin typeface="+mn-ea"/>
                          <a:ea typeface="+mn-ea"/>
                          <a:cs typeface="Times New Roman" panose="02020603050405020304" pitchFamily="18" charset="0"/>
                        </a:rPr>
                        <a:t>중재법상</a:t>
                      </a:r>
                      <a:r>
                        <a:rPr lang="ko-KR" altLang="en-US" sz="900" dirty="0" smtClean="0">
                          <a:effectLst/>
                          <a:latin typeface="+mn-ea"/>
                          <a:ea typeface="+mn-ea"/>
                          <a:cs typeface="Times New Roman" panose="02020603050405020304" pitchFamily="18" charset="0"/>
                        </a:rPr>
                        <a:t> 원칙적으로는 허용되나 아직 선례가 없음</a:t>
                      </a:r>
                      <a:r>
                        <a:rPr lang="en-US" altLang="ko-KR" sz="900" dirty="0" smtClean="0">
                          <a:effectLst/>
                          <a:latin typeface="+mn-ea"/>
                          <a:ea typeface="+mn-ea"/>
                          <a:cs typeface="Times New Roman" panose="02020603050405020304" pitchFamily="18" charset="0"/>
                        </a:rPr>
                        <a:t>)</a:t>
                      </a:r>
                      <a:endParaRPr lang="en-US" altLang="ko-KR" sz="900" dirty="0">
                        <a:effectLst/>
                        <a:latin typeface="+mn-ea"/>
                        <a:ea typeface="+mn-ea"/>
                        <a:cs typeface="Times New Roman" panose="02020603050405020304" pitchFamily="18" charset="0"/>
                      </a:endParaRPr>
                    </a:p>
                  </a:txBody>
                  <a:tcPr marL="68580" marR="68580" marT="0" marB="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153522475"/>
                  </a:ext>
                </a:extLst>
              </a:tr>
            </a:tbl>
          </a:graphicData>
        </a:graphic>
      </p:graphicFrame>
    </p:spTree>
    <p:extLst>
      <p:ext uri="{BB962C8B-B14F-4D97-AF65-F5344CB8AC3E}">
        <p14:creationId xmlns:p14="http://schemas.microsoft.com/office/powerpoint/2010/main" val="14927192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X. </a:t>
            </a:r>
            <a:r>
              <a:rPr lang="ko-KR" altLang="en-US" dirty="0">
                <a:latin typeface="+mn-ea"/>
              </a:rPr>
              <a:t>기타 </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dirty="0">
                <a:latin typeface="+mn-ea"/>
                <a:ea typeface="+mn-ea"/>
              </a:rPr>
              <a:t>1. Dispute </a:t>
            </a:r>
            <a:r>
              <a:rPr lang="en-US" altLang="ko-KR" dirty="0" smtClean="0">
                <a:latin typeface="+mn-ea"/>
                <a:ea typeface="+mn-ea"/>
              </a:rPr>
              <a:t>Resolution (2) </a:t>
            </a:r>
            <a:endParaRPr lang="ko-KR" altLang="en-US" dirty="0">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59068343"/>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262803">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Section 11.09   </a:t>
                      </a:r>
                      <a:r>
                        <a:rPr lang="en-US" altLang="ko-KR" sz="1000" u="sng" dirty="0" smtClean="0">
                          <a:solidFill>
                            <a:schemeClr val="tx1"/>
                          </a:solidFill>
                          <a:effectLst/>
                          <a:latin typeface="+mn-ea"/>
                          <a:ea typeface="+mn-ea"/>
                          <a:cs typeface="Times New Roman" panose="02020603050405020304" pitchFamily="18" charset="0"/>
                        </a:rPr>
                        <a:t>Governing Law/Jurisdiction/Dispute Resolution</a:t>
                      </a:r>
                      <a:r>
                        <a:rPr lang="en-US" altLang="ko-KR" sz="1000" dirty="0" smtClean="0">
                          <a:solidFill>
                            <a:schemeClr val="tx1"/>
                          </a:solidFill>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This Agreement, and any claim, suit, action or proceeding in any way arising out of or relating to this Agreement, the negotiation, execution or performance of this Agreement, or the transactions contemplated hereby (whether at law or in equity, and whether in Contract or in tort or otherwise), shall be governed by and enforced pursuant to the Laws of the State of Delaware, without regard to or application of its rules with respect to conflict of laws.</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In the event of any dispute, controversy or claim arising out of or in connection with this Agreement or the transactions contemplated by or leading to this Agreement (including a dispute regarding the existence, validity or termination of this Agreement or the consequences of its nullity) (each a “Dispute”), such Dispute will be resolved by final and binding arbitration in accordance with the Rules of Arbitration of the International Chamber of Commerce (“ICC”), except as modified herein.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number of arbitrators shall be three, the seat of the arbitration shall be Singapore and the language to be used in the arbitral proceedings shall be English.  The arbitral proceedings shall take place in Singapore, unless the parties agree otherwise.</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presiding arbitrator shall be chosen by the two arbitrators nominated by the parties with input from the parties. If the presiding arbitrator is not chosen by the two arbitrators within 30 days of the date of confirmation of the later of the two party nominated arbitrators, he or she shall be appointed by the ICC International Court of Arbitration (“ICC Court”).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award of the arbitral tribunal shall be final and binding upon the parties and shall be the sole and exclusive remedy between the parties regarding any claims, counterclaims, issues, or requests for declaratory, accounting, or other relief presented to the arbitral tribunal. The costs of arbitration shall be apportioned by the arbitral tribunal in the award.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arbitral tribunal shall have the power to grant any remedy or relief that the arbitrators deem appropriate, including specific performance and penalties in the event of noncompliance of its orders or awards as well as interim, conservatory, or provisional measures, and any such measures may be enforced in a court of competent jurisdiction.</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By agreeing to ICC arbitration, the parties do not intend to deprive any court of its jurisdiction to issue any grant of specific performance, injunctive relief, equitable remedy, pre-arbitral injunction, pre-arbitral attachment or other order.  </a:t>
                      </a:r>
                    </a:p>
                    <a:p>
                      <a:pPr marL="228600" indent="-228600" algn="l" latinLnBrk="1">
                        <a:lnSpc>
                          <a:spcPct val="110000"/>
                        </a:lnSpc>
                        <a:spcAft>
                          <a:spcPts val="0"/>
                        </a:spcAft>
                        <a:buFont typeface="+mj-lt"/>
                        <a:buAutoNum type="alphaLcPeriod"/>
                      </a:pPr>
                      <a:r>
                        <a:rPr lang="en-US" altLang="ko-KR" sz="1000" dirty="0" smtClean="0">
                          <a:solidFill>
                            <a:schemeClr val="tx1"/>
                          </a:solidFill>
                          <a:effectLst/>
                          <a:latin typeface="+mn-ea"/>
                          <a:ea typeface="+mn-ea"/>
                          <a:cs typeface="Times New Roman" panose="02020603050405020304" pitchFamily="18" charset="0"/>
                        </a:rPr>
                        <a:t>The parties to this Agreement each hereby waives, to the fullest extent permitted by law, any right to trial by jury of any claim, demand, action, or cause of action (a) arising under this Agreement or (b) in any way connected with or related or incidental to the dealings of the parties in respect of this Agreement or any of the transactions related hereto, in each case whether now existing or hereafter arising, and whether in contract, tort, equity, or otherwise. The parties to this Agreement each hereby agrees and consents that any such claim, demand, action, or cause of action shall be decided by court trial without a jury and that the parties to this Agreement may file an original counterpart of a copy of this agreement with any court as written evidence of the consent of the parties to the waiver of their right to trial by jury.</a:t>
                      </a:r>
                      <a:endParaRPr lang="en-US" alt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763548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X. </a:t>
            </a:r>
            <a:r>
              <a:rPr lang="ko-KR" altLang="en-US" dirty="0">
                <a:latin typeface="+mn-ea"/>
              </a:rPr>
              <a:t>기타 </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2. Knowledge</a:t>
            </a:r>
            <a:endParaRPr lang="ko-KR" altLang="en-US" dirty="0">
              <a:latin typeface="+mn-ea"/>
              <a:ea typeface="+mn-ea"/>
            </a:endParaRPr>
          </a:p>
        </p:txBody>
      </p:sp>
      <p:graphicFrame>
        <p:nvGraphicFramePr>
          <p:cNvPr id="7" name="표 6"/>
          <p:cNvGraphicFramePr>
            <a:graphicFrameLocks noGrp="1"/>
          </p:cNvGraphicFramePr>
          <p:nvPr>
            <p:extLst>
              <p:ext uri="{D42A27DB-BD31-4B8C-83A1-F6EECF244321}">
                <p14:modId xmlns:p14="http://schemas.microsoft.com/office/powerpoint/2010/main" val="1871183488"/>
              </p:ext>
            </p:extLst>
          </p:nvPr>
        </p:nvGraphicFramePr>
        <p:xfrm>
          <a:off x="439738" y="1043677"/>
          <a:ext cx="9188450" cy="370416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70679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매도인이 매수인에게 제공하는 </a:t>
                      </a:r>
                      <a:r>
                        <a:rPr lang="ko-KR" sz="1000" dirty="0" err="1">
                          <a:effectLst/>
                          <a:latin typeface="+mn-ea"/>
                          <a:ea typeface="+mn-ea"/>
                          <a:cs typeface="Times New Roman" panose="02020603050405020304" pitchFamily="18" charset="0"/>
                        </a:rPr>
                        <a:t>진술보장의</a:t>
                      </a:r>
                      <a:r>
                        <a:rPr lang="ko-KR" sz="1000" dirty="0">
                          <a:effectLst/>
                          <a:latin typeface="+mn-ea"/>
                          <a:ea typeface="+mn-ea"/>
                          <a:cs typeface="Times New Roman" panose="02020603050405020304" pitchFamily="18" charset="0"/>
                        </a:rPr>
                        <a:t> 범위를</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매도인이 알고 있는 것</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으로 한정하는 기능을 함</a:t>
                      </a:r>
                    </a:p>
                    <a:p>
                      <a:pPr algn="l" latinLnBrk="1">
                        <a:lnSpc>
                          <a:spcPct val="110000"/>
                        </a:lnSpc>
                        <a:spcAft>
                          <a:spcPts val="0"/>
                        </a:spcAft>
                      </a:pPr>
                      <a:r>
                        <a:rPr lang="ko-KR" sz="1000" dirty="0">
                          <a:effectLst/>
                          <a:latin typeface="+mn-ea"/>
                          <a:ea typeface="+mn-ea"/>
                          <a:cs typeface="Times New Roman" panose="02020603050405020304" pitchFamily="18" charset="0"/>
                        </a:rPr>
                        <a:t>주로</a:t>
                      </a:r>
                      <a:r>
                        <a:rPr lang="en-US" sz="1000" dirty="0">
                          <a:effectLst/>
                          <a:latin typeface="+mn-ea"/>
                          <a:ea typeface="+mn-ea"/>
                          <a:cs typeface="Times New Roman" panose="02020603050405020304" pitchFamily="18" charset="0"/>
                        </a:rPr>
                        <a:t> (</a:t>
                      </a:r>
                      <a:r>
                        <a:rPr lang="en-US" sz="1000" dirty="0" err="1">
                          <a:effectLst/>
                          <a:latin typeface="+mn-ea"/>
                          <a:ea typeface="+mn-ea"/>
                          <a:cs typeface="Times New Roman" panose="02020603050405020304" pitchFamily="18" charset="0"/>
                        </a:rPr>
                        <a:t>i</a:t>
                      </a:r>
                      <a:r>
                        <a:rPr lang="en-US" sz="1000" dirty="0">
                          <a:effectLst/>
                          <a:latin typeface="+mn-ea"/>
                          <a:ea typeface="+mn-ea"/>
                          <a:cs typeface="Times New Roman" panose="02020603050405020304" pitchFamily="18" charset="0"/>
                        </a:rPr>
                        <a:t>) knowledge</a:t>
                      </a:r>
                      <a:r>
                        <a:rPr lang="ko-KR" sz="1000" dirty="0">
                          <a:effectLst/>
                          <a:latin typeface="+mn-ea"/>
                          <a:ea typeface="+mn-ea"/>
                          <a:cs typeface="Times New Roman" panose="02020603050405020304" pitchFamily="18" charset="0"/>
                        </a:rPr>
                        <a:t>의 대상자 및</a:t>
                      </a:r>
                      <a:r>
                        <a:rPr lang="en-US" sz="1000" dirty="0">
                          <a:effectLst/>
                          <a:latin typeface="+mn-ea"/>
                          <a:ea typeface="+mn-ea"/>
                          <a:cs typeface="Times New Roman" panose="02020603050405020304" pitchFamily="18" charset="0"/>
                        </a:rPr>
                        <a:t> (ii) knowledge</a:t>
                      </a:r>
                      <a:r>
                        <a:rPr lang="ko-KR" sz="1000" dirty="0">
                          <a:effectLst/>
                          <a:latin typeface="+mn-ea"/>
                          <a:ea typeface="+mn-ea"/>
                          <a:cs typeface="Times New Roman" panose="02020603050405020304" pitchFamily="18" charset="0"/>
                        </a:rPr>
                        <a:t>의 범위</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실제로 알고 있는 것</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이른바</a:t>
                      </a:r>
                      <a:r>
                        <a:rPr lang="en-US" sz="1000" dirty="0">
                          <a:effectLst/>
                          <a:latin typeface="+mn-ea"/>
                          <a:ea typeface="+mn-ea"/>
                          <a:cs typeface="Times New Roman" panose="02020603050405020304" pitchFamily="18" charset="0"/>
                        </a:rPr>
                        <a:t> actual knowledge) vs. </a:t>
                      </a:r>
                      <a:r>
                        <a:rPr lang="ko-KR" sz="1000" dirty="0">
                          <a:effectLst/>
                          <a:latin typeface="+mn-ea"/>
                          <a:ea typeface="+mn-ea"/>
                          <a:cs typeface="Times New Roman" panose="02020603050405020304" pitchFamily="18" charset="0"/>
                        </a:rPr>
                        <a:t>합리적으로 요구되는 주의를 기울였다면 알 수 있었던 것</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이른바</a:t>
                      </a:r>
                      <a:r>
                        <a:rPr lang="en-US" sz="1000" dirty="0">
                          <a:effectLst/>
                          <a:latin typeface="+mn-ea"/>
                          <a:ea typeface="+mn-ea"/>
                          <a:cs typeface="Times New Roman" panose="02020603050405020304" pitchFamily="18" charset="0"/>
                        </a:rPr>
                        <a:t> constructive knowledge)}</a:t>
                      </a:r>
                      <a:r>
                        <a:rPr lang="ko-KR" sz="1000" dirty="0">
                          <a:effectLst/>
                          <a:latin typeface="+mn-ea"/>
                          <a:ea typeface="+mn-ea"/>
                          <a:cs typeface="Times New Roman" panose="02020603050405020304" pitchFamily="18" charset="0"/>
                        </a:rPr>
                        <a:t>와 관련하여 문제가 됨</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03821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0"/>
                        </a:spcAft>
                        <a:buFont typeface="+mj-lt"/>
                        <a:buAutoNum type="arabicPeriod"/>
                      </a:pPr>
                      <a:r>
                        <a:rPr lang="ko-KR" sz="1000" b="1" dirty="0" smtClean="0">
                          <a:effectLst/>
                          <a:latin typeface="+mn-ea"/>
                          <a:ea typeface="+mn-ea"/>
                          <a:cs typeface="Times New Roman" panose="02020603050405020304" pitchFamily="18" charset="0"/>
                        </a:rPr>
                        <a:t>매도인</a:t>
                      </a:r>
                      <a:r>
                        <a:rPr lang="en-US" sz="1000" dirty="0">
                          <a:effectLst/>
                          <a:latin typeface="+mn-ea"/>
                          <a:ea typeface="+mn-ea"/>
                          <a:cs typeface="Times New Roman" panose="02020603050405020304" pitchFamily="18" charset="0"/>
                        </a:rPr>
                        <a:t>: (</a:t>
                      </a:r>
                      <a:r>
                        <a:rPr lang="en-US" sz="1000" dirty="0" err="1">
                          <a:effectLst/>
                          <a:latin typeface="+mn-ea"/>
                          <a:ea typeface="+mn-ea"/>
                          <a:cs typeface="Times New Roman" panose="02020603050405020304" pitchFamily="18" charset="0"/>
                        </a:rPr>
                        <a:t>i</a:t>
                      </a:r>
                      <a:r>
                        <a:rPr lang="en-US" sz="1000" dirty="0">
                          <a:effectLst/>
                          <a:latin typeface="+mn-ea"/>
                          <a:ea typeface="+mn-ea"/>
                          <a:cs typeface="Times New Roman" panose="02020603050405020304" pitchFamily="18" charset="0"/>
                        </a:rPr>
                        <a:t>) Knowledge</a:t>
                      </a:r>
                      <a:r>
                        <a:rPr lang="ko-KR" sz="1000" dirty="0">
                          <a:effectLst/>
                          <a:latin typeface="+mn-ea"/>
                          <a:ea typeface="+mn-ea"/>
                          <a:cs typeface="Times New Roman" panose="02020603050405020304" pitchFamily="18" charset="0"/>
                        </a:rPr>
                        <a:t>의 대상자를 축소</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예</a:t>
                      </a:r>
                      <a:r>
                        <a:rPr lang="en-US" sz="1000" dirty="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이사로 </a:t>
                      </a:r>
                      <a:r>
                        <a:rPr lang="ko-KR" sz="1000" dirty="0">
                          <a:effectLst/>
                          <a:latin typeface="+mn-ea"/>
                          <a:ea typeface="+mn-ea"/>
                          <a:cs typeface="Times New Roman" panose="02020603050405020304" pitchFamily="18" charset="0"/>
                        </a:rPr>
                        <a:t>한정</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하고</a:t>
                      </a:r>
                      <a:r>
                        <a:rPr lang="en-US" sz="1000" dirty="0">
                          <a:effectLst/>
                          <a:latin typeface="+mn-ea"/>
                          <a:ea typeface="+mn-ea"/>
                          <a:cs typeface="Times New Roman" panose="02020603050405020304" pitchFamily="18" charset="0"/>
                        </a:rPr>
                        <a:t>, (ii) knowledge</a:t>
                      </a:r>
                      <a:r>
                        <a:rPr lang="ko-KR" sz="1000" dirty="0">
                          <a:effectLst/>
                          <a:latin typeface="+mn-ea"/>
                          <a:ea typeface="+mn-ea"/>
                          <a:cs typeface="Times New Roman" panose="02020603050405020304" pitchFamily="18" charset="0"/>
                        </a:rPr>
                        <a:t>의 범위도 축소</a:t>
                      </a:r>
                      <a:r>
                        <a:rPr lang="en-US" sz="1000" dirty="0">
                          <a:effectLst/>
                          <a:latin typeface="+mn-ea"/>
                          <a:ea typeface="+mn-ea"/>
                          <a:cs typeface="Times New Roman" panose="02020603050405020304" pitchFamily="18" charset="0"/>
                        </a:rPr>
                        <a:t>(actual knowledge)</a:t>
                      </a:r>
                      <a:r>
                        <a:rPr lang="ko-KR" sz="1000" dirty="0">
                          <a:effectLst/>
                          <a:latin typeface="+mn-ea"/>
                          <a:ea typeface="+mn-ea"/>
                          <a:cs typeface="Times New Roman" panose="02020603050405020304" pitchFamily="18" charset="0"/>
                        </a:rPr>
                        <a:t>하고자 </a:t>
                      </a:r>
                      <a:r>
                        <a:rPr lang="ko-KR" sz="1000" dirty="0" smtClean="0">
                          <a:effectLst/>
                          <a:latin typeface="+mn-ea"/>
                          <a:ea typeface="+mn-ea"/>
                          <a:cs typeface="Times New Roman" panose="02020603050405020304" pitchFamily="18" charset="0"/>
                        </a:rPr>
                        <a:t>함</a:t>
                      </a:r>
                      <a:endParaRPr lang="en-US" altLang="ko-KR" sz="1000" dirty="0" smtClean="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endParaRPr lang="ko-KR" sz="1000" dirty="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sz="1000" b="1" dirty="0" smtClean="0">
                          <a:effectLst/>
                          <a:latin typeface="+mn-ea"/>
                          <a:ea typeface="+mn-ea"/>
                          <a:cs typeface="Times New Roman" panose="02020603050405020304" pitchFamily="18" charset="0"/>
                        </a:rPr>
                        <a:t>매수인</a:t>
                      </a:r>
                      <a:r>
                        <a:rPr lang="en-US" sz="1000" dirty="0">
                          <a:effectLst/>
                          <a:latin typeface="+mn-ea"/>
                          <a:ea typeface="+mn-ea"/>
                          <a:cs typeface="Times New Roman" panose="02020603050405020304" pitchFamily="18" charset="0"/>
                        </a:rPr>
                        <a:t>: (</a:t>
                      </a:r>
                      <a:r>
                        <a:rPr lang="en-US" sz="1000" dirty="0" err="1">
                          <a:effectLst/>
                          <a:latin typeface="+mn-ea"/>
                          <a:ea typeface="+mn-ea"/>
                          <a:cs typeface="Times New Roman" panose="02020603050405020304" pitchFamily="18" charset="0"/>
                        </a:rPr>
                        <a:t>i</a:t>
                      </a:r>
                      <a:r>
                        <a:rPr lang="en-US" sz="1000" dirty="0">
                          <a:effectLst/>
                          <a:latin typeface="+mn-ea"/>
                          <a:ea typeface="+mn-ea"/>
                          <a:cs typeface="Times New Roman" panose="02020603050405020304" pitchFamily="18" charset="0"/>
                        </a:rPr>
                        <a:t>) Knowledge</a:t>
                      </a:r>
                      <a:r>
                        <a:rPr lang="ko-KR" sz="1000" dirty="0">
                          <a:effectLst/>
                          <a:latin typeface="+mn-ea"/>
                          <a:ea typeface="+mn-ea"/>
                          <a:cs typeface="Times New Roman" panose="02020603050405020304" pitchFamily="18" charset="0"/>
                        </a:rPr>
                        <a:t>의 대상자를 확장</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예</a:t>
                      </a:r>
                      <a:r>
                        <a:rPr lang="en-US" sz="1000" dirty="0">
                          <a:effectLst/>
                          <a:latin typeface="+mn-ea"/>
                          <a:ea typeface="+mn-ea"/>
                          <a:cs typeface="Times New Roman" panose="02020603050405020304" pitchFamily="18" charset="0"/>
                        </a:rPr>
                        <a:t>: </a:t>
                      </a:r>
                      <a:r>
                        <a:rPr lang="ko-KR" sz="1000" dirty="0" err="1">
                          <a:effectLst/>
                          <a:latin typeface="+mn-ea"/>
                          <a:ea typeface="+mn-ea"/>
                          <a:cs typeface="Times New Roman" panose="02020603050405020304" pitchFamily="18" charset="0"/>
                        </a:rPr>
                        <a:t>팀장급</a:t>
                      </a:r>
                      <a:r>
                        <a:rPr lang="ko-KR" sz="1000" dirty="0">
                          <a:effectLst/>
                          <a:latin typeface="+mn-ea"/>
                          <a:ea typeface="+mn-ea"/>
                          <a:cs typeface="Times New Roman" panose="02020603050405020304" pitchFamily="18" charset="0"/>
                        </a:rPr>
                        <a:t> 이상의 임직원</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하고</a:t>
                      </a:r>
                      <a:r>
                        <a:rPr lang="en-US" sz="1000" dirty="0">
                          <a:effectLst/>
                          <a:latin typeface="+mn-ea"/>
                          <a:ea typeface="+mn-ea"/>
                          <a:cs typeface="Times New Roman" panose="02020603050405020304" pitchFamily="18" charset="0"/>
                        </a:rPr>
                        <a:t>, (ii) knowledge</a:t>
                      </a:r>
                      <a:r>
                        <a:rPr lang="ko-KR" sz="1000" dirty="0">
                          <a:effectLst/>
                          <a:latin typeface="+mn-ea"/>
                          <a:ea typeface="+mn-ea"/>
                          <a:cs typeface="Times New Roman" panose="02020603050405020304" pitchFamily="18" charset="0"/>
                        </a:rPr>
                        <a:t>의 범위도 확장</a:t>
                      </a:r>
                      <a:r>
                        <a:rPr lang="en-US" sz="1000" dirty="0">
                          <a:effectLst/>
                          <a:latin typeface="+mn-ea"/>
                          <a:ea typeface="+mn-ea"/>
                          <a:cs typeface="Times New Roman" panose="02020603050405020304" pitchFamily="18" charset="0"/>
                        </a:rPr>
                        <a:t>(constructive knowledge)</a:t>
                      </a:r>
                      <a:r>
                        <a:rPr lang="ko-KR" sz="1000" dirty="0">
                          <a:effectLst/>
                          <a:latin typeface="+mn-ea"/>
                          <a:ea typeface="+mn-ea"/>
                          <a:cs typeface="Times New Roman" panose="02020603050405020304" pitchFamily="18" charset="0"/>
                        </a:rPr>
                        <a:t>하고자 함</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즉</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대상자가 실제 알았거나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통상적인 또는 그 직책의 수행에 있어 합리적으로 요구되는 주의를 기울였다면 알 수 있었던 사항으로 확장</a:t>
                      </a:r>
                      <a:r>
                        <a:rPr lang="en-US" sz="1000" dirty="0" smtClean="0">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a:pPr>
                      <a:endParaRPr lang="ko-KR" sz="1000" dirty="0">
                        <a:effectLst/>
                        <a:latin typeface="+mn-ea"/>
                        <a:ea typeface="+mn-ea"/>
                        <a:cs typeface="Times New Roman" panose="02020603050405020304" pitchFamily="18" charset="0"/>
                      </a:endParaRPr>
                    </a:p>
                    <a:p>
                      <a:pPr marL="228600" indent="-228600" algn="l" latinLnBrk="0">
                        <a:lnSpc>
                          <a:spcPct val="110000"/>
                        </a:lnSpc>
                        <a:spcAft>
                          <a:spcPts val="0"/>
                        </a:spcAft>
                        <a:buFont typeface="+mj-lt"/>
                        <a:buAutoNum type="arabicPeriod"/>
                      </a:pPr>
                      <a:r>
                        <a:rPr lang="ko-KR" sz="1000" dirty="0" smtClean="0">
                          <a:effectLst/>
                          <a:latin typeface="+mn-ea"/>
                          <a:ea typeface="+mn-ea"/>
                          <a:cs typeface="Times New Roman" panose="02020603050405020304" pitchFamily="18" charset="0"/>
                        </a:rPr>
                        <a:t>매도인이 </a:t>
                      </a:r>
                      <a:r>
                        <a:rPr lang="ko-KR" sz="1000" dirty="0">
                          <a:effectLst/>
                          <a:latin typeface="+mn-ea"/>
                          <a:ea typeface="+mn-ea"/>
                          <a:cs typeface="Times New Roman" panose="02020603050405020304" pitchFamily="18" charset="0"/>
                        </a:rPr>
                        <a:t>위</a:t>
                      </a:r>
                      <a:r>
                        <a:rPr lang="en-US" sz="1000" dirty="0">
                          <a:effectLst/>
                          <a:latin typeface="+mn-ea"/>
                          <a:ea typeface="+mn-ea"/>
                          <a:cs typeface="Times New Roman" panose="02020603050405020304" pitchFamily="18" charset="0"/>
                        </a:rPr>
                        <a:t> constructive knowledge</a:t>
                      </a:r>
                      <a:r>
                        <a:rPr lang="ko-KR" sz="1000" dirty="0">
                          <a:effectLst/>
                          <a:latin typeface="+mn-ea"/>
                          <a:ea typeface="+mn-ea"/>
                          <a:cs typeface="Times New Roman" panose="02020603050405020304" pitchFamily="18" charset="0"/>
                        </a:rPr>
                        <a:t>에 대한 반대가 심한 경우</a:t>
                      </a:r>
                      <a:r>
                        <a:rPr lang="en-US" sz="1000" dirty="0">
                          <a:effectLst/>
                          <a:latin typeface="+mn-ea"/>
                          <a:ea typeface="+mn-ea"/>
                          <a:cs typeface="Times New Roman" panose="02020603050405020304" pitchFamily="18" charset="0"/>
                        </a:rPr>
                        <a:t>, “the actual knowledge of the persons listed on Schedule [*] after due inquiry” </a:t>
                      </a:r>
                      <a:r>
                        <a:rPr lang="ko-KR" sz="1000" dirty="0">
                          <a:effectLst/>
                          <a:latin typeface="+mn-ea"/>
                          <a:ea typeface="+mn-ea"/>
                          <a:cs typeface="Times New Roman" panose="02020603050405020304" pitchFamily="18" charset="0"/>
                        </a:rPr>
                        <a:t>정도로 합의하는 경우도 있음</a:t>
                      </a:r>
                      <a:r>
                        <a:rPr lang="en-US" sz="1000" dirty="0" smtClean="0">
                          <a:effectLst/>
                          <a:latin typeface="+mn-ea"/>
                          <a:ea typeface="+mn-ea"/>
                          <a:cs typeface="Times New Roman" panose="02020603050405020304" pitchFamily="18" charset="0"/>
                        </a:rPr>
                        <a:t>.</a:t>
                      </a:r>
                    </a:p>
                    <a:p>
                      <a:pPr marL="228600" indent="-228600" algn="l" latinLnBrk="1">
                        <a:lnSpc>
                          <a:spcPct val="110000"/>
                        </a:lnSpc>
                        <a:spcAft>
                          <a:spcPts val="0"/>
                        </a:spcAft>
                        <a:buFont typeface="+mj-lt"/>
                        <a:buAutoNum type="arabicPeriod"/>
                      </a:pPr>
                      <a:endParaRPr lang="ko-KR" sz="1000" dirty="0">
                        <a:effectLst/>
                        <a:latin typeface="+mn-ea"/>
                        <a:ea typeface="+mn-ea"/>
                        <a:cs typeface="Times New Roman" panose="02020603050405020304" pitchFamily="18" charset="0"/>
                      </a:endParaRPr>
                    </a:p>
                    <a:p>
                      <a:pPr marL="228600" indent="-228600" algn="l" latinLnBrk="1">
                        <a:lnSpc>
                          <a:spcPct val="110000"/>
                        </a:lnSpc>
                        <a:spcAft>
                          <a:spcPts val="0"/>
                        </a:spcAft>
                        <a:buFont typeface="+mj-lt"/>
                        <a:buAutoNum type="arabicPeriod"/>
                      </a:pPr>
                      <a:r>
                        <a:rPr lang="ko-KR" sz="1000" dirty="0" smtClean="0">
                          <a:effectLst/>
                          <a:latin typeface="+mn-ea"/>
                          <a:ea typeface="+mn-ea"/>
                          <a:cs typeface="Times New Roman" panose="02020603050405020304" pitchFamily="18" charset="0"/>
                        </a:rPr>
                        <a:t>통계에 </a:t>
                      </a:r>
                      <a:r>
                        <a:rPr lang="ko-KR" sz="1000" dirty="0">
                          <a:effectLst/>
                          <a:latin typeface="+mn-ea"/>
                          <a:ea typeface="+mn-ea"/>
                          <a:cs typeface="Times New Roman" panose="02020603050405020304" pitchFamily="18" charset="0"/>
                        </a:rPr>
                        <a:t>의하</a:t>
                      </a:r>
                      <a:r>
                        <a:rPr lang="ko-KR" sz="1000" dirty="0">
                          <a:effectLst/>
                          <a:latin typeface="+mn-ea"/>
                          <a:ea typeface="+mn-ea"/>
                          <a:cs typeface="바탕" panose="02030600000101010101" pitchFamily="18" charset="-127"/>
                        </a:rPr>
                        <a:t>면</a:t>
                      </a:r>
                      <a:r>
                        <a:rPr lang="en-US" sz="1000" dirty="0">
                          <a:effectLst/>
                          <a:latin typeface="+mn-ea"/>
                          <a:ea typeface="+mn-ea"/>
                          <a:cs typeface="Times New Roman" panose="02020603050405020304" pitchFamily="18" charset="0"/>
                        </a:rPr>
                        <a:t> constructive knowledge </a:t>
                      </a:r>
                      <a:r>
                        <a:rPr lang="ko-KR" sz="1000" dirty="0">
                          <a:effectLst/>
                          <a:latin typeface="+mn-ea"/>
                          <a:ea typeface="+mn-ea"/>
                          <a:cs typeface="Times New Roman" panose="02020603050405020304" pitchFamily="18" charset="0"/>
                        </a:rPr>
                        <a:t>가</a:t>
                      </a:r>
                      <a:r>
                        <a:rPr lang="en-US" sz="1000" dirty="0">
                          <a:effectLst/>
                          <a:latin typeface="+mn-ea"/>
                          <a:ea typeface="+mn-ea"/>
                          <a:cs typeface="Times New Roman" panose="02020603050405020304" pitchFamily="18" charset="0"/>
                        </a:rPr>
                        <a:t> market standard </a:t>
                      </a:r>
                      <a:r>
                        <a:rPr lang="ko-KR" sz="1000" dirty="0">
                          <a:effectLst/>
                          <a:latin typeface="+mn-ea"/>
                          <a:ea typeface="+mn-ea"/>
                          <a:cs typeface="Times New Roman" panose="02020603050405020304" pitchFamily="18" charset="0"/>
                        </a:rPr>
                        <a:t>이고</a:t>
                      </a:r>
                      <a:r>
                        <a:rPr lang="en-US" sz="1000" dirty="0">
                          <a:effectLst/>
                          <a:latin typeface="+mn-ea"/>
                          <a:ea typeface="+mn-ea"/>
                          <a:cs typeface="Times New Roman" panose="02020603050405020304" pitchFamily="18" charset="0"/>
                        </a:rPr>
                        <a:t> actual knowledge </a:t>
                      </a:r>
                      <a:r>
                        <a:rPr lang="ko-KR" sz="1000" dirty="0">
                          <a:effectLst/>
                          <a:latin typeface="+mn-ea"/>
                          <a:ea typeface="+mn-ea"/>
                          <a:cs typeface="Times New Roman" panose="02020603050405020304" pitchFamily="18" charset="0"/>
                        </a:rPr>
                        <a:t>로 한정하는 것은 이례적인 경우라고 하는데</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한국 </a:t>
                      </a:r>
                      <a:r>
                        <a:rPr lang="ko-KR" sz="1000" dirty="0" smtClean="0">
                          <a:effectLst/>
                          <a:latin typeface="+mn-ea"/>
                          <a:ea typeface="+mn-ea"/>
                          <a:cs typeface="Times New Roman" panose="02020603050405020304" pitchFamily="18" charset="0"/>
                        </a:rPr>
                        <a:t>딜에서는</a:t>
                      </a:r>
                      <a:r>
                        <a:rPr lang="en-US" sz="1000" dirty="0" smtClean="0">
                          <a:effectLst/>
                          <a:latin typeface="+mn-ea"/>
                          <a:ea typeface="+mn-ea"/>
                          <a:cs typeface="Times New Roman" panose="02020603050405020304" pitchFamily="18" charset="0"/>
                        </a:rPr>
                        <a:t> </a:t>
                      </a:r>
                      <a:r>
                        <a:rPr lang="en-US" sz="1000" dirty="0">
                          <a:effectLst/>
                          <a:latin typeface="+mn-ea"/>
                          <a:ea typeface="+mn-ea"/>
                          <a:cs typeface="Times New Roman" panose="02020603050405020304" pitchFamily="18" charset="0"/>
                        </a:rPr>
                        <a:t>actual knowledge</a:t>
                      </a:r>
                      <a:r>
                        <a:rPr lang="ko-KR" sz="1000" dirty="0">
                          <a:effectLst/>
                          <a:latin typeface="+mn-ea"/>
                          <a:ea typeface="+mn-ea"/>
                          <a:cs typeface="Times New Roman" panose="02020603050405020304" pitchFamily="18" charset="0"/>
                        </a:rPr>
                        <a:t>로 한정하면서 특정인 또는 직위를 명시하는 경우도 많은 것으로 보임</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959160">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11.14   </a:t>
                      </a:r>
                      <a:r>
                        <a:rPr lang="en-US" sz="1000" u="sng" dirty="0">
                          <a:effectLst/>
                          <a:latin typeface="+mn-ea"/>
                          <a:ea typeface="+mn-ea"/>
                        </a:rPr>
                        <a:t>Knowledge</a:t>
                      </a:r>
                      <a:endParaRPr lang="ko-KR" sz="1000" dirty="0">
                        <a:effectLst/>
                        <a:latin typeface="+mn-ea"/>
                        <a:ea typeface="+mn-ea"/>
                      </a:endParaRPr>
                    </a:p>
                    <a:p>
                      <a:pPr algn="l">
                        <a:lnSpc>
                          <a:spcPct val="110000"/>
                        </a:lnSpc>
                        <a:spcAft>
                          <a:spcPts val="0"/>
                        </a:spcAft>
                      </a:pPr>
                      <a:r>
                        <a:rPr lang="en-US" sz="1000" dirty="0" smtClean="0">
                          <a:effectLst/>
                          <a:latin typeface="+mn-ea"/>
                          <a:ea typeface="+mn-ea"/>
                        </a:rPr>
                        <a:t>For </a:t>
                      </a:r>
                      <a:r>
                        <a:rPr lang="en-US" sz="1000" dirty="0">
                          <a:effectLst/>
                          <a:latin typeface="+mn-ea"/>
                          <a:ea typeface="+mn-ea"/>
                        </a:rPr>
                        <a:t>purposes of this Agreement, “knowledge,” “awareness” and words of similar import of Seller means the actual knowledge of the persons listed on </a:t>
                      </a:r>
                      <a:r>
                        <a:rPr lang="en-US" sz="1000" u="sng" dirty="0">
                          <a:effectLst/>
                          <a:latin typeface="+mn-ea"/>
                          <a:ea typeface="+mn-ea"/>
                        </a:rPr>
                        <a:t>Schedule 11.14</a:t>
                      </a:r>
                      <a:r>
                        <a:rPr lang="en-US" sz="1000" dirty="0">
                          <a:effectLst/>
                          <a:latin typeface="+mn-ea"/>
                          <a:ea typeface="+mn-ea"/>
                        </a:rPr>
                        <a:t> and such knowledge such individuals should have had in their respective capacity as the officers and/or employees of the Company after reasonable due inquiry and investigation.</a:t>
                      </a:r>
                      <a:endParaRPr lang="ko-KR" sz="1000" dirty="0">
                        <a:effectLst/>
                        <a:latin typeface="+mn-ea"/>
                        <a:ea typeface="+mn-ea"/>
                      </a:endParaRPr>
                    </a:p>
                    <a:p>
                      <a:pPr algn="l" latinLnBrk="1">
                        <a:lnSpc>
                          <a:spcPct val="110000"/>
                        </a:lnSpc>
                        <a:spcAft>
                          <a:spcPts val="0"/>
                        </a:spcAft>
                      </a:pP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9820289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X. </a:t>
            </a:r>
            <a:r>
              <a:rPr lang="ko-KR" altLang="en-US" dirty="0">
                <a:latin typeface="+mn-ea"/>
              </a:rPr>
              <a:t>기타 </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1513"/>
            <a:ext cx="3716745" cy="276999"/>
          </a:xfrm>
          <a:prstGeom prst="rect">
            <a:avLst/>
          </a:prstGeom>
          <a:noFill/>
        </p:spPr>
        <p:txBody>
          <a:bodyPr wrap="square" rtlCol="0">
            <a:spAutoFit/>
          </a:bodyPr>
          <a:lstStyle/>
          <a:p>
            <a:r>
              <a:rPr lang="en-US" altLang="ko-KR">
                <a:latin typeface="+mn-ea"/>
                <a:ea typeface="+mn-ea"/>
              </a:rPr>
              <a:t>3. Representative; Joint Liability </a:t>
            </a:r>
            <a:endParaRPr lang="ko-KR" altLang="en-US" dirty="0">
              <a:latin typeface="+mn-ea"/>
              <a:ea typeface="+mn-ea"/>
            </a:endParaRPr>
          </a:p>
        </p:txBody>
      </p:sp>
      <p:graphicFrame>
        <p:nvGraphicFramePr>
          <p:cNvPr id="7" name="표 6"/>
          <p:cNvGraphicFramePr>
            <a:graphicFrameLocks noGrp="1"/>
          </p:cNvGraphicFramePr>
          <p:nvPr>
            <p:extLst>
              <p:ext uri="{D42A27DB-BD31-4B8C-83A1-F6EECF244321}">
                <p14:modId xmlns:p14="http://schemas.microsoft.com/office/powerpoint/2010/main" val="604300692"/>
              </p:ext>
            </p:extLst>
          </p:nvPr>
        </p:nvGraphicFramePr>
        <p:xfrm>
          <a:off x="439738" y="1043677"/>
          <a:ext cx="9188450" cy="514290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매도인이 </a:t>
                      </a:r>
                      <a:r>
                        <a:rPr lang="ko-KR" sz="1000" dirty="0" smtClean="0">
                          <a:effectLst/>
                          <a:latin typeface="+mn-ea"/>
                          <a:ea typeface="+mn-ea"/>
                          <a:cs typeface="Times New Roman" panose="02020603050405020304" pitchFamily="18" charset="0"/>
                        </a:rPr>
                        <a:t>여러</a:t>
                      </a:r>
                      <a:r>
                        <a:rPr lang="en-US" altLang="ko-KR"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명인 </a:t>
                      </a:r>
                      <a:r>
                        <a:rPr lang="ko-KR" sz="1000" dirty="0">
                          <a:solidFill>
                            <a:schemeClr val="tx1"/>
                          </a:solidFill>
                          <a:effectLst/>
                          <a:latin typeface="+mn-ea"/>
                          <a:ea typeface="+mn-ea"/>
                          <a:cs typeface="Times New Roman" panose="02020603050405020304" pitchFamily="18" charset="0"/>
                        </a:rPr>
                        <a:t>경우 </a:t>
                      </a:r>
                      <a:r>
                        <a:rPr lang="ko-KR" altLang="en-US" sz="1000" dirty="0" smtClean="0">
                          <a:solidFill>
                            <a:schemeClr val="tx1"/>
                          </a:solidFill>
                          <a:effectLst/>
                          <a:latin typeface="+mn-ea"/>
                          <a:ea typeface="+mn-ea"/>
                          <a:cs typeface="Times New Roman" panose="02020603050405020304" pitchFamily="18" charset="0"/>
                        </a:rPr>
                        <a:t>대표 매도인 지정 및 연대책임 이슈</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9895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171450" indent="-171450" algn="l">
                        <a:lnSpc>
                          <a:spcPct val="110000"/>
                        </a:lnSpc>
                        <a:spcAft>
                          <a:spcPts val="0"/>
                        </a:spcAft>
                        <a:buFont typeface="Wingdings" panose="05000000000000000000" pitchFamily="2" charset="2"/>
                        <a:buChar char="§"/>
                      </a:pPr>
                      <a:r>
                        <a:rPr lang="ko-KR" sz="1000" dirty="0">
                          <a:effectLst/>
                          <a:latin typeface="+mn-ea"/>
                          <a:ea typeface="+mn-ea"/>
                          <a:cs typeface="Times New Roman" panose="02020603050405020304" pitchFamily="18" charset="0"/>
                        </a:rPr>
                        <a:t>매도인이 여러 명일 경우에는 아래와 같이 대표 매도인</a:t>
                      </a:r>
                      <a:r>
                        <a:rPr lang="en-US" sz="1000" dirty="0">
                          <a:effectLst/>
                          <a:latin typeface="+mn-ea"/>
                          <a:ea typeface="+mn-ea"/>
                          <a:cs typeface="Times New Roman" panose="02020603050405020304" pitchFamily="18" charset="0"/>
                        </a:rPr>
                        <a:t>(Representative Seller)</a:t>
                      </a:r>
                      <a:r>
                        <a:rPr lang="ko-KR" sz="1000" dirty="0">
                          <a:effectLst/>
                          <a:latin typeface="+mn-ea"/>
                          <a:ea typeface="+mn-ea"/>
                          <a:cs typeface="Times New Roman" panose="02020603050405020304" pitchFamily="18" charset="0"/>
                        </a:rPr>
                        <a:t>의 개념을 두어 매수인이 대표 매도인을 상대로만 주식매매계약 협상 및 거래종결 업무를 진행하도록 할지 여부도 고려할 수 있음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171450" indent="-171450" algn="l">
                        <a:lnSpc>
                          <a:spcPct val="110000"/>
                        </a:lnSpc>
                        <a:spcAft>
                          <a:spcPts val="0"/>
                        </a:spcAft>
                        <a:buFont typeface="Wingdings" panose="05000000000000000000" pitchFamily="2" charset="2"/>
                        <a:buChar char="§"/>
                      </a:pPr>
                      <a:r>
                        <a:rPr lang="ko-KR" sz="1000" dirty="0" smtClean="0">
                          <a:effectLst/>
                          <a:latin typeface="+mn-ea"/>
                          <a:ea typeface="+mn-ea"/>
                          <a:cs typeface="Times New Roman" panose="02020603050405020304" pitchFamily="18" charset="0"/>
                        </a:rPr>
                        <a:t>또한 </a:t>
                      </a:r>
                      <a:r>
                        <a:rPr lang="ko-KR" sz="1000" dirty="0">
                          <a:effectLst/>
                          <a:latin typeface="+mn-ea"/>
                          <a:ea typeface="+mn-ea"/>
                          <a:cs typeface="Times New Roman" panose="02020603050405020304" pitchFamily="18" charset="0"/>
                        </a:rPr>
                        <a:t>매도인들 간의 주식매매계약상 책임을 연대책임으로 할 것인지</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개별책임으로 할 것인지에 대한 고려가 필요함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특히</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연대책임으로 할 경우</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진술보장</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확약</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손해배상 등의 조항에 연대책임이라는 취지를 명시하거나</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아니면 기타 조항에</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본 계약상 매도인들의 책임은 모두 연대책임</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이라는 </a:t>
                      </a:r>
                      <a:r>
                        <a:rPr lang="ko-KR" sz="1000" dirty="0" err="1">
                          <a:effectLst/>
                          <a:latin typeface="+mn-ea"/>
                          <a:ea typeface="+mn-ea"/>
                          <a:cs typeface="Times New Roman" panose="02020603050405020304" pitchFamily="18" charset="0"/>
                        </a:rPr>
                        <a:t>일반조항을</a:t>
                      </a:r>
                      <a:r>
                        <a:rPr lang="ko-KR" sz="1000" dirty="0">
                          <a:effectLst/>
                          <a:latin typeface="+mn-ea"/>
                          <a:ea typeface="+mn-ea"/>
                          <a:cs typeface="Times New Roman" panose="02020603050405020304" pitchFamily="18" charset="0"/>
                        </a:rPr>
                        <a:t> 추가하는 방법을 고려할 수 있음</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다만 대상회사의 경영에 관여해온 대표 매도인의 지분이 대부분이고 다른 매도인들의 지분이 소수인 경우에는</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대표 매도인에게만 연대책임을 부과하는 경우도 </a:t>
                      </a:r>
                      <a:r>
                        <a:rPr lang="ko-KR" sz="1000" dirty="0" smtClean="0">
                          <a:effectLst/>
                          <a:latin typeface="+mn-ea"/>
                          <a:ea typeface="+mn-ea"/>
                          <a:cs typeface="Times New Roman" panose="02020603050405020304" pitchFamily="18" charset="0"/>
                        </a:rPr>
                        <a:t>있</a:t>
                      </a:r>
                      <a:r>
                        <a:rPr lang="ko-KR" altLang="en-US" sz="1000" dirty="0" smtClean="0">
                          <a:effectLst/>
                          <a:latin typeface="+mn-ea"/>
                          <a:ea typeface="+mn-ea"/>
                          <a:cs typeface="Times New Roman" panose="02020603050405020304" pitchFamily="18" charset="0"/>
                        </a:rPr>
                        <a:t>음</a:t>
                      </a:r>
                      <a:r>
                        <a:rPr lang="en-US" sz="1000" dirty="0" smtClean="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347695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SPA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a:lnSpc>
                          <a:spcPct val="110000"/>
                        </a:lnSpc>
                        <a:spcAft>
                          <a:spcPts val="0"/>
                        </a:spcAft>
                        <a:tabLst>
                          <a:tab pos="2176145" algn="l"/>
                          <a:tab pos="540385" algn="l"/>
                        </a:tabLst>
                      </a:pPr>
                      <a:r>
                        <a:rPr lang="en-US" sz="1000" dirty="0">
                          <a:effectLst/>
                          <a:latin typeface="+mn-ea"/>
                          <a:ea typeface="+mn-ea"/>
                        </a:rPr>
                        <a:t>Section </a:t>
                      </a:r>
                      <a:r>
                        <a:rPr lang="en-US" sz="1000" dirty="0" smtClean="0">
                          <a:effectLst/>
                          <a:latin typeface="+mn-ea"/>
                          <a:ea typeface="+mn-ea"/>
                        </a:rPr>
                        <a:t>[〮]   </a:t>
                      </a:r>
                      <a:r>
                        <a:rPr lang="en-US" sz="1000" u="sng" dirty="0" smtClean="0">
                          <a:effectLst/>
                          <a:latin typeface="+mn-ea"/>
                          <a:ea typeface="+mn-ea"/>
                        </a:rPr>
                        <a:t>Representative; </a:t>
                      </a:r>
                      <a:r>
                        <a:rPr lang="en-US" sz="1000" u="sng" dirty="0">
                          <a:effectLst/>
                          <a:latin typeface="+mn-ea"/>
                          <a:ea typeface="+mn-ea"/>
                        </a:rPr>
                        <a:t>Joint Liability</a:t>
                      </a:r>
                      <a:r>
                        <a:rPr lang="en-US" sz="1000" dirty="0">
                          <a:effectLst/>
                          <a:latin typeface="+mn-ea"/>
                          <a:ea typeface="+mn-ea"/>
                        </a:rPr>
                        <a:t>.</a:t>
                      </a:r>
                      <a:endParaRPr lang="ko-KR" sz="1000" dirty="0">
                        <a:effectLst/>
                        <a:latin typeface="+mn-ea"/>
                        <a:ea typeface="+mn-ea"/>
                      </a:endParaRPr>
                    </a:p>
                    <a:p>
                      <a:pPr marL="228600" lvl="2" indent="-228600" algn="l" fontAlgn="base" latinLnBrk="0">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By executing this Agreement, each Seller hereby irrevocably constitutes, appoints, authorizes, directs and empowers, the Representative Seller to act as sole, exclusive and lawful agent, attorney-in-fact and representative of such Seller, with full power of substitution, with respect to all matters under this Agreement and the agreements ancillary hereto, including giving and receiving notices hereunder, entering into any amendment or modification hereof, engaging special counsel, accountants or other advisors or incurring such other expenses on behalf of such Seller, holding back from disbursement to any Seller any such funds to the extent it reasonably determines may be necessary or required under the terms and conditions of this Agreement or applicable Law, negotiating, settling, compromising or otherwise resolving any dispute hereunder or doing any and all things and taking any and all actions, in each case that the Representative Seller, in its sole and absolute discretion, may consider necessary or proper or convenient in connection with or to carry out the transactions contemplated by this Agreement or any other documents or instruments entered into in connection herewith. </a:t>
                      </a:r>
                      <a:endParaRPr lang="ko-KR" sz="1000" u="none" strike="noStrike" dirty="0">
                        <a:ln>
                          <a:noFill/>
                        </a:ln>
                        <a:effectLst>
                          <a:outerShdw sx="0" sy="0">
                            <a:srgbClr val="000000"/>
                          </a:outerShdw>
                        </a:effectLst>
                        <a:latin typeface="+mn-ea"/>
                        <a:ea typeface="+mn-ea"/>
                      </a:endParaRPr>
                    </a:p>
                    <a:p>
                      <a:pPr marL="228600" lvl="2" indent="-228600" algn="l" fontAlgn="base" latinLnBrk="0">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Buyer shall have the right to rely conclusively (without further evidence of any kind whatsoever) upon all actions taken or omitted to be taken by the Representative Seller hereunder or in connection with this Agreement.  All decisions, actions, consents and instructions of the Representative Seller authorized to be made, taken or given hereunder or in connection with this Agreement shall be final and binding upon all Sellers, and no Seller shall have any right to object, dissent, protest or otherwise contest the same. The grant of authority provided for herein is coupled with an interest and is irrevocable by any act of a Seller or by operation of Law and all of the authority and power granted to the Representative Seller hereunder shall survive the death, incompetency, bankruptcy or liquidation of a Seller and shall survive the Closing or any termination of this Agreement. </a:t>
                      </a:r>
                      <a:endParaRPr lang="ko-KR" sz="1000" u="none" strike="noStrike" dirty="0">
                        <a:ln>
                          <a:noFill/>
                        </a:ln>
                        <a:effectLst>
                          <a:outerShdw sx="0" sy="0">
                            <a:srgbClr val="000000"/>
                          </a:outerShdw>
                        </a:effectLst>
                        <a:latin typeface="+mn-ea"/>
                        <a:ea typeface="+mn-ea"/>
                      </a:endParaRPr>
                    </a:p>
                    <a:p>
                      <a:pPr marL="228600" lvl="2" indent="-228600" algn="l" fontAlgn="base" latinLnBrk="0">
                        <a:lnSpc>
                          <a:spcPct val="110000"/>
                        </a:lnSpc>
                        <a:spcAft>
                          <a:spcPts val="0"/>
                        </a:spcAft>
                        <a:buSzPct val="100000"/>
                        <a:buFont typeface="+mj-lt"/>
                        <a:buAutoNum type="alphaLcPeriod"/>
                        <a:tabLst>
                          <a:tab pos="1371600" algn="l"/>
                        </a:tabLst>
                      </a:pPr>
                      <a:r>
                        <a:rPr lang="en-US" sz="1000" u="none" strike="noStrike" dirty="0">
                          <a:ln>
                            <a:noFill/>
                          </a:ln>
                          <a:effectLst>
                            <a:outerShdw sx="0" sy="0">
                              <a:srgbClr val="000000"/>
                            </a:outerShdw>
                          </a:effectLst>
                          <a:latin typeface="+mn-ea"/>
                          <a:ea typeface="+mn-ea"/>
                        </a:rPr>
                        <a:t>Unless otherwise specifically stated in this Agreement, each Seller hereby acknowledges and agrees that any and all of Sellers’ Liability and obligations hereunder shall be on a joint and several basis</a:t>
                      </a:r>
                      <a:r>
                        <a:rPr lang="en-US" sz="1000" u="none" strike="noStrike" dirty="0" smtClean="0">
                          <a:ln>
                            <a:noFill/>
                          </a:ln>
                          <a:effectLst>
                            <a:outerShdw sx="0" sy="0">
                              <a:srgbClr val="000000"/>
                            </a:outerShdw>
                          </a:effectLst>
                          <a:latin typeface="+mn-ea"/>
                          <a:ea typeface="+mn-ea"/>
                        </a:rPr>
                        <a:t>.</a:t>
                      </a:r>
                      <a:r>
                        <a:rPr lang="en-US" sz="1000" dirty="0">
                          <a:effectLs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7061983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2">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a:noFill/>
        </a:ln>
      </a:spPr>
      <a:bodyPr rtlCol="0" anchor="ctr"/>
      <a:lstStyle>
        <a:defPPr algn="ctr">
          <a:defRPr dirty="0" err="1" smtClean="0">
            <a:solidFill>
              <a:schemeClr val="tx1"/>
            </a:solidFill>
            <a:latin typeface="LG스마트체 Regular" panose="020B0600000101010101" pitchFamily="50" charset="-127"/>
            <a:ea typeface="LG스마트체 Regular" panose="020B060000010101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LG스마트체 Regular" panose="020B0600000101010101" pitchFamily="50" charset="-127"/>
            <a:ea typeface="LG스마트체 Regular" panose="020B0600000101010101" pitchFamily="50" charset="-127"/>
          </a:defRPr>
        </a:defPPr>
      </a:lstStyle>
    </a:txDef>
  </a:objectDefaults>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0</TotalTime>
  <Words>16339</Words>
  <Application>Microsoft Office PowerPoint</Application>
  <PresentationFormat>A4 용지(210x297mm)</PresentationFormat>
  <Paragraphs>730</Paragraphs>
  <Slides>49</Slides>
  <Notes>49</Notes>
  <HiddenSlides>0</HiddenSlides>
  <MMClips>0</MMClips>
  <ScaleCrop>false</ScaleCrop>
  <HeadingPairs>
    <vt:vector size="6" baseType="variant">
      <vt:variant>
        <vt:lpstr>사용한 글꼴</vt:lpstr>
      </vt:variant>
      <vt:variant>
        <vt:i4>11</vt:i4>
      </vt:variant>
      <vt:variant>
        <vt:lpstr>테마</vt:lpstr>
      </vt:variant>
      <vt:variant>
        <vt:i4>2</vt:i4>
      </vt:variant>
      <vt:variant>
        <vt:lpstr>슬라이드 제목</vt:lpstr>
      </vt:variant>
      <vt:variant>
        <vt:i4>49</vt:i4>
      </vt:variant>
    </vt:vector>
  </HeadingPairs>
  <TitlesOfParts>
    <vt:vector size="62" baseType="lpstr">
      <vt:lpstr>바탕</vt:lpstr>
      <vt:lpstr>LG스마트체2.0 Bold</vt:lpstr>
      <vt:lpstr>굴림</vt:lpstr>
      <vt:lpstr>Arial Unicode MS</vt:lpstr>
      <vt:lpstr>LG Smart_H2.0 R</vt:lpstr>
      <vt:lpstr>LG스마트체2.0 SemiBold</vt:lpstr>
      <vt:lpstr>맑은 고딕</vt:lpstr>
      <vt:lpstr>Arial</vt:lpstr>
      <vt:lpstr>LG스마트체 Regular</vt:lpstr>
      <vt:lpstr>Wingdings</vt:lpstr>
      <vt:lpstr>Times New Roman</vt:lpstr>
      <vt:lpstr>Office 테마</vt:lpstr>
      <vt:lpstr>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2024-12-18T06:30:11Z</dcterms:created>
  <dcterms:modified xsi:type="dcterms:W3CDTF">2024-12-18T06:31:31Z</dcterms:modified>
</cp:coreProperties>
</file>